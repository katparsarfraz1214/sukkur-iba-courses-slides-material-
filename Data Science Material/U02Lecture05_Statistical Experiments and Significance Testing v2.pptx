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4" r:id="rId1"/>
    <p:sldMasterId id="2147483766" r:id="rId2"/>
  </p:sldMasterIdLst>
  <p:notesMasterIdLst>
    <p:notesMasterId r:id="rId63"/>
  </p:notesMasterIdLst>
  <p:sldIdLst>
    <p:sldId id="381" r:id="rId3"/>
    <p:sldId id="382" r:id="rId4"/>
    <p:sldId id="321" r:id="rId5"/>
    <p:sldId id="439" r:id="rId6"/>
    <p:sldId id="386" r:id="rId7"/>
    <p:sldId id="324" r:id="rId8"/>
    <p:sldId id="325" r:id="rId9"/>
    <p:sldId id="326" r:id="rId10"/>
    <p:sldId id="437" r:id="rId11"/>
    <p:sldId id="438" r:id="rId12"/>
    <p:sldId id="440" r:id="rId13"/>
    <p:sldId id="327" r:id="rId14"/>
    <p:sldId id="445" r:id="rId15"/>
    <p:sldId id="329" r:id="rId16"/>
    <p:sldId id="330" r:id="rId17"/>
    <p:sldId id="328" r:id="rId18"/>
    <p:sldId id="446" r:id="rId19"/>
    <p:sldId id="331" r:id="rId20"/>
    <p:sldId id="441" r:id="rId21"/>
    <p:sldId id="442" r:id="rId22"/>
    <p:sldId id="444" r:id="rId23"/>
    <p:sldId id="332" r:id="rId24"/>
    <p:sldId id="337" r:id="rId25"/>
    <p:sldId id="340" r:id="rId26"/>
    <p:sldId id="339" r:id="rId27"/>
    <p:sldId id="384" r:id="rId28"/>
    <p:sldId id="385" r:id="rId29"/>
    <p:sldId id="335" r:id="rId30"/>
    <p:sldId id="392" r:id="rId31"/>
    <p:sldId id="422" r:id="rId32"/>
    <p:sldId id="336" r:id="rId33"/>
    <p:sldId id="388" r:id="rId34"/>
    <p:sldId id="389" r:id="rId35"/>
    <p:sldId id="390" r:id="rId36"/>
    <p:sldId id="423" r:id="rId37"/>
    <p:sldId id="394" r:id="rId38"/>
    <p:sldId id="398" r:id="rId39"/>
    <p:sldId id="431" r:id="rId40"/>
    <p:sldId id="399" r:id="rId41"/>
    <p:sldId id="424" r:id="rId42"/>
    <p:sldId id="425" r:id="rId43"/>
    <p:sldId id="426" r:id="rId44"/>
    <p:sldId id="400" r:id="rId45"/>
    <p:sldId id="402" r:id="rId46"/>
    <p:sldId id="403" r:id="rId47"/>
    <p:sldId id="404" r:id="rId48"/>
    <p:sldId id="430" r:id="rId49"/>
    <p:sldId id="427" r:id="rId50"/>
    <p:sldId id="428" r:id="rId51"/>
    <p:sldId id="429" r:id="rId52"/>
    <p:sldId id="415" r:id="rId53"/>
    <p:sldId id="432" r:id="rId54"/>
    <p:sldId id="416" r:id="rId55"/>
    <p:sldId id="434" r:id="rId56"/>
    <p:sldId id="418" r:id="rId57"/>
    <p:sldId id="433" r:id="rId58"/>
    <p:sldId id="419" r:id="rId59"/>
    <p:sldId id="435" r:id="rId60"/>
    <p:sldId id="436" r:id="rId61"/>
    <p:sldId id="421"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04" autoAdjust="0"/>
    <p:restoredTop sz="81387" autoAdjust="0"/>
  </p:normalViewPr>
  <p:slideViewPr>
    <p:cSldViewPr snapToGrid="0">
      <p:cViewPr varScale="1">
        <p:scale>
          <a:sx n="64" d="100"/>
          <a:sy n="64" d="100"/>
        </p:scale>
        <p:origin x="160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9C09E9-14A4-45C6-99A8-7CC7BB07ADA9}"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84E74-A0D6-41E3-ADF1-94BED98E59AD}" type="slidenum">
              <a:rPr lang="en-US" smtClean="0"/>
              <a:t>‹#›</a:t>
            </a:fld>
            <a:endParaRPr lang="en-US"/>
          </a:p>
        </p:txBody>
      </p:sp>
    </p:spTree>
    <p:extLst>
      <p:ext uri="{BB962C8B-B14F-4D97-AF65-F5344CB8AC3E}">
        <p14:creationId xmlns:p14="http://schemas.microsoft.com/office/powerpoint/2010/main" val="99030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https://www.optimizely.com/optimization-glossary/ab-testing/</a:t>
            </a:r>
          </a:p>
        </p:txBody>
      </p:sp>
      <p:sp>
        <p:nvSpPr>
          <p:cNvPr id="4" name="Slide Number Placeholder 3"/>
          <p:cNvSpPr>
            <a:spLocks noGrp="1"/>
          </p:cNvSpPr>
          <p:nvPr>
            <p:ph type="sldNum" sz="quarter" idx="5"/>
          </p:nvPr>
        </p:nvSpPr>
        <p:spPr/>
        <p:txBody>
          <a:bodyPr/>
          <a:lstStyle/>
          <a:p>
            <a:fld id="{60884E74-A0D6-41E3-ADF1-94BED98E59AD}" type="slidenum">
              <a:rPr lang="en-US" smtClean="0"/>
              <a:t>7</a:t>
            </a:fld>
            <a:endParaRPr lang="en-US"/>
          </a:p>
        </p:txBody>
      </p:sp>
    </p:spTree>
    <p:extLst>
      <p:ext uri="{BB962C8B-B14F-4D97-AF65-F5344CB8AC3E}">
        <p14:creationId xmlns:p14="http://schemas.microsoft.com/office/powerpoint/2010/main" val="79895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D40A0-6A14-4DC2-B961-001C9513D6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E5AE87-C35F-4C2F-AD08-D73FD39F4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54DA23-FCAA-4679-8BE8-72E77C4B9273}"/>
              </a:ext>
            </a:extLst>
          </p:cNvPr>
          <p:cNvSpPr>
            <a:spLocks noGrp="1"/>
          </p:cNvSpPr>
          <p:nvPr>
            <p:ph type="dt" sz="half" idx="10"/>
          </p:nvPr>
        </p:nvSpPr>
        <p:spPr/>
        <p:txBody>
          <a:bodyPr/>
          <a:lstStyle/>
          <a:p>
            <a:fld id="{AA85F197-95CA-46B4-96F1-9B899C9886E9}" type="datetime1">
              <a:rPr lang="en-US" smtClean="0"/>
              <a:t>11/13/2025</a:t>
            </a:fld>
            <a:endParaRPr lang="en-US"/>
          </a:p>
        </p:txBody>
      </p:sp>
      <p:sp>
        <p:nvSpPr>
          <p:cNvPr id="5" name="Footer Placeholder 4">
            <a:extLst>
              <a:ext uri="{FF2B5EF4-FFF2-40B4-BE49-F238E27FC236}">
                <a16:creationId xmlns:a16="http://schemas.microsoft.com/office/drawing/2014/main" id="{CE04D9E2-7802-4FC8-9E2F-99849D1CB1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37A9C-41AF-4BB3-9283-86AC21096EFA}"/>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440009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84211-EE05-4884-8F04-3696F8AFE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0C8108-2612-4681-BB7E-D89D773F8F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207AD-E5B1-4F11-A56E-ACC7C46D9F4E}"/>
              </a:ext>
            </a:extLst>
          </p:cNvPr>
          <p:cNvSpPr>
            <a:spLocks noGrp="1"/>
          </p:cNvSpPr>
          <p:nvPr>
            <p:ph type="dt" sz="half" idx="10"/>
          </p:nvPr>
        </p:nvSpPr>
        <p:spPr/>
        <p:txBody>
          <a:bodyPr/>
          <a:lstStyle/>
          <a:p>
            <a:fld id="{F25201B1-3964-4F67-B4A4-12F373F4AEC9}" type="datetime1">
              <a:rPr lang="en-US" smtClean="0"/>
              <a:t>11/13/2025</a:t>
            </a:fld>
            <a:endParaRPr lang="en-US"/>
          </a:p>
        </p:txBody>
      </p:sp>
      <p:sp>
        <p:nvSpPr>
          <p:cNvPr id="5" name="Footer Placeholder 4">
            <a:extLst>
              <a:ext uri="{FF2B5EF4-FFF2-40B4-BE49-F238E27FC236}">
                <a16:creationId xmlns:a16="http://schemas.microsoft.com/office/drawing/2014/main" id="{629415C8-EEA9-4C2A-9F3B-EB13A6898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AAD01F-3955-4196-BCEA-AD68EC5CED9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4247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95135-D581-4F98-B725-6486F7DA8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B5886B-9E4C-4CFA-9699-4CE1ACAE6C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D61DD5-0CA6-433F-8FD6-005987972957}"/>
              </a:ext>
            </a:extLst>
          </p:cNvPr>
          <p:cNvSpPr>
            <a:spLocks noGrp="1"/>
          </p:cNvSpPr>
          <p:nvPr>
            <p:ph type="dt" sz="half" idx="10"/>
          </p:nvPr>
        </p:nvSpPr>
        <p:spPr/>
        <p:txBody>
          <a:bodyPr/>
          <a:lstStyle/>
          <a:p>
            <a:fld id="{69AC5753-71B0-4087-BDBC-F67FE4160E69}" type="datetime1">
              <a:rPr lang="en-US" smtClean="0"/>
              <a:t>11/13/2025</a:t>
            </a:fld>
            <a:endParaRPr lang="en-US"/>
          </a:p>
        </p:txBody>
      </p:sp>
      <p:sp>
        <p:nvSpPr>
          <p:cNvPr id="5" name="Footer Placeholder 4">
            <a:extLst>
              <a:ext uri="{FF2B5EF4-FFF2-40B4-BE49-F238E27FC236}">
                <a16:creationId xmlns:a16="http://schemas.microsoft.com/office/drawing/2014/main" id="{67009AFE-1821-4DB9-959E-4047114A9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28D4C6-A231-4C79-99D2-94494FD7A048}"/>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327012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339C-BFC2-4467-8529-46F6D8D11D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44D8C6-5534-4698-A273-DB05F6B5F3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2ED41C-C070-4A39-927E-23EA8264FA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6E58C5-9AFF-4213-A596-09C174777781}"/>
              </a:ext>
            </a:extLst>
          </p:cNvPr>
          <p:cNvSpPr>
            <a:spLocks noGrp="1"/>
          </p:cNvSpPr>
          <p:nvPr>
            <p:ph type="dt" sz="half" idx="10"/>
          </p:nvPr>
        </p:nvSpPr>
        <p:spPr/>
        <p:txBody>
          <a:bodyPr/>
          <a:lstStyle/>
          <a:p>
            <a:fld id="{BD9D796D-A51C-40BE-A693-ED8F132A0ED9}" type="datetime1">
              <a:rPr lang="en-US" smtClean="0"/>
              <a:t>11/13/2025</a:t>
            </a:fld>
            <a:endParaRPr lang="en-US"/>
          </a:p>
        </p:txBody>
      </p:sp>
      <p:sp>
        <p:nvSpPr>
          <p:cNvPr id="6" name="Footer Placeholder 5">
            <a:extLst>
              <a:ext uri="{FF2B5EF4-FFF2-40B4-BE49-F238E27FC236}">
                <a16:creationId xmlns:a16="http://schemas.microsoft.com/office/drawing/2014/main" id="{776C3A5D-24C7-4E53-8C38-7437EBB232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907114-156D-4F22-BB75-A0617F2A9AC9}"/>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4102379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08B6-C176-4AFC-8DEF-1EBA687EC9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DCFFD0-248E-43D5-BE02-997D11FDF6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E0CC39-67F6-4AB4-884A-0D3C5A4A44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2CEE79-6218-42B6-9666-71ED58B41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99EB86-6CD3-494E-9652-49CE5040F5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0199B6-AB7A-46B0-9CFC-C64A616E1A3C}"/>
              </a:ext>
            </a:extLst>
          </p:cNvPr>
          <p:cNvSpPr>
            <a:spLocks noGrp="1"/>
          </p:cNvSpPr>
          <p:nvPr>
            <p:ph type="dt" sz="half" idx="10"/>
          </p:nvPr>
        </p:nvSpPr>
        <p:spPr/>
        <p:txBody>
          <a:bodyPr/>
          <a:lstStyle/>
          <a:p>
            <a:fld id="{445710C2-82C0-473E-89F0-A32248413CFD}" type="datetime1">
              <a:rPr lang="en-US" smtClean="0"/>
              <a:t>11/13/2025</a:t>
            </a:fld>
            <a:endParaRPr lang="en-US"/>
          </a:p>
        </p:txBody>
      </p:sp>
      <p:sp>
        <p:nvSpPr>
          <p:cNvPr id="8" name="Footer Placeholder 7">
            <a:extLst>
              <a:ext uri="{FF2B5EF4-FFF2-40B4-BE49-F238E27FC236}">
                <a16:creationId xmlns:a16="http://schemas.microsoft.com/office/drawing/2014/main" id="{8349821B-8F08-46B8-B491-DFB2980BB5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505734-24AF-474D-AACE-825F1AA45BB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52114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DFAB6-9E45-44E1-8AAD-3756C932A3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8DE234-3308-4ADE-8121-52BEAB1D1657}"/>
              </a:ext>
            </a:extLst>
          </p:cNvPr>
          <p:cNvSpPr>
            <a:spLocks noGrp="1"/>
          </p:cNvSpPr>
          <p:nvPr>
            <p:ph type="dt" sz="half" idx="10"/>
          </p:nvPr>
        </p:nvSpPr>
        <p:spPr/>
        <p:txBody>
          <a:bodyPr/>
          <a:lstStyle/>
          <a:p>
            <a:fld id="{2C046F5A-FE93-47F5-BE74-DC0436316DFC}" type="datetime1">
              <a:rPr lang="en-US" smtClean="0"/>
              <a:t>11/13/2025</a:t>
            </a:fld>
            <a:endParaRPr lang="en-US"/>
          </a:p>
        </p:txBody>
      </p:sp>
      <p:sp>
        <p:nvSpPr>
          <p:cNvPr id="4" name="Footer Placeholder 3">
            <a:extLst>
              <a:ext uri="{FF2B5EF4-FFF2-40B4-BE49-F238E27FC236}">
                <a16:creationId xmlns:a16="http://schemas.microsoft.com/office/drawing/2014/main" id="{6A89F5AF-DD67-467C-80C0-F2580A68F5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B8A2DD-C06D-4773-9287-09DCA3310068}"/>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13905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F3992C-1008-48FB-B94E-F8DBBDC4CD4B}"/>
              </a:ext>
            </a:extLst>
          </p:cNvPr>
          <p:cNvSpPr>
            <a:spLocks noGrp="1"/>
          </p:cNvSpPr>
          <p:nvPr>
            <p:ph type="dt" sz="half" idx="10"/>
          </p:nvPr>
        </p:nvSpPr>
        <p:spPr/>
        <p:txBody>
          <a:bodyPr/>
          <a:lstStyle/>
          <a:p>
            <a:fld id="{D84F1168-0950-47D7-B701-BF99E0ABFB96}" type="datetime1">
              <a:rPr lang="en-US" smtClean="0"/>
              <a:t>11/13/2025</a:t>
            </a:fld>
            <a:endParaRPr lang="en-US"/>
          </a:p>
        </p:txBody>
      </p:sp>
      <p:sp>
        <p:nvSpPr>
          <p:cNvPr id="3" name="Footer Placeholder 2">
            <a:extLst>
              <a:ext uri="{FF2B5EF4-FFF2-40B4-BE49-F238E27FC236}">
                <a16:creationId xmlns:a16="http://schemas.microsoft.com/office/drawing/2014/main" id="{39517C32-0889-480B-BA86-811E002E83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FE60F9-5553-463E-95E3-2ED60866CE99}"/>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67819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A2A1-3525-4965-AB1C-AE11E854B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9992DF-6D87-4418-BD64-ECA26A003B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3C9F12-751B-428D-8A71-6A09DCA7E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8B4E92-9E43-4720-8E55-A0D279EBBB0A}"/>
              </a:ext>
            </a:extLst>
          </p:cNvPr>
          <p:cNvSpPr>
            <a:spLocks noGrp="1"/>
          </p:cNvSpPr>
          <p:nvPr>
            <p:ph type="dt" sz="half" idx="10"/>
          </p:nvPr>
        </p:nvSpPr>
        <p:spPr/>
        <p:txBody>
          <a:bodyPr/>
          <a:lstStyle/>
          <a:p>
            <a:fld id="{CB1E66DA-BD37-4027-9F56-52AA6A68F076}" type="datetime1">
              <a:rPr lang="en-US" smtClean="0"/>
              <a:t>11/13/2025</a:t>
            </a:fld>
            <a:endParaRPr lang="en-US"/>
          </a:p>
        </p:txBody>
      </p:sp>
      <p:sp>
        <p:nvSpPr>
          <p:cNvPr id="6" name="Footer Placeholder 5">
            <a:extLst>
              <a:ext uri="{FF2B5EF4-FFF2-40B4-BE49-F238E27FC236}">
                <a16:creationId xmlns:a16="http://schemas.microsoft.com/office/drawing/2014/main" id="{12DCA06E-7C01-4259-A560-D4DE0FE696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43108F-C22A-4665-AFC7-3B361DBA00C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1453186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E2D93-277D-45AD-8CC9-1A254ACA84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3FBEC7-6A3F-404A-BF0E-75CBCA6397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BFBCF-2423-4852-B930-D8F0D126C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C7F99F-EF58-4759-AD06-EFC2B27BB50C}"/>
              </a:ext>
            </a:extLst>
          </p:cNvPr>
          <p:cNvSpPr>
            <a:spLocks noGrp="1"/>
          </p:cNvSpPr>
          <p:nvPr>
            <p:ph type="dt" sz="half" idx="10"/>
          </p:nvPr>
        </p:nvSpPr>
        <p:spPr/>
        <p:txBody>
          <a:bodyPr/>
          <a:lstStyle/>
          <a:p>
            <a:fld id="{8F8A33A8-CBEA-4B30-A299-4E1B1F92A5D3}" type="datetime1">
              <a:rPr lang="en-US" smtClean="0"/>
              <a:t>11/13/2025</a:t>
            </a:fld>
            <a:endParaRPr lang="en-US"/>
          </a:p>
        </p:txBody>
      </p:sp>
      <p:sp>
        <p:nvSpPr>
          <p:cNvPr id="6" name="Footer Placeholder 5">
            <a:extLst>
              <a:ext uri="{FF2B5EF4-FFF2-40B4-BE49-F238E27FC236}">
                <a16:creationId xmlns:a16="http://schemas.microsoft.com/office/drawing/2014/main" id="{78476BE7-3C01-4501-A5B0-1099B474CB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7F5465-21A3-4983-A70A-A40EED10D632}"/>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1015286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1900-43FD-44F2-BAF4-27E1B9B18D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FD86F4-46EF-4729-8819-60FFA52BD4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61F1B-EE0D-4A98-A59C-FE24BE0AEB85}"/>
              </a:ext>
            </a:extLst>
          </p:cNvPr>
          <p:cNvSpPr>
            <a:spLocks noGrp="1"/>
          </p:cNvSpPr>
          <p:nvPr>
            <p:ph type="dt" sz="half" idx="10"/>
          </p:nvPr>
        </p:nvSpPr>
        <p:spPr/>
        <p:txBody>
          <a:bodyPr/>
          <a:lstStyle/>
          <a:p>
            <a:fld id="{D5B79937-3C2B-41FC-8AE6-B905110FAD54}" type="datetime1">
              <a:rPr lang="en-US" smtClean="0"/>
              <a:t>11/13/2025</a:t>
            </a:fld>
            <a:endParaRPr lang="en-US"/>
          </a:p>
        </p:txBody>
      </p:sp>
      <p:sp>
        <p:nvSpPr>
          <p:cNvPr id="5" name="Footer Placeholder 4">
            <a:extLst>
              <a:ext uri="{FF2B5EF4-FFF2-40B4-BE49-F238E27FC236}">
                <a16:creationId xmlns:a16="http://schemas.microsoft.com/office/drawing/2014/main" id="{C630A5F8-CE66-436C-A014-C3A03BABD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5B76E-B615-4A07-883D-1CE0F38BF122}"/>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292824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951FBB-507E-4F4C-8D1E-C0F83724C2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F44820-4BD1-4780-B0B9-2AACEFDCD3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A1BF3-B713-4AFF-9CB0-E8179E1C5B33}"/>
              </a:ext>
            </a:extLst>
          </p:cNvPr>
          <p:cNvSpPr>
            <a:spLocks noGrp="1"/>
          </p:cNvSpPr>
          <p:nvPr>
            <p:ph type="dt" sz="half" idx="10"/>
          </p:nvPr>
        </p:nvSpPr>
        <p:spPr/>
        <p:txBody>
          <a:bodyPr/>
          <a:lstStyle/>
          <a:p>
            <a:fld id="{33531A41-7557-4639-82C5-8ADC75AA5B3B}" type="datetime1">
              <a:rPr lang="en-US" smtClean="0"/>
              <a:t>11/13/2025</a:t>
            </a:fld>
            <a:endParaRPr lang="en-US"/>
          </a:p>
        </p:txBody>
      </p:sp>
      <p:sp>
        <p:nvSpPr>
          <p:cNvPr id="5" name="Footer Placeholder 4">
            <a:extLst>
              <a:ext uri="{FF2B5EF4-FFF2-40B4-BE49-F238E27FC236}">
                <a16:creationId xmlns:a16="http://schemas.microsoft.com/office/drawing/2014/main" id="{C8E4064E-D194-4BC4-9AB5-88AF14A70D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986F4D-1D58-4ED5-981D-99B82124E01E}"/>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2524400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9B0B8B-81DC-4FC7-A26D-A9DAA0B36F29}"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652081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D8C70D-D64B-4C37-AB2E-062D1498514C}"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670832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8D70A-E077-46F4-830F-D1E8844E8FDF}"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957675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06DBA8-3544-4083-91F9-9F52356363BA}" type="datetime1">
              <a:rPr lang="en-US" smtClean="0">
                <a:solidFill>
                  <a:prstClr val="black">
                    <a:tint val="75000"/>
                  </a:prstClr>
                </a:solidFill>
              </a:rPr>
              <a:pPr/>
              <a:t>11/13/2025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834994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C64468-67CC-4131-940F-0BB95B30E4BB}" type="datetime1">
              <a:rPr lang="en-US" smtClean="0">
                <a:solidFill>
                  <a:prstClr val="black">
                    <a:tint val="75000"/>
                  </a:prstClr>
                </a:solidFill>
              </a:rPr>
              <a:pPr/>
              <a:t>11/13/2025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2882908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255176-4251-4BC6-9F5C-77AE742AA81E}" type="datetime1">
              <a:rPr lang="en-US" smtClean="0">
                <a:solidFill>
                  <a:prstClr val="black">
                    <a:tint val="75000"/>
                  </a:prstClr>
                </a:solidFill>
              </a:rPr>
              <a:pPr/>
              <a:t>11/13/2025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4204161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A63C91-7E31-45BA-A560-45CFC057ADB8}" type="datetime1">
              <a:rPr lang="en-US" smtClean="0">
                <a:solidFill>
                  <a:prstClr val="black">
                    <a:tint val="75000"/>
                  </a:prstClr>
                </a:solidFill>
              </a:rPr>
              <a:pPr/>
              <a:t>11/13/2025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7855615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4F5087-D9CB-45F6-951E-397F321F223A}" type="datetime1">
              <a:rPr lang="en-US" smtClean="0">
                <a:solidFill>
                  <a:prstClr val="black">
                    <a:tint val="75000"/>
                  </a:prstClr>
                </a:solidFill>
              </a:rPr>
              <a:pPr/>
              <a:t>11/13/2025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153429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6AF34A-E5F0-474B-83AC-5BD3BED6D761}" type="datetime1">
              <a:rPr lang="en-US" smtClean="0">
                <a:solidFill>
                  <a:prstClr val="black">
                    <a:tint val="75000"/>
                  </a:prstClr>
                </a:solidFill>
              </a:rPr>
              <a:pPr/>
              <a:t>11/13/2025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2207294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50321940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endParaRPr lang="en-US" dirty="0">
              <a:solidFill>
                <a:srgbClr val="90C226">
                  <a:lumMod val="60000"/>
                  <a:lumOff val="40000"/>
                </a:srgbClr>
              </a:solidFill>
              <a:latin typeface="Arial"/>
            </a:endParaRPr>
          </a:p>
        </p:txBody>
      </p:sp>
    </p:spTree>
    <p:extLst>
      <p:ext uri="{BB962C8B-B14F-4D97-AF65-F5344CB8AC3E}">
        <p14:creationId xmlns:p14="http://schemas.microsoft.com/office/powerpoint/2010/main" val="1745827062"/>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636470701"/>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1441837557"/>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280971228"/>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8E711B-57F6-4535-B099-9C9E95709484}"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2117121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1496ED-C82C-4AC4-B022-640852E90AEA}"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092757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A1018-6A69-4704-B20A-8CF82212C7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B7DABA-4B41-4D66-B028-8FDC949C8A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74EF3-AC51-413E-97E4-8416CE649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625E35-F23F-4604-A3DB-1E2E490A81C2}" type="datetime1">
              <a:rPr lang="en-US" smtClean="0"/>
              <a:t>11/13/2025</a:t>
            </a:fld>
            <a:endParaRPr lang="en-US"/>
          </a:p>
        </p:txBody>
      </p:sp>
      <p:sp>
        <p:nvSpPr>
          <p:cNvPr id="5" name="Footer Placeholder 4">
            <a:extLst>
              <a:ext uri="{FF2B5EF4-FFF2-40B4-BE49-F238E27FC236}">
                <a16:creationId xmlns:a16="http://schemas.microsoft.com/office/drawing/2014/main" id="{E8DFAE2E-B5E1-4BA7-85D2-CC6A7E982B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181916-F929-469B-ADED-E173BBF2F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C13368-87E2-45D4-94DC-4C7E2F69B6F2}" type="slidenum">
              <a:rPr lang="en-US" smtClean="0"/>
              <a:t>‹#›</a:t>
            </a:fld>
            <a:endParaRPr lang="en-US" dirty="0"/>
          </a:p>
        </p:txBody>
      </p:sp>
    </p:spTree>
    <p:extLst>
      <p:ext uri="{BB962C8B-B14F-4D97-AF65-F5344CB8AC3E}">
        <p14:creationId xmlns:p14="http://schemas.microsoft.com/office/powerpoint/2010/main" val="109646218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ED50C1-BE7B-4B29-9B5F-D06B3C290356}" type="datetime1">
              <a:rPr lang="en-US" smtClean="0">
                <a:solidFill>
                  <a:prstClr val="black">
                    <a:tint val="75000"/>
                  </a:prstClr>
                </a:solidFill>
              </a:rPr>
              <a:pPr/>
              <a:t>11/13/2025</a:t>
            </a:fld>
            <a:endParaRPr lang="en-US">
              <a:solidFill>
                <a:prstClr val="black">
                  <a:tint val="75000"/>
                </a:prstClr>
              </a:solidFill>
            </a:endParaRP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529A1F-6900-4D36-92AC-B7647C1D9DDB}"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220770777"/>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30.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50.png"/><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0.png"/><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8AFFFA3-D2FC-4485-ABF8-56ECFCC3BE5A}"/>
              </a:ext>
            </a:extLst>
          </p:cNvPr>
          <p:cNvSpPr txBox="1">
            <a:spLocks/>
          </p:cNvSpPr>
          <p:nvPr/>
        </p:nvSpPr>
        <p:spPr>
          <a:xfrm>
            <a:off x="516048" y="2281473"/>
            <a:ext cx="9172906" cy="2048512"/>
          </a:xfrm>
          <a:prstGeom prst="rect">
            <a:avLst/>
          </a:prstGeom>
        </p:spPr>
        <p:txBody>
          <a:bodyPr vert="horz" lIns="91440" tIns="45720" rIns="91440" bIns="45720" rtlCol="0" anchor="b">
            <a:normAutofit fontScale="90000"/>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6600"/>
              </a:spcBef>
              <a:spcAft>
                <a:spcPts val="4800"/>
              </a:spcAft>
            </a:pPr>
            <a:r>
              <a:rPr lang="en-GB" sz="3600" dirty="0">
                <a:solidFill>
                  <a:srgbClr val="90C226"/>
                </a:solidFill>
              </a:rPr>
              <a:t>Statistical Experiments and Significance Testing</a:t>
            </a:r>
            <a:br>
              <a:rPr lang="en-US" sz="4900" dirty="0">
                <a:solidFill>
                  <a:srgbClr val="90C226"/>
                </a:solidFill>
              </a:rPr>
            </a:br>
            <a:r>
              <a:rPr lang="en-US" sz="2700" dirty="0">
                <a:solidFill>
                  <a:srgbClr val="90C226"/>
                </a:solidFill>
              </a:rPr>
              <a:t>Unit 02 Lecture 05</a:t>
            </a:r>
            <a:br>
              <a:rPr lang="en-US" dirty="0">
                <a:solidFill>
                  <a:srgbClr val="90C226"/>
                </a:solidFill>
              </a:rPr>
            </a:br>
            <a:endParaRPr lang="en-US" dirty="0">
              <a:solidFill>
                <a:srgbClr val="90C226"/>
              </a:solidFill>
            </a:endParaRPr>
          </a:p>
        </p:txBody>
      </p:sp>
      <p:sp>
        <p:nvSpPr>
          <p:cNvPr id="7" name="Subtitle 2">
            <a:extLst>
              <a:ext uri="{FF2B5EF4-FFF2-40B4-BE49-F238E27FC236}">
                <a16:creationId xmlns:a16="http://schemas.microsoft.com/office/drawing/2014/main" id="{E0C3BD14-3D28-4B9E-A32C-59118B1FBF1E}"/>
              </a:ext>
            </a:extLst>
          </p:cNvPr>
          <p:cNvSpPr txBox="1">
            <a:spLocks/>
          </p:cNvSpPr>
          <p:nvPr/>
        </p:nvSpPr>
        <p:spPr>
          <a:xfrm>
            <a:off x="1922018" y="4203233"/>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buClr>
                <a:srgbClr val="90C226"/>
              </a:buClr>
            </a:pPr>
            <a:r>
              <a:rPr lang="en-US" dirty="0">
                <a:solidFill>
                  <a:prstClr val="black">
                    <a:lumMod val="50000"/>
                    <a:lumOff val="50000"/>
                  </a:prstClr>
                </a:solidFill>
              </a:rPr>
              <a:t>Dr Muhammad Ismail Mangrio</a:t>
            </a:r>
          </a:p>
        </p:txBody>
      </p:sp>
    </p:spTree>
    <p:extLst>
      <p:ext uri="{BB962C8B-B14F-4D97-AF65-F5344CB8AC3E}">
        <p14:creationId xmlns:p14="http://schemas.microsoft.com/office/powerpoint/2010/main" val="2179507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F7380-475E-4EC8-BCF1-FF3771C6DA48}"/>
              </a:ext>
            </a:extLst>
          </p:cNvPr>
          <p:cNvSpPr>
            <a:spLocks noGrp="1"/>
          </p:cNvSpPr>
          <p:nvPr>
            <p:ph type="title"/>
          </p:nvPr>
        </p:nvSpPr>
        <p:spPr>
          <a:xfrm>
            <a:off x="724754" y="0"/>
            <a:ext cx="9875520" cy="1356360"/>
          </a:xfrm>
        </p:spPr>
        <p:txBody>
          <a:bodyPr/>
          <a:lstStyle/>
          <a:p>
            <a:r>
              <a:rPr lang="en-US" sz="4400" b="0" i="0" dirty="0">
                <a:solidFill>
                  <a:schemeClr val="accent2"/>
                </a:solidFill>
                <a:effectLst/>
                <a:latin typeface="FranklinGothic-DemiItal"/>
              </a:rPr>
              <a:t>Contents</a:t>
            </a:r>
            <a:endParaRPr lang="en-US" dirty="0">
              <a:solidFill>
                <a:schemeClr val="accent2"/>
              </a:solidFill>
            </a:endParaRPr>
          </a:p>
        </p:txBody>
      </p:sp>
      <p:sp>
        <p:nvSpPr>
          <p:cNvPr id="3" name="Content Placeholder 2">
            <a:extLst>
              <a:ext uri="{FF2B5EF4-FFF2-40B4-BE49-F238E27FC236}">
                <a16:creationId xmlns:a16="http://schemas.microsoft.com/office/drawing/2014/main" id="{5F4391AE-0FD7-4CD8-B503-7346B38F122D}"/>
              </a:ext>
            </a:extLst>
          </p:cNvPr>
          <p:cNvSpPr>
            <a:spLocks noGrp="1"/>
          </p:cNvSpPr>
          <p:nvPr>
            <p:ph idx="1"/>
          </p:nvPr>
        </p:nvSpPr>
        <p:spPr>
          <a:xfrm>
            <a:off x="851025" y="783316"/>
            <a:ext cx="11947557" cy="5831090"/>
          </a:xfrm>
        </p:spPr>
        <p:txBody>
          <a:bodyPr>
            <a:noAutofit/>
          </a:bodyPr>
          <a:lstStyle/>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A/B Testing</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Hypothesis Tests</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The Null Hypothesis &amp; Alternative Hypothesis </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Resampling</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Permutation Test , Example: Web Stickiness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Exhaustive and Bootstrap Permutation Tests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Permutation Tests: The Bottom Line for Data Science </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Statistical Significance and p-Values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p-Value, Alpha , Type 1 and Type 2 Errors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Data Science and p-Values</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t-Tests </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Multiple Testing </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Degrees of Freedom</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ANOVA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F-Statistic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Two-Way ANOVA </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Chi-Square Test</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Chi-Square Test: A Resampling Approach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Chi-Square Test: Statistical Theory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Fisher’s Exact Test </a:t>
            </a:r>
          </a:p>
          <a:p>
            <a:pPr lvl="1">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Relevance for Data Science </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Multi-Arm Bandit Algorithm </a:t>
            </a:r>
          </a:p>
          <a:p>
            <a:pPr>
              <a:spcBef>
                <a:spcPts val="300"/>
              </a:spcBef>
              <a:buFont typeface="Wingdings" panose="05000000000000000000" pitchFamily="2" charset="2"/>
              <a:buChar char="Ø"/>
            </a:pPr>
            <a:r>
              <a:rPr lang="en-GB" sz="1400" dirty="0">
                <a:solidFill>
                  <a:schemeClr val="tx1"/>
                </a:solidFill>
                <a:latin typeface="Times New Roman" panose="02020603050405020304" pitchFamily="18" charset="0"/>
                <a:cs typeface="Times New Roman" panose="02020603050405020304" pitchFamily="18" charset="0"/>
              </a:rPr>
              <a:t>Power and Sample Size </a:t>
            </a:r>
          </a:p>
        </p:txBody>
      </p:sp>
      <p:sp>
        <p:nvSpPr>
          <p:cNvPr id="5" name="Slide Number Placeholder 4">
            <a:extLst>
              <a:ext uri="{FF2B5EF4-FFF2-40B4-BE49-F238E27FC236}">
                <a16:creationId xmlns:a16="http://schemas.microsoft.com/office/drawing/2014/main" id="{30691FBE-E94D-4354-8F19-B8A3DE404EF1}"/>
              </a:ext>
            </a:extLst>
          </p:cNvPr>
          <p:cNvSpPr>
            <a:spLocks noGrp="1"/>
          </p:cNvSpPr>
          <p:nvPr>
            <p:ph type="sldNum" sz="quarter" idx="12"/>
          </p:nvPr>
        </p:nvSpPr>
        <p:spPr/>
        <p:txBody>
          <a:bodyPr/>
          <a:lstStyle/>
          <a:p>
            <a:fld id="{CC529A1F-6900-4D36-92AC-B7647C1D9DDB}" type="slidenum">
              <a:rPr lang="en-US" smtClean="0">
                <a:solidFill>
                  <a:srgbClr val="90C226"/>
                </a:solidFill>
              </a:rPr>
              <a:pPr/>
              <a:t>2</a:t>
            </a:fld>
            <a:endParaRPr lang="en-US">
              <a:solidFill>
                <a:srgbClr val="90C226"/>
              </a:solidFill>
            </a:endParaRPr>
          </a:p>
        </p:txBody>
      </p:sp>
    </p:spTree>
    <p:extLst>
      <p:ext uri="{BB962C8B-B14F-4D97-AF65-F5344CB8AC3E}">
        <p14:creationId xmlns:p14="http://schemas.microsoft.com/office/powerpoint/2010/main" val="3851698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A/B Testing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230722" cy="5456742"/>
          </a:xfrm>
        </p:spPr>
        <p:txBody>
          <a:bodyPr>
            <a:normAutofit/>
          </a:bodyPr>
          <a:lstStyle/>
          <a:p>
            <a:pPr algn="just">
              <a:buFont typeface="Wingdings" panose="05000000000000000000" pitchFamily="2" charset="2"/>
              <a:buChar char="Ø"/>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An A/B test is an experiment with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two</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groups (i.e., Control and Experimental)</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to establish which of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two</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treatments/</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products/procedures, or the like is superior.</a:t>
            </a:r>
          </a:p>
          <a:p>
            <a:pPr algn="just">
              <a:buFont typeface="Wingdings" panose="05000000000000000000" pitchFamily="2" charset="2"/>
              <a:buChar char="Ø"/>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Often one of the two treatments is the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standard existing treatment</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or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no treatment</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p>
          <a:p>
            <a:pPr algn="just">
              <a:buFont typeface="Wingdings" panose="05000000000000000000" pitchFamily="2" charset="2"/>
              <a:buChar char="Ø"/>
            </a:pP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If a standard (or no) treatment is used, it is called the </a:t>
            </a:r>
            <a:r>
              <a:rPr lang="en-US" sz="24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control</a:t>
            </a: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pPr lvl="1" algn="just">
              <a:buFont typeface="Wingdings" panose="05000000000000000000" pitchFamily="2" charset="2"/>
              <a:buChar char="Ø"/>
            </a:pP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 typical hypothesis is that a </a:t>
            </a:r>
            <a:r>
              <a:rPr lang="en-US" sz="24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new treatment is better than the control</a:t>
            </a:r>
            <a:r>
              <a:rPr lang="en-US" sz="2400" b="0" i="0" dirty="0">
                <a:solidFill>
                  <a:srgbClr val="00B0F0"/>
                </a:solidFill>
                <a:effectLst/>
                <a:latin typeface="Tahoma" panose="020B0604030504040204" pitchFamily="34" charset="0"/>
                <a:ea typeface="Tahoma" panose="020B0604030504040204" pitchFamily="34" charset="0"/>
                <a:cs typeface="Tahoma" panose="020B0604030504040204" pitchFamily="34" charset="0"/>
              </a:rPr>
              <a:t>.</a:t>
            </a:r>
          </a:p>
          <a:p>
            <a:pPr algn="just"/>
            <a:endParaRPr lang="en-US" sz="2800" b="0" i="0" dirty="0">
              <a:solidFill>
                <a:srgbClr val="00B0F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3</a:t>
            </a:fld>
            <a:endParaRPr lang="en-US"/>
          </a:p>
        </p:txBody>
      </p:sp>
    </p:spTree>
    <p:extLst>
      <p:ext uri="{BB962C8B-B14F-4D97-AF65-F5344CB8AC3E}">
        <p14:creationId xmlns:p14="http://schemas.microsoft.com/office/powerpoint/2010/main" val="1669600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ADF0A-FD1D-90D9-71FC-0664D23D9B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C504E-7DB5-A49B-B467-DC183D87B01E}"/>
              </a:ext>
            </a:extLst>
          </p:cNvPr>
          <p:cNvSpPr>
            <a:spLocks noGrp="1"/>
          </p:cNvSpPr>
          <p:nvPr>
            <p:ph type="title"/>
          </p:nvPr>
        </p:nvSpPr>
        <p:spPr>
          <a:xfrm>
            <a:off x="395416" y="272673"/>
            <a:ext cx="11376454" cy="757057"/>
          </a:xfrm>
        </p:spPr>
        <p:txBody>
          <a:bodyPr>
            <a:normAutofit/>
          </a:bodyPr>
          <a:lstStyle/>
          <a:p>
            <a:r>
              <a:rPr lang="en-US" dirty="0"/>
              <a:t>A/B Testing</a:t>
            </a:r>
          </a:p>
        </p:txBody>
      </p:sp>
      <p:sp>
        <p:nvSpPr>
          <p:cNvPr id="3" name="Content Placeholder 2">
            <a:extLst>
              <a:ext uri="{FF2B5EF4-FFF2-40B4-BE49-F238E27FC236}">
                <a16:creationId xmlns:a16="http://schemas.microsoft.com/office/drawing/2014/main" id="{8B054F67-1D3D-69E2-DE85-EBA50BE36FD3}"/>
              </a:ext>
            </a:extLst>
          </p:cNvPr>
          <p:cNvSpPr>
            <a:spLocks noGrp="1"/>
          </p:cNvSpPr>
          <p:nvPr>
            <p:ph idx="1"/>
          </p:nvPr>
        </p:nvSpPr>
        <p:spPr>
          <a:xfrm>
            <a:off x="395416" y="1128585"/>
            <a:ext cx="9230722" cy="5456742"/>
          </a:xfrm>
        </p:spPr>
        <p:txBody>
          <a:bodyPr>
            <a:normAutofit/>
          </a:bodyPr>
          <a:lstStyle/>
          <a:p>
            <a:pPr algn="just"/>
            <a:r>
              <a:rPr lang="en-US" sz="2400" b="1" dirty="0"/>
              <a:t>A/B testing</a:t>
            </a:r>
            <a:r>
              <a:rPr lang="en-US" sz="2400" dirty="0"/>
              <a:t> (also called </a:t>
            </a:r>
            <a:r>
              <a:rPr lang="en-US" sz="2400" b="1" dirty="0"/>
              <a:t>split testing</a:t>
            </a:r>
            <a:r>
              <a:rPr lang="en-US" sz="2400" dirty="0"/>
              <a:t>) is a </a:t>
            </a:r>
            <a:r>
              <a:rPr lang="en-US" sz="2400" b="1" dirty="0"/>
              <a:t>controlled experiment</a:t>
            </a:r>
            <a:r>
              <a:rPr lang="en-US" sz="2400" dirty="0"/>
              <a:t> used to compare </a:t>
            </a:r>
            <a:r>
              <a:rPr lang="en-US" sz="2400" b="1" dirty="0"/>
              <a:t>two versions of something</a:t>
            </a:r>
            <a:r>
              <a:rPr lang="en-US" sz="2400" dirty="0"/>
              <a:t> to determine which one performs better.</a:t>
            </a:r>
          </a:p>
          <a:p>
            <a:pPr lvl="1"/>
            <a:r>
              <a:rPr lang="en-GB" sz="2400" b="1" dirty="0"/>
              <a:t>“</a:t>
            </a:r>
            <a:r>
              <a:rPr lang="en-GB" sz="2400" b="1" dirty="0">
                <a:solidFill>
                  <a:srgbClr val="0070C0"/>
                </a:solidFill>
              </a:rPr>
              <a:t>A</a:t>
            </a:r>
            <a:r>
              <a:rPr lang="en-GB" sz="2400" b="1" dirty="0"/>
              <a:t>”</a:t>
            </a:r>
            <a:r>
              <a:rPr lang="en-GB" sz="2400" dirty="0"/>
              <a:t>=current version (control)</a:t>
            </a:r>
          </a:p>
          <a:p>
            <a:pPr lvl="1"/>
            <a:r>
              <a:rPr lang="en-GB" sz="2400" b="1" dirty="0"/>
              <a:t>“</a:t>
            </a:r>
            <a:r>
              <a:rPr lang="en-GB" sz="2400" b="1" dirty="0">
                <a:solidFill>
                  <a:srgbClr val="0070C0"/>
                </a:solidFill>
              </a:rPr>
              <a:t>B</a:t>
            </a:r>
            <a:r>
              <a:rPr lang="en-GB" sz="2400" b="1" dirty="0"/>
              <a:t>”</a:t>
            </a:r>
            <a:r>
              <a:rPr lang="en-GB" sz="2400" dirty="0"/>
              <a:t> = new version (treatment/variant/experiment)</a:t>
            </a:r>
          </a:p>
          <a:p>
            <a:endParaRPr lang="en-US" sz="2400" dirty="0"/>
          </a:p>
          <a:p>
            <a:r>
              <a:rPr lang="en-US" sz="2400" dirty="0"/>
              <a:t>It’s widely used in:</a:t>
            </a:r>
          </a:p>
          <a:p>
            <a:pPr lvl="1"/>
            <a:r>
              <a:rPr lang="en-US" sz="2400" dirty="0"/>
              <a:t>Website optimization (click-through rates, conversions)</a:t>
            </a:r>
          </a:p>
          <a:p>
            <a:pPr lvl="1"/>
            <a:r>
              <a:rPr lang="en-US" sz="2400" dirty="0"/>
              <a:t>Marketing campaigns (email subject lines, ad banners)</a:t>
            </a:r>
          </a:p>
          <a:p>
            <a:pPr lvl="1"/>
            <a:r>
              <a:rPr lang="en-US" sz="2400" dirty="0"/>
              <a:t>Product design (UI/UX changes)</a:t>
            </a:r>
          </a:p>
          <a:p>
            <a:endParaRPr lang="en-GB" sz="2400" dirty="0"/>
          </a:p>
          <a:p>
            <a:endParaRPr lang="en-US" sz="2400" b="0" i="0" dirty="0">
              <a:solidFill>
                <a:srgbClr val="00B0F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1FA19B59-E86D-D256-A9C4-AC098EC4A05A}"/>
              </a:ext>
            </a:extLst>
          </p:cNvPr>
          <p:cNvSpPr>
            <a:spLocks noGrp="1"/>
          </p:cNvSpPr>
          <p:nvPr>
            <p:ph type="sldNum" sz="quarter" idx="12"/>
          </p:nvPr>
        </p:nvSpPr>
        <p:spPr/>
        <p:txBody>
          <a:bodyPr/>
          <a:lstStyle/>
          <a:p>
            <a:fld id="{CC529A1F-6900-4D36-92AC-B7647C1D9DDB}" type="slidenum">
              <a:rPr lang="en-US" smtClean="0"/>
              <a:t>4</a:t>
            </a:fld>
            <a:endParaRPr lang="en-US"/>
          </a:p>
        </p:txBody>
      </p:sp>
    </p:spTree>
    <p:extLst>
      <p:ext uri="{BB962C8B-B14F-4D97-AF65-F5344CB8AC3E}">
        <p14:creationId xmlns:p14="http://schemas.microsoft.com/office/powerpoint/2010/main" val="957368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A/B Testing (Additional reading)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230722" cy="5456742"/>
          </a:xfrm>
        </p:spPr>
        <p:txBody>
          <a:bodyPr>
            <a:normAutofit lnSpcReduction="10000"/>
          </a:bodyPr>
          <a:lstStyle/>
          <a:p>
            <a:pPr algn="just">
              <a:buFont typeface="Wingdings" panose="05000000000000000000" pitchFamily="2" charset="2"/>
              <a:buChar char="Ø"/>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In a research study, there is usually an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experimental group</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and a comparison or a </a:t>
            </a:r>
            <a:r>
              <a:rPr lang="en-US" sz="2400" b="1"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control group</a:t>
            </a: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a:t>
            </a:r>
          </a:p>
          <a:p>
            <a:pPr algn="just">
              <a:buFont typeface="Wingdings" panose="05000000000000000000" pitchFamily="2" charset="2"/>
              <a:buChar char="Ø"/>
            </a:pPr>
            <a:r>
              <a:rPr lang="en-US" sz="2400" dirty="0">
                <a:solidFill>
                  <a:srgbClr val="000000"/>
                </a:solidFill>
                <a:latin typeface="Tahoma" panose="020B0604030504040204" pitchFamily="34" charset="0"/>
                <a:ea typeface="Tahoma" panose="020B0604030504040204" pitchFamily="34" charset="0"/>
                <a:cs typeface="Tahoma" panose="020B0604030504040204" pitchFamily="34" charset="0"/>
              </a:rPr>
              <a:t>Those who are in the experimental group will get whatever is being researched in the study. </a:t>
            </a:r>
          </a:p>
          <a:p>
            <a:pPr algn="just">
              <a:buFont typeface="Wingdings" panose="05000000000000000000" pitchFamily="2" charset="2"/>
              <a:buChar char="Ø"/>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Those in the control group will usually get standard treatment or a placebo that might look that same but not intended to have the same effects as experimental treatment or they might get nothing as at all.</a:t>
            </a:r>
          </a:p>
          <a:p>
            <a:pPr algn="just">
              <a:buFont typeface="Wingdings" panose="05000000000000000000" pitchFamily="2" charset="2"/>
              <a:buChar char="Ø"/>
            </a:pPr>
            <a:r>
              <a:rPr lang="en-US" sz="2400" dirty="0">
                <a:solidFill>
                  <a:srgbClr val="000000"/>
                </a:solidFill>
                <a:latin typeface="Tahoma" panose="020B0604030504040204" pitchFamily="34" charset="0"/>
                <a:ea typeface="Tahoma" panose="020B0604030504040204" pitchFamily="34" charset="0"/>
                <a:cs typeface="Tahoma" panose="020B0604030504040204" pitchFamily="34" charset="0"/>
              </a:rPr>
              <a:t>A control group is needed because people will change naturally a bit from one day to another even without being in the study. Some day people might feel better another day might be a bit worst. </a:t>
            </a:r>
          </a:p>
          <a:p>
            <a:pPr algn="just">
              <a:buFont typeface="Wingdings" panose="05000000000000000000" pitchFamily="2" charset="2"/>
              <a:buChar char="Ø"/>
            </a:pPr>
            <a:r>
              <a:rPr lang="en-US" sz="2400" b="0" i="0" dirty="0">
                <a:solidFill>
                  <a:srgbClr val="000000"/>
                </a:solidFill>
                <a:effectLst/>
                <a:latin typeface="Tahoma" panose="020B0604030504040204" pitchFamily="34" charset="0"/>
                <a:ea typeface="Tahoma" panose="020B0604030504040204" pitchFamily="34" charset="0"/>
                <a:cs typeface="Tahoma" panose="020B0604030504040204" pitchFamily="34" charset="0"/>
              </a:rPr>
              <a:t>Even blood test results can be different at different times of day depending on diet, stress, hormones and some times mood.</a:t>
            </a:r>
            <a:endParaRPr lang="en-US" sz="2400" b="0" i="0" dirty="0">
              <a:solidFill>
                <a:srgbClr val="00B0F0"/>
              </a:solidFill>
              <a:effectLst/>
              <a:latin typeface="Tahoma" panose="020B0604030504040204" pitchFamily="34" charset="0"/>
              <a:ea typeface="Tahoma" panose="020B0604030504040204" pitchFamily="34" charset="0"/>
              <a:cs typeface="Tahoma" panose="020B0604030504040204" pitchFamily="34" charset="0"/>
            </a:endParaRPr>
          </a:p>
          <a:p>
            <a:pPr algn="just"/>
            <a:endParaRPr lang="en-US" sz="2800" b="0" i="0" dirty="0">
              <a:solidFill>
                <a:srgbClr val="00B0F0"/>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a:t>
            </a:fld>
            <a:endParaRPr lang="en-US"/>
          </a:p>
        </p:txBody>
      </p:sp>
    </p:spTree>
    <p:extLst>
      <p:ext uri="{BB962C8B-B14F-4D97-AF65-F5344CB8AC3E}">
        <p14:creationId xmlns:p14="http://schemas.microsoft.com/office/powerpoint/2010/main" val="893578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A/B Testing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130969" cy="5456742"/>
          </a:xfrm>
        </p:spPr>
        <p:txBody>
          <a:bodyPr>
            <a:normAutofit/>
          </a:bodyPr>
          <a:lstStyle/>
          <a:p>
            <a:pPr algn="just">
              <a:buFont typeface="Wingdings" panose="05000000000000000000" pitchFamily="2" charset="2"/>
              <a:buChar char="Ø"/>
            </a:pPr>
            <a:r>
              <a:rPr lang="en-US" sz="2800" dirty="0">
                <a:solidFill>
                  <a:schemeClr val="tx1"/>
                </a:solidFill>
                <a:latin typeface="Tahoma" panose="020B0604030504040204" pitchFamily="34" charset="0"/>
                <a:ea typeface="Tahoma" panose="020B0604030504040204" pitchFamily="34" charset="0"/>
                <a:cs typeface="Tahoma" panose="020B0604030504040204" pitchFamily="34" charset="0"/>
              </a:rPr>
              <a:t>Some examples of A/B testing include:</a:t>
            </a:r>
          </a:p>
          <a:p>
            <a:pPr lvl="1"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Testing two soil treatments to determine which produces better seed germination</a:t>
            </a:r>
          </a:p>
          <a:p>
            <a:pPr lvl="1"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Testing two therapies to determine which suppresses cancer more effectively</a:t>
            </a:r>
          </a:p>
          <a:p>
            <a:pPr lvl="1"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Testing two prices to determine which yields more net profit</a:t>
            </a:r>
          </a:p>
          <a:p>
            <a:pPr lvl="1"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Testing two web headlines to determine which produces more clicks </a:t>
            </a:r>
          </a:p>
          <a:p>
            <a:pPr lvl="1"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Testing two web ads to determine which generates more conversions</a:t>
            </a:r>
            <a:endPar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a:t>
            </a:fld>
            <a:endParaRPr lang="en-US"/>
          </a:p>
        </p:txBody>
      </p:sp>
    </p:spTree>
    <p:extLst>
      <p:ext uri="{BB962C8B-B14F-4D97-AF65-F5344CB8AC3E}">
        <p14:creationId xmlns:p14="http://schemas.microsoft.com/office/powerpoint/2010/main" val="442369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A/B Testing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363726" cy="5456742"/>
          </a:xfrm>
        </p:spPr>
        <p:txBody>
          <a:bodyPr>
            <a:normAutofit/>
          </a:bodyPr>
          <a:lstStyle/>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Two groups in A/B test, </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one is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control</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group, the other is </a:t>
            </a:r>
          </a:p>
          <a:p>
            <a:pPr lvl="1" algn="just">
              <a:buFont typeface="Wingdings" panose="05000000000000000000" pitchFamily="2" charset="2"/>
              <a:buChar char="Ø"/>
            </a:pP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Experimental</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group</a:t>
            </a:r>
          </a:p>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 proper A/B test has subjects (like Patient/cat/Plant/people) that can be assigned to one treatment (Medicine/Fertilizer)/Experimental group.</a:t>
            </a:r>
          </a:p>
          <a:p>
            <a:pPr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The subjects need to be used/exposed to experimental group.</a:t>
            </a:r>
          </a:p>
          <a:p>
            <a:pPr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Ideally, subjects are assigned randomly to treatments. </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To have the effect of the different treatments</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To get unbiased/natural results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7</a:t>
            </a:fld>
            <a:endParaRPr lang="en-US"/>
          </a:p>
        </p:txBody>
      </p:sp>
    </p:spTree>
    <p:extLst>
      <p:ext uri="{BB962C8B-B14F-4D97-AF65-F5344CB8AC3E}">
        <p14:creationId xmlns:p14="http://schemas.microsoft.com/office/powerpoint/2010/main" val="433848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63158" y="3728005"/>
            <a:ext cx="5808500" cy="3129995"/>
          </a:xfrm>
          <a:prstGeom prst="rect">
            <a:avLst/>
          </a:prstGeom>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A/B Testing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8878586" cy="2952964"/>
          </a:xfrm>
        </p:spPr>
        <p:txBody>
          <a:bodyPr>
            <a:normAutofit fontScale="85000" lnSpcReduction="20000"/>
          </a:bodyPr>
          <a:lstStyle/>
          <a:p>
            <a:pPr algn="just">
              <a:buFont typeface="Wingdings" panose="05000000000000000000" pitchFamily="2" charset="2"/>
              <a:buChar char="Ø"/>
            </a:pP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Why Have a Control Group?</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Why not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skip the control group </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and just run an experiment applying the treatment of interest to only one group, and compare the outcome to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prior experience</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Without a control group, there is no assurance that “all other things are equal” and that any difference is really due to the treatment (or to chance). </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When you have a control group, it is subject to the same conditions (except for the treatment of interest) as the treatment group. If you simply make a comparison to “baseline” or</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prior experience, other factors, besides the treatment, might differ.</a:t>
            </a:r>
            <a:endPar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8</a:t>
            </a:fld>
            <a:endParaRPr lang="en-US"/>
          </a:p>
        </p:txBody>
      </p:sp>
    </p:spTree>
    <p:extLst>
      <p:ext uri="{BB962C8B-B14F-4D97-AF65-F5344CB8AC3E}">
        <p14:creationId xmlns:p14="http://schemas.microsoft.com/office/powerpoint/2010/main" val="3346637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B4448-16B8-7FB1-5213-2663E8ED8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4CDB9-BD6B-7994-1D43-3C5A8D505BA3}"/>
              </a:ext>
            </a:extLst>
          </p:cNvPr>
          <p:cNvSpPr>
            <a:spLocks noGrp="1"/>
          </p:cNvSpPr>
          <p:nvPr>
            <p:ph type="title"/>
          </p:nvPr>
        </p:nvSpPr>
        <p:spPr>
          <a:xfrm>
            <a:off x="395416" y="272673"/>
            <a:ext cx="11376454" cy="757057"/>
          </a:xfrm>
        </p:spPr>
        <p:txBody>
          <a:bodyPr>
            <a:normAutofit/>
          </a:bodyPr>
          <a:lstStyle/>
          <a:p>
            <a:r>
              <a:rPr lang="en-US" dirty="0"/>
              <a:t>A/B Testing</a:t>
            </a:r>
          </a:p>
        </p:txBody>
      </p:sp>
      <p:sp>
        <p:nvSpPr>
          <p:cNvPr id="5" name="Slide Number Placeholder 4">
            <a:extLst>
              <a:ext uri="{FF2B5EF4-FFF2-40B4-BE49-F238E27FC236}">
                <a16:creationId xmlns:a16="http://schemas.microsoft.com/office/drawing/2014/main" id="{FA964E65-626F-E115-0479-F9CFF4AC4263}"/>
              </a:ext>
            </a:extLst>
          </p:cNvPr>
          <p:cNvSpPr>
            <a:spLocks noGrp="1"/>
          </p:cNvSpPr>
          <p:nvPr>
            <p:ph type="sldNum" sz="quarter" idx="12"/>
          </p:nvPr>
        </p:nvSpPr>
        <p:spPr/>
        <p:txBody>
          <a:bodyPr/>
          <a:lstStyle/>
          <a:p>
            <a:fld id="{CC529A1F-6900-4D36-92AC-B7647C1D9DDB}" type="slidenum">
              <a:rPr lang="en-US" smtClean="0"/>
              <a:t>9</a:t>
            </a:fld>
            <a:endParaRPr lang="en-US"/>
          </a:p>
        </p:txBody>
      </p:sp>
      <p:sp>
        <p:nvSpPr>
          <p:cNvPr id="9" name="TextBox 8">
            <a:extLst>
              <a:ext uri="{FF2B5EF4-FFF2-40B4-BE49-F238E27FC236}">
                <a16:creationId xmlns:a16="http://schemas.microsoft.com/office/drawing/2014/main" id="{1EED65DF-D3B0-504F-8699-3F79AB047D07}"/>
              </a:ext>
            </a:extLst>
          </p:cNvPr>
          <p:cNvSpPr txBox="1"/>
          <p:nvPr/>
        </p:nvSpPr>
        <p:spPr>
          <a:xfrm>
            <a:off x="595313" y="1283426"/>
            <a:ext cx="6105524" cy="369332"/>
          </a:xfrm>
          <a:prstGeom prst="rect">
            <a:avLst/>
          </a:prstGeom>
          <a:noFill/>
        </p:spPr>
        <p:txBody>
          <a:bodyPr wrap="square">
            <a:spAutoFit/>
          </a:bodyPr>
          <a:lstStyle/>
          <a:p>
            <a:pPr>
              <a:buNone/>
            </a:pPr>
            <a:r>
              <a:rPr lang="en-US" b="1" dirty="0"/>
              <a:t>Class Activity: A/B Testing – Website Button Clicks</a:t>
            </a:r>
          </a:p>
        </p:txBody>
      </p:sp>
      <p:sp>
        <p:nvSpPr>
          <p:cNvPr id="11" name="TextBox 10">
            <a:extLst>
              <a:ext uri="{FF2B5EF4-FFF2-40B4-BE49-F238E27FC236}">
                <a16:creationId xmlns:a16="http://schemas.microsoft.com/office/drawing/2014/main" id="{73A4775C-D3E4-B5B6-8AA8-31B060B8EDEA}"/>
              </a:ext>
            </a:extLst>
          </p:cNvPr>
          <p:cNvSpPr txBox="1"/>
          <p:nvPr/>
        </p:nvSpPr>
        <p:spPr>
          <a:xfrm>
            <a:off x="595312" y="1906454"/>
            <a:ext cx="7348537" cy="1323439"/>
          </a:xfrm>
          <a:prstGeom prst="rect">
            <a:avLst/>
          </a:prstGeom>
          <a:noFill/>
        </p:spPr>
        <p:txBody>
          <a:bodyPr wrap="square">
            <a:spAutoFit/>
          </a:bodyPr>
          <a:lstStyle/>
          <a:p>
            <a:pPr>
              <a:buNone/>
            </a:pPr>
            <a:r>
              <a:rPr lang="en-US" sz="2000" dirty="0"/>
              <a:t>A company wants to </a:t>
            </a:r>
            <a:r>
              <a:rPr lang="en-US" sz="2000" b="1" dirty="0"/>
              <a:t>increase clicks on a website button</a:t>
            </a:r>
            <a:r>
              <a:rPr lang="en-US" sz="2000" dirty="0"/>
              <a:t>.</a:t>
            </a:r>
          </a:p>
          <a:p>
            <a:pPr>
              <a:buFont typeface="Arial" panose="020B0604020202020204" pitchFamily="34" charset="0"/>
              <a:buChar char="•"/>
            </a:pPr>
            <a:r>
              <a:rPr lang="en-US" sz="2000" dirty="0"/>
              <a:t>Current button = </a:t>
            </a:r>
            <a:r>
              <a:rPr lang="en-US" sz="2000" b="1" dirty="0"/>
              <a:t>Blue (A)</a:t>
            </a:r>
            <a:endParaRPr lang="en-US" sz="2000" dirty="0"/>
          </a:p>
          <a:p>
            <a:pPr>
              <a:buFont typeface="Arial" panose="020B0604020202020204" pitchFamily="34" charset="0"/>
              <a:buChar char="•"/>
            </a:pPr>
            <a:r>
              <a:rPr lang="en-US" sz="2000" dirty="0"/>
              <a:t>New button = </a:t>
            </a:r>
            <a:r>
              <a:rPr lang="en-US" sz="2000" b="1" dirty="0"/>
              <a:t>Green (B)</a:t>
            </a:r>
            <a:endParaRPr lang="en-US" sz="2000" dirty="0"/>
          </a:p>
          <a:p>
            <a:pPr>
              <a:buNone/>
            </a:pPr>
            <a:r>
              <a:rPr lang="en-US" sz="2000" dirty="0"/>
              <a:t>100 users see each button. Click results:</a:t>
            </a:r>
          </a:p>
        </p:txBody>
      </p:sp>
      <p:graphicFrame>
        <p:nvGraphicFramePr>
          <p:cNvPr id="12" name="Table 11">
            <a:extLst>
              <a:ext uri="{FF2B5EF4-FFF2-40B4-BE49-F238E27FC236}">
                <a16:creationId xmlns:a16="http://schemas.microsoft.com/office/drawing/2014/main" id="{90372A95-B18A-239E-F07E-54FC1AD9E68A}"/>
              </a:ext>
            </a:extLst>
          </p:cNvPr>
          <p:cNvGraphicFramePr>
            <a:graphicFrameLocks noGrp="1"/>
          </p:cNvGraphicFramePr>
          <p:nvPr>
            <p:extLst>
              <p:ext uri="{D42A27DB-BD31-4B8C-83A1-F6EECF244321}">
                <p14:modId xmlns:p14="http://schemas.microsoft.com/office/powerpoint/2010/main" val="2606212904"/>
              </p:ext>
            </p:extLst>
          </p:nvPr>
        </p:nvGraphicFramePr>
        <p:xfrm>
          <a:off x="839788" y="3229893"/>
          <a:ext cx="8596312" cy="1097280"/>
        </p:xfrm>
        <a:graphic>
          <a:graphicData uri="http://schemas.openxmlformats.org/drawingml/2006/table">
            <a:tbl>
              <a:tblPr/>
              <a:tblGrid>
                <a:gridCol w="2149078">
                  <a:extLst>
                    <a:ext uri="{9D8B030D-6E8A-4147-A177-3AD203B41FA5}">
                      <a16:colId xmlns:a16="http://schemas.microsoft.com/office/drawing/2014/main" val="121296322"/>
                    </a:ext>
                  </a:extLst>
                </a:gridCol>
                <a:gridCol w="2149078">
                  <a:extLst>
                    <a:ext uri="{9D8B030D-6E8A-4147-A177-3AD203B41FA5}">
                      <a16:colId xmlns:a16="http://schemas.microsoft.com/office/drawing/2014/main" val="3379326490"/>
                    </a:ext>
                  </a:extLst>
                </a:gridCol>
                <a:gridCol w="2149078">
                  <a:extLst>
                    <a:ext uri="{9D8B030D-6E8A-4147-A177-3AD203B41FA5}">
                      <a16:colId xmlns:a16="http://schemas.microsoft.com/office/drawing/2014/main" val="997420410"/>
                    </a:ext>
                  </a:extLst>
                </a:gridCol>
                <a:gridCol w="2149078">
                  <a:extLst>
                    <a:ext uri="{9D8B030D-6E8A-4147-A177-3AD203B41FA5}">
                      <a16:colId xmlns:a16="http://schemas.microsoft.com/office/drawing/2014/main" val="1576344018"/>
                    </a:ext>
                  </a:extLst>
                </a:gridCol>
              </a:tblGrid>
              <a:tr h="0">
                <a:tc>
                  <a:txBody>
                    <a:bodyPr/>
                    <a:lstStyle/>
                    <a:p>
                      <a:pPr>
                        <a:buNone/>
                      </a:pPr>
                      <a:r>
                        <a:rPr lang="en-GB"/>
                        <a:t>Group</a:t>
                      </a:r>
                    </a:p>
                  </a:txBody>
                  <a:tcPr anchor="ctr">
                    <a:lnL>
                      <a:noFill/>
                    </a:lnL>
                    <a:lnR>
                      <a:noFill/>
                    </a:lnR>
                    <a:lnT>
                      <a:noFill/>
                    </a:lnT>
                    <a:lnB>
                      <a:noFill/>
                    </a:lnB>
                    <a:noFill/>
                  </a:tcPr>
                </a:tc>
                <a:tc>
                  <a:txBody>
                    <a:bodyPr/>
                    <a:lstStyle/>
                    <a:p>
                      <a:pPr>
                        <a:buNone/>
                      </a:pPr>
                      <a:r>
                        <a:rPr lang="en-GB"/>
                        <a:t>Clicked</a:t>
                      </a:r>
                    </a:p>
                  </a:txBody>
                  <a:tcPr anchor="ctr">
                    <a:lnL>
                      <a:noFill/>
                    </a:lnL>
                    <a:lnR>
                      <a:noFill/>
                    </a:lnR>
                    <a:lnT>
                      <a:noFill/>
                    </a:lnT>
                    <a:lnB>
                      <a:noFill/>
                    </a:lnB>
                    <a:noFill/>
                  </a:tcPr>
                </a:tc>
                <a:tc>
                  <a:txBody>
                    <a:bodyPr/>
                    <a:lstStyle/>
                    <a:p>
                      <a:pPr>
                        <a:buNone/>
                      </a:pPr>
                      <a:r>
                        <a:rPr lang="en-GB"/>
                        <a:t>Did Not Click</a:t>
                      </a:r>
                    </a:p>
                  </a:txBody>
                  <a:tcPr anchor="ctr">
                    <a:lnL>
                      <a:noFill/>
                    </a:lnL>
                    <a:lnR>
                      <a:noFill/>
                    </a:lnR>
                    <a:lnT>
                      <a:noFill/>
                    </a:lnT>
                    <a:lnB>
                      <a:noFill/>
                    </a:lnB>
                    <a:noFill/>
                  </a:tcPr>
                </a:tc>
                <a:tc>
                  <a:txBody>
                    <a:bodyPr/>
                    <a:lstStyle/>
                    <a:p>
                      <a:pPr>
                        <a:buNone/>
                      </a:pPr>
                      <a:r>
                        <a:rPr lang="en-GB"/>
                        <a:t>Total</a:t>
                      </a:r>
                    </a:p>
                  </a:txBody>
                  <a:tcPr anchor="ctr">
                    <a:lnL>
                      <a:noFill/>
                    </a:lnL>
                    <a:lnR>
                      <a:noFill/>
                    </a:lnR>
                    <a:lnT>
                      <a:noFill/>
                    </a:lnT>
                    <a:lnB>
                      <a:noFill/>
                    </a:lnB>
                    <a:noFill/>
                  </a:tcPr>
                </a:tc>
                <a:extLst>
                  <a:ext uri="{0D108BD9-81ED-4DB2-BD59-A6C34878D82A}">
                    <a16:rowId xmlns:a16="http://schemas.microsoft.com/office/drawing/2014/main" val="1639366120"/>
                  </a:ext>
                </a:extLst>
              </a:tr>
              <a:tr h="0">
                <a:tc>
                  <a:txBody>
                    <a:bodyPr/>
                    <a:lstStyle/>
                    <a:p>
                      <a:pPr>
                        <a:buNone/>
                      </a:pPr>
                      <a:r>
                        <a:rPr lang="en-GB"/>
                        <a:t>A (Blue)</a:t>
                      </a:r>
                    </a:p>
                  </a:txBody>
                  <a:tcPr anchor="ctr">
                    <a:lnL>
                      <a:noFill/>
                    </a:lnL>
                    <a:lnR>
                      <a:noFill/>
                    </a:lnR>
                    <a:lnT>
                      <a:noFill/>
                    </a:lnT>
                    <a:lnB>
                      <a:noFill/>
                    </a:lnB>
                    <a:noFill/>
                  </a:tcPr>
                </a:tc>
                <a:tc>
                  <a:txBody>
                    <a:bodyPr/>
                    <a:lstStyle/>
                    <a:p>
                      <a:pPr>
                        <a:buNone/>
                      </a:pPr>
                      <a:r>
                        <a:rPr lang="en-GB"/>
                        <a:t>20</a:t>
                      </a:r>
                    </a:p>
                  </a:txBody>
                  <a:tcPr anchor="ctr">
                    <a:lnL>
                      <a:noFill/>
                    </a:lnL>
                    <a:lnR>
                      <a:noFill/>
                    </a:lnR>
                    <a:lnT>
                      <a:noFill/>
                    </a:lnT>
                    <a:lnB>
                      <a:noFill/>
                    </a:lnB>
                    <a:noFill/>
                  </a:tcPr>
                </a:tc>
                <a:tc>
                  <a:txBody>
                    <a:bodyPr/>
                    <a:lstStyle/>
                    <a:p>
                      <a:pPr>
                        <a:buNone/>
                      </a:pPr>
                      <a:r>
                        <a:rPr lang="en-GB"/>
                        <a:t>80</a:t>
                      </a:r>
                    </a:p>
                  </a:txBody>
                  <a:tcPr anchor="ctr">
                    <a:lnL>
                      <a:noFill/>
                    </a:lnL>
                    <a:lnR>
                      <a:noFill/>
                    </a:lnR>
                    <a:lnT>
                      <a:noFill/>
                    </a:lnT>
                    <a:lnB>
                      <a:noFill/>
                    </a:lnB>
                    <a:noFill/>
                  </a:tcPr>
                </a:tc>
                <a:tc>
                  <a:txBody>
                    <a:bodyPr/>
                    <a:lstStyle/>
                    <a:p>
                      <a:pPr>
                        <a:buNone/>
                      </a:pPr>
                      <a:r>
                        <a:rPr lang="en-GB"/>
                        <a:t>100</a:t>
                      </a:r>
                    </a:p>
                  </a:txBody>
                  <a:tcPr anchor="ctr">
                    <a:lnL>
                      <a:noFill/>
                    </a:lnL>
                    <a:lnR>
                      <a:noFill/>
                    </a:lnR>
                    <a:lnT>
                      <a:noFill/>
                    </a:lnT>
                    <a:lnB>
                      <a:noFill/>
                    </a:lnB>
                    <a:noFill/>
                  </a:tcPr>
                </a:tc>
                <a:extLst>
                  <a:ext uri="{0D108BD9-81ED-4DB2-BD59-A6C34878D82A}">
                    <a16:rowId xmlns:a16="http://schemas.microsoft.com/office/drawing/2014/main" val="2291910647"/>
                  </a:ext>
                </a:extLst>
              </a:tr>
              <a:tr h="0">
                <a:tc>
                  <a:txBody>
                    <a:bodyPr/>
                    <a:lstStyle/>
                    <a:p>
                      <a:pPr>
                        <a:buNone/>
                      </a:pPr>
                      <a:r>
                        <a:rPr lang="en-GB"/>
                        <a:t>B (Green)</a:t>
                      </a:r>
                    </a:p>
                  </a:txBody>
                  <a:tcPr anchor="ctr">
                    <a:lnL>
                      <a:noFill/>
                    </a:lnL>
                    <a:lnR>
                      <a:noFill/>
                    </a:lnR>
                    <a:lnT>
                      <a:noFill/>
                    </a:lnT>
                    <a:lnB>
                      <a:noFill/>
                    </a:lnB>
                    <a:noFill/>
                  </a:tcPr>
                </a:tc>
                <a:tc>
                  <a:txBody>
                    <a:bodyPr/>
                    <a:lstStyle/>
                    <a:p>
                      <a:pPr>
                        <a:buNone/>
                      </a:pPr>
                      <a:r>
                        <a:rPr lang="en-GB"/>
                        <a:t>35</a:t>
                      </a:r>
                    </a:p>
                  </a:txBody>
                  <a:tcPr anchor="ctr">
                    <a:lnL>
                      <a:noFill/>
                    </a:lnL>
                    <a:lnR>
                      <a:noFill/>
                    </a:lnR>
                    <a:lnT>
                      <a:noFill/>
                    </a:lnT>
                    <a:lnB>
                      <a:noFill/>
                    </a:lnB>
                    <a:noFill/>
                  </a:tcPr>
                </a:tc>
                <a:tc>
                  <a:txBody>
                    <a:bodyPr/>
                    <a:lstStyle/>
                    <a:p>
                      <a:pPr>
                        <a:buNone/>
                      </a:pPr>
                      <a:r>
                        <a:rPr lang="en-GB"/>
                        <a:t>65</a:t>
                      </a:r>
                    </a:p>
                  </a:txBody>
                  <a:tcPr anchor="ctr">
                    <a:lnL>
                      <a:noFill/>
                    </a:lnL>
                    <a:lnR>
                      <a:noFill/>
                    </a:lnR>
                    <a:lnT>
                      <a:noFill/>
                    </a:lnT>
                    <a:lnB>
                      <a:noFill/>
                    </a:lnB>
                    <a:noFill/>
                  </a:tcPr>
                </a:tc>
                <a:tc>
                  <a:txBody>
                    <a:bodyPr/>
                    <a:lstStyle/>
                    <a:p>
                      <a:pPr>
                        <a:buNone/>
                      </a:pPr>
                      <a:r>
                        <a:rPr lang="en-GB" dirty="0"/>
                        <a:t>100</a:t>
                      </a:r>
                    </a:p>
                  </a:txBody>
                  <a:tcPr anchor="ctr">
                    <a:lnL>
                      <a:noFill/>
                    </a:lnL>
                    <a:lnR>
                      <a:noFill/>
                    </a:lnR>
                    <a:lnT>
                      <a:noFill/>
                    </a:lnT>
                    <a:lnB>
                      <a:noFill/>
                    </a:lnB>
                    <a:noFill/>
                  </a:tcPr>
                </a:tc>
                <a:extLst>
                  <a:ext uri="{0D108BD9-81ED-4DB2-BD59-A6C34878D82A}">
                    <a16:rowId xmlns:a16="http://schemas.microsoft.com/office/drawing/2014/main" val="1325861950"/>
                  </a:ext>
                </a:extLst>
              </a:tr>
            </a:tbl>
          </a:graphicData>
        </a:graphic>
      </p:graphicFrame>
      <p:pic>
        <p:nvPicPr>
          <p:cNvPr id="16" name="Picture 15" descr="A white paper with black text&#10;&#10;AI-generated content may be incorrect.">
            <a:extLst>
              <a:ext uri="{FF2B5EF4-FFF2-40B4-BE49-F238E27FC236}">
                <a16:creationId xmlns:a16="http://schemas.microsoft.com/office/drawing/2014/main" id="{6E418948-E2A6-9617-480D-88B02CA1E0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1323" y="4622396"/>
            <a:ext cx="6016452" cy="2149879"/>
          </a:xfrm>
          <a:prstGeom prst="rect">
            <a:avLst/>
          </a:prstGeom>
        </p:spPr>
      </p:pic>
    </p:spTree>
    <p:extLst>
      <p:ext uri="{BB962C8B-B14F-4D97-AF65-F5344CB8AC3E}">
        <p14:creationId xmlns:p14="http://schemas.microsoft.com/office/powerpoint/2010/main" val="4096973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26551-9D4E-4C87-E511-E4F3F96A9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D4B7A-275D-7A16-BBE0-BCF8B8D50C13}"/>
              </a:ext>
            </a:extLst>
          </p:cNvPr>
          <p:cNvSpPr>
            <a:spLocks noGrp="1"/>
          </p:cNvSpPr>
          <p:nvPr>
            <p:ph type="title"/>
          </p:nvPr>
        </p:nvSpPr>
        <p:spPr>
          <a:xfrm>
            <a:off x="395416" y="272673"/>
            <a:ext cx="11376454" cy="757057"/>
          </a:xfrm>
        </p:spPr>
        <p:txBody>
          <a:bodyPr>
            <a:normAutofit/>
          </a:bodyPr>
          <a:lstStyle/>
          <a:p>
            <a:r>
              <a:rPr lang="en-US" dirty="0"/>
              <a:t>A/B Testing</a:t>
            </a:r>
          </a:p>
        </p:txBody>
      </p:sp>
      <p:sp>
        <p:nvSpPr>
          <p:cNvPr id="5" name="Slide Number Placeholder 4">
            <a:extLst>
              <a:ext uri="{FF2B5EF4-FFF2-40B4-BE49-F238E27FC236}">
                <a16:creationId xmlns:a16="http://schemas.microsoft.com/office/drawing/2014/main" id="{CF6C0BB4-34F4-C453-5871-0A3D7BA9F157}"/>
              </a:ext>
            </a:extLst>
          </p:cNvPr>
          <p:cNvSpPr>
            <a:spLocks noGrp="1"/>
          </p:cNvSpPr>
          <p:nvPr>
            <p:ph type="sldNum" sz="quarter" idx="12"/>
          </p:nvPr>
        </p:nvSpPr>
        <p:spPr/>
        <p:txBody>
          <a:bodyPr/>
          <a:lstStyle/>
          <a:p>
            <a:fld id="{CC529A1F-6900-4D36-92AC-B7647C1D9DDB}" type="slidenum">
              <a:rPr lang="en-US" smtClean="0"/>
              <a:t>10</a:t>
            </a:fld>
            <a:endParaRPr lang="en-US"/>
          </a:p>
        </p:txBody>
      </p:sp>
      <p:sp>
        <p:nvSpPr>
          <p:cNvPr id="9" name="TextBox 8">
            <a:extLst>
              <a:ext uri="{FF2B5EF4-FFF2-40B4-BE49-F238E27FC236}">
                <a16:creationId xmlns:a16="http://schemas.microsoft.com/office/drawing/2014/main" id="{0DA79CC1-5A9A-C461-1564-66288E7B6475}"/>
              </a:ext>
            </a:extLst>
          </p:cNvPr>
          <p:cNvSpPr txBox="1"/>
          <p:nvPr/>
        </p:nvSpPr>
        <p:spPr>
          <a:xfrm>
            <a:off x="3043238" y="451513"/>
            <a:ext cx="6105524" cy="369332"/>
          </a:xfrm>
          <a:prstGeom prst="rect">
            <a:avLst/>
          </a:prstGeom>
          <a:noFill/>
        </p:spPr>
        <p:txBody>
          <a:bodyPr wrap="square">
            <a:spAutoFit/>
          </a:bodyPr>
          <a:lstStyle/>
          <a:p>
            <a:pPr>
              <a:buNone/>
            </a:pPr>
            <a:r>
              <a:rPr lang="en-US" b="1" dirty="0"/>
              <a:t>Class Activity: A/B Testing – Website Button Clicks</a:t>
            </a:r>
          </a:p>
        </p:txBody>
      </p:sp>
      <p:pic>
        <p:nvPicPr>
          <p:cNvPr id="4" name="Picture 3" descr="A screenshot of a computer code&#10;&#10;AI-generated content may be incorrect.">
            <a:extLst>
              <a:ext uri="{FF2B5EF4-FFF2-40B4-BE49-F238E27FC236}">
                <a16:creationId xmlns:a16="http://schemas.microsoft.com/office/drawing/2014/main" id="{C9BFE5A5-64D9-6D4C-D668-1B63E822B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3545" y="894945"/>
            <a:ext cx="7921117" cy="5818487"/>
          </a:xfrm>
          <a:prstGeom prst="rect">
            <a:avLst/>
          </a:prstGeom>
        </p:spPr>
      </p:pic>
    </p:spTree>
    <p:extLst>
      <p:ext uri="{BB962C8B-B14F-4D97-AF65-F5344CB8AC3E}">
        <p14:creationId xmlns:p14="http://schemas.microsoft.com/office/powerpoint/2010/main" val="3760617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E0709-B194-1772-68F4-3EE785898C44}"/>
              </a:ext>
            </a:extLst>
          </p:cNvPr>
          <p:cNvSpPr>
            <a:spLocks noGrp="1"/>
          </p:cNvSpPr>
          <p:nvPr>
            <p:ph type="title"/>
          </p:nvPr>
        </p:nvSpPr>
        <p:spPr>
          <a:xfrm>
            <a:off x="239590" y="94034"/>
            <a:ext cx="8596668" cy="1320800"/>
          </a:xfrm>
        </p:spPr>
        <p:txBody>
          <a:bodyPr/>
          <a:lstStyle/>
          <a:p>
            <a:r>
              <a:rPr lang="en-US" dirty="0"/>
              <a:t>A/B Testing</a:t>
            </a:r>
            <a:endParaRPr lang="en-GB" dirty="0"/>
          </a:p>
        </p:txBody>
      </p:sp>
      <p:pic>
        <p:nvPicPr>
          <p:cNvPr id="6" name="Content Placeholder 5" descr="A screenshot of a computer&#10;&#10;AI-generated content may be incorrect.">
            <a:extLst>
              <a:ext uri="{FF2B5EF4-FFF2-40B4-BE49-F238E27FC236}">
                <a16:creationId xmlns:a16="http://schemas.microsoft.com/office/drawing/2014/main" id="{8E0020C8-16C6-DAD4-323C-7E241227C2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590" y="787940"/>
            <a:ext cx="5996677" cy="5431277"/>
          </a:xfrm>
        </p:spPr>
      </p:pic>
      <p:sp>
        <p:nvSpPr>
          <p:cNvPr id="4" name="Slide Number Placeholder 3">
            <a:extLst>
              <a:ext uri="{FF2B5EF4-FFF2-40B4-BE49-F238E27FC236}">
                <a16:creationId xmlns:a16="http://schemas.microsoft.com/office/drawing/2014/main" id="{13CB4354-0191-F375-6906-F72E765AD197}"/>
              </a:ext>
            </a:extLst>
          </p:cNvPr>
          <p:cNvSpPr>
            <a:spLocks noGrp="1"/>
          </p:cNvSpPr>
          <p:nvPr>
            <p:ph type="sldNum" sz="quarter" idx="12"/>
          </p:nvPr>
        </p:nvSpPr>
        <p:spPr/>
        <p:txBody>
          <a:bodyPr/>
          <a:lstStyle/>
          <a:p>
            <a:fld id="{CC529A1F-6900-4D36-92AC-B7647C1D9DDB}" type="slidenum">
              <a:rPr lang="en-US" smtClean="0">
                <a:solidFill>
                  <a:srgbClr val="90C226"/>
                </a:solidFill>
              </a:rPr>
              <a:pPr/>
              <a:t>11</a:t>
            </a:fld>
            <a:endParaRPr lang="en-US">
              <a:solidFill>
                <a:srgbClr val="90C226"/>
              </a:solidFill>
            </a:endParaRPr>
          </a:p>
        </p:txBody>
      </p:sp>
      <p:pic>
        <p:nvPicPr>
          <p:cNvPr id="8" name="Picture 7" descr="A screenshot of a computer program&#10;&#10;AI-generated content may be incorrect.">
            <a:extLst>
              <a:ext uri="{FF2B5EF4-FFF2-40B4-BE49-F238E27FC236}">
                <a16:creationId xmlns:a16="http://schemas.microsoft.com/office/drawing/2014/main" id="{59BE8556-0FB8-4344-A68C-0833486CA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2306" y="675974"/>
            <a:ext cx="5469694" cy="6182026"/>
          </a:xfrm>
          <a:prstGeom prst="rect">
            <a:avLst/>
          </a:prstGeom>
        </p:spPr>
      </p:pic>
    </p:spTree>
    <p:extLst>
      <p:ext uri="{BB962C8B-B14F-4D97-AF65-F5344CB8AC3E}">
        <p14:creationId xmlns:p14="http://schemas.microsoft.com/office/powerpoint/2010/main" val="1611796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Hypothesis Tests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072780" cy="5456742"/>
          </a:xfrm>
        </p:spPr>
        <p:txBody>
          <a:bodyPr>
            <a:normAutofit/>
          </a:bodyPr>
          <a:lstStyle/>
          <a:p>
            <a:pPr algn="just">
              <a:buFont typeface="Wingdings" panose="05000000000000000000" pitchFamily="2" charset="2"/>
              <a:buChar char="Ø"/>
            </a:pP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Hypothesis: </a:t>
            </a:r>
            <a:r>
              <a:rPr lang="en-US" sz="200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promise</a:t>
            </a:r>
            <a:r>
              <a:rPr lang="en-US" sz="200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or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claim</a:t>
            </a:r>
            <a:r>
              <a:rPr lang="en-US" sz="200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that we want to test. </a:t>
            </a:r>
          </a:p>
          <a:p>
            <a:pPr lvl="1" algn="just">
              <a:buFont typeface="Wingdings" panose="05000000000000000000" pitchFamily="2" charset="2"/>
              <a:buChar char="Ø"/>
            </a:pPr>
            <a:r>
              <a:rPr lang="en-US" sz="180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Like effect of a medicine </a:t>
            </a:r>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on a experimental subject is significantly enough compared to the control subject (i.e., subject without medicine).</a:t>
            </a:r>
            <a:endParaRPr lang="en-US" sz="180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Ø"/>
            </a:pP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Hypothesis</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tests</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also called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significance</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tests, are ubiquitous in the traditional statistical analysis of published research.</a:t>
            </a:r>
          </a:p>
          <a:p>
            <a:pPr algn="just">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A </a:t>
            </a:r>
            <a:r>
              <a:rPr lang="en-US" sz="2000" b="1" dirty="0">
                <a:latin typeface="Tahoma" panose="020B0604030504040204" pitchFamily="34" charset="0"/>
                <a:ea typeface="Tahoma" panose="020B0604030504040204" pitchFamily="34" charset="0"/>
                <a:cs typeface="Tahoma" panose="020B0604030504040204" pitchFamily="34" charset="0"/>
              </a:rPr>
              <a:t>hypothesis test</a:t>
            </a:r>
            <a:r>
              <a:rPr lang="en-US" sz="2000" dirty="0">
                <a:latin typeface="Tahoma" panose="020B0604030504040204" pitchFamily="34" charset="0"/>
                <a:ea typeface="Tahoma" panose="020B0604030504040204" pitchFamily="34" charset="0"/>
                <a:cs typeface="Tahoma" panose="020B0604030504040204" pitchFamily="34" charset="0"/>
              </a:rPr>
              <a:t> is a formal procedure to check if a hypothesis is true or not</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Their purpose is to help you learn whether random chance might be responsible for an observed effect.</a:t>
            </a:r>
          </a:p>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In a properly designed A/B test, you collect data on treatments A and B in such a way that any observed difference between A and B must be due to either:</a:t>
            </a:r>
          </a:p>
          <a:p>
            <a:pPr marL="788670" lvl="1" indent="-514350"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Random chance in assignment of subjects (reject)</a:t>
            </a:r>
          </a:p>
          <a:p>
            <a:pPr marL="788670" lvl="1" indent="-514350"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 true difference between A and B (Accept)</a:t>
            </a:r>
          </a:p>
          <a:p>
            <a:pPr algn="just"/>
            <a:endParaRPr lang="en-US" sz="28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12</a:t>
            </a:fld>
            <a:endParaRPr lang="en-US"/>
          </a:p>
        </p:txBody>
      </p:sp>
    </p:spTree>
    <p:extLst>
      <p:ext uri="{BB962C8B-B14F-4D97-AF65-F5344CB8AC3E}">
        <p14:creationId xmlns:p14="http://schemas.microsoft.com/office/powerpoint/2010/main" val="1158123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4BA49-79ED-6D68-E5C0-081CD641C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DA8D1-FF51-C76B-4723-AAC077FBB9DD}"/>
              </a:ext>
            </a:extLst>
          </p:cNvPr>
          <p:cNvSpPr>
            <a:spLocks noGrp="1"/>
          </p:cNvSpPr>
          <p:nvPr>
            <p:ph type="title"/>
          </p:nvPr>
        </p:nvSpPr>
        <p:spPr>
          <a:xfrm>
            <a:off x="395416" y="272673"/>
            <a:ext cx="11376454" cy="757057"/>
          </a:xfrm>
        </p:spPr>
        <p:txBody>
          <a:bodyPr>
            <a:normAutofit/>
          </a:bodyPr>
          <a:lstStyle/>
          <a:p>
            <a:r>
              <a:rPr lang="en-US" dirty="0"/>
              <a:t>Hypothesis Tests</a:t>
            </a:r>
          </a:p>
        </p:txBody>
      </p:sp>
      <p:sp>
        <p:nvSpPr>
          <p:cNvPr id="3" name="Content Placeholder 2">
            <a:extLst>
              <a:ext uri="{FF2B5EF4-FFF2-40B4-BE49-F238E27FC236}">
                <a16:creationId xmlns:a16="http://schemas.microsoft.com/office/drawing/2014/main" id="{1909DDDD-BC45-87A0-41F3-87EC6EF444AA}"/>
              </a:ext>
            </a:extLst>
          </p:cNvPr>
          <p:cNvSpPr>
            <a:spLocks noGrp="1"/>
          </p:cNvSpPr>
          <p:nvPr>
            <p:ph idx="1"/>
          </p:nvPr>
        </p:nvSpPr>
        <p:spPr>
          <a:xfrm>
            <a:off x="395416" y="949745"/>
            <a:ext cx="9072780" cy="5456742"/>
          </a:xfrm>
        </p:spPr>
        <p:txBody>
          <a:bodyPr>
            <a:normAutofit/>
          </a:bodyPr>
          <a:lstStyle/>
          <a:p>
            <a:pPr algn="just"/>
            <a:r>
              <a:rPr lang="en-US" sz="2400" dirty="0"/>
              <a:t>A </a:t>
            </a:r>
            <a:r>
              <a:rPr lang="en-US" sz="2400" b="1" dirty="0"/>
              <a:t>hypothesis</a:t>
            </a:r>
            <a:r>
              <a:rPr lang="en-US" sz="2400" dirty="0"/>
              <a:t> is an </a:t>
            </a:r>
            <a:r>
              <a:rPr lang="en-US" sz="2400" i="1" dirty="0">
                <a:solidFill>
                  <a:srgbClr val="FF0000"/>
                </a:solidFill>
              </a:rPr>
              <a:t>educated guess</a:t>
            </a:r>
            <a:r>
              <a:rPr lang="en-US" sz="2400" dirty="0"/>
              <a:t> that tries to answer a question or explain something that you can test scientifically.</a:t>
            </a:r>
          </a:p>
          <a:p>
            <a:pPr algn="just"/>
            <a:endParaRPr lang="en-US" sz="24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CB2193E9-4DC7-6054-68AC-63CC9B07073B}"/>
              </a:ext>
            </a:extLst>
          </p:cNvPr>
          <p:cNvSpPr>
            <a:spLocks noGrp="1"/>
          </p:cNvSpPr>
          <p:nvPr>
            <p:ph type="sldNum" sz="quarter" idx="12"/>
          </p:nvPr>
        </p:nvSpPr>
        <p:spPr/>
        <p:txBody>
          <a:bodyPr/>
          <a:lstStyle/>
          <a:p>
            <a:fld id="{CC529A1F-6900-4D36-92AC-B7647C1D9DDB}" type="slidenum">
              <a:rPr lang="en-US" smtClean="0"/>
              <a:t>13</a:t>
            </a:fld>
            <a:endParaRPr lang="en-US"/>
          </a:p>
        </p:txBody>
      </p:sp>
      <p:pic>
        <p:nvPicPr>
          <p:cNvPr id="6" name="Picture 5" descr="A white background with black text&#10;&#10;AI-generated content may be incorrect.">
            <a:extLst>
              <a:ext uri="{FF2B5EF4-FFF2-40B4-BE49-F238E27FC236}">
                <a16:creationId xmlns:a16="http://schemas.microsoft.com/office/drawing/2014/main" id="{2BE345B5-C81B-2CD1-FE66-454C9238F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037" y="1932598"/>
            <a:ext cx="11481658" cy="4925401"/>
          </a:xfrm>
          <a:prstGeom prst="rect">
            <a:avLst/>
          </a:prstGeom>
        </p:spPr>
      </p:pic>
    </p:spTree>
    <p:extLst>
      <p:ext uri="{BB962C8B-B14F-4D97-AF65-F5344CB8AC3E}">
        <p14:creationId xmlns:p14="http://schemas.microsoft.com/office/powerpoint/2010/main" val="1342879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Hypothesis Tests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263973" cy="5456742"/>
          </a:xfrm>
        </p:spPr>
        <p:txBody>
          <a:bodyPr>
            <a:normAutofit fontScale="85000" lnSpcReduction="20000"/>
          </a:bodyPr>
          <a:lstStyle/>
          <a:p>
            <a:pPr algn="just">
              <a:buFont typeface="Wingdings" panose="05000000000000000000" pitchFamily="2" charset="2"/>
              <a:buChar char="Ø"/>
            </a:pPr>
            <a:r>
              <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Two types of Hypothesis</a:t>
            </a:r>
          </a:p>
          <a:p>
            <a:pPr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The </a:t>
            </a:r>
            <a:r>
              <a:rPr lang="en-US" sz="2600" b="1" dirty="0">
                <a:solidFill>
                  <a:schemeClr val="tx1"/>
                </a:solidFill>
                <a:latin typeface="Tahoma" panose="020B0604030504040204" pitchFamily="34" charset="0"/>
                <a:ea typeface="Tahoma" panose="020B0604030504040204" pitchFamily="34" charset="0"/>
                <a:cs typeface="Tahoma" panose="020B0604030504040204" pitchFamily="34" charset="0"/>
              </a:rPr>
              <a:t>null hypothesis </a:t>
            </a: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en-US" sz="2600" i="1" dirty="0">
                <a:solidFill>
                  <a:schemeClr val="tx1"/>
                </a:solidFill>
                <a:latin typeface="Tahoma" panose="020B0604030504040204" pitchFamily="34" charset="0"/>
                <a:ea typeface="Tahoma" panose="020B0604030504040204" pitchFamily="34" charset="0"/>
                <a:cs typeface="Tahoma" panose="020B0604030504040204" pitchFamily="34" charset="0"/>
              </a:rPr>
              <a:t>H</a:t>
            </a:r>
            <a:r>
              <a:rPr lang="en-US" sz="2500" i="1" baseline="-40000" dirty="0">
                <a:solidFill>
                  <a:schemeClr val="tx1"/>
                </a:solidFill>
                <a:latin typeface="Tahoma" panose="020B0604030504040204" pitchFamily="34" charset="0"/>
                <a:ea typeface="Tahoma" panose="020B0604030504040204" pitchFamily="34" charset="0"/>
                <a:cs typeface="Tahoma" panose="020B0604030504040204" pitchFamily="34" charset="0"/>
              </a:rPr>
              <a:t>0</a:t>
            </a: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 and the </a:t>
            </a:r>
            <a:r>
              <a:rPr lang="en-US" sz="2600" b="1" dirty="0">
                <a:solidFill>
                  <a:schemeClr val="tx1"/>
                </a:solidFill>
                <a:latin typeface="Tahoma" panose="020B0604030504040204" pitchFamily="34" charset="0"/>
                <a:ea typeface="Tahoma" panose="020B0604030504040204" pitchFamily="34" charset="0"/>
                <a:cs typeface="Tahoma" panose="020B0604030504040204" pitchFamily="34" charset="0"/>
              </a:rPr>
              <a:t>alternative hypothesis</a:t>
            </a: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2600" i="1" dirty="0">
                <a:solidFill>
                  <a:schemeClr val="tx1"/>
                </a:solidFill>
                <a:latin typeface="Tahoma" panose="020B0604030504040204" pitchFamily="34" charset="0"/>
                <a:ea typeface="Tahoma" panose="020B0604030504040204" pitchFamily="34" charset="0"/>
                <a:cs typeface="Tahoma" panose="020B0604030504040204" pitchFamily="34" charset="0"/>
              </a:rPr>
              <a:t>H</a:t>
            </a:r>
            <a:r>
              <a:rPr lang="el-GR" sz="2500" i="1" baseline="-40000" dirty="0">
                <a:solidFill>
                  <a:schemeClr val="tx1"/>
                </a:solidFill>
                <a:latin typeface="Tahoma" panose="020B0604030504040204" pitchFamily="34" charset="0"/>
                <a:ea typeface="Tahoma" panose="020B0604030504040204" pitchFamily="34" charset="0"/>
                <a:cs typeface="Tahoma" panose="020B0604030504040204" pitchFamily="34" charset="0"/>
              </a:rPr>
              <a:t>α</a:t>
            </a: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 are the claims.</a:t>
            </a:r>
          </a:p>
          <a:p>
            <a:pPr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The two claims needs to be mutually exclusive, meaning only one of them can be true.</a:t>
            </a:r>
            <a:endPar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1" algn="just">
              <a:buFont typeface="Wingdings" panose="05000000000000000000" pitchFamily="2" charset="2"/>
              <a:buChar char="Ø"/>
            </a:pP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Null hypothesis</a:t>
            </a:r>
          </a:p>
          <a:p>
            <a:pPr lvl="2" algn="just">
              <a:buFont typeface="Wingdings" panose="05000000000000000000" pitchFamily="2" charset="2"/>
              <a:buChar char="Ø"/>
            </a:pP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Also known as </a:t>
            </a:r>
            <a:r>
              <a:rPr lang="en-US" sz="2200" b="1" dirty="0">
                <a:solidFill>
                  <a:schemeClr val="tx1"/>
                </a:solidFill>
                <a:latin typeface="Tahoma" panose="020B0604030504040204" pitchFamily="34" charset="0"/>
                <a:ea typeface="Tahoma" panose="020B0604030504040204" pitchFamily="34" charset="0"/>
                <a:cs typeface="Tahoma" panose="020B0604030504040204" pitchFamily="34" charset="0"/>
              </a:rPr>
              <a:t>zero</a:t>
            </a: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 hypothesis (Why?, </a:t>
            </a:r>
            <a:r>
              <a:rPr lang="en-US" sz="2200" b="1" dirty="0">
                <a:solidFill>
                  <a:schemeClr val="tx1"/>
                </a:solidFill>
                <a:latin typeface="Tahoma" panose="020B0604030504040204" pitchFamily="34" charset="0"/>
                <a:ea typeface="Tahoma" panose="020B0604030504040204" pitchFamily="34" charset="0"/>
                <a:cs typeface="Tahoma" panose="020B0604030504040204" pitchFamily="34" charset="0"/>
              </a:rPr>
              <a:t>difference in both groups is zer</a:t>
            </a: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o)</a:t>
            </a:r>
          </a:p>
          <a:p>
            <a:pPr lvl="2" algn="just">
              <a:buFont typeface="Wingdings" panose="05000000000000000000" pitchFamily="2" charset="2"/>
              <a:buChar char="Ø"/>
            </a:pP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It is a baseline assumption that the treatments are equal and any difference in the groups is due to a </a:t>
            </a:r>
            <a:r>
              <a:rPr lang="en-US" sz="2200" b="1" dirty="0">
                <a:solidFill>
                  <a:schemeClr val="tx1"/>
                </a:solidFill>
                <a:latin typeface="Tahoma" panose="020B0604030504040204" pitchFamily="34" charset="0"/>
                <a:ea typeface="Tahoma" panose="020B0604030504040204" pitchFamily="34" charset="0"/>
                <a:cs typeface="Tahoma" panose="020B0604030504040204" pitchFamily="34" charset="0"/>
              </a:rPr>
              <a:t>random chance</a:t>
            </a: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lvl="2" algn="just">
              <a:buFont typeface="Wingdings" panose="05000000000000000000" pitchFamily="2" charset="2"/>
              <a:buChar char="Ø"/>
            </a:pPr>
            <a:r>
              <a:rPr lang="en-US" sz="2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Represented by </a:t>
            </a:r>
            <a:r>
              <a:rPr lang="en-US" sz="2200" b="1" i="1" dirty="0">
                <a:solidFill>
                  <a:schemeClr val="tx1"/>
                </a:solidFill>
                <a:effectLst/>
                <a:latin typeface="Tahoma" panose="020B0604030504040204" pitchFamily="34" charset="0"/>
                <a:ea typeface="Tahoma" panose="020B0604030504040204" pitchFamily="34" charset="0"/>
                <a:cs typeface="Tahoma" panose="020B0604030504040204" pitchFamily="34" charset="0"/>
              </a:rPr>
              <a:t>H</a:t>
            </a:r>
            <a:r>
              <a:rPr lang="en-US" sz="2200" b="1" i="1"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0</a:t>
            </a:r>
            <a:endParaRPr lang="en-US" sz="2200" b="1" i="1" baseline="-250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lvl="2" algn="just">
              <a:buFont typeface="Wingdings" panose="05000000000000000000" pitchFamily="2" charset="2"/>
              <a:buChar char="Ø"/>
            </a:pPr>
            <a:r>
              <a:rPr lang="en-US" sz="2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Currently </a:t>
            </a:r>
            <a:r>
              <a:rPr lang="en-US" sz="22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accepted value </a:t>
            </a:r>
            <a:r>
              <a:rPr lang="en-US" sz="2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for a parameter or </a:t>
            </a:r>
            <a:r>
              <a:rPr lang="en-US" sz="22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established fact</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Alternative Hypothesis or Research Hypothesis</a:t>
            </a:r>
          </a:p>
          <a:p>
            <a:pPr lvl="2" algn="just">
              <a:buFont typeface="Wingdings" panose="05000000000000000000" pitchFamily="2" charset="2"/>
              <a:buChar char="Ø"/>
            </a:pPr>
            <a:r>
              <a:rPr lang="en-US" sz="2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Involves th</a:t>
            </a: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e </a:t>
            </a:r>
            <a:r>
              <a:rPr lang="en-US" sz="2200" b="1" dirty="0">
                <a:solidFill>
                  <a:schemeClr val="tx1"/>
                </a:solidFill>
                <a:latin typeface="Tahoma" panose="020B0604030504040204" pitchFamily="34" charset="0"/>
                <a:ea typeface="Tahoma" panose="020B0604030504040204" pitchFamily="34" charset="0"/>
                <a:cs typeface="Tahoma" panose="020B0604030504040204" pitchFamily="34" charset="0"/>
              </a:rPr>
              <a:t>claim to be tested</a:t>
            </a:r>
          </a:p>
          <a:p>
            <a:pPr lvl="2" algn="just">
              <a:buFont typeface="Wingdings" panose="05000000000000000000" pitchFamily="2" charset="2"/>
              <a:buChar char="Ø"/>
            </a:pPr>
            <a:r>
              <a:rPr lang="en-US" sz="22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Represented by </a:t>
            </a:r>
            <a:r>
              <a:rPr lang="en-US" sz="2200" b="1" i="1" dirty="0">
                <a:solidFill>
                  <a:schemeClr val="tx1"/>
                </a:solidFill>
                <a:effectLst/>
                <a:latin typeface="Tahoma" panose="020B0604030504040204" pitchFamily="34" charset="0"/>
                <a:ea typeface="Tahoma" panose="020B0604030504040204" pitchFamily="34" charset="0"/>
                <a:cs typeface="Tahoma" panose="020B0604030504040204" pitchFamily="34" charset="0"/>
              </a:rPr>
              <a:t>H</a:t>
            </a:r>
            <a:r>
              <a:rPr lang="en-US" sz="2200" b="1" i="1"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a</a:t>
            </a:r>
            <a:endParaRPr lang="en-US" sz="2200" b="1" i="1"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Ø"/>
            </a:pPr>
            <a:r>
              <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Let us understand by an examples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14</a:t>
            </a:fld>
            <a:endParaRPr lang="en-US"/>
          </a:p>
        </p:txBody>
      </p:sp>
    </p:spTree>
    <p:extLst>
      <p:ext uri="{BB962C8B-B14F-4D97-AF65-F5344CB8AC3E}">
        <p14:creationId xmlns:p14="http://schemas.microsoft.com/office/powerpoint/2010/main" val="545136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Hypothesis Tests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1128585"/>
            <a:ext cx="8723646" cy="5456742"/>
          </a:xfrm>
        </p:spPr>
        <p:txBody>
          <a:bodyPr>
            <a:noAutofit/>
          </a:bodyPr>
          <a:lstStyle/>
          <a:p>
            <a:pPr algn="just">
              <a:buFont typeface="Wingdings" panose="05000000000000000000" pitchFamily="2" charset="2"/>
              <a:buChar char="Ø"/>
            </a:pPr>
            <a:r>
              <a:rPr lang="en-US" sz="16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Example</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 It is believed that a </a:t>
            </a:r>
            <a:r>
              <a:rPr lang="en-US" sz="1600" b="1" dirty="0">
                <a:solidFill>
                  <a:schemeClr val="tx1"/>
                </a:solidFill>
                <a:latin typeface="Tahoma" panose="020B0604030504040204" pitchFamily="34" charset="0"/>
                <a:ea typeface="Tahoma" panose="020B0604030504040204" pitchFamily="34" charset="0"/>
                <a:cs typeface="Tahoma" panose="020B0604030504040204" pitchFamily="34" charset="0"/>
              </a:rPr>
              <a:t>candy machine makes chocolate bars </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that are on </a:t>
            </a:r>
            <a:r>
              <a:rPr lang="en-US" sz="1600" b="1" dirty="0">
                <a:solidFill>
                  <a:schemeClr val="tx1"/>
                </a:solidFill>
                <a:latin typeface="Tahoma" panose="020B0604030504040204" pitchFamily="34" charset="0"/>
                <a:ea typeface="Tahoma" panose="020B0604030504040204" pitchFamily="34" charset="0"/>
                <a:cs typeface="Tahoma" panose="020B0604030504040204" pitchFamily="34" charset="0"/>
              </a:rPr>
              <a:t>average 5 g</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 A worker claims that the machine </a:t>
            </a:r>
            <a:r>
              <a:rPr lang="en-US" sz="1600" b="1" dirty="0">
                <a:solidFill>
                  <a:schemeClr val="tx1"/>
                </a:solidFill>
                <a:latin typeface="Tahoma" panose="020B0604030504040204" pitchFamily="34" charset="0"/>
                <a:ea typeface="Tahoma" panose="020B0604030504040204" pitchFamily="34" charset="0"/>
                <a:cs typeface="Tahoma" panose="020B0604030504040204" pitchFamily="34" charset="0"/>
              </a:rPr>
              <a:t>after maintenance no longer makes average 5g bars</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lvl="1" algn="just">
              <a:buFont typeface="Wingdings" panose="05000000000000000000" pitchFamily="2" charset="2"/>
              <a:buChar char="Ø"/>
            </a:pPr>
            <a:r>
              <a:rPr lang="en-US"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H</a:t>
            </a:r>
            <a:r>
              <a:rPr lang="en-US" b="0" i="0"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0 </a:t>
            </a:r>
            <a:r>
              <a:rPr lang="en-US"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5g</a:t>
            </a:r>
          </a:p>
          <a:p>
            <a:pPr lvl="1" algn="just">
              <a:buFont typeface="Wingdings" panose="05000000000000000000" pitchFamily="2" charset="2"/>
              <a:buChar char="Ø"/>
            </a:pPr>
            <a:r>
              <a:rPr lang="en-US"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H</a:t>
            </a:r>
            <a:r>
              <a:rPr lang="en-US" b="0" i="0"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a </a:t>
            </a:r>
            <a:r>
              <a:rPr lang="en-US"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5g</a:t>
            </a:r>
          </a:p>
          <a:p>
            <a:pPr lvl="1" algn="just">
              <a:buFont typeface="Wingdings" panose="05000000000000000000" pitchFamily="2" charset="2"/>
              <a:buChar char="Ø"/>
            </a:pP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H</a:t>
            </a:r>
            <a:r>
              <a:rPr lang="en-US" baseline="-25000" dirty="0">
                <a:solidFill>
                  <a:schemeClr val="tx1"/>
                </a:solidFill>
                <a:latin typeface="Tahoma" panose="020B0604030504040204" pitchFamily="34" charset="0"/>
                <a:ea typeface="Tahoma" panose="020B0604030504040204" pitchFamily="34" charset="0"/>
                <a:cs typeface="Tahoma" panose="020B0604030504040204" pitchFamily="34" charset="0"/>
              </a:rPr>
              <a:t>0</a:t>
            </a: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 and H</a:t>
            </a:r>
            <a:r>
              <a:rPr lang="en-US" baseline="-25000" dirty="0">
                <a:solidFill>
                  <a:schemeClr val="tx1"/>
                </a:solidFill>
                <a:latin typeface="Tahoma" panose="020B0604030504040204" pitchFamily="34" charset="0"/>
                <a:ea typeface="Tahoma" panose="020B0604030504040204" pitchFamily="34" charset="0"/>
                <a:cs typeface="Tahoma" panose="020B0604030504040204" pitchFamily="34" charset="0"/>
              </a:rPr>
              <a:t>a</a:t>
            </a: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 are mathematically opposites</a:t>
            </a:r>
          </a:p>
          <a:p>
            <a:pPr lvl="1" algn="just">
              <a:buFont typeface="Wingdings" panose="05000000000000000000" pitchFamily="2" charset="2"/>
              <a:buChar char="Ø"/>
            </a:pP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We assume H</a:t>
            </a:r>
            <a:r>
              <a:rPr lang="en-US" baseline="-25000" dirty="0">
                <a:solidFill>
                  <a:schemeClr val="tx1"/>
                </a:solidFill>
                <a:latin typeface="Tahoma" panose="020B0604030504040204" pitchFamily="34" charset="0"/>
                <a:ea typeface="Tahoma" panose="020B0604030504040204" pitchFamily="34" charset="0"/>
                <a:cs typeface="Tahoma" panose="020B0604030504040204" pitchFamily="34" charset="0"/>
              </a:rPr>
              <a:t>0</a:t>
            </a: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 is correct until  H</a:t>
            </a:r>
            <a:r>
              <a:rPr lang="en-US" baseline="-25000" dirty="0">
                <a:solidFill>
                  <a:schemeClr val="tx1"/>
                </a:solidFill>
                <a:latin typeface="Tahoma" panose="020B0604030504040204" pitchFamily="34" charset="0"/>
                <a:ea typeface="Tahoma" panose="020B0604030504040204" pitchFamily="34" charset="0"/>
                <a:cs typeface="Tahoma" panose="020B0604030504040204" pitchFamily="34" charset="0"/>
              </a:rPr>
              <a:t>a</a:t>
            </a: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 is proved</a:t>
            </a:r>
          </a:p>
          <a:p>
            <a:pPr algn="just">
              <a:buFont typeface="Wingdings" panose="05000000000000000000" pitchFamily="2" charset="2"/>
              <a:buChar char="Ø"/>
            </a:pP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Possible outcomes of this test </a:t>
            </a:r>
          </a:p>
          <a:p>
            <a:pPr lvl="1" algn="just">
              <a:buFont typeface="Wingdings" panose="05000000000000000000" pitchFamily="2" charset="2"/>
              <a:buChar char="Ø"/>
            </a:pP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Reject Null hypothesis </a:t>
            </a:r>
            <a:r>
              <a:rPr lang="en-US" b="1" dirty="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OR</a:t>
            </a:r>
          </a:p>
          <a:p>
            <a:pPr lvl="1" algn="just">
              <a:buFont typeface="Wingdings" panose="05000000000000000000" pitchFamily="2" charset="2"/>
              <a:buChar char="Ø"/>
            </a:pPr>
            <a:r>
              <a:rPr lang="en-US" dirty="0">
                <a:solidFill>
                  <a:srgbClr val="FF0000"/>
                </a:solidFill>
                <a:latin typeface="Tahoma" panose="020B0604030504040204" pitchFamily="34" charset="0"/>
                <a:ea typeface="Tahoma" panose="020B0604030504040204" pitchFamily="34" charset="0"/>
                <a:cs typeface="Tahoma" panose="020B0604030504040204" pitchFamily="34" charset="0"/>
              </a:rPr>
              <a:t>Fail to </a:t>
            </a:r>
            <a:r>
              <a:rPr lang="en-US" dirty="0">
                <a:solidFill>
                  <a:schemeClr val="tx1"/>
                </a:solidFill>
                <a:latin typeface="Tahoma" panose="020B0604030504040204" pitchFamily="34" charset="0"/>
                <a:ea typeface="Tahoma" panose="020B0604030504040204" pitchFamily="34" charset="0"/>
                <a:cs typeface="Tahoma" panose="020B0604030504040204" pitchFamily="34" charset="0"/>
              </a:rPr>
              <a:t>reject Null hypothesis</a:t>
            </a:r>
          </a:p>
          <a:p>
            <a:pPr algn="just">
              <a:buFont typeface="Wingdings" panose="05000000000000000000" pitchFamily="2" charset="2"/>
              <a:buChar char="Ø"/>
            </a:pP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In real life It is very hard to prove something is true/correct. </a:t>
            </a:r>
          </a:p>
          <a:p>
            <a:pPr algn="just">
              <a:buFont typeface="Wingdings" panose="05000000000000000000" pitchFamily="2" charset="2"/>
              <a:buChar char="Ø"/>
            </a:pP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Thus hard to prove</a:t>
            </a:r>
            <a:r>
              <a:rPr lang="en-US" sz="1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H</a:t>
            </a:r>
            <a:r>
              <a:rPr lang="en-US" sz="1600" b="0" i="0"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a</a:t>
            </a:r>
            <a:r>
              <a:rPr lang="en-US" sz="1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≠5g</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 is correct but </a:t>
            </a:r>
          </a:p>
          <a:p>
            <a:pPr algn="just">
              <a:buFont typeface="Wingdings" panose="05000000000000000000" pitchFamily="2" charset="2"/>
              <a:buChar char="Ø"/>
            </a:pP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It is easier to reject </a:t>
            </a:r>
            <a:r>
              <a:rPr lang="en-US" sz="1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H</a:t>
            </a:r>
            <a:r>
              <a:rPr lang="en-US" sz="1600" b="0" i="0"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0</a:t>
            </a:r>
            <a:r>
              <a:rPr lang="en-US" sz="1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=5g or fail to reject. </a:t>
            </a:r>
          </a:p>
          <a:p>
            <a:pPr algn="just">
              <a:buFont typeface="Wingdings" panose="05000000000000000000" pitchFamily="2" charset="2"/>
              <a:buChar char="Ø"/>
            </a:pPr>
            <a:r>
              <a:rPr lang="en-US" sz="1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Now how do we determine</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a:t>
            </a:r>
            <a:r>
              <a:rPr lang="en-US" sz="1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test the H</a:t>
            </a:r>
            <a:r>
              <a:rPr lang="en-US" sz="1600" b="0" i="0"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0.</a:t>
            </a:r>
            <a:r>
              <a:rPr lang="en-US" sz="1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p>
            <a:pPr algn="just">
              <a:buFont typeface="Wingdings" panose="05000000000000000000" pitchFamily="2" charset="2"/>
              <a:buChar char="Ø"/>
            </a:pP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We  need </a:t>
            </a:r>
            <a:r>
              <a:rPr lang="en-US" sz="1600" b="1" dirty="0">
                <a:solidFill>
                  <a:schemeClr val="tx1"/>
                </a:solidFill>
                <a:latin typeface="Tahoma" panose="020B0604030504040204" pitchFamily="34" charset="0"/>
                <a:ea typeface="Tahoma" panose="020B0604030504040204" pitchFamily="34" charset="0"/>
                <a:cs typeface="Tahoma" panose="020B0604030504040204" pitchFamily="34" charset="0"/>
              </a:rPr>
              <a:t>Test</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600" b="1" dirty="0">
                <a:solidFill>
                  <a:schemeClr val="tx1"/>
                </a:solidFill>
                <a:latin typeface="Tahoma" panose="020B0604030504040204" pitchFamily="34" charset="0"/>
                <a:ea typeface="Tahoma" panose="020B0604030504040204" pitchFamily="34" charset="0"/>
                <a:cs typeface="Tahoma" panose="020B0604030504040204" pitchFamily="34" charset="0"/>
              </a:rPr>
              <a:t>Statistic/metric</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 to calculate from sample data use to decide (Reject to Fail to reject H</a:t>
            </a:r>
            <a:r>
              <a:rPr lang="en-US" sz="1600" baseline="-25000" dirty="0">
                <a:solidFill>
                  <a:schemeClr val="tx1"/>
                </a:solidFill>
                <a:latin typeface="Tahoma" panose="020B0604030504040204" pitchFamily="34" charset="0"/>
                <a:ea typeface="Tahoma" panose="020B0604030504040204" pitchFamily="34" charset="0"/>
                <a:cs typeface="Tahoma" panose="020B0604030504040204" pitchFamily="34" charset="0"/>
              </a:rPr>
              <a:t>0</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a:t>
            </a:r>
            <a:endParaRPr lang="en-US" sz="1600" b="0" i="0"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15</a:t>
            </a:fld>
            <a:endParaRPr lang="en-US"/>
          </a:p>
        </p:txBody>
      </p:sp>
    </p:spTree>
    <p:extLst>
      <p:ext uri="{BB962C8B-B14F-4D97-AF65-F5344CB8AC3E}">
        <p14:creationId xmlns:p14="http://schemas.microsoft.com/office/powerpoint/2010/main" val="2687714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Hypothesis Tests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8632206" cy="5456742"/>
          </a:xfrm>
        </p:spPr>
        <p:txBody>
          <a:bodyPr>
            <a:normAutofit fontScale="62500" lnSpcReduction="20000"/>
          </a:bodyPr>
          <a:lstStyle/>
          <a:p>
            <a:pPr algn="just">
              <a:buFont typeface="Wingdings" panose="05000000000000000000" pitchFamily="2" charset="2"/>
              <a:buChar char="Ø"/>
            </a:pPr>
            <a:r>
              <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Back to example</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Sample 50 bars</a:t>
            </a:r>
          </a:p>
          <a:p>
            <a:pPr lvl="1" algn="just">
              <a:buFont typeface="Wingdings" panose="05000000000000000000" pitchFamily="2" charset="2"/>
              <a:buChar char="Ø"/>
            </a:pP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Get average value</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Calculate test hypothesis</a:t>
            </a:r>
          </a:p>
          <a:p>
            <a:pPr algn="just">
              <a:buFont typeface="Wingdings" panose="05000000000000000000" pitchFamily="2" charset="2"/>
              <a:buChar char="Ø"/>
            </a:pPr>
            <a:r>
              <a:rPr lang="en-US" sz="2800" dirty="0">
                <a:solidFill>
                  <a:schemeClr val="tx1"/>
                </a:solidFill>
                <a:latin typeface="Tahoma" panose="020B0604030504040204" pitchFamily="34" charset="0"/>
                <a:ea typeface="Tahoma" panose="020B0604030504040204" pitchFamily="34" charset="0"/>
                <a:cs typeface="Tahoma" panose="020B0604030504040204" pitchFamily="34" charset="0"/>
              </a:rPr>
              <a:t>Generally, A </a:t>
            </a:r>
            <a:r>
              <a:rPr lang="en-US" sz="2800" b="1" dirty="0">
                <a:solidFill>
                  <a:schemeClr val="tx1"/>
                </a:solidFill>
                <a:latin typeface="Tahoma" panose="020B0604030504040204" pitchFamily="34" charset="0"/>
                <a:ea typeface="Tahoma" panose="020B0604030504040204" pitchFamily="34" charset="0"/>
                <a:cs typeface="Tahoma" panose="020B0604030504040204" pitchFamily="34" charset="0"/>
              </a:rPr>
              <a:t>Test hypothesis</a:t>
            </a:r>
            <a:r>
              <a:rPr lang="en-US" sz="2800" dirty="0">
                <a:solidFill>
                  <a:schemeClr val="tx1"/>
                </a:solidFill>
                <a:latin typeface="Tahoma" panose="020B0604030504040204" pitchFamily="34" charset="0"/>
                <a:ea typeface="Tahoma" panose="020B0604030504040204" pitchFamily="34" charset="0"/>
                <a:cs typeface="Tahoma" panose="020B0604030504040204" pitchFamily="34" charset="0"/>
              </a:rPr>
              <a:t>, is an equation depending on the problem we have.</a:t>
            </a:r>
          </a:p>
          <a:p>
            <a:pPr algn="just">
              <a:buFont typeface="Wingdings" panose="05000000000000000000" pitchFamily="2" charset="2"/>
              <a:buChar char="Ø"/>
            </a:pPr>
            <a:r>
              <a:rPr lang="en-US" sz="2800" dirty="0">
                <a:solidFill>
                  <a:schemeClr val="tx1"/>
                </a:solidFill>
                <a:latin typeface="Tahoma" panose="020B0604030504040204" pitchFamily="34" charset="0"/>
                <a:ea typeface="Tahoma" panose="020B0604030504040204" pitchFamily="34" charset="0"/>
                <a:cs typeface="Tahoma" panose="020B0604030504040204" pitchFamily="34" charset="0"/>
              </a:rPr>
              <a:t>A </a:t>
            </a:r>
            <a:r>
              <a:rPr lang="en-US" sz="2800" b="1" dirty="0">
                <a:solidFill>
                  <a:schemeClr val="tx1"/>
                </a:solidFill>
                <a:latin typeface="Tahoma" panose="020B0604030504040204" pitchFamily="34" charset="0"/>
                <a:ea typeface="Tahoma" panose="020B0604030504040204" pitchFamily="34" charset="0"/>
                <a:cs typeface="Tahoma" panose="020B0604030504040204" pitchFamily="34" charset="0"/>
              </a:rPr>
              <a:t>Test hypothesis </a:t>
            </a:r>
            <a:r>
              <a:rPr lang="en-US" sz="2800" dirty="0">
                <a:solidFill>
                  <a:schemeClr val="tx1"/>
                </a:solidFill>
                <a:latin typeface="Tahoma" panose="020B0604030504040204" pitchFamily="34" charset="0"/>
                <a:ea typeface="Tahoma" panose="020B0604030504040204" pitchFamily="34" charset="0"/>
                <a:cs typeface="Tahoma" panose="020B0604030504040204" pitchFamily="34" charset="0"/>
              </a:rPr>
              <a:t>is used to determine is that the data you have statistically significant enough to reject the H</a:t>
            </a:r>
            <a:r>
              <a:rPr lang="en-US" sz="2800" baseline="-25000" dirty="0">
                <a:solidFill>
                  <a:schemeClr val="tx1"/>
                </a:solidFill>
                <a:latin typeface="Tahoma" panose="020B0604030504040204" pitchFamily="34" charset="0"/>
                <a:ea typeface="Tahoma" panose="020B0604030504040204" pitchFamily="34" charset="0"/>
                <a:cs typeface="Tahoma" panose="020B0604030504040204" pitchFamily="34" charset="0"/>
              </a:rPr>
              <a:t>0</a:t>
            </a:r>
            <a:r>
              <a:rPr lang="en-US" sz="2800" dirty="0">
                <a:solidFill>
                  <a:schemeClr val="tx1"/>
                </a:solidFill>
                <a:latin typeface="Tahoma" panose="020B0604030504040204" pitchFamily="34" charset="0"/>
                <a:ea typeface="Tahoma" panose="020B0604030504040204" pitchFamily="34" charset="0"/>
                <a:cs typeface="Tahoma" panose="020B0604030504040204" pitchFamily="34" charset="0"/>
              </a:rPr>
              <a:t> or not.</a:t>
            </a:r>
          </a:p>
          <a:p>
            <a:pPr algn="just">
              <a:buFont typeface="Wingdings" panose="05000000000000000000" pitchFamily="2" charset="2"/>
              <a:buChar char="Ø"/>
            </a:pPr>
            <a:r>
              <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Statistically significant</a:t>
            </a: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means where do we draw the line to make decision?</a:t>
            </a:r>
          </a:p>
          <a:p>
            <a:pPr algn="just">
              <a:buFont typeface="Wingdings" panose="05000000000000000000" pitchFamily="2" charset="2"/>
              <a:buChar char="Ø"/>
            </a:pP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Back to Example</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Monday one person got Avg 5.12g for 50 bars (close to 5 but not 5g)</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Tuesday one person got Avg 5.72g for 50 bars (not close to 5 but 6g, a doubt Ho may be rejected)</a:t>
            </a:r>
            <a:endPar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Wednesday one person got Avg 7.23g for 50 bars (Far way from 5g, Ho is rejected)</a:t>
            </a:r>
          </a:p>
          <a:p>
            <a:pPr algn="just">
              <a:buFont typeface="Wingdings" panose="05000000000000000000" pitchFamily="2" charset="2"/>
              <a:buChar char="Ø"/>
            </a:pPr>
            <a:r>
              <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So WED results are statistically significant to reject H</a:t>
            </a:r>
            <a:r>
              <a:rPr lang="en-US" sz="2600" b="0" i="0" baseline="-25000" dirty="0">
                <a:solidFill>
                  <a:schemeClr val="tx1"/>
                </a:solidFill>
                <a:effectLst/>
                <a:latin typeface="Tahoma" panose="020B0604030504040204" pitchFamily="34" charset="0"/>
                <a:ea typeface="Tahoma" panose="020B0604030504040204" pitchFamily="34" charset="0"/>
                <a:cs typeface="Tahoma" panose="020B0604030504040204" pitchFamily="34" charset="0"/>
              </a:rPr>
              <a:t>0</a:t>
            </a:r>
            <a:r>
              <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algn="just">
              <a:buFont typeface="Wingdings" panose="05000000000000000000" pitchFamily="2" charset="2"/>
              <a:buChar char="Ø"/>
            </a:pPr>
            <a:r>
              <a:rPr lang="en-US" sz="26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But the opinion may differ among these observations, but stats need to have concrete decision boundaries (not based on opinion or guess) when to reject or fail to reject Ho. </a:t>
            </a:r>
          </a:p>
          <a:p>
            <a:pPr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Thus we need confidence level, how sure/confident are we in our decision (say to reject the Ho). If 50% no one accept.</a:t>
            </a:r>
            <a:endPar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16</a:t>
            </a:fld>
            <a:endParaRPr lang="en-US"/>
          </a:p>
        </p:txBody>
      </p:sp>
    </p:spTree>
    <p:extLst>
      <p:ext uri="{BB962C8B-B14F-4D97-AF65-F5344CB8AC3E}">
        <p14:creationId xmlns:p14="http://schemas.microsoft.com/office/powerpoint/2010/main" val="3634761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570EB-270E-A693-AEF9-46096A03C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C0350-64A0-1930-0D3A-1D5B51507417}"/>
              </a:ext>
            </a:extLst>
          </p:cNvPr>
          <p:cNvSpPr>
            <a:spLocks noGrp="1"/>
          </p:cNvSpPr>
          <p:nvPr>
            <p:ph type="title"/>
          </p:nvPr>
        </p:nvSpPr>
        <p:spPr>
          <a:xfrm>
            <a:off x="395416" y="272673"/>
            <a:ext cx="11376454" cy="757057"/>
          </a:xfrm>
        </p:spPr>
        <p:txBody>
          <a:bodyPr>
            <a:normAutofit/>
          </a:bodyPr>
          <a:lstStyle/>
          <a:p>
            <a:r>
              <a:rPr lang="en-US" dirty="0"/>
              <a:t>Hypothesis Tests</a:t>
            </a:r>
          </a:p>
        </p:txBody>
      </p:sp>
      <p:pic>
        <p:nvPicPr>
          <p:cNvPr id="6" name="Content Placeholder 5" descr="A white paper with black text&#10;&#10;AI-generated content may be incorrect.">
            <a:extLst>
              <a:ext uri="{FF2B5EF4-FFF2-40B4-BE49-F238E27FC236}">
                <a16:creationId xmlns:a16="http://schemas.microsoft.com/office/drawing/2014/main" id="{9C8B63CB-02BB-6CD4-9082-FD8A153AA6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4232" y="839102"/>
            <a:ext cx="10945042" cy="5008246"/>
          </a:xfrm>
        </p:spPr>
      </p:pic>
      <p:sp>
        <p:nvSpPr>
          <p:cNvPr id="5" name="Slide Number Placeholder 4">
            <a:extLst>
              <a:ext uri="{FF2B5EF4-FFF2-40B4-BE49-F238E27FC236}">
                <a16:creationId xmlns:a16="http://schemas.microsoft.com/office/drawing/2014/main" id="{5A4043D9-AEAD-1518-9522-3FC53072B7A4}"/>
              </a:ext>
            </a:extLst>
          </p:cNvPr>
          <p:cNvSpPr>
            <a:spLocks noGrp="1"/>
          </p:cNvSpPr>
          <p:nvPr>
            <p:ph type="sldNum" sz="quarter" idx="12"/>
          </p:nvPr>
        </p:nvSpPr>
        <p:spPr/>
        <p:txBody>
          <a:bodyPr/>
          <a:lstStyle/>
          <a:p>
            <a:fld id="{CC529A1F-6900-4D36-92AC-B7647C1D9DDB}" type="slidenum">
              <a:rPr lang="en-US" smtClean="0"/>
              <a:t>17</a:t>
            </a:fld>
            <a:endParaRPr lang="en-US"/>
          </a:p>
        </p:txBody>
      </p:sp>
    </p:spTree>
    <p:extLst>
      <p:ext uri="{BB962C8B-B14F-4D97-AF65-F5344CB8AC3E}">
        <p14:creationId xmlns:p14="http://schemas.microsoft.com/office/powerpoint/2010/main" val="1894517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Hypothesis Tests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8748584" cy="5456742"/>
          </a:xfrm>
        </p:spPr>
        <p:txBody>
          <a:bodyPr>
            <a:noAutofit/>
          </a:bodyPr>
          <a:lstStyle/>
          <a:p>
            <a:pPr algn="just">
              <a:buFont typeface="Wingdings" panose="05000000000000000000" pitchFamily="2" charset="2"/>
              <a:buChar char="Ø"/>
            </a:pP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Level of confidence</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How sure we are in our decision.</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Variable is C, say 95% or 99%</a:t>
            </a:r>
          </a:p>
          <a:p>
            <a:pPr algn="just">
              <a:buFont typeface="Wingdings" panose="05000000000000000000" pitchFamily="2" charset="2"/>
              <a:buChar char="Ø"/>
            </a:pP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Level of Significance</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Variable is α (alpha)</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α  = 1 - C</a:t>
            </a:r>
          </a:p>
          <a:p>
            <a:pPr lvl="1"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So if C = 95%, or C = 0.95</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α = 1 - 0.95 = 0.05</a:t>
            </a:r>
          </a:p>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Both terms specify the same thing.</a:t>
            </a:r>
          </a:p>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Some problems use Level of confidence and other uses Level of Significance</a:t>
            </a:r>
          </a:p>
          <a:p>
            <a:pPr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The goal is to determine, How sure are you that, making a right decision or not.</a:t>
            </a:r>
            <a:endPar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18</a:t>
            </a:fld>
            <a:endParaRPr lang="en-US"/>
          </a:p>
        </p:txBody>
      </p:sp>
    </p:spTree>
    <p:extLst>
      <p:ext uri="{BB962C8B-B14F-4D97-AF65-F5344CB8AC3E}">
        <p14:creationId xmlns:p14="http://schemas.microsoft.com/office/powerpoint/2010/main" val="3810118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5D146B-DA5F-0D00-908D-15F4C5ECCD4C}"/>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Isosceles Triangle 15">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Isosceles Triangle 19">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1" name="Isosceles Triangle 20">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447B3E39-549D-37F5-3330-7B5B06EF3FA8}"/>
              </a:ext>
            </a:extLst>
          </p:cNvPr>
          <p:cNvSpPr>
            <a:spLocks noGrp="1"/>
          </p:cNvSpPr>
          <p:nvPr>
            <p:ph type="title"/>
          </p:nvPr>
        </p:nvSpPr>
        <p:spPr>
          <a:xfrm>
            <a:off x="1677076" y="5339613"/>
            <a:ext cx="7673801" cy="1087656"/>
          </a:xfrm>
        </p:spPr>
        <p:txBody>
          <a:bodyPr vert="horz" lIns="91440" tIns="45720" rIns="91440" bIns="45720" rtlCol="0" anchor="b">
            <a:normAutofit/>
          </a:bodyPr>
          <a:lstStyle/>
          <a:p>
            <a:r>
              <a:rPr lang="en-US" sz="4800" kern="1200" dirty="0">
                <a:solidFill>
                  <a:schemeClr val="accent1"/>
                </a:solidFill>
                <a:latin typeface="+mj-lt"/>
                <a:ea typeface="+mj-ea"/>
                <a:cs typeface="+mj-cs"/>
              </a:rPr>
              <a:t>Hypothesis Tests</a:t>
            </a:r>
          </a:p>
        </p:txBody>
      </p:sp>
      <p:pic>
        <p:nvPicPr>
          <p:cNvPr id="6" name="Content Placeholder 5" descr="A screenshot of a test&#10;&#10;AI-generated content may be incorrect.">
            <a:extLst>
              <a:ext uri="{FF2B5EF4-FFF2-40B4-BE49-F238E27FC236}">
                <a16:creationId xmlns:a16="http://schemas.microsoft.com/office/drawing/2014/main" id="{AF3406BA-D7E3-9F07-74EE-F74E51EE8C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 y="0"/>
            <a:ext cx="12185649" cy="5666154"/>
          </a:xfrm>
          <a:prstGeom prst="rect">
            <a:avLst/>
          </a:prstGeom>
        </p:spPr>
      </p:pic>
      <p:sp>
        <p:nvSpPr>
          <p:cNvPr id="5" name="Slide Number Placeholder 4">
            <a:extLst>
              <a:ext uri="{FF2B5EF4-FFF2-40B4-BE49-F238E27FC236}">
                <a16:creationId xmlns:a16="http://schemas.microsoft.com/office/drawing/2014/main" id="{F9FFB196-A421-CD11-E098-5B1EFC580DB8}"/>
              </a:ext>
            </a:extLst>
          </p:cNvPr>
          <p:cNvSpPr>
            <a:spLocks noGrp="1"/>
          </p:cNvSpPr>
          <p:nvPr>
            <p:ph type="sldNum" sz="quarter" idx="12"/>
          </p:nvPr>
        </p:nvSpPr>
        <p:spPr>
          <a:xfrm>
            <a:off x="8542023" y="6352651"/>
            <a:ext cx="683339" cy="365125"/>
          </a:xfrm>
        </p:spPr>
        <p:txBody>
          <a:bodyPr vert="horz" lIns="91440" tIns="45720" rIns="91440" bIns="45720" rtlCol="0" anchor="ctr">
            <a:normAutofit/>
          </a:bodyPr>
          <a:lstStyle/>
          <a:p>
            <a:pPr defTabSz="914400">
              <a:spcAft>
                <a:spcPts val="600"/>
              </a:spcAft>
            </a:pPr>
            <a:fld id="{CC529A1F-6900-4D36-92AC-B7647C1D9DDB}" type="slidenum">
              <a:rPr lang="en-US" smtClean="0"/>
              <a:pPr defTabSz="914400">
                <a:spcAft>
                  <a:spcPts val="600"/>
                </a:spcAft>
              </a:pPr>
              <a:t>19</a:t>
            </a:fld>
            <a:endParaRPr lang="en-US"/>
          </a:p>
        </p:txBody>
      </p:sp>
    </p:spTree>
    <p:extLst>
      <p:ext uri="{BB962C8B-B14F-4D97-AF65-F5344CB8AC3E}">
        <p14:creationId xmlns:p14="http://schemas.microsoft.com/office/powerpoint/2010/main" val="892647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9F8392-D0DF-7B13-7137-F52901E41602}"/>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4A9C7746-6454-6FF9-9A56-11D3681583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D393B784-F55F-AC38-F471-73C9C6D300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D630BC5-87B7-05A3-3CBB-9285053D39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9515796F-9BF7-6AE4-5736-B38219FF88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Rectangle 25">
              <a:extLst>
                <a:ext uri="{FF2B5EF4-FFF2-40B4-BE49-F238E27FC236}">
                  <a16:creationId xmlns:a16="http://schemas.microsoft.com/office/drawing/2014/main" id="{1A98BF70-04A8-6CBC-0365-18A0159DA9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Isosceles Triangle 15">
              <a:extLst>
                <a:ext uri="{FF2B5EF4-FFF2-40B4-BE49-F238E27FC236}">
                  <a16:creationId xmlns:a16="http://schemas.microsoft.com/office/drawing/2014/main" id="{782F94B6-D1AA-061A-DC3F-6865B1C95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27">
              <a:extLst>
                <a:ext uri="{FF2B5EF4-FFF2-40B4-BE49-F238E27FC236}">
                  <a16:creationId xmlns:a16="http://schemas.microsoft.com/office/drawing/2014/main" id="{9BC2B332-7CD5-316E-38DB-79275305A4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28">
              <a:extLst>
                <a:ext uri="{FF2B5EF4-FFF2-40B4-BE49-F238E27FC236}">
                  <a16:creationId xmlns:a16="http://schemas.microsoft.com/office/drawing/2014/main" id="{2F514CA1-F126-E028-A78F-308910D4D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29">
              <a:extLst>
                <a:ext uri="{FF2B5EF4-FFF2-40B4-BE49-F238E27FC236}">
                  <a16:creationId xmlns:a16="http://schemas.microsoft.com/office/drawing/2014/main" id="{EF0D24DD-23EF-79E9-C138-D2A7FF0850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Isosceles Triangle 19">
              <a:extLst>
                <a:ext uri="{FF2B5EF4-FFF2-40B4-BE49-F238E27FC236}">
                  <a16:creationId xmlns:a16="http://schemas.microsoft.com/office/drawing/2014/main" id="{4A2DBD43-6BA2-B901-A837-479D21DCA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1" name="Isosceles Triangle 20">
              <a:extLst>
                <a:ext uri="{FF2B5EF4-FFF2-40B4-BE49-F238E27FC236}">
                  <a16:creationId xmlns:a16="http://schemas.microsoft.com/office/drawing/2014/main" id="{3392ED0C-D3BE-1A65-FE8C-201DC29D42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F4D909EA-81BE-EE3C-9A14-550632D82C99}"/>
              </a:ext>
            </a:extLst>
          </p:cNvPr>
          <p:cNvSpPr>
            <a:spLocks noGrp="1"/>
          </p:cNvSpPr>
          <p:nvPr>
            <p:ph type="title"/>
          </p:nvPr>
        </p:nvSpPr>
        <p:spPr>
          <a:xfrm>
            <a:off x="1677076" y="5339613"/>
            <a:ext cx="7673801" cy="1087656"/>
          </a:xfrm>
        </p:spPr>
        <p:txBody>
          <a:bodyPr vert="horz" lIns="91440" tIns="45720" rIns="91440" bIns="45720" rtlCol="0" anchor="b">
            <a:normAutofit/>
          </a:bodyPr>
          <a:lstStyle/>
          <a:p>
            <a:r>
              <a:rPr lang="en-US" sz="4800" kern="1200" dirty="0">
                <a:solidFill>
                  <a:schemeClr val="accent1"/>
                </a:solidFill>
                <a:latin typeface="+mj-lt"/>
                <a:ea typeface="+mj-ea"/>
                <a:cs typeface="+mj-cs"/>
              </a:rPr>
              <a:t>Hypothesis Tests</a:t>
            </a:r>
          </a:p>
        </p:txBody>
      </p:sp>
      <p:sp>
        <p:nvSpPr>
          <p:cNvPr id="5" name="Slide Number Placeholder 4">
            <a:extLst>
              <a:ext uri="{FF2B5EF4-FFF2-40B4-BE49-F238E27FC236}">
                <a16:creationId xmlns:a16="http://schemas.microsoft.com/office/drawing/2014/main" id="{5FD0AB89-DA33-47F7-39A4-9A201B0B6072}"/>
              </a:ext>
            </a:extLst>
          </p:cNvPr>
          <p:cNvSpPr>
            <a:spLocks noGrp="1"/>
          </p:cNvSpPr>
          <p:nvPr>
            <p:ph type="sldNum" sz="quarter" idx="12"/>
          </p:nvPr>
        </p:nvSpPr>
        <p:spPr>
          <a:xfrm>
            <a:off x="8542023" y="6352651"/>
            <a:ext cx="683339" cy="365125"/>
          </a:xfrm>
        </p:spPr>
        <p:txBody>
          <a:bodyPr vert="horz" lIns="91440" tIns="45720" rIns="91440" bIns="45720" rtlCol="0" anchor="ctr">
            <a:normAutofit/>
          </a:bodyPr>
          <a:lstStyle/>
          <a:p>
            <a:pPr defTabSz="914400">
              <a:spcAft>
                <a:spcPts val="600"/>
              </a:spcAft>
            </a:pPr>
            <a:fld id="{CC529A1F-6900-4D36-92AC-B7647C1D9DDB}" type="slidenum">
              <a:rPr lang="en-US" smtClean="0"/>
              <a:pPr defTabSz="914400">
                <a:spcAft>
                  <a:spcPts val="600"/>
                </a:spcAft>
              </a:pPr>
              <a:t>20</a:t>
            </a:fld>
            <a:endParaRPr lang="en-US"/>
          </a:p>
        </p:txBody>
      </p:sp>
      <p:pic>
        <p:nvPicPr>
          <p:cNvPr id="8" name="Content Placeholder 7" descr="A white paper with black text&#10;&#10;AI-generated content may be incorrect.">
            <a:extLst>
              <a:ext uri="{FF2B5EF4-FFF2-40B4-BE49-F238E27FC236}">
                <a16:creationId xmlns:a16="http://schemas.microsoft.com/office/drawing/2014/main" id="{33083F8E-8CA4-779C-79C6-E5707863A7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5" y="0"/>
            <a:ext cx="12185649" cy="5694637"/>
          </a:xfrm>
        </p:spPr>
      </p:pic>
    </p:spTree>
    <p:extLst>
      <p:ext uri="{BB962C8B-B14F-4D97-AF65-F5344CB8AC3E}">
        <p14:creationId xmlns:p14="http://schemas.microsoft.com/office/powerpoint/2010/main" val="2784515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8801-A41F-F745-612F-62CB80968F04}"/>
              </a:ext>
            </a:extLst>
          </p:cNvPr>
          <p:cNvSpPr>
            <a:spLocks noGrp="1"/>
          </p:cNvSpPr>
          <p:nvPr>
            <p:ph type="title"/>
          </p:nvPr>
        </p:nvSpPr>
        <p:spPr/>
        <p:txBody>
          <a:bodyPr/>
          <a:lstStyle/>
          <a:p>
            <a:r>
              <a:rPr lang="en-US" dirty="0"/>
              <a:t>Hypothesis Testing</a:t>
            </a:r>
            <a:endParaRPr lang="en-GB" dirty="0"/>
          </a:p>
        </p:txBody>
      </p:sp>
      <p:graphicFrame>
        <p:nvGraphicFramePr>
          <p:cNvPr id="5" name="Content Placeholder 4">
            <a:extLst>
              <a:ext uri="{FF2B5EF4-FFF2-40B4-BE49-F238E27FC236}">
                <a16:creationId xmlns:a16="http://schemas.microsoft.com/office/drawing/2014/main" id="{F9155E5B-112C-0713-2C2D-8CD0123D8A77}"/>
              </a:ext>
            </a:extLst>
          </p:cNvPr>
          <p:cNvGraphicFramePr>
            <a:graphicFrameLocks noGrp="1"/>
          </p:cNvGraphicFramePr>
          <p:nvPr>
            <p:ph idx="1"/>
            <p:extLst>
              <p:ext uri="{D42A27DB-BD31-4B8C-83A1-F6EECF244321}">
                <p14:modId xmlns:p14="http://schemas.microsoft.com/office/powerpoint/2010/main" val="2823796497"/>
              </p:ext>
            </p:extLst>
          </p:nvPr>
        </p:nvGraphicFramePr>
        <p:xfrm>
          <a:off x="473325" y="1507298"/>
          <a:ext cx="10463379" cy="1584960"/>
        </p:xfrm>
        <a:graphic>
          <a:graphicData uri="http://schemas.openxmlformats.org/drawingml/2006/table">
            <a:tbl>
              <a:tblPr/>
              <a:tblGrid>
                <a:gridCol w="3809647">
                  <a:extLst>
                    <a:ext uri="{9D8B030D-6E8A-4147-A177-3AD203B41FA5}">
                      <a16:colId xmlns:a16="http://schemas.microsoft.com/office/drawing/2014/main" val="1720301402"/>
                    </a:ext>
                  </a:extLst>
                </a:gridCol>
                <a:gridCol w="6653732">
                  <a:extLst>
                    <a:ext uri="{9D8B030D-6E8A-4147-A177-3AD203B41FA5}">
                      <a16:colId xmlns:a16="http://schemas.microsoft.com/office/drawing/2014/main" val="2279476524"/>
                    </a:ext>
                  </a:extLst>
                </a:gridCol>
              </a:tblGrid>
              <a:tr h="0">
                <a:tc>
                  <a:txBody>
                    <a:bodyPr/>
                    <a:lstStyle/>
                    <a:p>
                      <a:pPr>
                        <a:buNone/>
                      </a:pPr>
                      <a:r>
                        <a:rPr lang="en-GB" sz="2000" b="1"/>
                        <a:t>Concept</a:t>
                      </a:r>
                    </a:p>
                  </a:txBody>
                  <a:tcPr anchor="ctr">
                    <a:lnL>
                      <a:noFill/>
                    </a:lnL>
                    <a:lnR>
                      <a:noFill/>
                    </a:lnR>
                    <a:lnT>
                      <a:noFill/>
                    </a:lnT>
                    <a:lnB>
                      <a:noFill/>
                    </a:lnB>
                    <a:noFill/>
                  </a:tcPr>
                </a:tc>
                <a:tc>
                  <a:txBody>
                    <a:bodyPr/>
                    <a:lstStyle/>
                    <a:p>
                      <a:pPr>
                        <a:buNone/>
                      </a:pPr>
                      <a:r>
                        <a:rPr lang="en-GB" sz="2000" b="1" dirty="0"/>
                        <a:t>Meaning</a:t>
                      </a:r>
                    </a:p>
                  </a:txBody>
                  <a:tcPr anchor="ctr">
                    <a:lnL>
                      <a:noFill/>
                    </a:lnL>
                    <a:lnR>
                      <a:noFill/>
                    </a:lnR>
                    <a:lnT>
                      <a:noFill/>
                    </a:lnT>
                    <a:lnB>
                      <a:noFill/>
                    </a:lnB>
                    <a:noFill/>
                  </a:tcPr>
                </a:tc>
                <a:extLst>
                  <a:ext uri="{0D108BD9-81ED-4DB2-BD59-A6C34878D82A}">
                    <a16:rowId xmlns:a16="http://schemas.microsoft.com/office/drawing/2014/main" val="3342773266"/>
                  </a:ext>
                </a:extLst>
              </a:tr>
              <a:tr h="0">
                <a:tc>
                  <a:txBody>
                    <a:bodyPr/>
                    <a:lstStyle/>
                    <a:p>
                      <a:pPr>
                        <a:buNone/>
                      </a:pPr>
                      <a:r>
                        <a:rPr lang="en-GB" sz="2000" dirty="0"/>
                        <a:t>Confidence Level (C)</a:t>
                      </a:r>
                    </a:p>
                  </a:txBody>
                  <a:tcPr anchor="ctr">
                    <a:lnL>
                      <a:noFill/>
                    </a:lnL>
                    <a:lnR>
                      <a:noFill/>
                    </a:lnR>
                    <a:lnT>
                      <a:noFill/>
                    </a:lnT>
                    <a:lnB>
                      <a:noFill/>
                    </a:lnB>
                    <a:noFill/>
                  </a:tcPr>
                </a:tc>
                <a:tc>
                  <a:txBody>
                    <a:bodyPr/>
                    <a:lstStyle/>
                    <a:p>
                      <a:pPr>
                        <a:buNone/>
                      </a:pPr>
                      <a:r>
                        <a:rPr lang="en-US" sz="2000"/>
                        <a:t>How confident you are that your decision is correct</a:t>
                      </a:r>
                    </a:p>
                  </a:txBody>
                  <a:tcPr anchor="ctr">
                    <a:lnL>
                      <a:noFill/>
                    </a:lnL>
                    <a:lnR>
                      <a:noFill/>
                    </a:lnR>
                    <a:lnT>
                      <a:noFill/>
                    </a:lnT>
                    <a:lnB>
                      <a:noFill/>
                    </a:lnB>
                    <a:noFill/>
                  </a:tcPr>
                </a:tc>
                <a:extLst>
                  <a:ext uri="{0D108BD9-81ED-4DB2-BD59-A6C34878D82A}">
                    <a16:rowId xmlns:a16="http://schemas.microsoft.com/office/drawing/2014/main" val="1308789033"/>
                  </a:ext>
                </a:extLst>
              </a:tr>
              <a:tr h="0">
                <a:tc>
                  <a:txBody>
                    <a:bodyPr/>
                    <a:lstStyle/>
                    <a:p>
                      <a:pPr>
                        <a:buNone/>
                      </a:pPr>
                      <a:r>
                        <a:rPr lang="en-GB" sz="2000" dirty="0"/>
                        <a:t>Significance Level (</a:t>
                      </a:r>
                      <a:r>
                        <a:rPr lang="el-GR" sz="2000" dirty="0"/>
                        <a:t>α)</a:t>
                      </a:r>
                    </a:p>
                  </a:txBody>
                  <a:tcPr anchor="ctr">
                    <a:lnL>
                      <a:noFill/>
                    </a:lnL>
                    <a:lnR>
                      <a:noFill/>
                    </a:lnR>
                    <a:lnT>
                      <a:noFill/>
                    </a:lnT>
                    <a:lnB>
                      <a:noFill/>
                    </a:lnB>
                    <a:noFill/>
                  </a:tcPr>
                </a:tc>
                <a:tc>
                  <a:txBody>
                    <a:bodyPr/>
                    <a:lstStyle/>
                    <a:p>
                      <a:pPr>
                        <a:buNone/>
                      </a:pPr>
                      <a:r>
                        <a:rPr lang="en-US" sz="2000" dirty="0"/>
                        <a:t>The chance you’re wrong when making the decision</a:t>
                      </a:r>
                    </a:p>
                  </a:txBody>
                  <a:tcPr anchor="ctr">
                    <a:lnL>
                      <a:noFill/>
                    </a:lnL>
                    <a:lnR>
                      <a:noFill/>
                    </a:lnR>
                    <a:lnT>
                      <a:noFill/>
                    </a:lnT>
                    <a:lnB>
                      <a:noFill/>
                    </a:lnB>
                    <a:noFill/>
                  </a:tcPr>
                </a:tc>
                <a:extLst>
                  <a:ext uri="{0D108BD9-81ED-4DB2-BD59-A6C34878D82A}">
                    <a16:rowId xmlns:a16="http://schemas.microsoft.com/office/drawing/2014/main" val="4232522494"/>
                  </a:ext>
                </a:extLst>
              </a:tr>
              <a:tr h="0">
                <a:tc>
                  <a:txBody>
                    <a:bodyPr/>
                    <a:lstStyle/>
                    <a:p>
                      <a:pPr>
                        <a:buNone/>
                      </a:pPr>
                      <a:r>
                        <a:rPr lang="en-GB" sz="2000"/>
                        <a:t>Relationship</a:t>
                      </a:r>
                    </a:p>
                  </a:txBody>
                  <a:tcPr anchor="ctr">
                    <a:lnL>
                      <a:noFill/>
                    </a:lnL>
                    <a:lnR>
                      <a:noFill/>
                    </a:lnR>
                    <a:lnT>
                      <a:noFill/>
                    </a:lnT>
                    <a:lnB>
                      <a:noFill/>
                    </a:lnB>
                    <a:noFill/>
                  </a:tcPr>
                </a:tc>
                <a:tc>
                  <a:txBody>
                    <a:bodyPr/>
                    <a:lstStyle/>
                    <a:p>
                      <a:pPr>
                        <a:buNone/>
                      </a:pPr>
                      <a:r>
                        <a:rPr lang="el-GR" sz="2000" dirty="0"/>
                        <a:t>α = 1 − </a:t>
                      </a:r>
                      <a:r>
                        <a:rPr lang="en-GB" sz="2000" dirty="0"/>
                        <a:t>C</a:t>
                      </a:r>
                    </a:p>
                  </a:txBody>
                  <a:tcPr anchor="ctr">
                    <a:lnL>
                      <a:noFill/>
                    </a:lnL>
                    <a:lnR>
                      <a:noFill/>
                    </a:lnR>
                    <a:lnT>
                      <a:noFill/>
                    </a:lnT>
                    <a:lnB>
                      <a:noFill/>
                    </a:lnB>
                    <a:noFill/>
                  </a:tcPr>
                </a:tc>
                <a:extLst>
                  <a:ext uri="{0D108BD9-81ED-4DB2-BD59-A6C34878D82A}">
                    <a16:rowId xmlns:a16="http://schemas.microsoft.com/office/drawing/2014/main" val="1208557075"/>
                  </a:ext>
                </a:extLst>
              </a:tr>
            </a:tbl>
          </a:graphicData>
        </a:graphic>
      </p:graphicFrame>
      <p:sp>
        <p:nvSpPr>
          <p:cNvPr id="4" name="Slide Number Placeholder 3">
            <a:extLst>
              <a:ext uri="{FF2B5EF4-FFF2-40B4-BE49-F238E27FC236}">
                <a16:creationId xmlns:a16="http://schemas.microsoft.com/office/drawing/2014/main" id="{A7EA2BC0-27CD-8A83-16F8-4ED68E8CDCDB}"/>
              </a:ext>
            </a:extLst>
          </p:cNvPr>
          <p:cNvSpPr>
            <a:spLocks noGrp="1"/>
          </p:cNvSpPr>
          <p:nvPr>
            <p:ph type="sldNum" sz="quarter" idx="12"/>
          </p:nvPr>
        </p:nvSpPr>
        <p:spPr/>
        <p:txBody>
          <a:bodyPr/>
          <a:lstStyle/>
          <a:p>
            <a:fld id="{CC529A1F-6900-4D36-92AC-B7647C1D9DDB}" type="slidenum">
              <a:rPr lang="en-US" smtClean="0">
                <a:solidFill>
                  <a:srgbClr val="90C226"/>
                </a:solidFill>
              </a:rPr>
              <a:pPr/>
              <a:t>21</a:t>
            </a:fld>
            <a:endParaRPr lang="en-US">
              <a:solidFill>
                <a:srgbClr val="90C226"/>
              </a:solidFill>
            </a:endParaRPr>
          </a:p>
        </p:txBody>
      </p:sp>
      <p:sp>
        <p:nvSpPr>
          <p:cNvPr id="7" name="TextBox 6">
            <a:extLst>
              <a:ext uri="{FF2B5EF4-FFF2-40B4-BE49-F238E27FC236}">
                <a16:creationId xmlns:a16="http://schemas.microsoft.com/office/drawing/2014/main" id="{F12E0F3F-CA4F-982B-9A00-02B5576AC88A}"/>
              </a:ext>
            </a:extLst>
          </p:cNvPr>
          <p:cNvSpPr txBox="1"/>
          <p:nvPr/>
        </p:nvSpPr>
        <p:spPr>
          <a:xfrm>
            <a:off x="610573" y="3858924"/>
            <a:ext cx="8321759" cy="707886"/>
          </a:xfrm>
          <a:prstGeom prst="rect">
            <a:avLst/>
          </a:prstGeom>
          <a:noFill/>
        </p:spPr>
        <p:txBody>
          <a:bodyPr wrap="square">
            <a:spAutoFit/>
          </a:bodyPr>
          <a:lstStyle/>
          <a:p>
            <a:pPr>
              <a:buNone/>
            </a:pPr>
            <a:r>
              <a:rPr lang="en-US" sz="2000" dirty="0"/>
              <a:t>Both are just two sides of the same coin — one expresses </a:t>
            </a:r>
            <a:r>
              <a:rPr lang="en-US" sz="2000" b="1" dirty="0"/>
              <a:t>certainty</a:t>
            </a:r>
            <a:r>
              <a:rPr lang="en-US" sz="2000" dirty="0"/>
              <a:t>, the other expresses </a:t>
            </a:r>
            <a:r>
              <a:rPr lang="en-US" sz="2000" b="1" dirty="0"/>
              <a:t>risk</a:t>
            </a:r>
            <a:r>
              <a:rPr lang="en-US" sz="2000" dirty="0"/>
              <a:t>.</a:t>
            </a:r>
          </a:p>
        </p:txBody>
      </p:sp>
    </p:spTree>
    <p:extLst>
      <p:ext uri="{BB962C8B-B14F-4D97-AF65-F5344CB8AC3E}">
        <p14:creationId xmlns:p14="http://schemas.microsoft.com/office/powerpoint/2010/main" val="499059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Resampling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8607268" cy="5456742"/>
          </a:xfrm>
        </p:spPr>
        <p:txBody>
          <a:bodyPr>
            <a:noAutofit/>
          </a:bodyPr>
          <a:lstStyle/>
          <a:p>
            <a:pPr algn="just">
              <a:buFont typeface="Wingdings" panose="05000000000000000000" pitchFamily="2" charset="2"/>
              <a:buChar char="Ø"/>
            </a:pP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Resampling in statistics means to </a:t>
            </a:r>
            <a:r>
              <a:rPr lang="en-US" sz="24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repeatedly sample values from observed data</a:t>
            </a:r>
            <a:r>
              <a:rPr lang="en-US" sz="24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with a general goal of assessing random variability in a statistic. </a:t>
            </a:r>
          </a:p>
          <a:p>
            <a:pPr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There are two main types of resampling procedures: </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the </a:t>
            </a:r>
            <a:r>
              <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bootstrap</a:t>
            </a: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and </a:t>
            </a:r>
            <a:r>
              <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permutation</a:t>
            </a: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tests.</a:t>
            </a:r>
          </a:p>
          <a:p>
            <a:pPr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In </a:t>
            </a:r>
            <a:r>
              <a:rPr lang="en-US" sz="2400" b="1" dirty="0">
                <a:solidFill>
                  <a:schemeClr val="tx1"/>
                </a:solidFill>
                <a:latin typeface="Tahoma" panose="020B0604030504040204" pitchFamily="34" charset="0"/>
                <a:ea typeface="Tahoma" panose="020B0604030504040204" pitchFamily="34" charset="0"/>
                <a:cs typeface="Tahoma" panose="020B0604030504040204" pitchFamily="34" charset="0"/>
              </a:rPr>
              <a:t>bootstrap</a:t>
            </a: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 (already discussed) </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we selected data samples with replacement, </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compute any metric of each sample like accuracy of ML model and </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take average results with standard deviation like 82±3%.</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22</a:t>
            </a:fld>
            <a:endParaRPr lang="en-US"/>
          </a:p>
        </p:txBody>
      </p:sp>
    </p:spTree>
    <p:extLst>
      <p:ext uri="{BB962C8B-B14F-4D97-AF65-F5344CB8AC3E}">
        <p14:creationId xmlns:p14="http://schemas.microsoft.com/office/powerpoint/2010/main" val="3028686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Resampling: </a:t>
            </a:r>
            <a:r>
              <a:rPr lang="en-US" dirty="0">
                <a:solidFill>
                  <a:srgbClr val="FF0000"/>
                </a:solidFill>
              </a:rPr>
              <a:t>Permutation Test</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11252887" cy="5456742"/>
          </a:xfrm>
        </p:spPr>
        <p:txBody>
          <a:bodyPr>
            <a:normAutofit/>
          </a:bodyPr>
          <a:lstStyle/>
          <a:p>
            <a:pPr algn="just"/>
            <a:endParaRPr lang="en-US" sz="2600" dirty="0">
              <a:solidFill>
                <a:srgbClr val="FF0000"/>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23</a:t>
            </a:fld>
            <a:endParaRPr lang="en-US"/>
          </a:p>
        </p:txBody>
      </p:sp>
      <p:pic>
        <p:nvPicPr>
          <p:cNvPr id="6" name="Picture 5">
            <a:extLst>
              <a:ext uri="{FF2B5EF4-FFF2-40B4-BE49-F238E27FC236}">
                <a16:creationId xmlns:a16="http://schemas.microsoft.com/office/drawing/2014/main" id="{C79BD76D-456A-EB23-4D83-3DBB0F0140A1}"/>
              </a:ext>
            </a:extLst>
          </p:cNvPr>
          <p:cNvPicPr>
            <a:picLocks noChangeAspect="1"/>
          </p:cNvPicPr>
          <p:nvPr/>
        </p:nvPicPr>
        <p:blipFill>
          <a:blip r:embed="rId2"/>
          <a:stretch>
            <a:fillRect/>
          </a:stretch>
        </p:blipFill>
        <p:spPr>
          <a:xfrm>
            <a:off x="623454" y="1117380"/>
            <a:ext cx="7091355" cy="5740620"/>
          </a:xfrm>
          <a:prstGeom prst="rect">
            <a:avLst/>
          </a:prstGeom>
        </p:spPr>
      </p:pic>
    </p:spTree>
    <p:extLst>
      <p:ext uri="{BB962C8B-B14F-4D97-AF65-F5344CB8AC3E}">
        <p14:creationId xmlns:p14="http://schemas.microsoft.com/office/powerpoint/2010/main" val="3329926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F5228B-D694-CD6D-5E5A-4E78EA355DAE}"/>
              </a:ext>
            </a:extLst>
          </p:cNvPr>
          <p:cNvSpPr>
            <a:spLocks noGrp="1"/>
          </p:cNvSpPr>
          <p:nvPr>
            <p:ph type="sldNum" sz="quarter" idx="12"/>
          </p:nvPr>
        </p:nvSpPr>
        <p:spPr/>
        <p:txBody>
          <a:bodyPr/>
          <a:lstStyle/>
          <a:p>
            <a:fld id="{CC529A1F-6900-4D36-92AC-B7647C1D9DDB}" type="slidenum">
              <a:rPr lang="en-US" smtClean="0"/>
              <a:t>24</a:t>
            </a:fld>
            <a:endParaRPr lang="en-US"/>
          </a:p>
        </p:txBody>
      </p:sp>
      <p:pic>
        <p:nvPicPr>
          <p:cNvPr id="3" name="Picture 2">
            <a:extLst>
              <a:ext uri="{FF2B5EF4-FFF2-40B4-BE49-F238E27FC236}">
                <a16:creationId xmlns:a16="http://schemas.microsoft.com/office/drawing/2014/main" id="{406DAEE8-447F-D4AF-BF71-F9E9AA1BE168}"/>
              </a:ext>
            </a:extLst>
          </p:cNvPr>
          <p:cNvPicPr>
            <a:picLocks noChangeAspect="1"/>
          </p:cNvPicPr>
          <p:nvPr/>
        </p:nvPicPr>
        <p:blipFill>
          <a:blip r:embed="rId2"/>
          <a:stretch>
            <a:fillRect/>
          </a:stretch>
        </p:blipFill>
        <p:spPr>
          <a:xfrm>
            <a:off x="420130" y="942827"/>
            <a:ext cx="5082671" cy="3426595"/>
          </a:xfrm>
          <a:prstGeom prst="rect">
            <a:avLst/>
          </a:prstGeom>
          <a:ln>
            <a:solidFill>
              <a:schemeClr val="tx1"/>
            </a:solidFill>
          </a:ln>
        </p:spPr>
      </p:pic>
      <p:pic>
        <p:nvPicPr>
          <p:cNvPr id="4" name="Picture 3">
            <a:extLst>
              <a:ext uri="{FF2B5EF4-FFF2-40B4-BE49-F238E27FC236}">
                <a16:creationId xmlns:a16="http://schemas.microsoft.com/office/drawing/2014/main" id="{4BDE9A3C-E826-8013-F7AD-745C8BEC44FF}"/>
              </a:ext>
            </a:extLst>
          </p:cNvPr>
          <p:cNvPicPr>
            <a:picLocks noChangeAspect="1"/>
          </p:cNvPicPr>
          <p:nvPr/>
        </p:nvPicPr>
        <p:blipFill>
          <a:blip r:embed="rId3"/>
          <a:stretch>
            <a:fillRect/>
          </a:stretch>
        </p:blipFill>
        <p:spPr>
          <a:xfrm>
            <a:off x="7926395" y="1805330"/>
            <a:ext cx="3555555" cy="3428571"/>
          </a:xfrm>
          <a:prstGeom prst="rect">
            <a:avLst/>
          </a:prstGeom>
          <a:ln>
            <a:solidFill>
              <a:schemeClr val="tx1"/>
            </a:solidFill>
          </a:ln>
        </p:spPr>
      </p:pic>
      <p:sp>
        <p:nvSpPr>
          <p:cNvPr id="5" name="Title 1">
            <a:extLst>
              <a:ext uri="{FF2B5EF4-FFF2-40B4-BE49-F238E27FC236}">
                <a16:creationId xmlns:a16="http://schemas.microsoft.com/office/drawing/2014/main" id="{67AB1BFB-11EA-CDD2-2C66-BC1A4FC9AE27}"/>
              </a:ext>
            </a:extLst>
          </p:cNvPr>
          <p:cNvSpPr txBox="1">
            <a:spLocks/>
          </p:cNvSpPr>
          <p:nvPr/>
        </p:nvSpPr>
        <p:spPr>
          <a:xfrm>
            <a:off x="395416" y="272673"/>
            <a:ext cx="11376454" cy="75705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r>
              <a:rPr lang="en-US" dirty="0"/>
              <a:t>Resampling: See Python code</a:t>
            </a:r>
          </a:p>
        </p:txBody>
      </p:sp>
      <p:pic>
        <p:nvPicPr>
          <p:cNvPr id="7" name="Picture 6">
            <a:extLst>
              <a:ext uri="{FF2B5EF4-FFF2-40B4-BE49-F238E27FC236}">
                <a16:creationId xmlns:a16="http://schemas.microsoft.com/office/drawing/2014/main" id="{8D79070D-2964-68A2-17A0-1C0E6D8ECA4C}"/>
              </a:ext>
            </a:extLst>
          </p:cNvPr>
          <p:cNvPicPr>
            <a:picLocks noChangeAspect="1"/>
          </p:cNvPicPr>
          <p:nvPr/>
        </p:nvPicPr>
        <p:blipFill>
          <a:blip r:embed="rId4"/>
          <a:stretch>
            <a:fillRect/>
          </a:stretch>
        </p:blipFill>
        <p:spPr>
          <a:xfrm>
            <a:off x="420130" y="4369422"/>
            <a:ext cx="7038975" cy="2419350"/>
          </a:xfrm>
          <a:prstGeom prst="rect">
            <a:avLst/>
          </a:prstGeom>
          <a:ln>
            <a:solidFill>
              <a:schemeClr val="tx1"/>
            </a:solidFill>
          </a:ln>
        </p:spPr>
      </p:pic>
      <p:sp>
        <p:nvSpPr>
          <p:cNvPr id="8" name="Rectangle 7"/>
          <p:cNvSpPr/>
          <p:nvPr/>
        </p:nvSpPr>
        <p:spPr>
          <a:xfrm>
            <a:off x="315884" y="4721629"/>
            <a:ext cx="7215447" cy="415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10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Resampling: </a:t>
            </a:r>
            <a:r>
              <a:rPr lang="en-US" dirty="0">
                <a:solidFill>
                  <a:srgbClr val="FF0000"/>
                </a:solidFill>
              </a:rPr>
              <a:t>Permutation Test</a:t>
            </a:r>
          </a:p>
        </p:txBody>
      </p:sp>
      <p:pic>
        <p:nvPicPr>
          <p:cNvPr id="13" name="Content Placeholder 12">
            <a:extLst>
              <a:ext uri="{FF2B5EF4-FFF2-40B4-BE49-F238E27FC236}">
                <a16:creationId xmlns:a16="http://schemas.microsoft.com/office/drawing/2014/main" id="{7ED57EC0-875F-CD46-0DCB-973F7E8E511B}"/>
              </a:ext>
            </a:extLst>
          </p:cNvPr>
          <p:cNvPicPr>
            <a:picLocks noGrp="1" noChangeAspect="1"/>
          </p:cNvPicPr>
          <p:nvPr>
            <p:ph idx="1"/>
          </p:nvPr>
        </p:nvPicPr>
        <p:blipFill>
          <a:blip r:embed="rId2"/>
          <a:stretch>
            <a:fillRect/>
          </a:stretch>
        </p:blipFill>
        <p:spPr>
          <a:xfrm>
            <a:off x="8637809" y="1029730"/>
            <a:ext cx="3198979" cy="3198979"/>
          </a:xfrm>
        </p:spPr>
      </p:pic>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25</a:t>
            </a:fld>
            <a:endParaRPr lang="en-US"/>
          </a:p>
        </p:txBody>
      </p:sp>
      <p:pic>
        <p:nvPicPr>
          <p:cNvPr id="10" name="Picture 9">
            <a:extLst>
              <a:ext uri="{FF2B5EF4-FFF2-40B4-BE49-F238E27FC236}">
                <a16:creationId xmlns:a16="http://schemas.microsoft.com/office/drawing/2014/main" id="{3615ED41-2F0E-5C90-AA40-28C1CAABAF6B}"/>
              </a:ext>
            </a:extLst>
          </p:cNvPr>
          <p:cNvPicPr>
            <a:picLocks noChangeAspect="1"/>
          </p:cNvPicPr>
          <p:nvPr/>
        </p:nvPicPr>
        <p:blipFill>
          <a:blip r:embed="rId3"/>
          <a:stretch>
            <a:fillRect/>
          </a:stretch>
        </p:blipFill>
        <p:spPr>
          <a:xfrm>
            <a:off x="469557" y="1813511"/>
            <a:ext cx="8058200" cy="1631415"/>
          </a:xfrm>
          <a:prstGeom prst="rect">
            <a:avLst/>
          </a:prstGeom>
          <a:ln>
            <a:noFill/>
          </a:ln>
        </p:spPr>
      </p:pic>
      <p:pic>
        <p:nvPicPr>
          <p:cNvPr id="11" name="Picture 10">
            <a:extLst>
              <a:ext uri="{FF2B5EF4-FFF2-40B4-BE49-F238E27FC236}">
                <a16:creationId xmlns:a16="http://schemas.microsoft.com/office/drawing/2014/main" id="{865D56F3-DCE3-EAC6-F387-83726D4795E9}"/>
              </a:ext>
            </a:extLst>
          </p:cNvPr>
          <p:cNvPicPr>
            <a:picLocks noChangeAspect="1"/>
          </p:cNvPicPr>
          <p:nvPr/>
        </p:nvPicPr>
        <p:blipFill>
          <a:blip r:embed="rId4"/>
          <a:stretch>
            <a:fillRect/>
          </a:stretch>
        </p:blipFill>
        <p:spPr>
          <a:xfrm>
            <a:off x="469557" y="1234960"/>
            <a:ext cx="7043351" cy="577916"/>
          </a:xfrm>
          <a:prstGeom prst="rect">
            <a:avLst/>
          </a:prstGeom>
        </p:spPr>
      </p:pic>
      <p:pic>
        <p:nvPicPr>
          <p:cNvPr id="15" name="Picture 14">
            <a:extLst>
              <a:ext uri="{FF2B5EF4-FFF2-40B4-BE49-F238E27FC236}">
                <a16:creationId xmlns:a16="http://schemas.microsoft.com/office/drawing/2014/main" id="{68041F84-EF20-3812-4FFB-64702ACFD6C0}"/>
              </a:ext>
            </a:extLst>
          </p:cNvPr>
          <p:cNvPicPr>
            <a:picLocks noChangeAspect="1"/>
          </p:cNvPicPr>
          <p:nvPr/>
        </p:nvPicPr>
        <p:blipFill>
          <a:blip r:embed="rId5"/>
          <a:stretch>
            <a:fillRect/>
          </a:stretch>
        </p:blipFill>
        <p:spPr>
          <a:xfrm>
            <a:off x="469557" y="3444925"/>
            <a:ext cx="8311300" cy="978793"/>
          </a:xfrm>
          <a:prstGeom prst="rect">
            <a:avLst/>
          </a:prstGeom>
        </p:spPr>
      </p:pic>
      <p:pic>
        <p:nvPicPr>
          <p:cNvPr id="17" name="Picture 16">
            <a:extLst>
              <a:ext uri="{FF2B5EF4-FFF2-40B4-BE49-F238E27FC236}">
                <a16:creationId xmlns:a16="http://schemas.microsoft.com/office/drawing/2014/main" id="{A043D899-3034-391D-0D9B-EF3650D66DD8}"/>
              </a:ext>
            </a:extLst>
          </p:cNvPr>
          <p:cNvPicPr>
            <a:picLocks noChangeAspect="1"/>
          </p:cNvPicPr>
          <p:nvPr/>
        </p:nvPicPr>
        <p:blipFill>
          <a:blip r:embed="rId6"/>
          <a:stretch>
            <a:fillRect/>
          </a:stretch>
        </p:blipFill>
        <p:spPr>
          <a:xfrm>
            <a:off x="469557" y="4433939"/>
            <a:ext cx="9344025" cy="771525"/>
          </a:xfrm>
          <a:prstGeom prst="rect">
            <a:avLst/>
          </a:prstGeom>
        </p:spPr>
      </p:pic>
    </p:spTree>
    <p:extLst>
      <p:ext uri="{BB962C8B-B14F-4D97-AF65-F5344CB8AC3E}">
        <p14:creationId xmlns:p14="http://schemas.microsoft.com/office/powerpoint/2010/main" val="4166870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Resampling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8607268" cy="5456742"/>
          </a:xfrm>
        </p:spPr>
        <p:txBody>
          <a:bodyPr>
            <a:noAutofit/>
          </a:bodyPr>
          <a:lstStyle/>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Resampling in statistics means to </a:t>
            </a:r>
            <a:r>
              <a:rPr lang="en-US" sz="2000" b="1" i="0" dirty="0">
                <a:solidFill>
                  <a:schemeClr val="tx1"/>
                </a:solidFill>
                <a:effectLst/>
                <a:latin typeface="Tahoma" panose="020B0604030504040204" pitchFamily="34" charset="0"/>
                <a:ea typeface="Tahoma" panose="020B0604030504040204" pitchFamily="34" charset="0"/>
                <a:cs typeface="Tahoma" panose="020B0604030504040204" pitchFamily="34" charset="0"/>
              </a:rPr>
              <a:t>repeatedly sample values from observed data</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with a general goal of assessing random variability in a statistic. </a:t>
            </a:r>
          </a:p>
          <a:p>
            <a:pPr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There are two main types of resampling procedures: </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the </a:t>
            </a:r>
            <a:r>
              <a:rPr lang="en-US" sz="2000" b="1" dirty="0">
                <a:solidFill>
                  <a:schemeClr val="tx1"/>
                </a:solidFill>
                <a:latin typeface="Tahoma" panose="020B0604030504040204" pitchFamily="34" charset="0"/>
                <a:ea typeface="Tahoma" panose="020B0604030504040204" pitchFamily="34" charset="0"/>
                <a:cs typeface="Tahoma" panose="020B0604030504040204" pitchFamily="34" charset="0"/>
              </a:rPr>
              <a:t>bootstrap</a:t>
            </a: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and </a:t>
            </a:r>
            <a:r>
              <a:rPr lang="en-US" sz="2000" b="1" dirty="0">
                <a:solidFill>
                  <a:schemeClr val="tx1"/>
                </a:solidFill>
                <a:latin typeface="Tahoma" panose="020B0604030504040204" pitchFamily="34" charset="0"/>
                <a:ea typeface="Tahoma" panose="020B0604030504040204" pitchFamily="34" charset="0"/>
                <a:cs typeface="Tahoma" panose="020B0604030504040204" pitchFamily="34" charset="0"/>
              </a:rPr>
              <a:t>permutation</a:t>
            </a: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tests.</a:t>
            </a:r>
          </a:p>
          <a:p>
            <a:pPr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In </a:t>
            </a:r>
            <a:r>
              <a:rPr lang="en-US" sz="2000" b="1" dirty="0">
                <a:solidFill>
                  <a:schemeClr val="tx1"/>
                </a:solidFill>
                <a:latin typeface="Tahoma" panose="020B0604030504040204" pitchFamily="34" charset="0"/>
                <a:ea typeface="Tahoma" panose="020B0604030504040204" pitchFamily="34" charset="0"/>
                <a:cs typeface="Tahoma" panose="020B0604030504040204" pitchFamily="34" charset="0"/>
              </a:rPr>
              <a:t>bootstrap</a:t>
            </a: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 (already discussed) </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we selected data samples with replacement, </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compute any metric of each sample like accuracy of ML model and </a:t>
            </a:r>
          </a:p>
          <a:p>
            <a:pPr lvl="1"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take average results with standard deviation like 82±3%.</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26</a:t>
            </a:fld>
            <a:endParaRPr lang="en-US"/>
          </a:p>
        </p:txBody>
      </p:sp>
    </p:spTree>
    <p:extLst>
      <p:ext uri="{BB962C8B-B14F-4D97-AF65-F5344CB8AC3E}">
        <p14:creationId xmlns:p14="http://schemas.microsoft.com/office/powerpoint/2010/main" val="2960047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Resampling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8607268" cy="5456742"/>
          </a:xfrm>
        </p:spPr>
        <p:txBody>
          <a:bodyPr>
            <a:noAutofit/>
          </a:bodyPr>
          <a:lstStyle/>
          <a:p>
            <a:pPr algn="just">
              <a:buFont typeface="Wingdings" panose="05000000000000000000" pitchFamily="2" charset="2"/>
              <a:buChar char="Ø"/>
            </a:pP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See Google </a:t>
            </a:r>
            <a:r>
              <a:rPr lang="en-US" sz="2000" b="0" i="0" dirty="0" err="1">
                <a:solidFill>
                  <a:schemeClr val="tx1"/>
                </a:solidFill>
                <a:effectLst/>
                <a:latin typeface="Tahoma" panose="020B0604030504040204" pitchFamily="34" charset="0"/>
                <a:ea typeface="Tahoma" panose="020B0604030504040204" pitchFamily="34" charset="0"/>
                <a:cs typeface="Tahoma" panose="020B0604030504040204" pitchFamily="34" charset="0"/>
              </a:rPr>
              <a:t>colab</a:t>
            </a:r>
            <a:r>
              <a:rPr lang="en-US" sz="20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notebook for python code and more explanation</a:t>
            </a:r>
          </a:p>
          <a:p>
            <a:pPr algn="just">
              <a:buFont typeface="Wingdings" panose="05000000000000000000" pitchFamily="2" charset="2"/>
              <a:buChar char="Ø"/>
            </a:pPr>
            <a:endParaRPr lang="en-US" sz="20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27</a:t>
            </a:fld>
            <a:endParaRPr lang="en-US"/>
          </a:p>
        </p:txBody>
      </p:sp>
    </p:spTree>
    <p:extLst>
      <p:ext uri="{BB962C8B-B14F-4D97-AF65-F5344CB8AC3E}">
        <p14:creationId xmlns:p14="http://schemas.microsoft.com/office/powerpoint/2010/main" val="6645351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Resampling: Permutation Test</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1128585"/>
            <a:ext cx="8440766" cy="5456742"/>
          </a:xfrm>
        </p:spPr>
        <p:txBody>
          <a:bodyPr>
            <a:normAutofit/>
          </a:bodyPr>
          <a:lstStyle/>
          <a:p>
            <a:pPr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Example: Take multiple groups each one of 7 patients from A to G and collect the data for experimental and control group.</a:t>
            </a:r>
          </a:p>
          <a:p>
            <a:pPr algn="just"/>
            <a:endParaRPr lang="en-US" sz="2600" dirty="0">
              <a:solidFill>
                <a:srgbClr val="FF0000"/>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28</a:t>
            </a:fld>
            <a:endParaRPr lang="en-US"/>
          </a:p>
        </p:txBody>
      </p:sp>
      <p:pic>
        <p:nvPicPr>
          <p:cNvPr id="8" name="Picture 7">
            <a:extLst>
              <a:ext uri="{FF2B5EF4-FFF2-40B4-BE49-F238E27FC236}">
                <a16:creationId xmlns:a16="http://schemas.microsoft.com/office/drawing/2014/main" id="{C9AA19E1-4DF3-BF5D-2AB7-E4D373DB2552}"/>
              </a:ext>
            </a:extLst>
          </p:cNvPr>
          <p:cNvPicPr>
            <a:picLocks noChangeAspect="1"/>
          </p:cNvPicPr>
          <p:nvPr/>
        </p:nvPicPr>
        <p:blipFill>
          <a:blip r:embed="rId2"/>
          <a:stretch>
            <a:fillRect/>
          </a:stretch>
        </p:blipFill>
        <p:spPr>
          <a:xfrm>
            <a:off x="885725" y="2615159"/>
            <a:ext cx="7802520" cy="3670344"/>
          </a:xfrm>
          <a:prstGeom prst="rect">
            <a:avLst/>
          </a:prstGeom>
        </p:spPr>
      </p:pic>
      <p:pic>
        <p:nvPicPr>
          <p:cNvPr id="10" name="Picture 9">
            <a:extLst>
              <a:ext uri="{FF2B5EF4-FFF2-40B4-BE49-F238E27FC236}">
                <a16:creationId xmlns:a16="http://schemas.microsoft.com/office/drawing/2014/main" id="{3C01DC49-3BDE-861F-2219-00632AFD0812}"/>
              </a:ext>
            </a:extLst>
          </p:cNvPr>
          <p:cNvPicPr>
            <a:picLocks noChangeAspect="1"/>
          </p:cNvPicPr>
          <p:nvPr/>
        </p:nvPicPr>
        <p:blipFill>
          <a:blip r:embed="rId3"/>
          <a:stretch>
            <a:fillRect/>
          </a:stretch>
        </p:blipFill>
        <p:spPr>
          <a:xfrm>
            <a:off x="9369253" y="3933074"/>
            <a:ext cx="1887752" cy="2352429"/>
          </a:xfrm>
          <a:prstGeom prst="rect">
            <a:avLst/>
          </a:prstGeom>
        </p:spPr>
      </p:pic>
    </p:spTree>
    <p:extLst>
      <p:ext uri="{BB962C8B-B14F-4D97-AF65-F5344CB8AC3E}">
        <p14:creationId xmlns:p14="http://schemas.microsoft.com/office/powerpoint/2010/main" val="4071774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Statistical Significance and p-Values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291791" cy="5456742"/>
          </a:xfrm>
        </p:spPr>
        <p:txBody>
          <a:bodyPr>
            <a:normAutofit fontScale="85000" lnSpcReduction="20000"/>
          </a:bodyPr>
          <a:lstStyle/>
          <a:p>
            <a:pPr algn="just">
              <a:buFont typeface="Wingdings" panose="05000000000000000000" pitchFamily="2" charset="2"/>
              <a:buChar char="Ø"/>
            </a:pP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Simply looking at the graph is not a very precise way to measure statistical significance, so of more interest is the p-value. </a:t>
            </a:r>
          </a:p>
          <a:p>
            <a:pPr algn="just">
              <a:buFont typeface="Wingdings" panose="05000000000000000000" pitchFamily="2" charset="2"/>
              <a:buChar char="Ø"/>
            </a:pP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This is the frequency with which the chance model produces a result more extreme than the observed result. </a:t>
            </a:r>
          </a:p>
          <a:p>
            <a:pPr algn="just">
              <a:buFont typeface="Wingdings" panose="05000000000000000000" pitchFamily="2" charset="2"/>
              <a:buChar char="Ø"/>
            </a:pP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P-value is the probability for the NULL hypothesis to be true.</a:t>
            </a:r>
          </a:p>
          <a:p>
            <a:pPr marL="742950" lvl="2" indent="-342900" algn="just">
              <a:buFont typeface="Wingdings" panose="05000000000000000000" pitchFamily="2" charset="2"/>
              <a:buChar char="Ø"/>
            </a:pPr>
            <a:r>
              <a:rPr lang="en-US" sz="2000" dirty="0">
                <a:solidFill>
                  <a:schemeClr val="tx1"/>
                </a:solidFill>
                <a:latin typeface="Tahoma" panose="020B0604030504040204" pitchFamily="34" charset="0"/>
                <a:ea typeface="Tahoma" panose="020B0604030504040204" pitchFamily="34" charset="0"/>
                <a:cs typeface="Tahoma" panose="020B0604030504040204" pitchFamily="34" charset="0"/>
              </a:rPr>
              <a:t>E.g., if p value is 0.05 then if observed difference fall in that area will make NULL true</a:t>
            </a:r>
          </a:p>
          <a:p>
            <a:pPr marL="742950" lvl="2" indent="-342900" algn="just">
              <a:buFont typeface="Wingdings" panose="05000000000000000000" pitchFamily="2" charset="2"/>
              <a:buChar char="Ø"/>
            </a:pPr>
            <a:r>
              <a:rPr lang="en-US" sz="2000" b="1" dirty="0">
                <a:solidFill>
                  <a:schemeClr val="tx1"/>
                </a:solidFill>
                <a:latin typeface="Tahoma" panose="020B0604030504040204" pitchFamily="34" charset="0"/>
                <a:ea typeface="Tahoma" panose="020B0604030504040204" pitchFamily="34" charset="0"/>
                <a:cs typeface="Tahoma" panose="020B0604030504040204" pitchFamily="34" charset="0"/>
              </a:rPr>
              <a:t>If p value if less than alpha (0.05 or 0.01) then NULL hypothesis is rejected</a:t>
            </a:r>
          </a:p>
          <a:p>
            <a:pPr algn="just">
              <a:buFont typeface="Wingdings" panose="05000000000000000000" pitchFamily="2" charset="2"/>
              <a:buChar char="Ø"/>
            </a:pPr>
            <a:r>
              <a:rPr lang="en-GB" sz="2200" dirty="0">
                <a:solidFill>
                  <a:schemeClr val="tx1"/>
                </a:solidFill>
                <a:latin typeface="Tahoma" panose="020B0604030504040204" pitchFamily="34" charset="0"/>
                <a:ea typeface="Tahoma" panose="020B0604030504040204" pitchFamily="34" charset="0"/>
                <a:cs typeface="Tahoma" panose="020B0604030504040204" pitchFamily="34" charset="0"/>
              </a:rPr>
              <a:t>A p-value, or probability value, is a number describing how likely it is that your data would have occurred by random chance (i.e., that the null hypothesis is true).</a:t>
            </a: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Ø"/>
            </a:pP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We can estimate a p-value from our permutation test by taking the proportion of times that the permutation test produces a difference &gt;= (equal to or greater) than the observed difference:</a:t>
            </a:r>
          </a:p>
          <a:p>
            <a:pPr algn="just">
              <a:buFont typeface="Wingdings" panose="05000000000000000000" pitchFamily="2" charset="2"/>
              <a:buChar char="Ø"/>
            </a:pPr>
            <a:r>
              <a:rPr lang="en-GB" sz="2200" dirty="0">
                <a:solidFill>
                  <a:schemeClr val="tx1"/>
                </a:solidFill>
                <a:latin typeface="Tahoma" panose="020B0604030504040204" pitchFamily="34" charset="0"/>
                <a:ea typeface="Tahoma" panose="020B0604030504040204" pitchFamily="34" charset="0"/>
                <a:cs typeface="Tahoma" panose="020B0604030504040204" pitchFamily="34" charset="0"/>
              </a:rPr>
              <a:t>The smaller the p-value, the less likely the results occurred by random chance, and the stronger the evidence that you should reject the null hypothesis.</a:t>
            </a: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buFont typeface="Wingdings" panose="05000000000000000000" pitchFamily="2" charset="2"/>
              <a:buChar char="Ø"/>
            </a:pP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In </a:t>
            </a:r>
            <a:r>
              <a:rPr lang="en-US" sz="2200" dirty="0" err="1">
                <a:solidFill>
                  <a:schemeClr val="tx1"/>
                </a:solidFill>
                <a:latin typeface="Tahoma" panose="020B0604030504040204" pitchFamily="34" charset="0"/>
                <a:ea typeface="Tahoma" panose="020B0604030504040204" pitchFamily="34" charset="0"/>
                <a:cs typeface="Tahoma" panose="020B0604030504040204" pitchFamily="34" charset="0"/>
              </a:rPr>
              <a:t>colab</a:t>
            </a:r>
            <a:r>
              <a:rPr lang="en-US" sz="2200" dirty="0">
                <a:solidFill>
                  <a:schemeClr val="tx1"/>
                </a:solidFill>
                <a:latin typeface="Tahoma" panose="020B0604030504040204" pitchFamily="34" charset="0"/>
                <a:ea typeface="Tahoma" panose="020B0604030504040204" pitchFamily="34" charset="0"/>
                <a:cs typeface="Tahoma" panose="020B0604030504040204" pitchFamily="34" charset="0"/>
              </a:rPr>
              <a:t> notebook example the p-value is 0.308, which means that we would expect to achieve a result as extreme as this, or a more extreme result, by random chance over 30% of the time.</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29</a:t>
            </a:fld>
            <a:endParaRPr lang="en-US">
              <a:solidFill>
                <a:srgbClr val="90C226"/>
              </a:solidFill>
            </a:endParaRPr>
          </a:p>
        </p:txBody>
      </p:sp>
    </p:spTree>
    <p:extLst>
      <p:ext uri="{BB962C8B-B14F-4D97-AF65-F5344CB8AC3E}">
        <p14:creationId xmlns:p14="http://schemas.microsoft.com/office/powerpoint/2010/main" val="1015592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07877" y="105149"/>
            <a:ext cx="5291915" cy="3349782"/>
          </a:xfrm>
          <a:prstGeom prst="rect">
            <a:avLst/>
          </a:prstGeom>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Statistical Significance and p-Values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232021" y="1191959"/>
            <a:ext cx="5562197" cy="5456742"/>
          </a:xfrm>
        </p:spPr>
        <p:txBody>
          <a:bodyPr>
            <a:normAutofit/>
          </a:bodyPr>
          <a:lstStyle/>
          <a:p>
            <a:pPr algn="just">
              <a:buFont typeface="Wingdings" panose="05000000000000000000" pitchFamily="2" charset="2"/>
              <a:buChar char="Ø"/>
            </a:pPr>
            <a:r>
              <a:rPr lang="en-GB" sz="2200" dirty="0">
                <a:solidFill>
                  <a:schemeClr val="tx1"/>
                </a:solidFill>
                <a:latin typeface="NewBaskerville-Roman"/>
              </a:rPr>
              <a:t>When you perform a statistical test, a p-value helps you determine the significance of your results in relation to the null hypothesis.</a:t>
            </a:r>
            <a:endParaRPr lang="en-US" sz="2200" dirty="0">
              <a:solidFill>
                <a:schemeClr val="tx1"/>
              </a:solidFill>
              <a:latin typeface="NewBaskerville-Roman"/>
            </a:endParaRPr>
          </a:p>
          <a:p>
            <a:pPr algn="just">
              <a:buFont typeface="Wingdings" panose="05000000000000000000" pitchFamily="2" charset="2"/>
              <a:buChar char="Ø"/>
            </a:pPr>
            <a:r>
              <a:rPr lang="en-GB" sz="2200" dirty="0">
                <a:solidFill>
                  <a:schemeClr val="tx1"/>
                </a:solidFill>
                <a:latin typeface="NewBaskerville-Roman"/>
              </a:rPr>
              <a:t>The null hypothesis (H0) states no relationship exists between the two variables being studied (one variable does not affect the other). It states the results are due to chance and are not significant in supporting the idea being investigated. Thus, the null hypothesis assumes that whatever you try to prove did not happen.</a:t>
            </a:r>
          </a:p>
          <a:p>
            <a:pPr algn="just">
              <a:buFont typeface="Wingdings" panose="05000000000000000000" pitchFamily="2" charset="2"/>
              <a:buChar char="Ø"/>
            </a:pPr>
            <a:endParaRPr lang="en-US" sz="22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30</a:t>
            </a:fld>
            <a:endParaRPr lang="en-US">
              <a:solidFill>
                <a:srgbClr val="90C226"/>
              </a:solidFill>
            </a:endParaRPr>
          </a:p>
        </p:txBody>
      </p:sp>
      <p:pic>
        <p:nvPicPr>
          <p:cNvPr id="6" name="Picture 5"/>
          <p:cNvPicPr>
            <a:picLocks noChangeAspect="1"/>
          </p:cNvPicPr>
          <p:nvPr/>
        </p:nvPicPr>
        <p:blipFill>
          <a:blip r:embed="rId3"/>
          <a:stretch>
            <a:fillRect/>
          </a:stretch>
        </p:blipFill>
        <p:spPr>
          <a:xfrm>
            <a:off x="7195480" y="3454931"/>
            <a:ext cx="4996521" cy="3403069"/>
          </a:xfrm>
          <a:prstGeom prst="rect">
            <a:avLst/>
          </a:prstGeom>
        </p:spPr>
      </p:pic>
    </p:spTree>
    <p:extLst>
      <p:ext uri="{BB962C8B-B14F-4D97-AF65-F5344CB8AC3E}">
        <p14:creationId xmlns:p14="http://schemas.microsoft.com/office/powerpoint/2010/main" val="19363590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Resampling: </a:t>
            </a:r>
            <a:r>
              <a:rPr lang="en-US" dirty="0">
                <a:solidFill>
                  <a:srgbClr val="FF0000"/>
                </a:solidFill>
              </a:rPr>
              <a:t>Permutation Test</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1128585"/>
            <a:ext cx="8316322" cy="5456742"/>
          </a:xfrm>
        </p:spPr>
        <p:txBody>
          <a:bodyPr>
            <a:normAutofit/>
          </a:bodyPr>
          <a:lstStyle/>
          <a:p>
            <a:pPr algn="just">
              <a:buFont typeface="Wingdings" panose="05000000000000000000" pitchFamily="2" charset="2"/>
              <a:buChar char="Ø"/>
            </a:pP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Example (see </a:t>
            </a:r>
            <a:r>
              <a:rPr lang="en-US" sz="2600" dirty="0" err="1">
                <a:solidFill>
                  <a:schemeClr val="tx1"/>
                </a:solidFill>
                <a:latin typeface="Tahoma" panose="020B0604030504040204" pitchFamily="34" charset="0"/>
                <a:ea typeface="Tahoma" panose="020B0604030504040204" pitchFamily="34" charset="0"/>
                <a:cs typeface="Tahoma" panose="020B0604030504040204" pitchFamily="34" charset="0"/>
              </a:rPr>
              <a:t>colab</a:t>
            </a:r>
            <a:r>
              <a:rPr lang="en-US" sz="2600" dirty="0">
                <a:solidFill>
                  <a:schemeClr val="tx1"/>
                </a:solidFill>
                <a:latin typeface="Tahoma" panose="020B0604030504040204" pitchFamily="34" charset="0"/>
                <a:ea typeface="Tahoma" panose="020B0604030504040204" pitchFamily="34" charset="0"/>
                <a:cs typeface="Tahoma" panose="020B0604030504040204" pitchFamily="34" charset="0"/>
              </a:rPr>
              <a:t> notebook example):</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Suppose we got the proportion of 8.3% but it is not as low as our standard threshold like 5% (null hypothesis)</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Thus we conclude that there is no significant difference between control and experimental group. </a:t>
            </a:r>
          </a:p>
          <a:p>
            <a:pPr lvl="1" algn="just">
              <a:buFont typeface="Wingdings" panose="05000000000000000000" pitchFamily="2" charset="2"/>
              <a:buChar char="Ø"/>
            </a:pPr>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Fail to reject the null hypothesis.</a:t>
            </a:r>
          </a:p>
          <a:p>
            <a:pPr algn="just"/>
            <a:endParaRPr lang="en-US" sz="2600" dirty="0">
              <a:solidFill>
                <a:srgbClr val="FF0000"/>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31</a:t>
            </a:fld>
            <a:endParaRPr lang="en-US"/>
          </a:p>
        </p:txBody>
      </p:sp>
      <p:pic>
        <p:nvPicPr>
          <p:cNvPr id="7" name="Picture 6">
            <a:extLst>
              <a:ext uri="{FF2B5EF4-FFF2-40B4-BE49-F238E27FC236}">
                <a16:creationId xmlns:a16="http://schemas.microsoft.com/office/drawing/2014/main" id="{2972DC9B-96E7-AB1E-310B-3D21F71196C4}"/>
              </a:ext>
            </a:extLst>
          </p:cNvPr>
          <p:cNvPicPr>
            <a:picLocks noChangeAspect="1"/>
          </p:cNvPicPr>
          <p:nvPr/>
        </p:nvPicPr>
        <p:blipFill>
          <a:blip r:embed="rId2"/>
          <a:stretch>
            <a:fillRect/>
          </a:stretch>
        </p:blipFill>
        <p:spPr>
          <a:xfrm>
            <a:off x="6303430" y="4054058"/>
            <a:ext cx="1887752" cy="2352429"/>
          </a:xfrm>
          <a:prstGeom prst="rect">
            <a:avLst/>
          </a:prstGeom>
        </p:spPr>
      </p:pic>
    </p:spTree>
    <p:extLst>
      <p:ext uri="{BB962C8B-B14F-4D97-AF65-F5344CB8AC3E}">
        <p14:creationId xmlns:p14="http://schemas.microsoft.com/office/powerpoint/2010/main" val="928119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Statistical Significance and p-Values</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1128585"/>
            <a:ext cx="9119775" cy="5456742"/>
          </a:xfrm>
        </p:spPr>
        <p:txBody>
          <a:bodyPr>
            <a:normAutofit fontScale="85000" lnSpcReduction="20000"/>
          </a:bodyPr>
          <a:lstStyle/>
          <a:p>
            <a:pPr algn="just">
              <a:buFont typeface="Wingdings" panose="05000000000000000000" pitchFamily="2" charset="2"/>
              <a:buChar char="Ø"/>
            </a:pPr>
            <a:r>
              <a:rPr lang="en-US" sz="2600" dirty="0">
                <a:solidFill>
                  <a:schemeClr val="tx1"/>
                </a:solidFill>
                <a:latin typeface="NewBaskerville-Roman"/>
              </a:rPr>
              <a:t>Statistical significance is how statisticians measure whether an experiment (or even a study of existing data) yields a result more extreme than what chance might produce.</a:t>
            </a:r>
          </a:p>
          <a:p>
            <a:pPr algn="just">
              <a:buFont typeface="Wingdings" panose="05000000000000000000" pitchFamily="2" charset="2"/>
              <a:buChar char="Ø"/>
            </a:pPr>
            <a:r>
              <a:rPr lang="en-US" sz="2600" dirty="0">
                <a:solidFill>
                  <a:schemeClr val="tx1"/>
                </a:solidFill>
                <a:latin typeface="NewBaskerville-Roman"/>
              </a:rPr>
              <a:t>If the result is beyond the realm/area/range of chance variation, it is said to be statistically significant.</a:t>
            </a:r>
          </a:p>
          <a:p>
            <a:pPr algn="just">
              <a:buFont typeface="Wingdings" panose="05000000000000000000" pitchFamily="2" charset="2"/>
              <a:buChar char="Ø"/>
            </a:pPr>
            <a:endParaRPr lang="en-US" sz="2600" dirty="0">
              <a:solidFill>
                <a:schemeClr val="tx1"/>
              </a:solidFill>
              <a:latin typeface="NewBaskerville-Roman"/>
            </a:endParaRPr>
          </a:p>
          <a:p>
            <a:pPr algn="just">
              <a:buFont typeface="Wingdings" panose="05000000000000000000" pitchFamily="2" charset="2"/>
              <a:buChar char="Ø"/>
            </a:pPr>
            <a:endParaRPr lang="en-US" sz="2600" dirty="0">
              <a:solidFill>
                <a:schemeClr val="tx1"/>
              </a:solidFill>
              <a:latin typeface="NewBaskerville-Roman"/>
            </a:endParaRPr>
          </a:p>
          <a:p>
            <a:pPr algn="just">
              <a:buFont typeface="Wingdings" panose="05000000000000000000" pitchFamily="2" charset="2"/>
              <a:buChar char="Ø"/>
            </a:pPr>
            <a:endParaRPr lang="en-US" sz="2600" dirty="0">
              <a:solidFill>
                <a:schemeClr val="tx1"/>
              </a:solidFill>
              <a:latin typeface="NewBaskerville-Roman"/>
            </a:endParaRPr>
          </a:p>
          <a:p>
            <a:pPr algn="just">
              <a:buFont typeface="Wingdings" panose="05000000000000000000" pitchFamily="2" charset="2"/>
              <a:buChar char="Ø"/>
            </a:pPr>
            <a:endParaRPr lang="en-US" sz="2600" dirty="0">
              <a:solidFill>
                <a:schemeClr val="tx1"/>
              </a:solidFill>
              <a:latin typeface="NewBaskerville-Roman"/>
            </a:endParaRPr>
          </a:p>
          <a:p>
            <a:pPr algn="just">
              <a:buFont typeface="Wingdings" panose="05000000000000000000" pitchFamily="2" charset="2"/>
              <a:buChar char="Ø"/>
            </a:pPr>
            <a:endParaRPr lang="en-US" sz="2600" dirty="0">
              <a:solidFill>
                <a:schemeClr val="tx1"/>
              </a:solidFill>
              <a:latin typeface="NewBaskerville-Roman"/>
            </a:endParaRPr>
          </a:p>
          <a:p>
            <a:pPr algn="just">
              <a:buFont typeface="Wingdings" panose="05000000000000000000" pitchFamily="2" charset="2"/>
              <a:buChar char="Ø"/>
            </a:pPr>
            <a:r>
              <a:rPr lang="en-US" sz="2600" dirty="0">
                <a:solidFill>
                  <a:schemeClr val="tx1"/>
                </a:solidFill>
                <a:latin typeface="NewBaskerville-Roman"/>
              </a:rPr>
              <a:t>Price A converts almost 5% better than price B </a:t>
            </a:r>
          </a:p>
          <a:p>
            <a:pPr algn="just">
              <a:buFont typeface="Wingdings" panose="05000000000000000000" pitchFamily="2" charset="2"/>
              <a:buChar char="Ø"/>
            </a:pPr>
            <a:r>
              <a:rPr lang="en-US" sz="2600" dirty="0">
                <a:solidFill>
                  <a:schemeClr val="tx1"/>
                </a:solidFill>
                <a:latin typeface="NewBaskerville-Roman"/>
              </a:rPr>
              <a:t>0.8425% = 200/(23539+200)*100, versus </a:t>
            </a:r>
          </a:p>
          <a:p>
            <a:pPr algn="just">
              <a:buFont typeface="Wingdings" panose="05000000000000000000" pitchFamily="2" charset="2"/>
              <a:buChar char="Ø"/>
            </a:pPr>
            <a:r>
              <a:rPr lang="en-US" sz="2600" dirty="0">
                <a:solidFill>
                  <a:schemeClr val="tx1"/>
                </a:solidFill>
                <a:latin typeface="NewBaskerville-Roman"/>
              </a:rPr>
              <a:t>0.8057% = 182/(22406+182)*100</a:t>
            </a:r>
          </a:p>
          <a:p>
            <a:pPr algn="just">
              <a:buFont typeface="Wingdings" panose="05000000000000000000" pitchFamily="2" charset="2"/>
              <a:buChar char="Ø"/>
            </a:pPr>
            <a:r>
              <a:rPr lang="en-US" sz="2600" dirty="0">
                <a:solidFill>
                  <a:schemeClr val="tx1"/>
                </a:solidFill>
                <a:latin typeface="NewBaskerville-Roman"/>
              </a:rPr>
              <a:t>a difference of 0.0368 percentage points), big enough to be meaningful in a high-volume business.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32</a:t>
            </a:fld>
            <a:endParaRPr lang="en-US">
              <a:solidFill>
                <a:srgbClr val="90C226"/>
              </a:solidFill>
            </a:endParaRPr>
          </a:p>
        </p:txBody>
      </p:sp>
      <p:pic>
        <p:nvPicPr>
          <p:cNvPr id="6" name="Picture 5">
            <a:extLst>
              <a:ext uri="{FF2B5EF4-FFF2-40B4-BE49-F238E27FC236}">
                <a16:creationId xmlns:a16="http://schemas.microsoft.com/office/drawing/2014/main" id="{C1666053-866B-AFF6-3B7D-51357F9A1D27}"/>
              </a:ext>
            </a:extLst>
          </p:cNvPr>
          <p:cNvPicPr>
            <a:picLocks noChangeAspect="1"/>
          </p:cNvPicPr>
          <p:nvPr/>
        </p:nvPicPr>
        <p:blipFill>
          <a:blip r:embed="rId2"/>
          <a:stretch>
            <a:fillRect/>
          </a:stretch>
        </p:blipFill>
        <p:spPr>
          <a:xfrm>
            <a:off x="1368949" y="2678304"/>
            <a:ext cx="6057642" cy="2030218"/>
          </a:xfrm>
          <a:prstGeom prst="rect">
            <a:avLst/>
          </a:prstGeom>
        </p:spPr>
      </p:pic>
    </p:spTree>
    <p:extLst>
      <p:ext uri="{BB962C8B-B14F-4D97-AF65-F5344CB8AC3E}">
        <p14:creationId xmlns:p14="http://schemas.microsoft.com/office/powerpoint/2010/main" val="2470499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Statistical Significance and p-Values</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1128585"/>
            <a:ext cx="8878586" cy="5456742"/>
          </a:xfrm>
        </p:spPr>
        <p:txBody>
          <a:bodyPr>
            <a:normAutofit fontScale="85000" lnSpcReduction="10000"/>
          </a:bodyPr>
          <a:lstStyle/>
          <a:p>
            <a:pPr algn="just"/>
            <a:endParaRPr lang="en-US" sz="3200" dirty="0">
              <a:solidFill>
                <a:schemeClr val="tx1"/>
              </a:solidFill>
              <a:latin typeface="NewBaskerville-Roman"/>
            </a:endParaRPr>
          </a:p>
          <a:p>
            <a:pPr algn="just"/>
            <a:endParaRPr lang="en-US" sz="3200" dirty="0">
              <a:solidFill>
                <a:schemeClr val="tx1"/>
              </a:solidFill>
              <a:latin typeface="NewBaskerville-Roman"/>
            </a:endParaRPr>
          </a:p>
          <a:p>
            <a:pPr algn="just"/>
            <a:endParaRPr lang="en-US" sz="3200" dirty="0">
              <a:solidFill>
                <a:schemeClr val="tx1"/>
              </a:solidFill>
              <a:latin typeface="NewBaskerville-Roman"/>
            </a:endParaRPr>
          </a:p>
          <a:p>
            <a:pPr algn="just"/>
            <a:endParaRPr lang="en-US" sz="3200" dirty="0">
              <a:solidFill>
                <a:schemeClr val="tx1"/>
              </a:solidFill>
              <a:latin typeface="NewBaskerville-Roman"/>
            </a:endParaRPr>
          </a:p>
          <a:p>
            <a:pPr algn="just">
              <a:buFont typeface="Wingdings" panose="05000000000000000000" pitchFamily="2" charset="2"/>
              <a:buChar char="Ø"/>
            </a:pPr>
            <a:r>
              <a:rPr lang="en-US" sz="3200" dirty="0">
                <a:solidFill>
                  <a:schemeClr val="tx1"/>
                </a:solidFill>
                <a:latin typeface="Tahoma" panose="020B0604030504040204" pitchFamily="34" charset="0"/>
                <a:ea typeface="Tahoma" panose="020B0604030504040204" pitchFamily="34" charset="0"/>
                <a:cs typeface="Tahoma" panose="020B0604030504040204" pitchFamily="34" charset="0"/>
              </a:rPr>
              <a:t>We can test whether the difference in conversions between prices A and B is within the range of </a:t>
            </a:r>
            <a:r>
              <a:rPr lang="en-US" sz="3200" b="1" dirty="0">
                <a:solidFill>
                  <a:schemeClr val="tx1"/>
                </a:solidFill>
                <a:latin typeface="Tahoma" panose="020B0604030504040204" pitchFamily="34" charset="0"/>
                <a:ea typeface="Tahoma" panose="020B0604030504040204" pitchFamily="34" charset="0"/>
                <a:cs typeface="Tahoma" panose="020B0604030504040204" pitchFamily="34" charset="0"/>
              </a:rPr>
              <a:t>chance</a:t>
            </a:r>
            <a:r>
              <a:rPr lang="en-US" sz="32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3200" b="1" dirty="0">
                <a:solidFill>
                  <a:schemeClr val="tx1"/>
                </a:solidFill>
                <a:latin typeface="Tahoma" panose="020B0604030504040204" pitchFamily="34" charset="0"/>
                <a:ea typeface="Tahoma" panose="020B0604030504040204" pitchFamily="34" charset="0"/>
                <a:cs typeface="Tahoma" panose="020B0604030504040204" pitchFamily="34" charset="0"/>
              </a:rPr>
              <a:t>variation</a:t>
            </a:r>
            <a:r>
              <a:rPr lang="en-US" sz="3200" dirty="0">
                <a:solidFill>
                  <a:schemeClr val="tx1"/>
                </a:solidFill>
                <a:latin typeface="Tahoma" panose="020B0604030504040204" pitchFamily="34" charset="0"/>
                <a:ea typeface="Tahoma" panose="020B0604030504040204" pitchFamily="34" charset="0"/>
                <a:cs typeface="Tahoma" panose="020B0604030504040204" pitchFamily="34" charset="0"/>
              </a:rPr>
              <a:t>, using a resampling procedure. </a:t>
            </a:r>
          </a:p>
          <a:p>
            <a:pPr lvl="1" algn="just">
              <a:buFont typeface="Wingdings" panose="05000000000000000000" pitchFamily="2" charset="2"/>
              <a:buChar char="Ø"/>
            </a:pPr>
            <a:r>
              <a:rPr lang="en-US" sz="3200" dirty="0">
                <a:solidFill>
                  <a:schemeClr val="tx1"/>
                </a:solidFill>
                <a:latin typeface="Tahoma" panose="020B0604030504040204" pitchFamily="34" charset="0"/>
                <a:ea typeface="Tahoma" panose="020B0604030504040204" pitchFamily="34" charset="0"/>
                <a:cs typeface="Tahoma" panose="020B0604030504040204" pitchFamily="34" charset="0"/>
              </a:rPr>
              <a:t>By chance variation, we mean the random variation produced by a probability model that embodies the </a:t>
            </a:r>
          </a:p>
          <a:p>
            <a:pPr lvl="2" algn="just">
              <a:buFont typeface="Wingdings" panose="05000000000000000000" pitchFamily="2" charset="2"/>
              <a:buChar char="Ø"/>
            </a:pPr>
            <a:r>
              <a:rPr lang="en-US" sz="3000" dirty="0">
                <a:solidFill>
                  <a:schemeClr val="tx1"/>
                </a:solidFill>
                <a:latin typeface="Tahoma" panose="020B0604030504040204" pitchFamily="34" charset="0"/>
                <a:ea typeface="Tahoma" panose="020B0604030504040204" pitchFamily="34" charset="0"/>
                <a:cs typeface="Tahoma" panose="020B0604030504040204" pitchFamily="34" charset="0"/>
              </a:rPr>
              <a:t>null hypothesis that there is no difference between the rates.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33</a:t>
            </a:fld>
            <a:endParaRPr lang="en-US">
              <a:solidFill>
                <a:srgbClr val="90C226"/>
              </a:solidFill>
            </a:endParaRPr>
          </a:p>
        </p:txBody>
      </p:sp>
      <p:pic>
        <p:nvPicPr>
          <p:cNvPr id="6" name="Picture 5">
            <a:extLst>
              <a:ext uri="{FF2B5EF4-FFF2-40B4-BE49-F238E27FC236}">
                <a16:creationId xmlns:a16="http://schemas.microsoft.com/office/drawing/2014/main" id="{C1666053-866B-AFF6-3B7D-51357F9A1D27}"/>
              </a:ext>
            </a:extLst>
          </p:cNvPr>
          <p:cNvPicPr>
            <a:picLocks noChangeAspect="1"/>
          </p:cNvPicPr>
          <p:nvPr/>
        </p:nvPicPr>
        <p:blipFill>
          <a:blip r:embed="rId2"/>
          <a:stretch>
            <a:fillRect/>
          </a:stretch>
        </p:blipFill>
        <p:spPr>
          <a:xfrm>
            <a:off x="2435311" y="1029730"/>
            <a:ext cx="5178653" cy="1735625"/>
          </a:xfrm>
          <a:prstGeom prst="rect">
            <a:avLst/>
          </a:prstGeom>
          <a:ln>
            <a:solidFill>
              <a:schemeClr val="tx1"/>
            </a:solidFill>
          </a:ln>
        </p:spPr>
      </p:pic>
    </p:spTree>
    <p:extLst>
      <p:ext uri="{BB962C8B-B14F-4D97-AF65-F5344CB8AC3E}">
        <p14:creationId xmlns:p14="http://schemas.microsoft.com/office/powerpoint/2010/main" val="525256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Statistical Significance and p-Values</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18983" y="934767"/>
            <a:ext cx="8832835" cy="5456742"/>
          </a:xfrm>
        </p:spPr>
        <p:txBody>
          <a:bodyPr>
            <a:normAutofit/>
          </a:bodyPr>
          <a:lstStyle/>
          <a:p>
            <a:pPr algn="just">
              <a:buFont typeface="Wingdings" panose="05000000000000000000" pitchFamily="2" charset="2"/>
              <a:buChar char="Ø"/>
            </a:pPr>
            <a:r>
              <a:rPr lang="en-US" sz="2400" dirty="0">
                <a:solidFill>
                  <a:schemeClr val="tx1"/>
                </a:solidFill>
                <a:latin typeface="NewBaskerville-Roman"/>
              </a:rPr>
              <a:t>The following permutation procedure asks, </a:t>
            </a:r>
          </a:p>
          <a:p>
            <a:pPr lvl="1" algn="just">
              <a:buFont typeface="Wingdings" panose="05000000000000000000" pitchFamily="2" charset="2"/>
              <a:buChar char="Ø"/>
            </a:pPr>
            <a:r>
              <a:rPr lang="en-US" sz="2200" dirty="0">
                <a:solidFill>
                  <a:schemeClr val="tx1"/>
                </a:solidFill>
                <a:latin typeface="NewBaskerville-Roman"/>
              </a:rPr>
              <a:t>“If the two prices share the same conversion rate, could chance variation produce a difference as </a:t>
            </a:r>
            <a:r>
              <a:rPr lang="en-US" sz="2200" b="1" dirty="0">
                <a:solidFill>
                  <a:schemeClr val="tx1"/>
                </a:solidFill>
                <a:latin typeface="NewBaskerville-Roman"/>
              </a:rPr>
              <a:t>big as 5%?</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34</a:t>
            </a:fld>
            <a:endParaRPr lang="en-US">
              <a:solidFill>
                <a:srgbClr val="90C226"/>
              </a:solidFill>
            </a:endParaRPr>
          </a:p>
        </p:txBody>
      </p:sp>
      <p:pic>
        <p:nvPicPr>
          <p:cNvPr id="8" name="Picture 7">
            <a:extLst>
              <a:ext uri="{FF2B5EF4-FFF2-40B4-BE49-F238E27FC236}">
                <a16:creationId xmlns:a16="http://schemas.microsoft.com/office/drawing/2014/main" id="{6657B740-6707-7F7F-6859-4B9CC420AF83}"/>
              </a:ext>
            </a:extLst>
          </p:cNvPr>
          <p:cNvPicPr>
            <a:picLocks noChangeAspect="1"/>
          </p:cNvPicPr>
          <p:nvPr/>
        </p:nvPicPr>
        <p:blipFill>
          <a:blip r:embed="rId2"/>
          <a:stretch>
            <a:fillRect/>
          </a:stretch>
        </p:blipFill>
        <p:spPr>
          <a:xfrm>
            <a:off x="763955" y="2198970"/>
            <a:ext cx="7956096" cy="2780227"/>
          </a:xfrm>
          <a:prstGeom prst="rect">
            <a:avLst/>
          </a:prstGeom>
          <a:ln>
            <a:solidFill>
              <a:schemeClr val="tx1"/>
            </a:solidFill>
          </a:ln>
        </p:spPr>
      </p:pic>
      <p:pic>
        <p:nvPicPr>
          <p:cNvPr id="7" name="Picture 6">
            <a:extLst>
              <a:ext uri="{FF2B5EF4-FFF2-40B4-BE49-F238E27FC236}">
                <a16:creationId xmlns:a16="http://schemas.microsoft.com/office/drawing/2014/main" id="{4321C768-25A2-CA52-5E4E-655D3D0FF8C3}"/>
              </a:ext>
            </a:extLst>
          </p:cNvPr>
          <p:cNvPicPr>
            <a:picLocks noChangeAspect="1"/>
          </p:cNvPicPr>
          <p:nvPr/>
        </p:nvPicPr>
        <p:blipFill rotWithShape="1">
          <a:blip r:embed="rId3"/>
          <a:srcRect l="1744" t="45461" r="58547" b="4225"/>
          <a:stretch/>
        </p:blipFill>
        <p:spPr>
          <a:xfrm>
            <a:off x="2932852" y="5559717"/>
            <a:ext cx="3010747" cy="1278536"/>
          </a:xfrm>
          <a:prstGeom prst="rect">
            <a:avLst/>
          </a:prstGeom>
          <a:ln>
            <a:solidFill>
              <a:schemeClr val="tx1"/>
            </a:solidFill>
          </a:ln>
        </p:spPr>
      </p:pic>
      <p:pic>
        <p:nvPicPr>
          <p:cNvPr id="9" name="Picture 8">
            <a:extLst>
              <a:ext uri="{FF2B5EF4-FFF2-40B4-BE49-F238E27FC236}">
                <a16:creationId xmlns:a16="http://schemas.microsoft.com/office/drawing/2014/main" id="{39D48CE1-BC54-7426-4C77-7D7F62917FEF}"/>
              </a:ext>
            </a:extLst>
          </p:cNvPr>
          <p:cNvPicPr>
            <a:picLocks noChangeAspect="1"/>
          </p:cNvPicPr>
          <p:nvPr/>
        </p:nvPicPr>
        <p:blipFill>
          <a:blip r:embed="rId4"/>
          <a:stretch>
            <a:fillRect/>
          </a:stretch>
        </p:blipFill>
        <p:spPr>
          <a:xfrm>
            <a:off x="8720051" y="2198970"/>
            <a:ext cx="3471949" cy="3471949"/>
          </a:xfrm>
          <a:prstGeom prst="rect">
            <a:avLst/>
          </a:prstGeom>
          <a:ln>
            <a:solidFill>
              <a:schemeClr val="tx1"/>
            </a:solidFill>
          </a:ln>
        </p:spPr>
      </p:pic>
      <p:pic>
        <p:nvPicPr>
          <p:cNvPr id="6" name="Picture 5">
            <a:extLst>
              <a:ext uri="{FF2B5EF4-FFF2-40B4-BE49-F238E27FC236}">
                <a16:creationId xmlns:a16="http://schemas.microsoft.com/office/drawing/2014/main" id="{495F0F92-6BED-3475-1AD6-7FD4A6EE4603}"/>
              </a:ext>
            </a:extLst>
          </p:cNvPr>
          <p:cNvPicPr>
            <a:picLocks noChangeAspect="1"/>
          </p:cNvPicPr>
          <p:nvPr/>
        </p:nvPicPr>
        <p:blipFill>
          <a:blip r:embed="rId5"/>
          <a:stretch>
            <a:fillRect/>
          </a:stretch>
        </p:blipFill>
        <p:spPr>
          <a:xfrm>
            <a:off x="763955" y="5001353"/>
            <a:ext cx="7956096" cy="517470"/>
          </a:xfrm>
          <a:prstGeom prst="rect">
            <a:avLst/>
          </a:prstGeom>
          <a:ln>
            <a:solidFill>
              <a:schemeClr val="tx1"/>
            </a:solidFill>
          </a:ln>
        </p:spPr>
      </p:pic>
    </p:spTree>
    <p:extLst>
      <p:ext uri="{BB962C8B-B14F-4D97-AF65-F5344CB8AC3E}">
        <p14:creationId xmlns:p14="http://schemas.microsoft.com/office/powerpoint/2010/main" val="233386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p-Values and Data Science</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1128585"/>
            <a:ext cx="9119775" cy="5456742"/>
          </a:xfrm>
        </p:spPr>
        <p:txBody>
          <a:bodyPr>
            <a:normAutofit/>
          </a:bodyPr>
          <a:lstStyle/>
          <a:p>
            <a:pPr algn="just">
              <a:buFont typeface="Wingdings" panose="05000000000000000000" pitchFamily="2" charset="2"/>
              <a:buChar char="Ø"/>
            </a:pPr>
            <a:r>
              <a:rPr lang="en-GB" sz="2600" dirty="0">
                <a:solidFill>
                  <a:schemeClr val="tx1"/>
                </a:solidFill>
                <a:latin typeface="NewBaskerville-Roman"/>
              </a:rPr>
              <a:t> A  p-value is a useful metric in situations where you want to know whether a model results that appears interesting and useful is within the range of normal chance variability</a:t>
            </a:r>
          </a:p>
          <a:p>
            <a:pPr algn="just">
              <a:buFont typeface="Wingdings" panose="05000000000000000000" pitchFamily="2" charset="2"/>
              <a:buChar char="Ø"/>
            </a:pPr>
            <a:r>
              <a:rPr lang="en-GB" sz="2600" dirty="0">
                <a:solidFill>
                  <a:schemeClr val="tx1"/>
                </a:solidFill>
                <a:latin typeface="NewBaskerville-Roman"/>
              </a:rPr>
              <a:t> As a decision tool in an experiment, a p-value should not be considered controlling, but merely another point of information bearing on a decision</a:t>
            </a:r>
          </a:p>
          <a:p>
            <a:pPr algn="just">
              <a:buFont typeface="Wingdings" panose="05000000000000000000" pitchFamily="2" charset="2"/>
              <a:buChar char="Ø"/>
            </a:pPr>
            <a:r>
              <a:rPr lang="en-GB" sz="2600" dirty="0">
                <a:solidFill>
                  <a:schemeClr val="tx1"/>
                </a:solidFill>
                <a:latin typeface="NewBaskerville-Roman"/>
              </a:rPr>
              <a:t> For example, p-values are sometimes used as intermediate inputs in some statistical or machine learning models—a feature might be included in or excluded from a model depending on its p-value</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35</a:t>
            </a:fld>
            <a:endParaRPr lang="en-US">
              <a:solidFill>
                <a:srgbClr val="90C226"/>
              </a:solidFill>
            </a:endParaRPr>
          </a:p>
        </p:txBody>
      </p:sp>
    </p:spTree>
    <p:extLst>
      <p:ext uri="{BB962C8B-B14F-4D97-AF65-F5344CB8AC3E}">
        <p14:creationId xmlns:p14="http://schemas.microsoft.com/office/powerpoint/2010/main" val="14079647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Type 1 and Type 2 Errors</a:t>
            </a:r>
            <a:endParaRPr lang="en-US" dirty="0">
              <a:solidFill>
                <a:srgbClr val="FF0000"/>
              </a:solidFill>
            </a:endParaRPr>
          </a:p>
        </p:txBody>
      </p:sp>
      <p:pic>
        <p:nvPicPr>
          <p:cNvPr id="6" name="Content Placeholder 5">
            <a:extLst>
              <a:ext uri="{FF2B5EF4-FFF2-40B4-BE49-F238E27FC236}">
                <a16:creationId xmlns:a16="http://schemas.microsoft.com/office/drawing/2014/main" id="{32E1180C-16B3-1783-FCFD-3CF6FB9734C0}"/>
              </a:ext>
            </a:extLst>
          </p:cNvPr>
          <p:cNvPicPr>
            <a:picLocks noGrp="1" noChangeAspect="1"/>
          </p:cNvPicPr>
          <p:nvPr>
            <p:ph idx="1"/>
          </p:nvPr>
        </p:nvPicPr>
        <p:blipFill>
          <a:blip r:embed="rId2"/>
          <a:stretch>
            <a:fillRect/>
          </a:stretch>
        </p:blipFill>
        <p:spPr>
          <a:xfrm>
            <a:off x="762912" y="1055635"/>
            <a:ext cx="10346620" cy="5168193"/>
          </a:xfrm>
        </p:spPr>
      </p:pic>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36</a:t>
            </a:fld>
            <a:endParaRPr lang="en-US">
              <a:solidFill>
                <a:srgbClr val="90C226"/>
              </a:solidFill>
            </a:endParaRPr>
          </a:p>
        </p:txBody>
      </p:sp>
    </p:spTree>
    <p:extLst>
      <p:ext uri="{BB962C8B-B14F-4D97-AF65-F5344CB8AC3E}">
        <p14:creationId xmlns:p14="http://schemas.microsoft.com/office/powerpoint/2010/main" val="38783203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fontScale="90000"/>
          </a:bodyPr>
          <a:lstStyle/>
          <a:p>
            <a:r>
              <a:rPr lang="en-US" dirty="0"/>
              <a:t>t-Tests/</a:t>
            </a:r>
            <a:r>
              <a:rPr lang="en-US" sz="4400" dirty="0">
                <a:solidFill>
                  <a:schemeClr val="tx1"/>
                </a:solidFill>
                <a:latin typeface="NewBaskerville-Roman"/>
              </a:rPr>
              <a:t> Student’s t-test</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906162"/>
            <a:ext cx="8878586" cy="5679165"/>
          </a:xfrm>
        </p:spPr>
        <p:txBody>
          <a:bodyPr>
            <a:normAutofit/>
          </a:bodyPr>
          <a:lstStyle/>
          <a:p>
            <a:pPr algn="just">
              <a:buFont typeface="Wingdings" panose="05000000000000000000" pitchFamily="2" charset="2"/>
              <a:buChar char="Ø"/>
            </a:pPr>
            <a:r>
              <a:rPr lang="en-US" sz="2400" dirty="0">
                <a:solidFill>
                  <a:schemeClr val="tx1"/>
                </a:solidFill>
                <a:latin typeface="NewBaskerville-Roman"/>
              </a:rPr>
              <a:t>Student’s t-test, in statistics, a method of testing hypotheses about the mean of a small sample drawn from a normally distributed population when the population standard deviation is unknown.</a:t>
            </a:r>
          </a:p>
          <a:p>
            <a:pPr algn="just">
              <a:buFont typeface="Wingdings" panose="05000000000000000000" pitchFamily="2" charset="2"/>
              <a:buChar char="Ø"/>
            </a:pPr>
            <a:r>
              <a:rPr lang="en-US" sz="2400" dirty="0">
                <a:solidFill>
                  <a:schemeClr val="tx1"/>
                </a:solidFill>
                <a:latin typeface="NewBaskerville-Roman"/>
              </a:rPr>
              <a:t>The </a:t>
            </a:r>
            <a:r>
              <a:rPr lang="en-US" sz="2400" dirty="0">
                <a:solidFill>
                  <a:srgbClr val="0070C0"/>
                </a:solidFill>
                <a:latin typeface="NewBaskerville-Roman"/>
              </a:rPr>
              <a:t>t distribution is a family of curves </a:t>
            </a:r>
            <a:r>
              <a:rPr lang="en-US" sz="2400" dirty="0">
                <a:solidFill>
                  <a:schemeClr val="tx1"/>
                </a:solidFill>
                <a:latin typeface="NewBaskerville-Roman"/>
              </a:rPr>
              <a:t>in which the number of </a:t>
            </a:r>
            <a:r>
              <a:rPr lang="en-US" sz="2400" b="1" dirty="0">
                <a:solidFill>
                  <a:schemeClr val="tx1"/>
                </a:solidFill>
                <a:latin typeface="NewBaskerville-Roman"/>
              </a:rPr>
              <a:t>degrees of freedom </a:t>
            </a:r>
            <a:r>
              <a:rPr lang="en-US" sz="2400" dirty="0">
                <a:solidFill>
                  <a:schemeClr val="tx1"/>
                </a:solidFill>
                <a:latin typeface="NewBaskerville-Roman"/>
              </a:rPr>
              <a:t>(the number of independent observations in the sample minus one) specifies a particular curve. </a:t>
            </a:r>
          </a:p>
          <a:p>
            <a:pPr algn="just">
              <a:buFont typeface="Wingdings" panose="05000000000000000000" pitchFamily="2" charset="2"/>
              <a:buChar char="Ø"/>
            </a:pPr>
            <a:r>
              <a:rPr lang="en-US" sz="2400" dirty="0">
                <a:solidFill>
                  <a:schemeClr val="tx1"/>
                </a:solidFill>
                <a:latin typeface="NewBaskerville-Roman"/>
              </a:rPr>
              <a:t>As the </a:t>
            </a:r>
            <a:r>
              <a:rPr lang="en-US" sz="2400" b="1" dirty="0">
                <a:solidFill>
                  <a:schemeClr val="tx1"/>
                </a:solidFill>
                <a:latin typeface="NewBaskerville-Roman"/>
              </a:rPr>
              <a:t>sample size </a:t>
            </a:r>
            <a:r>
              <a:rPr lang="en-US" sz="2400" dirty="0">
                <a:solidFill>
                  <a:schemeClr val="tx1"/>
                </a:solidFill>
                <a:latin typeface="NewBaskerville-Roman"/>
              </a:rPr>
              <a:t>(and thus the degrees of freedom) </a:t>
            </a:r>
            <a:r>
              <a:rPr lang="en-US" sz="2400" b="1" dirty="0">
                <a:solidFill>
                  <a:schemeClr val="tx1"/>
                </a:solidFill>
                <a:latin typeface="NewBaskerville-Roman"/>
              </a:rPr>
              <a:t>increases</a:t>
            </a:r>
            <a:r>
              <a:rPr lang="en-US" sz="2400" dirty="0">
                <a:solidFill>
                  <a:schemeClr val="tx1"/>
                </a:solidFill>
                <a:latin typeface="NewBaskerville-Roman"/>
              </a:rPr>
              <a:t>, the t distribution </a:t>
            </a:r>
            <a:r>
              <a:rPr lang="en-US" sz="2400" b="1" dirty="0">
                <a:solidFill>
                  <a:schemeClr val="tx1"/>
                </a:solidFill>
                <a:latin typeface="NewBaskerville-Roman"/>
              </a:rPr>
              <a:t>approaches</a:t>
            </a:r>
            <a:r>
              <a:rPr lang="en-US" sz="2400" dirty="0">
                <a:solidFill>
                  <a:schemeClr val="tx1"/>
                </a:solidFill>
                <a:latin typeface="NewBaskerville-Roman"/>
              </a:rPr>
              <a:t> the bell shape of the </a:t>
            </a:r>
            <a:r>
              <a:rPr lang="en-US" sz="2400" b="1" dirty="0">
                <a:solidFill>
                  <a:schemeClr val="tx1"/>
                </a:solidFill>
                <a:latin typeface="NewBaskerville-Roman"/>
              </a:rPr>
              <a:t>standard normal distribution</a:t>
            </a:r>
            <a:r>
              <a:rPr lang="en-US" sz="2400" dirty="0">
                <a:solidFill>
                  <a:schemeClr val="tx1"/>
                </a:solidFill>
                <a:latin typeface="NewBaskerville-Roman"/>
              </a:rPr>
              <a:t>. </a:t>
            </a:r>
          </a:p>
          <a:p>
            <a:pPr algn="just">
              <a:buFont typeface="Wingdings" panose="05000000000000000000" pitchFamily="2" charset="2"/>
              <a:buChar char="Ø"/>
            </a:pPr>
            <a:r>
              <a:rPr lang="en-US" sz="2400" dirty="0">
                <a:solidFill>
                  <a:schemeClr val="tx1"/>
                </a:solidFill>
                <a:latin typeface="NewBaskerville-Roman"/>
              </a:rPr>
              <a:t>In practice, for tests involving the mean of a sample of size greater than 30, the normal distribution is usually applied.</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37</a:t>
            </a:fld>
            <a:endParaRPr lang="en-US">
              <a:solidFill>
                <a:srgbClr val="90C226"/>
              </a:solidFill>
            </a:endParaRPr>
          </a:p>
        </p:txBody>
      </p:sp>
    </p:spTree>
    <p:extLst>
      <p:ext uri="{BB962C8B-B14F-4D97-AF65-F5344CB8AC3E}">
        <p14:creationId xmlns:p14="http://schemas.microsoft.com/office/powerpoint/2010/main" val="3775905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fontScale="90000"/>
          </a:bodyPr>
          <a:lstStyle/>
          <a:p>
            <a:r>
              <a:rPr lang="en-US" dirty="0"/>
              <a:t>t-Tests/</a:t>
            </a:r>
            <a:r>
              <a:rPr lang="en-US" sz="4400" dirty="0">
                <a:solidFill>
                  <a:schemeClr val="tx1"/>
                </a:solidFill>
                <a:latin typeface="NewBaskerville-Roman"/>
              </a:rPr>
              <a:t> Student’s t-test</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906162"/>
            <a:ext cx="8878586" cy="5679165"/>
          </a:xfrm>
        </p:spPr>
        <p:txBody>
          <a:bodyPr>
            <a:normAutofit/>
          </a:bodyPr>
          <a:lstStyle/>
          <a:p>
            <a:pPr algn="just"/>
            <a:endParaRPr lang="en-US" sz="24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38</a:t>
            </a:fld>
            <a:endParaRPr lang="en-US">
              <a:solidFill>
                <a:srgbClr val="90C226"/>
              </a:solidFill>
            </a:endParaRPr>
          </a:p>
        </p:txBody>
      </p:sp>
      <p:pic>
        <p:nvPicPr>
          <p:cNvPr id="1026" name="Picture 2" descr="T-Distribution | What It Is and How To Use It (With Examples)">
            <a:extLst>
              <a:ext uri="{FF2B5EF4-FFF2-40B4-BE49-F238E27FC236}">
                <a16:creationId xmlns:a16="http://schemas.microsoft.com/office/drawing/2014/main" id="{0CA27835-DA32-4204-D6C4-23F13EF6020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528" t="11278" r="5350" b="9394"/>
          <a:stretch/>
        </p:blipFill>
        <p:spPr bwMode="auto">
          <a:xfrm>
            <a:off x="1023043" y="1118589"/>
            <a:ext cx="8833164" cy="537787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359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409487" cy="5456742"/>
              </a:xfrm>
            </p:spPr>
            <p:txBody>
              <a:bodyPr>
                <a:normAutofit fontScale="85000" lnSpcReduction="10000"/>
              </a:bodyPr>
              <a:lstStyle/>
              <a:p>
                <a:pPr algn="just">
                  <a:buFont typeface="Wingdings" panose="05000000000000000000" pitchFamily="2" charset="2"/>
                  <a:buChar char="Ø"/>
                </a:pPr>
                <a:r>
                  <a:rPr lang="en-GB" sz="2200" dirty="0">
                    <a:solidFill>
                      <a:schemeClr val="tx1"/>
                    </a:solidFill>
                    <a:latin typeface="NewBaskerville-Roman"/>
                  </a:rPr>
                  <a:t>It is usual first to </a:t>
                </a:r>
                <a:r>
                  <a:rPr lang="en-GB" sz="2200" b="1" dirty="0">
                    <a:solidFill>
                      <a:schemeClr val="tx1"/>
                    </a:solidFill>
                    <a:latin typeface="NewBaskerville-Roman"/>
                  </a:rPr>
                  <a:t>formulate a null hypothesis</a:t>
                </a:r>
                <a:r>
                  <a:rPr lang="en-GB" sz="2200" dirty="0">
                    <a:solidFill>
                      <a:schemeClr val="tx1"/>
                    </a:solidFill>
                    <a:latin typeface="NewBaskerville-Roman"/>
                  </a:rPr>
                  <a:t>, which states that </a:t>
                </a:r>
              </a:p>
              <a:p>
                <a:pPr lvl="1" algn="just">
                  <a:buFont typeface="Wingdings" panose="05000000000000000000" pitchFamily="2" charset="2"/>
                  <a:buChar char="Ø"/>
                </a:pPr>
                <a:r>
                  <a:rPr lang="en-GB" sz="2000" dirty="0">
                    <a:solidFill>
                      <a:schemeClr val="tx1"/>
                    </a:solidFill>
                    <a:latin typeface="NewBaskerville-Roman"/>
                  </a:rPr>
                  <a:t>there is no effective difference between the observed sample mean and the hypothesized or stated population mean—i.e., that any measured difference is due only to chance.</a:t>
                </a:r>
              </a:p>
              <a:p>
                <a:pPr lvl="1" algn="just">
                  <a:buFont typeface="Wingdings" panose="05000000000000000000" pitchFamily="2" charset="2"/>
                  <a:buChar char="Ø"/>
                </a:pPr>
                <a:r>
                  <a:rPr lang="en-US" sz="2000" dirty="0">
                    <a:solidFill>
                      <a:schemeClr val="tx1"/>
                    </a:solidFill>
                    <a:latin typeface="NewBaskerville-Roman"/>
                  </a:rPr>
                  <a:t>For example, the null hypothesis could be that an application of fertilizer has had no effect on crop yield, and an experiment would be performed to test whether it has increased the harvest. </a:t>
                </a:r>
              </a:p>
              <a:p>
                <a:pPr algn="just">
                  <a:buFont typeface="Wingdings" panose="05000000000000000000" pitchFamily="2" charset="2"/>
                  <a:buChar char="Ø"/>
                </a:pPr>
                <a:r>
                  <a:rPr lang="en-US" sz="2200" dirty="0">
                    <a:solidFill>
                      <a:schemeClr val="tx1"/>
                    </a:solidFill>
                    <a:latin typeface="NewBaskerville-Roman"/>
                  </a:rPr>
                  <a:t>The test statistic </a:t>
                </a:r>
                <a:r>
                  <a:rPr lang="en-US" sz="2200" b="1" dirty="0">
                    <a:solidFill>
                      <a:schemeClr val="tx1"/>
                    </a:solidFill>
                    <a:latin typeface="NewBaskerville-Roman"/>
                  </a:rPr>
                  <a:t>t </a:t>
                </a:r>
                <a:r>
                  <a:rPr lang="en-US" sz="2200" dirty="0">
                    <a:solidFill>
                      <a:schemeClr val="tx1"/>
                    </a:solidFill>
                    <a:latin typeface="NewBaskerville-Roman"/>
                  </a:rPr>
                  <a:t>is then calculated. </a:t>
                </a:r>
              </a:p>
              <a:p>
                <a:pPr lvl="1" algn="just">
                  <a:buFont typeface="Wingdings" panose="05000000000000000000" pitchFamily="2" charset="2"/>
                  <a:buChar char="Ø"/>
                </a:pPr>
                <a:r>
                  <a:rPr lang="en-US" sz="2000" dirty="0"/>
                  <a:t> </a:t>
                </a:r>
                <a14:m>
                  <m:oMath xmlns:m="http://schemas.openxmlformats.org/officeDocument/2006/math">
                    <m:r>
                      <a:rPr lang="en-US" sz="2000" b="1" i="1">
                        <a:latin typeface="Cambria Math" panose="02040503050406030204" pitchFamily="18" charset="0"/>
                      </a:rPr>
                      <m:t>𝒕</m:t>
                    </m:r>
                    <m:r>
                      <a:rPr lang="en-US" sz="2000" i="1">
                        <a:latin typeface="Cambria Math" panose="02040503050406030204" pitchFamily="18" charset="0"/>
                      </a:rPr>
                      <m:t>= </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2</m:t>
                            </m:r>
                          </m:sub>
                        </m:sSub>
                      </m:num>
                      <m:den>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1">
                                    <a:latin typeface="Cambria Math" panose="02040503050406030204" pitchFamily="18" charset="0"/>
                                  </a:rPr>
                                  <m:t>𝑠</m:t>
                                </m:r>
                              </m:e>
                              <m:sup>
                                <m:r>
                                  <a:rPr lang="en-US" sz="2000" i="1">
                                    <a:latin typeface="Cambria Math" panose="02040503050406030204" pitchFamily="18" charset="0"/>
                                  </a:rPr>
                                  <m:t>2</m:t>
                                </m:r>
                              </m:sup>
                            </m:sSup>
                            <m:d>
                              <m:dPr>
                                <m:ctrlPr>
                                  <a:rPr lang="en-US" sz="2000" i="1">
                                    <a:latin typeface="Cambria Math" panose="02040503050406030204" pitchFamily="18" charset="0"/>
                                  </a:rPr>
                                </m:ctrlPr>
                              </m:dPr>
                              <m:e>
                                <m:f>
                                  <m:fPr>
                                    <m:type m:val="skw"/>
                                    <m:ctrlPr>
                                      <a:rPr lang="en-US" sz="2000" i="1">
                                        <a:latin typeface="Cambria Math" panose="02040503050406030204" pitchFamily="18" charset="0"/>
                                      </a:rPr>
                                    </m:ctrlPr>
                                  </m:fPr>
                                  <m:num>
                                    <m:r>
                                      <a:rPr lang="en-US" sz="2000" i="1">
                                        <a:latin typeface="Cambria Math" panose="02040503050406030204" pitchFamily="18" charset="0"/>
                                      </a:rPr>
                                      <m:t>1</m:t>
                                    </m:r>
                                  </m:num>
                                  <m:den>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den>
                                </m:f>
                                <m:r>
                                  <a:rPr lang="en-US" sz="2000" i="1">
                                    <a:latin typeface="Cambria Math" panose="02040503050406030204" pitchFamily="18" charset="0"/>
                                  </a:rPr>
                                  <m:t>+</m:t>
                                </m:r>
                                <m:f>
                                  <m:fPr>
                                    <m:type m:val="skw"/>
                                    <m:ctrlPr>
                                      <a:rPr lang="en-US" sz="2000" i="1">
                                        <a:latin typeface="Cambria Math" panose="02040503050406030204" pitchFamily="18" charset="0"/>
                                      </a:rPr>
                                    </m:ctrlPr>
                                  </m:fPr>
                                  <m:num>
                                    <m:r>
                                      <a:rPr lang="en-US" sz="2000" i="1">
                                        <a:latin typeface="Cambria Math" panose="02040503050406030204" pitchFamily="18" charset="0"/>
                                      </a:rPr>
                                      <m:t>1</m:t>
                                    </m:r>
                                  </m:num>
                                  <m:den>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m:t>
                                        </m:r>
                                      </m:sub>
                                    </m:sSub>
                                  </m:den>
                                </m:f>
                              </m:e>
                            </m:d>
                          </m:e>
                        </m:rad>
                      </m:den>
                    </m:f>
                  </m:oMath>
                </a14:m>
                <a:r>
                  <a:rPr lang="en-US" sz="2000" dirty="0"/>
                  <a:t> </a:t>
                </a:r>
              </a:p>
              <a:p>
                <a:pPr lvl="1" algn="just">
                  <a:buFont typeface="Wingdings" panose="05000000000000000000" pitchFamily="2" charset="2"/>
                  <a:buChar char="Ø"/>
                </a:pPr>
                <a:r>
                  <a:rPr lang="en-GB" sz="2000" dirty="0">
                    <a:solidFill>
                      <a:schemeClr val="tx1"/>
                    </a:solidFill>
                    <a:latin typeface="NewBaskerville-Roman"/>
                  </a:rPr>
                  <a:t>In this formula, </a:t>
                </a:r>
                <a:r>
                  <a:rPr lang="en-GB" sz="2000" b="1" dirty="0">
                    <a:solidFill>
                      <a:schemeClr val="tx1"/>
                    </a:solidFill>
                    <a:latin typeface="NewBaskerville-Roman"/>
                  </a:rPr>
                  <a:t>t</a:t>
                </a:r>
                <a:r>
                  <a:rPr lang="en-GB" sz="2000" dirty="0">
                    <a:solidFill>
                      <a:schemeClr val="tx1"/>
                    </a:solidFill>
                    <a:latin typeface="NewBaskerville-Roman"/>
                  </a:rPr>
                  <a:t> is the </a:t>
                </a:r>
                <a:r>
                  <a:rPr lang="en-GB" sz="2000" b="1" dirty="0">
                    <a:solidFill>
                      <a:schemeClr val="tx1"/>
                    </a:solidFill>
                    <a:latin typeface="NewBaskerville-Roman"/>
                  </a:rPr>
                  <a:t>t value</a:t>
                </a:r>
                <a:r>
                  <a:rPr lang="en-GB" sz="2000" dirty="0">
                    <a:solidFill>
                      <a:schemeClr val="tx1"/>
                    </a:solidFill>
                    <a:latin typeface="NewBaskerville-Roman"/>
                  </a:rPr>
                  <a:t>, x1 and x2 are the means of the two groups being compared, s2 is the pooled standard error of the two groups, and n1 and n2 are the number of observations in each of the groups.</a:t>
                </a:r>
              </a:p>
              <a:p>
                <a:pPr lvl="1" algn="just">
                  <a:buFont typeface="Wingdings" panose="05000000000000000000" pitchFamily="2" charset="2"/>
                  <a:buChar char="Ø"/>
                </a:pPr>
                <a:r>
                  <a:rPr lang="en-GB" sz="2000" dirty="0">
                    <a:solidFill>
                      <a:schemeClr val="tx1"/>
                    </a:solidFill>
                    <a:latin typeface="NewBaskerville-Roman"/>
                  </a:rPr>
                  <a:t>A </a:t>
                </a:r>
                <a:r>
                  <a:rPr lang="en-GB" sz="2000" b="1" dirty="0">
                    <a:solidFill>
                      <a:schemeClr val="tx1"/>
                    </a:solidFill>
                    <a:latin typeface="NewBaskerville-Roman"/>
                  </a:rPr>
                  <a:t>larger t value shows </a:t>
                </a:r>
                <a:r>
                  <a:rPr lang="en-GB" sz="2000" dirty="0">
                    <a:solidFill>
                      <a:schemeClr val="tx1"/>
                    </a:solidFill>
                    <a:latin typeface="NewBaskerville-Roman"/>
                  </a:rPr>
                  <a:t>that the </a:t>
                </a:r>
                <a:r>
                  <a:rPr lang="en-GB" sz="2000" b="1" dirty="0">
                    <a:solidFill>
                      <a:schemeClr val="tx1"/>
                    </a:solidFill>
                    <a:latin typeface="NewBaskerville-Roman"/>
                  </a:rPr>
                  <a:t>difference</a:t>
                </a:r>
                <a:r>
                  <a:rPr lang="en-GB" sz="2000" dirty="0">
                    <a:solidFill>
                      <a:schemeClr val="tx1"/>
                    </a:solidFill>
                    <a:latin typeface="NewBaskerville-Roman"/>
                  </a:rPr>
                  <a:t> between group means is </a:t>
                </a:r>
                <a:r>
                  <a:rPr lang="en-GB" sz="2000" b="1" dirty="0">
                    <a:solidFill>
                      <a:schemeClr val="tx1"/>
                    </a:solidFill>
                    <a:latin typeface="NewBaskerville-Roman"/>
                  </a:rPr>
                  <a:t>greate</a:t>
                </a:r>
                <a:r>
                  <a:rPr lang="en-GB" sz="2000" dirty="0">
                    <a:solidFill>
                      <a:schemeClr val="tx1"/>
                    </a:solidFill>
                    <a:latin typeface="NewBaskerville-Roman"/>
                  </a:rPr>
                  <a:t>r than the pooled standard error, indicating a more </a:t>
                </a:r>
                <a:r>
                  <a:rPr lang="en-GB" sz="2000" b="1" dirty="0">
                    <a:solidFill>
                      <a:schemeClr val="tx1"/>
                    </a:solidFill>
                    <a:latin typeface="NewBaskerville-Roman"/>
                  </a:rPr>
                  <a:t>significant difference </a:t>
                </a:r>
                <a:r>
                  <a:rPr lang="en-GB" sz="2000" dirty="0">
                    <a:solidFill>
                      <a:schemeClr val="tx1"/>
                    </a:solidFill>
                    <a:latin typeface="NewBaskerville-Roman"/>
                  </a:rPr>
                  <a:t>between the groups.</a:t>
                </a:r>
                <a:endParaRPr lang="en-US" sz="2000" dirty="0">
                  <a:solidFill>
                    <a:schemeClr val="tx1"/>
                  </a:solidFill>
                  <a:latin typeface="NewBaskerville-Roman"/>
                </a:endParaRPr>
              </a:p>
              <a:p>
                <a:pPr algn="just">
                  <a:buFont typeface="Wingdings" panose="05000000000000000000" pitchFamily="2" charset="2"/>
                  <a:buChar char="Ø"/>
                </a:pPr>
                <a:r>
                  <a:rPr lang="en-US" sz="2200" dirty="0">
                    <a:solidFill>
                      <a:schemeClr val="tx1"/>
                    </a:solidFill>
                    <a:latin typeface="NewBaskerville-Roman"/>
                  </a:rPr>
                  <a:t>If the observed t-statistic is more </a:t>
                </a:r>
                <a:r>
                  <a:rPr lang="en-US" sz="2200" b="1" dirty="0">
                    <a:solidFill>
                      <a:schemeClr val="tx1"/>
                    </a:solidFill>
                    <a:latin typeface="NewBaskerville-Roman"/>
                  </a:rPr>
                  <a:t>extreme</a:t>
                </a:r>
                <a:r>
                  <a:rPr lang="en-US" sz="2200" dirty="0">
                    <a:solidFill>
                      <a:schemeClr val="tx1"/>
                    </a:solidFill>
                    <a:latin typeface="NewBaskerville-Roman"/>
                  </a:rPr>
                  <a:t> than the </a:t>
                </a:r>
                <a:r>
                  <a:rPr lang="en-US" sz="2200" b="1" dirty="0">
                    <a:solidFill>
                      <a:schemeClr val="tx1"/>
                    </a:solidFill>
                    <a:latin typeface="NewBaskerville-Roman"/>
                  </a:rPr>
                  <a:t>critical value </a:t>
                </a:r>
                <a:r>
                  <a:rPr lang="en-US" sz="2200" dirty="0">
                    <a:solidFill>
                      <a:schemeClr val="tx1"/>
                    </a:solidFill>
                    <a:latin typeface="NewBaskerville-Roman"/>
                  </a:rPr>
                  <a:t>determined by the appropriate reference distribution, </a:t>
                </a:r>
              </a:p>
              <a:p>
                <a:pPr lvl="1" algn="just">
                  <a:buFont typeface="Wingdings" panose="05000000000000000000" pitchFamily="2" charset="2"/>
                  <a:buChar char="Ø"/>
                </a:pPr>
                <a:r>
                  <a:rPr lang="en-US" dirty="0">
                    <a:solidFill>
                      <a:srgbClr val="7030A0"/>
                    </a:solidFill>
                    <a:latin typeface="NewBaskerville-Roman"/>
                  </a:rPr>
                  <a:t>the null hypothesis is rejected.</a:t>
                </a:r>
              </a:p>
              <a:p>
                <a:pPr algn="just">
                  <a:buFont typeface="Wingdings" panose="05000000000000000000" pitchFamily="2" charset="2"/>
                  <a:buChar char="Ø"/>
                </a:pPr>
                <a:r>
                  <a:rPr lang="en-US" dirty="0">
                    <a:solidFill>
                      <a:schemeClr val="tx1"/>
                    </a:solidFill>
                    <a:latin typeface="NewBaskerville-Roman"/>
                  </a:rPr>
                  <a:t>The </a:t>
                </a:r>
                <a:r>
                  <a:rPr lang="en-US" u="sng" dirty="0">
                    <a:solidFill>
                      <a:schemeClr val="tx1"/>
                    </a:solidFill>
                    <a:latin typeface="NewBaskerville-Roman"/>
                  </a:rPr>
                  <a:t>critical value </a:t>
                </a:r>
                <a:r>
                  <a:rPr lang="en-US" dirty="0">
                    <a:solidFill>
                      <a:schemeClr val="tx1"/>
                    </a:solidFill>
                    <a:latin typeface="NewBaskerville-Roman"/>
                  </a:rPr>
                  <a:t>depends on the significance level of the test.</a:t>
                </a:r>
              </a:p>
            </p:txBody>
          </p:sp>
        </mc:Choice>
        <mc:Fallback xmlns="">
          <p:sp>
            <p:nvSpPr>
              <p:cNvPr id="3" name="Content Placeholder 2">
                <a:extLst>
                  <a:ext uri="{FF2B5EF4-FFF2-40B4-BE49-F238E27FC236}">
                    <a16:creationId xmlns:a16="http://schemas.microsoft.com/office/drawing/2014/main" id="{7B8584DC-3BE1-439B-A244-0F2BBE92DF23}"/>
                  </a:ext>
                </a:extLst>
              </p:cNvPr>
              <p:cNvSpPr>
                <a:spLocks noGrp="1" noRot="1" noChangeAspect="1" noMove="1" noResize="1" noEditPoints="1" noAdjustHandles="1" noChangeArrowheads="1" noChangeShapeType="1" noTextEdit="1"/>
              </p:cNvSpPr>
              <p:nvPr>
                <p:ph idx="1"/>
              </p:nvPr>
            </p:nvSpPr>
            <p:spPr>
              <a:xfrm>
                <a:off x="395416" y="1128585"/>
                <a:ext cx="9409487" cy="5456742"/>
              </a:xfrm>
              <a:blipFill>
                <a:blip r:embed="rId2"/>
                <a:stretch>
                  <a:fillRect l="-259" t="-1117" r="-648"/>
                </a:stretch>
              </a:blipFill>
            </p:spPr>
            <p:txBody>
              <a:bodyPr/>
              <a:lstStyle/>
              <a:p>
                <a:r>
                  <a:rPr lang="en-GB">
                    <a:noFill/>
                  </a:rPr>
                  <a:t> </a:t>
                </a:r>
              </a:p>
            </p:txBody>
          </p:sp>
        </mc:Fallback>
      </mc:AlternateContent>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39</a:t>
            </a:fld>
            <a:endParaRPr lang="en-US">
              <a:solidFill>
                <a:srgbClr val="90C226"/>
              </a:solidFill>
            </a:endParaRPr>
          </a:p>
        </p:txBody>
      </p:sp>
      <p:pic>
        <p:nvPicPr>
          <p:cNvPr id="2052" name="Picture 4" descr="How t-Tests Work: t-Values, t-Distributions, and Probabilities - Statistics  By Jim">
            <a:extLst>
              <a:ext uri="{FF2B5EF4-FFF2-40B4-BE49-F238E27FC236}">
                <a16:creationId xmlns:a16="http://schemas.microsoft.com/office/drawing/2014/main" id="{08369FDC-E344-5C17-A17C-2A4ABDE15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2872" y="-144857"/>
            <a:ext cx="2600609" cy="1733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40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additive="base">
                                        <p:cTn id="7" dur="500" fill="hold"/>
                                        <p:tgtEl>
                                          <p:spTgt spid="2052"/>
                                        </p:tgtEl>
                                        <p:attrNameLst>
                                          <p:attrName>ppt_x</p:attrName>
                                        </p:attrNameLst>
                                      </p:cBhvr>
                                      <p:tavLst>
                                        <p:tav tm="0">
                                          <p:val>
                                            <p:strVal val="#ppt_x"/>
                                          </p:val>
                                        </p:tav>
                                        <p:tav tm="100000">
                                          <p:val>
                                            <p:strVal val="#ppt_x"/>
                                          </p:val>
                                        </p:tav>
                                      </p:tavLst>
                                    </p:anim>
                                    <p:anim calcmode="lin" valueType="num">
                                      <p:cBhvr additive="base">
                                        <p:cTn id="8"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330475" cy="5456742"/>
          </a:xfrm>
        </p:spPr>
        <p:txBody>
          <a:bodyPr>
            <a:normAutofit/>
          </a:bodyPr>
          <a:lstStyle/>
          <a:p>
            <a:pPr algn="just">
              <a:buFont typeface="Wingdings" panose="05000000000000000000" pitchFamily="2" charset="2"/>
              <a:buChar char="Ø"/>
            </a:pPr>
            <a:r>
              <a:rPr lang="en-GB" sz="2200" dirty="0">
                <a:solidFill>
                  <a:schemeClr val="tx1"/>
                </a:solidFill>
                <a:latin typeface="NewBaskerville-Roman"/>
              </a:rPr>
              <a:t>The t test is a *</a:t>
            </a:r>
            <a:r>
              <a:rPr lang="en-GB" sz="2200" b="1" dirty="0">
                <a:solidFill>
                  <a:schemeClr val="tx1"/>
                </a:solidFill>
                <a:latin typeface="NewBaskerville-Roman"/>
              </a:rPr>
              <a:t>parametric test </a:t>
            </a:r>
            <a:r>
              <a:rPr lang="en-GB" sz="2200" dirty="0">
                <a:solidFill>
                  <a:schemeClr val="tx1"/>
                </a:solidFill>
                <a:latin typeface="NewBaskerville-Roman"/>
              </a:rPr>
              <a:t>of difference, meaning that it makes the same assumptions about your data as other parametric tests. The t test assumes your data:</a:t>
            </a:r>
          </a:p>
          <a:p>
            <a:pPr lvl="1" algn="just">
              <a:buFont typeface="Wingdings" panose="05000000000000000000" pitchFamily="2" charset="2"/>
              <a:buChar char="Ø"/>
            </a:pPr>
            <a:r>
              <a:rPr lang="en-GB" sz="2000" dirty="0">
                <a:solidFill>
                  <a:schemeClr val="tx1"/>
                </a:solidFill>
                <a:latin typeface="NewBaskerville-Roman"/>
              </a:rPr>
              <a:t>are </a:t>
            </a:r>
            <a:r>
              <a:rPr lang="en-GB" sz="2000" b="1" dirty="0">
                <a:solidFill>
                  <a:schemeClr val="tx1"/>
                </a:solidFill>
                <a:latin typeface="NewBaskerville-Roman"/>
              </a:rPr>
              <a:t>independent</a:t>
            </a:r>
          </a:p>
          <a:p>
            <a:pPr lvl="1" algn="just">
              <a:buFont typeface="Wingdings" panose="05000000000000000000" pitchFamily="2" charset="2"/>
              <a:buChar char="Ø"/>
            </a:pPr>
            <a:r>
              <a:rPr lang="en-GB" sz="2000" dirty="0">
                <a:solidFill>
                  <a:schemeClr val="tx1"/>
                </a:solidFill>
                <a:latin typeface="NewBaskerville-Roman"/>
              </a:rPr>
              <a:t>are (approximately</a:t>
            </a:r>
            <a:r>
              <a:rPr lang="en-GB" sz="2000" b="1" dirty="0">
                <a:solidFill>
                  <a:schemeClr val="tx1"/>
                </a:solidFill>
                <a:latin typeface="NewBaskerville-Roman"/>
              </a:rPr>
              <a:t>) normally distributed</a:t>
            </a:r>
          </a:p>
          <a:p>
            <a:pPr lvl="1" algn="just">
              <a:buFont typeface="Wingdings" panose="05000000000000000000" pitchFamily="2" charset="2"/>
              <a:buChar char="Ø"/>
            </a:pPr>
            <a:r>
              <a:rPr lang="en-GB" sz="2000" dirty="0">
                <a:solidFill>
                  <a:schemeClr val="tx1"/>
                </a:solidFill>
                <a:latin typeface="NewBaskerville-Roman"/>
              </a:rPr>
              <a:t>have a </a:t>
            </a:r>
            <a:r>
              <a:rPr lang="en-GB" sz="2000" b="1" dirty="0">
                <a:solidFill>
                  <a:schemeClr val="tx1"/>
                </a:solidFill>
                <a:latin typeface="NewBaskerville-Roman"/>
              </a:rPr>
              <a:t>similar amount of variance within each group</a:t>
            </a:r>
            <a:r>
              <a:rPr lang="en-GB" sz="2000" dirty="0">
                <a:solidFill>
                  <a:schemeClr val="tx1"/>
                </a:solidFill>
                <a:latin typeface="NewBaskerville-Roman"/>
              </a:rPr>
              <a:t> being compared (a.k.a. homogeneity of variance)</a:t>
            </a:r>
          </a:p>
          <a:p>
            <a:pPr algn="just">
              <a:buFont typeface="Wingdings" panose="05000000000000000000" pitchFamily="2" charset="2"/>
              <a:buChar char="Ø"/>
            </a:pPr>
            <a:r>
              <a:rPr lang="en-GB" dirty="0">
                <a:solidFill>
                  <a:schemeClr val="tx1"/>
                </a:solidFill>
                <a:latin typeface="NewBaskerville-Roman"/>
              </a:rPr>
              <a:t>*Parametric tests are those that make assumptions about the parameters of the population distribution from which the sample is drawn</a:t>
            </a:r>
          </a:p>
          <a:p>
            <a:pPr algn="just"/>
            <a:endParaRPr lang="en-US"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40</a:t>
            </a:fld>
            <a:endParaRPr lang="en-US">
              <a:solidFill>
                <a:srgbClr val="90C226"/>
              </a:solidFill>
            </a:endParaRPr>
          </a:p>
        </p:txBody>
      </p:sp>
      <p:pic>
        <p:nvPicPr>
          <p:cNvPr id="2052" name="Picture 4" descr="How t-Tests Work: t-Values, t-Distributions, and Probabilities - Statistics  By Jim">
            <a:extLst>
              <a:ext uri="{FF2B5EF4-FFF2-40B4-BE49-F238E27FC236}">
                <a16:creationId xmlns:a16="http://schemas.microsoft.com/office/drawing/2014/main" id="{08369FDC-E344-5C17-A17C-2A4ABDE15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9230" y="4316153"/>
            <a:ext cx="3812770" cy="2541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18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additive="base">
                                        <p:cTn id="7" dur="500" fill="hold"/>
                                        <p:tgtEl>
                                          <p:spTgt spid="2052"/>
                                        </p:tgtEl>
                                        <p:attrNameLst>
                                          <p:attrName>ppt_x</p:attrName>
                                        </p:attrNameLst>
                                      </p:cBhvr>
                                      <p:tavLst>
                                        <p:tav tm="0">
                                          <p:val>
                                            <p:strVal val="#ppt_x"/>
                                          </p:val>
                                        </p:tav>
                                        <p:tav tm="100000">
                                          <p:val>
                                            <p:strVal val="#ppt_x"/>
                                          </p:val>
                                        </p:tav>
                                      </p:tavLst>
                                    </p:anim>
                                    <p:anim calcmode="lin" valueType="num">
                                      <p:cBhvr additive="base">
                                        <p:cTn id="8"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GB" dirty="0"/>
              <a:t>What type of t test should I use?</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949745"/>
            <a:ext cx="9328006" cy="5456742"/>
          </a:xfrm>
        </p:spPr>
        <p:txBody>
          <a:bodyPr>
            <a:normAutofit fontScale="77500" lnSpcReduction="20000"/>
          </a:bodyPr>
          <a:lstStyle/>
          <a:p>
            <a:pPr algn="just">
              <a:buFont typeface="Wingdings" panose="05000000000000000000" pitchFamily="2" charset="2"/>
              <a:buChar char="Ø"/>
            </a:pPr>
            <a:r>
              <a:rPr lang="en-GB" sz="2200" b="1" dirty="0">
                <a:solidFill>
                  <a:schemeClr val="tx1"/>
                </a:solidFill>
                <a:latin typeface="NewBaskerville-Roman"/>
              </a:rPr>
              <a:t>One-sample</a:t>
            </a:r>
            <a:r>
              <a:rPr lang="en-GB" sz="2200" dirty="0">
                <a:solidFill>
                  <a:schemeClr val="tx1"/>
                </a:solidFill>
                <a:latin typeface="NewBaskerville-Roman"/>
              </a:rPr>
              <a:t>, </a:t>
            </a:r>
            <a:r>
              <a:rPr lang="en-GB" sz="2200" b="1" dirty="0">
                <a:solidFill>
                  <a:schemeClr val="tx1"/>
                </a:solidFill>
                <a:latin typeface="NewBaskerville-Roman"/>
              </a:rPr>
              <a:t>two-sample</a:t>
            </a:r>
            <a:r>
              <a:rPr lang="en-GB" sz="2200" dirty="0">
                <a:solidFill>
                  <a:schemeClr val="tx1"/>
                </a:solidFill>
                <a:latin typeface="NewBaskerville-Roman"/>
              </a:rPr>
              <a:t>, or </a:t>
            </a:r>
            <a:r>
              <a:rPr lang="en-GB" sz="2200" b="1" dirty="0">
                <a:solidFill>
                  <a:schemeClr val="tx1"/>
                </a:solidFill>
                <a:latin typeface="NewBaskerville-Roman"/>
              </a:rPr>
              <a:t>paired t test</a:t>
            </a:r>
            <a:r>
              <a:rPr lang="en-GB" sz="2200" dirty="0">
                <a:solidFill>
                  <a:schemeClr val="tx1"/>
                </a:solidFill>
                <a:latin typeface="NewBaskerville-Roman"/>
              </a:rPr>
              <a:t>?</a:t>
            </a:r>
          </a:p>
          <a:p>
            <a:pPr lvl="1" algn="just">
              <a:buFont typeface="Wingdings" panose="05000000000000000000" pitchFamily="2" charset="2"/>
              <a:buChar char="Ø"/>
            </a:pPr>
            <a:r>
              <a:rPr lang="en-GB" sz="2000" dirty="0">
                <a:solidFill>
                  <a:schemeClr val="tx1"/>
                </a:solidFill>
                <a:latin typeface="NewBaskerville-Roman"/>
              </a:rPr>
              <a:t>If the groups come from a single population (e.g., measuring before and after an experimental treatment), perform a </a:t>
            </a:r>
            <a:r>
              <a:rPr lang="en-GB" sz="2000" b="1" dirty="0">
                <a:solidFill>
                  <a:schemeClr val="tx1"/>
                </a:solidFill>
                <a:latin typeface="NewBaskerville-Roman"/>
              </a:rPr>
              <a:t>paired t test</a:t>
            </a:r>
            <a:r>
              <a:rPr lang="en-GB" sz="2000" dirty="0">
                <a:solidFill>
                  <a:schemeClr val="tx1"/>
                </a:solidFill>
                <a:latin typeface="NewBaskerville-Roman"/>
              </a:rPr>
              <a:t>.</a:t>
            </a:r>
          </a:p>
          <a:p>
            <a:pPr lvl="1" algn="just">
              <a:buFont typeface="Wingdings" panose="05000000000000000000" pitchFamily="2" charset="2"/>
              <a:buChar char="Ø"/>
            </a:pPr>
            <a:endParaRPr lang="en-GB" sz="2000" dirty="0">
              <a:solidFill>
                <a:schemeClr val="tx1"/>
              </a:solidFill>
              <a:latin typeface="NewBaskerville-Roman"/>
            </a:endParaRPr>
          </a:p>
          <a:p>
            <a:pPr lvl="1" algn="just">
              <a:buFont typeface="Wingdings" panose="05000000000000000000" pitchFamily="2" charset="2"/>
              <a:buChar char="Ø"/>
            </a:pPr>
            <a:endParaRPr lang="en-GB" sz="2000" dirty="0">
              <a:solidFill>
                <a:schemeClr val="tx1"/>
              </a:solidFill>
              <a:latin typeface="NewBaskerville-Roman"/>
            </a:endParaRPr>
          </a:p>
          <a:p>
            <a:pPr lvl="1" algn="just">
              <a:buFont typeface="Wingdings" panose="05000000000000000000" pitchFamily="2" charset="2"/>
              <a:buChar char="Ø"/>
            </a:pPr>
            <a:endParaRPr lang="en-GB" sz="2000" dirty="0">
              <a:solidFill>
                <a:schemeClr val="tx1"/>
              </a:solidFill>
              <a:latin typeface="NewBaskerville-Roman"/>
            </a:endParaRPr>
          </a:p>
          <a:p>
            <a:pPr lvl="1" algn="just">
              <a:buFont typeface="Wingdings" panose="05000000000000000000" pitchFamily="2" charset="2"/>
              <a:buChar char="Ø"/>
            </a:pPr>
            <a:r>
              <a:rPr lang="en-GB" sz="2000" dirty="0">
                <a:solidFill>
                  <a:schemeClr val="tx1"/>
                </a:solidFill>
                <a:latin typeface="NewBaskerville-Roman"/>
              </a:rPr>
              <a:t>If the groups come from two different populations (e.g., two different species, or people from two separate cities), perform a </a:t>
            </a:r>
            <a:r>
              <a:rPr lang="en-GB" sz="2000" b="1" dirty="0">
                <a:solidFill>
                  <a:schemeClr val="tx1"/>
                </a:solidFill>
                <a:latin typeface="NewBaskerville-Roman"/>
              </a:rPr>
              <a:t>two-sample t test </a:t>
            </a:r>
            <a:r>
              <a:rPr lang="en-GB" sz="2000" dirty="0">
                <a:solidFill>
                  <a:schemeClr val="tx1"/>
                </a:solidFill>
                <a:latin typeface="NewBaskerville-Roman"/>
              </a:rPr>
              <a:t>(a.k.a. independent t test). This is a between-subjects design.</a:t>
            </a:r>
          </a:p>
          <a:p>
            <a:pPr lvl="1" algn="just">
              <a:buFont typeface="Wingdings" panose="05000000000000000000" pitchFamily="2" charset="2"/>
              <a:buChar char="Ø"/>
            </a:pPr>
            <a:r>
              <a:rPr lang="en-GB" sz="2000" dirty="0">
                <a:solidFill>
                  <a:schemeClr val="tx1"/>
                </a:solidFill>
                <a:latin typeface="NewBaskerville-Roman"/>
              </a:rPr>
              <a:t>If there is one group being compared against a standard value (e.g., comparing the acidity of a liquid to a neutral pH of 7), perform a </a:t>
            </a:r>
            <a:r>
              <a:rPr lang="en-GB" sz="2000" b="1" dirty="0">
                <a:solidFill>
                  <a:schemeClr val="tx1"/>
                </a:solidFill>
                <a:latin typeface="NewBaskerville-Roman"/>
              </a:rPr>
              <a:t>one-sample t test</a:t>
            </a:r>
            <a:r>
              <a:rPr lang="en-GB" sz="2000" dirty="0">
                <a:solidFill>
                  <a:schemeClr val="tx1"/>
                </a:solidFill>
                <a:latin typeface="NewBaskerville-Roman"/>
              </a:rPr>
              <a:t>.</a:t>
            </a:r>
          </a:p>
          <a:p>
            <a:pPr lvl="1" algn="just">
              <a:buFont typeface="Wingdings" panose="05000000000000000000" pitchFamily="2" charset="2"/>
              <a:buChar char="Ø"/>
            </a:pPr>
            <a:endParaRPr lang="en-GB" sz="2000" dirty="0">
              <a:solidFill>
                <a:schemeClr val="tx1"/>
              </a:solidFill>
              <a:latin typeface="NewBaskerville-Roman"/>
            </a:endParaRPr>
          </a:p>
          <a:p>
            <a:pPr lvl="1" algn="just">
              <a:buFont typeface="Wingdings" panose="05000000000000000000" pitchFamily="2" charset="2"/>
              <a:buChar char="Ø"/>
            </a:pPr>
            <a:endParaRPr lang="en-GB" sz="2000" dirty="0">
              <a:solidFill>
                <a:schemeClr val="tx1"/>
              </a:solidFill>
              <a:latin typeface="NewBaskerville-Roman"/>
            </a:endParaRPr>
          </a:p>
          <a:p>
            <a:pPr algn="just">
              <a:buFont typeface="Wingdings" panose="05000000000000000000" pitchFamily="2" charset="2"/>
              <a:buChar char="Ø"/>
            </a:pPr>
            <a:endParaRPr lang="en-GB" sz="2200" b="1" dirty="0">
              <a:solidFill>
                <a:schemeClr val="tx1"/>
              </a:solidFill>
              <a:latin typeface="NewBaskerville-Roman"/>
            </a:endParaRPr>
          </a:p>
          <a:p>
            <a:pPr algn="just">
              <a:buFont typeface="Wingdings" panose="05000000000000000000" pitchFamily="2" charset="2"/>
              <a:buChar char="Ø"/>
            </a:pPr>
            <a:r>
              <a:rPr lang="en-GB" sz="2200" b="1" dirty="0">
                <a:solidFill>
                  <a:schemeClr val="tx1"/>
                </a:solidFill>
                <a:latin typeface="NewBaskerville-Roman"/>
              </a:rPr>
              <a:t>One-tailed</a:t>
            </a:r>
            <a:r>
              <a:rPr lang="en-GB" sz="2200" dirty="0">
                <a:solidFill>
                  <a:schemeClr val="tx1"/>
                </a:solidFill>
                <a:latin typeface="NewBaskerville-Roman"/>
              </a:rPr>
              <a:t> or </a:t>
            </a:r>
            <a:r>
              <a:rPr lang="en-GB" sz="2200" b="1" dirty="0">
                <a:solidFill>
                  <a:schemeClr val="tx1"/>
                </a:solidFill>
                <a:latin typeface="NewBaskerville-Roman"/>
              </a:rPr>
              <a:t>two-tailed t</a:t>
            </a:r>
            <a:r>
              <a:rPr lang="en-GB" sz="2200" dirty="0">
                <a:solidFill>
                  <a:schemeClr val="tx1"/>
                </a:solidFill>
                <a:latin typeface="NewBaskerville-Roman"/>
              </a:rPr>
              <a:t> test?</a:t>
            </a:r>
          </a:p>
          <a:p>
            <a:pPr lvl="1" algn="just">
              <a:buFont typeface="Wingdings" panose="05000000000000000000" pitchFamily="2" charset="2"/>
              <a:buChar char="Ø"/>
            </a:pPr>
            <a:r>
              <a:rPr lang="en-GB" sz="2000" dirty="0">
                <a:solidFill>
                  <a:schemeClr val="tx1"/>
                </a:solidFill>
                <a:latin typeface="NewBaskerville-Roman"/>
              </a:rPr>
              <a:t>If you only care whether the two populations are different from one another, perform </a:t>
            </a:r>
            <a:r>
              <a:rPr lang="en-GB" sz="2000" b="1" dirty="0">
                <a:solidFill>
                  <a:schemeClr val="tx1"/>
                </a:solidFill>
                <a:latin typeface="NewBaskerville-Roman"/>
              </a:rPr>
              <a:t>a two-tailed t test</a:t>
            </a:r>
            <a:r>
              <a:rPr lang="en-GB" sz="2000" dirty="0">
                <a:solidFill>
                  <a:schemeClr val="tx1"/>
                </a:solidFill>
                <a:latin typeface="NewBaskerville-Roman"/>
              </a:rPr>
              <a:t>.</a:t>
            </a:r>
          </a:p>
          <a:p>
            <a:pPr lvl="1" algn="just">
              <a:buFont typeface="Wingdings" panose="05000000000000000000" pitchFamily="2" charset="2"/>
              <a:buChar char="Ø"/>
            </a:pPr>
            <a:r>
              <a:rPr lang="en-GB" sz="2000" dirty="0">
                <a:solidFill>
                  <a:schemeClr val="tx1"/>
                </a:solidFill>
                <a:latin typeface="NewBaskerville-Roman"/>
              </a:rPr>
              <a:t>If you want to know whether one population mean is greater than or less than the other, perform a </a:t>
            </a:r>
            <a:r>
              <a:rPr lang="en-GB" sz="2000" b="1" dirty="0">
                <a:solidFill>
                  <a:schemeClr val="tx1"/>
                </a:solidFill>
                <a:latin typeface="NewBaskerville-Roman"/>
              </a:rPr>
              <a:t>one-tailed t test</a:t>
            </a:r>
            <a:r>
              <a:rPr lang="en-GB" sz="2000" dirty="0">
                <a:solidFill>
                  <a:schemeClr val="tx1"/>
                </a:solidFill>
                <a:latin typeface="NewBaskerville-Roman"/>
              </a:rPr>
              <a:t>.</a:t>
            </a:r>
            <a:endParaRPr lang="en-US"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41</a:t>
            </a:fld>
            <a:endParaRPr lang="en-US">
              <a:solidFill>
                <a:srgbClr val="90C226"/>
              </a:solidFill>
            </a:endParaRPr>
          </a:p>
        </p:txBody>
      </p:sp>
      <p:pic>
        <p:nvPicPr>
          <p:cNvPr id="4" name="Picture 3"/>
          <p:cNvPicPr>
            <a:picLocks noChangeAspect="1"/>
          </p:cNvPicPr>
          <p:nvPr/>
        </p:nvPicPr>
        <p:blipFill>
          <a:blip r:embed="rId2"/>
          <a:stretch>
            <a:fillRect/>
          </a:stretch>
        </p:blipFill>
        <p:spPr>
          <a:xfrm>
            <a:off x="4595045" y="1849495"/>
            <a:ext cx="1188823" cy="841321"/>
          </a:xfrm>
          <a:prstGeom prst="rect">
            <a:avLst/>
          </a:prstGeom>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1B7FFE0-9898-4A93-83C5-274A4A0520DB}"/>
                  </a:ext>
                </a:extLst>
              </p:cNvPr>
              <p:cNvSpPr/>
              <p:nvPr/>
            </p:nvSpPr>
            <p:spPr>
              <a:xfrm>
                <a:off x="4557635" y="4083321"/>
                <a:ext cx="1226233" cy="782202"/>
              </a:xfrm>
              <a:prstGeom prst="rect">
                <a:avLst/>
              </a:prstGeom>
              <a:ln>
                <a:solidFill>
                  <a:schemeClr val="accent1"/>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𝑡</m:t>
                      </m:r>
                      <m:r>
                        <a:rPr lang="en-US" i="1">
                          <a:latin typeface="Cambria Math" panose="02040503050406030204" pitchFamily="18" charset="0"/>
                        </a:rPr>
                        <m:t>= </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𝜇</m:t>
                          </m:r>
                        </m:num>
                        <m:den>
                          <m:f>
                            <m:fPr>
                              <m:type m:val="skw"/>
                              <m:ctrlPr>
                                <a:rPr lang="en-US" i="1">
                                  <a:latin typeface="Cambria Math" panose="02040503050406030204" pitchFamily="18" charset="0"/>
                                </a:rPr>
                              </m:ctrlPr>
                            </m:fPr>
                            <m:num>
                              <m:r>
                                <a:rPr lang="en-US" i="1">
                                  <a:latin typeface="Cambria Math" panose="02040503050406030204" pitchFamily="18" charset="0"/>
                                </a:rPr>
                                <m:t>𝑠</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den>
                      </m:f>
                    </m:oMath>
                  </m:oMathPara>
                </a14:m>
                <a:endParaRPr lang="en-US" dirty="0"/>
              </a:p>
            </p:txBody>
          </p:sp>
        </mc:Choice>
        <mc:Fallback xmlns="">
          <p:sp>
            <p:nvSpPr>
              <p:cNvPr id="7" name="Rectangle 6">
                <a:extLst>
                  <a:ext uri="{FF2B5EF4-FFF2-40B4-BE49-F238E27FC236}">
                    <a16:creationId xmlns:a16="http://schemas.microsoft.com/office/drawing/2014/main" xmlns:a14="http://schemas.microsoft.com/office/drawing/2010/main" xmlns="" id="{61B7FFE0-9898-4A93-83C5-274A4A0520DB}"/>
                  </a:ext>
                </a:extLst>
              </p:cNvPr>
              <p:cNvSpPr>
                <a:spLocks noRot="1" noChangeAspect="1" noMove="1" noResize="1" noEditPoints="1" noAdjustHandles="1" noChangeArrowheads="1" noChangeShapeType="1" noTextEdit="1"/>
              </p:cNvSpPr>
              <p:nvPr/>
            </p:nvSpPr>
            <p:spPr>
              <a:xfrm>
                <a:off x="4557635" y="4083321"/>
                <a:ext cx="1226233" cy="782202"/>
              </a:xfrm>
              <a:prstGeom prst="rect">
                <a:avLst/>
              </a:prstGeom>
              <a:blipFill rotWithShape="0">
                <a:blip r:embed="rId3"/>
                <a:stretch>
                  <a:fillRect/>
                </a:stretch>
              </a:blipFill>
              <a:ln>
                <a:solidFill>
                  <a:schemeClr val="accent1"/>
                </a:solidFill>
              </a:ln>
            </p:spPr>
            <p:txBody>
              <a:bodyPr/>
              <a:lstStyle/>
              <a:p>
                <a:r>
                  <a:rPr lang="en-GB">
                    <a:noFill/>
                  </a:rPr>
                  <a:t> </a:t>
                </a:r>
              </a:p>
            </p:txBody>
          </p:sp>
        </mc:Fallback>
      </mc:AlternateContent>
    </p:spTree>
    <p:extLst>
      <p:ext uri="{BB962C8B-B14F-4D97-AF65-F5344CB8AC3E}">
        <p14:creationId xmlns:p14="http://schemas.microsoft.com/office/powerpoint/2010/main" val="176695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GB" dirty="0"/>
              <a:t>What type of t test should I use?</a:t>
            </a:r>
            <a:endParaRPr lang="en-US"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120582" y="1321306"/>
            <a:ext cx="11884313" cy="4300895"/>
          </a:xfrm>
          <a:prstGeom prst="rect">
            <a:avLst/>
          </a:prstGeom>
        </p:spPr>
      </p:pic>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42</a:t>
            </a:fld>
            <a:endParaRPr lang="en-US">
              <a:solidFill>
                <a:srgbClr val="90C226"/>
              </a:solidFill>
            </a:endParaRPr>
          </a:p>
        </p:txBody>
      </p:sp>
    </p:spTree>
    <p:extLst>
      <p:ext uri="{BB962C8B-B14F-4D97-AF65-F5344CB8AC3E}">
        <p14:creationId xmlns:p14="http://schemas.microsoft.com/office/powerpoint/2010/main" val="25162258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Why t test (Additional reading)</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282738" cy="5231026"/>
          </a:xfrm>
        </p:spPr>
        <p:txBody>
          <a:bodyPr>
            <a:normAutofit fontScale="92500" lnSpcReduction="10000"/>
          </a:bodyPr>
          <a:lstStyle/>
          <a:p>
            <a:pPr algn="just">
              <a:lnSpc>
                <a:spcPct val="110000"/>
              </a:lnSpc>
              <a:buFont typeface="Wingdings" panose="05000000000000000000" pitchFamily="2" charset="2"/>
              <a:buChar char="Ø"/>
            </a:pPr>
            <a:r>
              <a:rPr lang="en-GB" sz="2800" dirty="0">
                <a:solidFill>
                  <a:schemeClr val="tx1"/>
                </a:solidFill>
                <a:latin typeface="NewBaskerville-Roman"/>
              </a:rPr>
              <a:t>All significance tests </a:t>
            </a:r>
            <a:r>
              <a:rPr lang="en-GB" sz="2800" b="1" dirty="0">
                <a:solidFill>
                  <a:schemeClr val="tx1"/>
                </a:solidFill>
                <a:latin typeface="NewBaskerville-Roman"/>
              </a:rPr>
              <a:t>require that you specify </a:t>
            </a:r>
            <a:r>
              <a:rPr lang="en-GB" sz="2800" dirty="0">
                <a:solidFill>
                  <a:schemeClr val="tx1"/>
                </a:solidFill>
                <a:latin typeface="NewBaskerville-Roman"/>
              </a:rPr>
              <a:t>a </a:t>
            </a:r>
            <a:r>
              <a:rPr lang="en-GB" sz="2800" b="1" dirty="0">
                <a:solidFill>
                  <a:schemeClr val="tx1"/>
                </a:solidFill>
                <a:latin typeface="NewBaskerville-Roman"/>
              </a:rPr>
              <a:t>test statistic </a:t>
            </a:r>
            <a:r>
              <a:rPr lang="en-GB" sz="2800" dirty="0">
                <a:solidFill>
                  <a:schemeClr val="tx1"/>
                </a:solidFill>
                <a:latin typeface="NewBaskerville-Roman"/>
              </a:rPr>
              <a:t>to measure the effect you are interested in and help you determine whether that observed effect lies within the range of normal chance variation. In a resampling test (see the discussion of permutation in “Permutation Test”), the scale of the data does not matter. You create the reference (null hypothesis) distribution from the data itself and use the test statistic as is.</a:t>
            </a:r>
          </a:p>
          <a:p>
            <a:pPr algn="just">
              <a:lnSpc>
                <a:spcPct val="110000"/>
              </a:lnSpc>
              <a:buFont typeface="Wingdings" panose="05000000000000000000" pitchFamily="2" charset="2"/>
              <a:buChar char="Ø"/>
            </a:pPr>
            <a:r>
              <a:rPr lang="en-GB" sz="2800" dirty="0">
                <a:solidFill>
                  <a:schemeClr val="tx1"/>
                </a:solidFill>
                <a:latin typeface="NewBaskerville-Roman"/>
              </a:rPr>
              <a:t>In the 1920s and 1930s, when statistical hypothesis testing was being developed, it was not feasible to randomly shuffle data thousands of times to do a resampling test. Statisticians found that a </a:t>
            </a:r>
            <a:r>
              <a:rPr lang="en-GB" sz="2800" b="1" dirty="0">
                <a:solidFill>
                  <a:schemeClr val="tx1"/>
                </a:solidFill>
                <a:latin typeface="NewBaskerville-Roman"/>
              </a:rPr>
              <a:t>good approximation </a:t>
            </a:r>
            <a:r>
              <a:rPr lang="en-GB" sz="2800" dirty="0">
                <a:solidFill>
                  <a:schemeClr val="tx1"/>
                </a:solidFill>
                <a:latin typeface="NewBaskerville-Roman"/>
              </a:rPr>
              <a:t>to the permutation (shuffled) distribution was the </a:t>
            </a:r>
            <a:r>
              <a:rPr lang="en-GB" sz="2800" b="1" dirty="0">
                <a:solidFill>
                  <a:schemeClr val="tx1"/>
                </a:solidFill>
                <a:latin typeface="NewBaskerville-Roman"/>
              </a:rPr>
              <a:t>t-test</a:t>
            </a:r>
            <a:r>
              <a:rPr lang="en-GB" sz="2800" dirty="0">
                <a:solidFill>
                  <a:schemeClr val="tx1"/>
                </a:solidFill>
                <a:latin typeface="NewBaskerville-Roman"/>
              </a:rPr>
              <a:t>, based on </a:t>
            </a:r>
            <a:r>
              <a:rPr lang="en-GB" sz="2800" dirty="0" err="1">
                <a:solidFill>
                  <a:schemeClr val="tx1"/>
                </a:solidFill>
                <a:latin typeface="NewBaskerville-Roman"/>
              </a:rPr>
              <a:t>Gosset’s</a:t>
            </a:r>
            <a:r>
              <a:rPr lang="en-GB" sz="2800" dirty="0">
                <a:solidFill>
                  <a:schemeClr val="tx1"/>
                </a:solidFill>
                <a:latin typeface="NewBaskerville-Roman"/>
              </a:rPr>
              <a:t> t-distribution.</a:t>
            </a:r>
            <a:endParaRPr lang="en-US" sz="28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43</a:t>
            </a:fld>
            <a:endParaRPr lang="en-US">
              <a:solidFill>
                <a:srgbClr val="90C226"/>
              </a:solidFill>
            </a:endParaRPr>
          </a:p>
        </p:txBody>
      </p:sp>
    </p:spTree>
    <p:extLst>
      <p:ext uri="{BB962C8B-B14F-4D97-AF65-F5344CB8AC3E}">
        <p14:creationId xmlns:p14="http://schemas.microsoft.com/office/powerpoint/2010/main" val="4028344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a:t>
            </a:r>
            <a:r>
              <a:rPr lang="en-US"/>
              <a:t>(One-sample)</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7" y="966370"/>
            <a:ext cx="9139282" cy="5456742"/>
          </a:xfrm>
        </p:spPr>
        <p:txBody>
          <a:bodyPr>
            <a:normAutofit/>
          </a:bodyPr>
          <a:lstStyle/>
          <a:p>
            <a:pPr algn="just">
              <a:buFont typeface="Wingdings" panose="05000000000000000000" pitchFamily="2" charset="2"/>
              <a:buChar char="Ø"/>
            </a:pPr>
            <a:r>
              <a:rPr lang="en-US" sz="2200" dirty="0">
                <a:solidFill>
                  <a:schemeClr val="tx1"/>
                </a:solidFill>
                <a:latin typeface="NewBaskerville-Roman"/>
              </a:rPr>
              <a:t>For example, suppose a researcher wishes to test the hypothesis that a sample of size </a:t>
            </a:r>
            <a:r>
              <a:rPr lang="en-US" sz="2200" b="1" dirty="0">
                <a:solidFill>
                  <a:schemeClr val="tx1"/>
                </a:solidFill>
                <a:latin typeface="NewBaskerville-Roman"/>
              </a:rPr>
              <a:t>n = 25 </a:t>
            </a:r>
            <a:r>
              <a:rPr lang="en-US" sz="2200" dirty="0">
                <a:solidFill>
                  <a:schemeClr val="tx1"/>
                </a:solidFill>
                <a:latin typeface="NewBaskerville-Roman"/>
              </a:rPr>
              <a:t>with mean </a:t>
            </a:r>
            <a:r>
              <a:rPr lang="en-US" sz="2200" b="1" dirty="0">
                <a:solidFill>
                  <a:schemeClr val="tx1"/>
                </a:solidFill>
                <a:latin typeface="NewBaskerville-Roman"/>
              </a:rPr>
              <a:t>x = 79</a:t>
            </a:r>
            <a:r>
              <a:rPr lang="en-US" sz="2200" dirty="0">
                <a:solidFill>
                  <a:schemeClr val="tx1"/>
                </a:solidFill>
                <a:latin typeface="NewBaskerville-Roman"/>
              </a:rPr>
              <a:t> and standard deviation </a:t>
            </a:r>
            <a:r>
              <a:rPr lang="en-US" sz="2200" b="1" dirty="0">
                <a:solidFill>
                  <a:schemeClr val="tx1"/>
                </a:solidFill>
                <a:latin typeface="NewBaskerville-Roman"/>
              </a:rPr>
              <a:t>s = 10</a:t>
            </a:r>
            <a:r>
              <a:rPr lang="en-US" sz="2200" dirty="0">
                <a:solidFill>
                  <a:schemeClr val="tx1"/>
                </a:solidFill>
                <a:latin typeface="NewBaskerville-Roman"/>
              </a:rPr>
              <a:t> was drawn at random from a population with mean </a:t>
            </a:r>
            <a:r>
              <a:rPr lang="en-US" sz="2200" b="1" dirty="0">
                <a:solidFill>
                  <a:schemeClr val="tx1"/>
                </a:solidFill>
                <a:latin typeface="NewBaskerville-Roman"/>
              </a:rPr>
              <a:t>μ = 75</a:t>
            </a:r>
            <a:r>
              <a:rPr lang="en-US" sz="2200" dirty="0">
                <a:solidFill>
                  <a:schemeClr val="tx1"/>
                </a:solidFill>
                <a:latin typeface="NewBaskerville-Roman"/>
              </a:rPr>
              <a:t> and unknown standard deviation. </a:t>
            </a:r>
          </a:p>
          <a:p>
            <a:pPr algn="just">
              <a:buFont typeface="Wingdings" panose="05000000000000000000" pitchFamily="2" charset="2"/>
              <a:buChar char="Ø"/>
            </a:pPr>
            <a:r>
              <a:rPr lang="en-US" sz="2200" dirty="0">
                <a:solidFill>
                  <a:schemeClr val="tx1"/>
                </a:solidFill>
                <a:latin typeface="NewBaskerville-Roman"/>
              </a:rPr>
              <a:t>Using the formula for the t-statistic:</a:t>
            </a:r>
          </a:p>
          <a:p>
            <a:pPr algn="just">
              <a:buFont typeface="Wingdings" panose="05000000000000000000" pitchFamily="2" charset="2"/>
              <a:buChar char="Ø"/>
            </a:pPr>
            <a:endParaRPr lang="en-US" b="0" i="0" dirty="0">
              <a:solidFill>
                <a:srgbClr val="1A1A1A"/>
              </a:solidFill>
              <a:effectLst/>
              <a:latin typeface="Georgia" panose="02040502050405020303" pitchFamily="18" charset="0"/>
            </a:endParaRPr>
          </a:p>
          <a:p>
            <a:pPr algn="just">
              <a:buFont typeface="Wingdings" panose="05000000000000000000" pitchFamily="2" charset="2"/>
              <a:buChar char="Ø"/>
            </a:pPr>
            <a:r>
              <a:rPr lang="en-US" b="0" i="0" dirty="0">
                <a:solidFill>
                  <a:srgbClr val="1A1A1A"/>
                </a:solidFill>
                <a:effectLst/>
                <a:latin typeface="Georgia" panose="02040502050405020303" pitchFamily="18" charset="0"/>
              </a:rPr>
              <a:t>the calculated </a:t>
            </a:r>
            <a:r>
              <a:rPr lang="en-US" b="0" i="1" dirty="0">
                <a:solidFill>
                  <a:srgbClr val="1A1A1A"/>
                </a:solidFill>
                <a:effectLst/>
                <a:latin typeface="Georgia" panose="02040502050405020303" pitchFamily="18" charset="0"/>
              </a:rPr>
              <a:t>t</a:t>
            </a:r>
            <a:r>
              <a:rPr lang="en-US" b="0" i="0" dirty="0">
                <a:solidFill>
                  <a:srgbClr val="1A1A1A"/>
                </a:solidFill>
                <a:effectLst/>
                <a:latin typeface="Georgia" panose="02040502050405020303" pitchFamily="18" charset="0"/>
              </a:rPr>
              <a:t> equals 2.</a:t>
            </a:r>
          </a:p>
          <a:p>
            <a:pPr algn="just">
              <a:buFont typeface="Wingdings" panose="05000000000000000000" pitchFamily="2" charset="2"/>
              <a:buChar char="Ø"/>
            </a:pPr>
            <a:r>
              <a:rPr lang="en-US" b="0" i="0" dirty="0">
                <a:solidFill>
                  <a:srgbClr val="1A1A1A"/>
                </a:solidFill>
                <a:effectLst/>
                <a:latin typeface="Georgia" panose="02040502050405020303" pitchFamily="18" charset="0"/>
              </a:rPr>
              <a:t>For a two-sided test at a common level of significance α = 0.05, </a:t>
            </a:r>
          </a:p>
          <a:p>
            <a:pPr algn="just">
              <a:buFont typeface="Wingdings" panose="05000000000000000000" pitchFamily="2" charset="2"/>
              <a:buChar char="Ø"/>
            </a:pPr>
            <a:r>
              <a:rPr lang="en-US" b="0" i="0" dirty="0">
                <a:solidFill>
                  <a:srgbClr val="1A1A1A"/>
                </a:solidFill>
                <a:effectLst/>
                <a:latin typeface="Georgia" panose="02040502050405020303" pitchFamily="18" charset="0"/>
              </a:rPr>
              <a:t>the critical values from the t distribution </a:t>
            </a:r>
            <a:r>
              <a:rPr lang="en-US" dirty="0">
                <a:solidFill>
                  <a:srgbClr val="1A1A1A"/>
                </a:solidFill>
                <a:latin typeface="Georgia" panose="02040502050405020303" pitchFamily="18" charset="0"/>
              </a:rPr>
              <a:t>on (</a:t>
            </a:r>
            <a:r>
              <a:rPr lang="en-US" dirty="0" err="1">
                <a:solidFill>
                  <a:srgbClr val="1A1A1A"/>
                </a:solidFill>
                <a:latin typeface="Georgia" panose="02040502050405020303" pitchFamily="18" charset="0"/>
              </a:rPr>
              <a:t>df</a:t>
            </a:r>
            <a:r>
              <a:rPr lang="en-US" dirty="0">
                <a:solidFill>
                  <a:srgbClr val="1A1A1A"/>
                </a:solidFill>
                <a:latin typeface="Georgia" panose="02040502050405020303" pitchFamily="18" charset="0"/>
              </a:rPr>
              <a:t>=n-1=25-1) 24 </a:t>
            </a:r>
            <a:r>
              <a:rPr lang="en-US" b="0" i="0" dirty="0">
                <a:solidFill>
                  <a:srgbClr val="1A1A1A"/>
                </a:solidFill>
                <a:effectLst/>
                <a:latin typeface="Georgia" panose="02040502050405020303" pitchFamily="18" charset="0"/>
              </a:rPr>
              <a:t>degrees of freedom are −2.064 and 2.064. </a:t>
            </a:r>
          </a:p>
          <a:p>
            <a:pPr algn="just">
              <a:buFont typeface="Wingdings" panose="05000000000000000000" pitchFamily="2" charset="2"/>
              <a:buChar char="Ø"/>
            </a:pPr>
            <a:r>
              <a:rPr lang="en-US" b="0" i="0" dirty="0">
                <a:solidFill>
                  <a:srgbClr val="1A1A1A"/>
                </a:solidFill>
                <a:effectLst/>
                <a:latin typeface="Georgia" panose="02040502050405020303" pitchFamily="18" charset="0"/>
              </a:rPr>
              <a:t>The calculated t (t=2) does not exceed these values, </a:t>
            </a:r>
          </a:p>
          <a:p>
            <a:pPr algn="just">
              <a:buFont typeface="Wingdings" panose="05000000000000000000" pitchFamily="2" charset="2"/>
              <a:buChar char="Ø"/>
            </a:pPr>
            <a:r>
              <a:rPr lang="en-US" b="0" i="0" dirty="0">
                <a:solidFill>
                  <a:srgbClr val="1A1A1A"/>
                </a:solidFill>
                <a:effectLst/>
                <a:latin typeface="Georgia" panose="02040502050405020303" pitchFamily="18" charset="0"/>
              </a:rPr>
              <a:t>hence the null </a:t>
            </a:r>
            <a:r>
              <a:rPr lang="en-US" b="1" i="0" dirty="0">
                <a:solidFill>
                  <a:srgbClr val="1A1A1A"/>
                </a:solidFill>
                <a:effectLst/>
                <a:latin typeface="Georgia" panose="02040502050405020303" pitchFamily="18" charset="0"/>
              </a:rPr>
              <a:t>hypothesis cannot be rejected(fail to reject</a:t>
            </a:r>
            <a:r>
              <a:rPr lang="en-US" b="0" i="0" dirty="0">
                <a:solidFill>
                  <a:srgbClr val="1A1A1A"/>
                </a:solidFill>
                <a:effectLst/>
                <a:latin typeface="Georgia" panose="02040502050405020303" pitchFamily="18" charset="0"/>
              </a:rPr>
              <a:t>) with 95 percent confidence. (The </a:t>
            </a:r>
            <a:r>
              <a:rPr lang="en-US" b="1" i="0" dirty="0">
                <a:solidFill>
                  <a:srgbClr val="1A1A1A"/>
                </a:solidFill>
                <a:effectLst/>
                <a:latin typeface="Georgia" panose="02040502050405020303" pitchFamily="18" charset="0"/>
              </a:rPr>
              <a:t>confidence</a:t>
            </a:r>
            <a:r>
              <a:rPr lang="en-US" b="0" i="0" dirty="0">
                <a:solidFill>
                  <a:srgbClr val="1A1A1A"/>
                </a:solidFill>
                <a:effectLst/>
                <a:latin typeface="Georgia" panose="02040502050405020303" pitchFamily="18" charset="0"/>
              </a:rPr>
              <a:t> </a:t>
            </a:r>
            <a:r>
              <a:rPr lang="en-US" b="1" i="0" dirty="0">
                <a:solidFill>
                  <a:srgbClr val="1A1A1A"/>
                </a:solidFill>
                <a:effectLst/>
                <a:latin typeface="Georgia" panose="02040502050405020303" pitchFamily="18" charset="0"/>
              </a:rPr>
              <a:t>level</a:t>
            </a:r>
            <a:r>
              <a:rPr lang="en-US" b="0" i="0" dirty="0">
                <a:solidFill>
                  <a:srgbClr val="1A1A1A"/>
                </a:solidFill>
                <a:effectLst/>
                <a:latin typeface="Georgia" panose="02040502050405020303" pitchFamily="18" charset="0"/>
              </a:rPr>
              <a:t> is 1 − α = 1-0.05 = 0.95 = 95%.)</a:t>
            </a:r>
          </a:p>
          <a:p>
            <a:pPr algn="just"/>
            <a:endParaRPr lang="en-US" sz="2200" dirty="0">
              <a:solidFill>
                <a:schemeClr val="tx1"/>
              </a:solidFill>
              <a:latin typeface="NewBaskerville-Roman"/>
            </a:endParaRPr>
          </a:p>
          <a:p>
            <a:pPr algn="just"/>
            <a:endParaRPr lang="en-US" sz="22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44</a:t>
            </a:fld>
            <a:endParaRPr lang="en-US">
              <a:solidFill>
                <a:srgbClr val="90C226"/>
              </a:solidFill>
            </a:endParaRPr>
          </a:p>
        </p:txBody>
      </p:sp>
      <p:pic>
        <p:nvPicPr>
          <p:cNvPr id="6" name="Picture 5">
            <a:extLst>
              <a:ext uri="{FF2B5EF4-FFF2-40B4-BE49-F238E27FC236}">
                <a16:creationId xmlns:a16="http://schemas.microsoft.com/office/drawing/2014/main" id="{61D078EC-E223-9652-CD61-D3F5D34BF7D4}"/>
              </a:ext>
            </a:extLst>
          </p:cNvPr>
          <p:cNvPicPr>
            <a:picLocks noChangeAspect="1"/>
          </p:cNvPicPr>
          <p:nvPr/>
        </p:nvPicPr>
        <p:blipFill>
          <a:blip r:embed="rId2"/>
          <a:stretch>
            <a:fillRect/>
          </a:stretch>
        </p:blipFill>
        <p:spPr>
          <a:xfrm>
            <a:off x="6830801" y="2141266"/>
            <a:ext cx="2507263" cy="1477089"/>
          </a:xfrm>
          <a:prstGeom prst="rect">
            <a:avLst/>
          </a:prstGeom>
          <a:ln>
            <a:solidFill>
              <a:schemeClr val="tx1"/>
            </a:solidFill>
          </a:ln>
        </p:spPr>
      </p:pic>
    </p:spTree>
    <p:extLst>
      <p:ext uri="{BB962C8B-B14F-4D97-AF65-F5344CB8AC3E}">
        <p14:creationId xmlns:p14="http://schemas.microsoft.com/office/powerpoint/2010/main" val="12959512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a:t>
            </a:r>
            <a:endParaRPr lang="en-US" dirty="0">
              <a:solidFill>
                <a:srgbClr val="FF0000"/>
              </a:solidFill>
            </a:endParaRPr>
          </a:p>
        </p:txBody>
      </p:sp>
      <p:pic>
        <p:nvPicPr>
          <p:cNvPr id="6" name="Content Placeholder 5"/>
          <p:cNvPicPr>
            <a:picLocks noGrp="1" noChangeAspect="1"/>
          </p:cNvPicPr>
          <p:nvPr>
            <p:ph idx="1"/>
          </p:nvPr>
        </p:nvPicPr>
        <p:blipFill>
          <a:blip r:embed="rId2"/>
          <a:stretch>
            <a:fillRect/>
          </a:stretch>
        </p:blipFill>
        <p:spPr>
          <a:xfrm>
            <a:off x="6326201" y="939830"/>
            <a:ext cx="5865799" cy="5918170"/>
          </a:xfrm>
          <a:prstGeom prst="rect">
            <a:avLst/>
          </a:prstGeom>
        </p:spPr>
      </p:pic>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45</a:t>
            </a:fld>
            <a:endParaRPr lang="en-US">
              <a:solidFill>
                <a:srgbClr val="90C226"/>
              </a:solidFill>
            </a:endParaRPr>
          </a:p>
        </p:txBody>
      </p:sp>
      <p:pic>
        <p:nvPicPr>
          <p:cNvPr id="2050" name="Picture 2" descr="Solved A t-test revealed a test statistic of 2.73 with df = | Chegg.com">
            <a:extLst>
              <a:ext uri="{FF2B5EF4-FFF2-40B4-BE49-F238E27FC236}">
                <a16:creationId xmlns:a16="http://schemas.microsoft.com/office/drawing/2014/main" id="{773DB12D-620E-8817-CCAF-8A77DC69A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255" y="954094"/>
            <a:ext cx="5711107" cy="6039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6785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 (One-tailed vs. two-tailed tests)</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480104" cy="5456742"/>
          </a:xfrm>
        </p:spPr>
        <p:txBody>
          <a:bodyPr>
            <a:normAutofit fontScale="92500" lnSpcReduction="10000"/>
          </a:bodyPr>
          <a:lstStyle/>
          <a:p>
            <a:pPr algn="just">
              <a:buFont typeface="Wingdings" panose="05000000000000000000" pitchFamily="2" charset="2"/>
              <a:buChar char="Ø"/>
            </a:pPr>
            <a:r>
              <a:rPr lang="en-US" sz="2200" dirty="0">
                <a:solidFill>
                  <a:schemeClr val="tx1"/>
                </a:solidFill>
                <a:latin typeface="NewBaskerville-Roman"/>
              </a:rPr>
              <a:t>When you define the hypothesis, you also define whether you have a one-tailed or a two-tailed test. You should make this decision before collecting your data or doing any calculations</a:t>
            </a:r>
          </a:p>
          <a:p>
            <a:pPr algn="just">
              <a:buFont typeface="Wingdings" panose="05000000000000000000" pitchFamily="2" charset="2"/>
              <a:buChar char="Ø"/>
            </a:pPr>
            <a:r>
              <a:rPr lang="en-US" sz="2200" dirty="0">
                <a:solidFill>
                  <a:schemeClr val="tx1"/>
                </a:solidFill>
                <a:latin typeface="NewBaskerville-Roman"/>
              </a:rPr>
              <a:t>To explain, let’s use the one-sample t-test. Suppose we have a random sample of protein bars, and the label for the bars advertises 20 grams of protein per bar. The null hypothesis is that the unknown population mean is 20. Suppose we simply want to know if the data shows we have a different population mean. In this situation, our hypotheses are:</a:t>
            </a:r>
          </a:p>
          <a:p>
            <a:pPr algn="just">
              <a:buFont typeface="Wingdings" panose="05000000000000000000" pitchFamily="2" charset="2"/>
              <a:buChar char="Ø"/>
            </a:pPr>
            <a:r>
              <a:rPr lang="en-US" sz="2200" dirty="0">
                <a:solidFill>
                  <a:srgbClr val="7030A0"/>
                </a:solidFill>
                <a:latin typeface="NewBaskerville-Roman"/>
              </a:rPr>
              <a:t>Here, we have a </a:t>
            </a:r>
            <a:r>
              <a:rPr lang="en-US" sz="2200" b="1" dirty="0">
                <a:solidFill>
                  <a:srgbClr val="7030A0"/>
                </a:solidFill>
                <a:latin typeface="NewBaskerville-Roman"/>
              </a:rPr>
              <a:t>two-tailed test</a:t>
            </a:r>
            <a:r>
              <a:rPr lang="en-US" sz="2200" dirty="0">
                <a:solidFill>
                  <a:srgbClr val="7030A0"/>
                </a:solidFill>
                <a:latin typeface="NewBaskerville-Roman"/>
              </a:rPr>
              <a:t>. We will use the data to see if the sample average differs sufficiently from 20 – either higher or lower – to conclude that the unknown population mean is different from 20.</a:t>
            </a:r>
          </a:p>
          <a:p>
            <a:pPr algn="just">
              <a:buFont typeface="Wingdings" panose="05000000000000000000" pitchFamily="2" charset="2"/>
              <a:buChar char="Ø"/>
            </a:pPr>
            <a:r>
              <a:rPr lang="en-US" b="0" i="0" dirty="0">
                <a:solidFill>
                  <a:srgbClr val="333333"/>
                </a:solidFill>
                <a:effectLst/>
                <a:latin typeface="Domine"/>
              </a:rPr>
              <a:t>Suppose instead that we want to know whether the advertising on the label is correct. Does the data support the idea that the unknown population mean is at least 20? Or not? In this situation, our hypotheses are:</a:t>
            </a:r>
            <a:endParaRPr lang="en-US" sz="2200" dirty="0">
              <a:solidFill>
                <a:schemeClr val="tx1"/>
              </a:solidFill>
              <a:latin typeface="NewBaskerville-Roman"/>
            </a:endParaRPr>
          </a:p>
          <a:p>
            <a:pPr algn="just">
              <a:buFont typeface="Wingdings" panose="05000000000000000000" pitchFamily="2" charset="2"/>
              <a:buChar char="Ø"/>
            </a:pPr>
            <a:r>
              <a:rPr lang="en-US" sz="2200" dirty="0">
                <a:solidFill>
                  <a:srgbClr val="7030A0"/>
                </a:solidFill>
                <a:latin typeface="NewBaskerville-Roman"/>
              </a:rPr>
              <a:t>Here, we have a </a:t>
            </a:r>
            <a:r>
              <a:rPr lang="en-US" sz="2200" b="1" dirty="0">
                <a:solidFill>
                  <a:srgbClr val="7030A0"/>
                </a:solidFill>
                <a:latin typeface="NewBaskerville-Roman"/>
              </a:rPr>
              <a:t>one-tailed test</a:t>
            </a:r>
            <a:r>
              <a:rPr lang="en-US" sz="2200" dirty="0">
                <a:solidFill>
                  <a:srgbClr val="7030A0"/>
                </a:solidFill>
                <a:latin typeface="NewBaskerville-Roman"/>
              </a:rPr>
              <a:t>. We will use the data to see if the sample average is sufficiently less than 20 to reject the hypothesis that the unknown population mean is 20 or higher.</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46</a:t>
            </a:fld>
            <a:endParaRPr lang="en-US">
              <a:solidFill>
                <a:srgbClr val="90C226"/>
              </a:solidFill>
            </a:endParaRPr>
          </a:p>
        </p:txBody>
      </p:sp>
      <p:pic>
        <p:nvPicPr>
          <p:cNvPr id="6" name="Picture 5">
            <a:extLst>
              <a:ext uri="{FF2B5EF4-FFF2-40B4-BE49-F238E27FC236}">
                <a16:creationId xmlns:a16="http://schemas.microsoft.com/office/drawing/2014/main" id="{5D9E166D-AA9D-DE83-0B04-EAB4C97C2D9C}"/>
              </a:ext>
            </a:extLst>
          </p:cNvPr>
          <p:cNvPicPr>
            <a:picLocks noChangeAspect="1"/>
          </p:cNvPicPr>
          <p:nvPr/>
        </p:nvPicPr>
        <p:blipFill>
          <a:blip r:embed="rId2"/>
          <a:stretch>
            <a:fillRect/>
          </a:stretch>
        </p:blipFill>
        <p:spPr>
          <a:xfrm>
            <a:off x="10264346" y="2860306"/>
            <a:ext cx="1333500" cy="942975"/>
          </a:xfrm>
          <a:prstGeom prst="rect">
            <a:avLst/>
          </a:prstGeom>
          <a:ln>
            <a:solidFill>
              <a:schemeClr val="tx1"/>
            </a:solidFill>
          </a:ln>
        </p:spPr>
      </p:pic>
      <p:pic>
        <p:nvPicPr>
          <p:cNvPr id="8" name="Picture 7">
            <a:extLst>
              <a:ext uri="{FF2B5EF4-FFF2-40B4-BE49-F238E27FC236}">
                <a16:creationId xmlns:a16="http://schemas.microsoft.com/office/drawing/2014/main" id="{7DBC527E-B57F-DBAA-63A2-B85509F599AB}"/>
              </a:ext>
            </a:extLst>
          </p:cNvPr>
          <p:cNvPicPr>
            <a:picLocks noChangeAspect="1"/>
          </p:cNvPicPr>
          <p:nvPr/>
        </p:nvPicPr>
        <p:blipFill>
          <a:blip r:embed="rId3"/>
          <a:stretch>
            <a:fillRect/>
          </a:stretch>
        </p:blipFill>
        <p:spPr>
          <a:xfrm>
            <a:off x="10340422" y="4969615"/>
            <a:ext cx="1390650" cy="990600"/>
          </a:xfrm>
          <a:prstGeom prst="rect">
            <a:avLst/>
          </a:prstGeom>
          <a:ln>
            <a:solidFill>
              <a:schemeClr val="tx1"/>
            </a:solidFill>
          </a:ln>
        </p:spPr>
      </p:pic>
    </p:spTree>
    <p:extLst>
      <p:ext uri="{BB962C8B-B14F-4D97-AF65-F5344CB8AC3E}">
        <p14:creationId xmlns:p14="http://schemas.microsoft.com/office/powerpoint/2010/main" val="38681413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 (One-tailed vs. two-tailed tests)</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868930" cy="5456742"/>
          </a:xfrm>
        </p:spPr>
        <p:txBody>
          <a:bodyPr>
            <a:normAutofit/>
          </a:bodyPr>
          <a:lstStyle/>
          <a:p>
            <a:pPr algn="just">
              <a:buFont typeface="Wingdings" panose="05000000000000000000" pitchFamily="2" charset="2"/>
              <a:buChar char="Ø"/>
            </a:pPr>
            <a:endParaRPr lang="en-US" sz="2200" dirty="0">
              <a:solidFill>
                <a:srgbClr val="7030A0"/>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47</a:t>
            </a:fld>
            <a:endParaRPr lang="en-US">
              <a:solidFill>
                <a:srgbClr val="90C226"/>
              </a:solidFill>
            </a:endParaRPr>
          </a:p>
        </p:txBody>
      </p:sp>
      <mc:AlternateContent xmlns:mc="http://schemas.openxmlformats.org/markup-compatibility/2006" xmlns:a14="http://schemas.microsoft.com/office/drawing/2010/main">
        <mc:Choice Requires="a14">
          <p:sp>
            <p:nvSpPr>
              <p:cNvPr id="7" name="Content Placeholder 5">
                <a:extLst>
                  <a:ext uri="{FF2B5EF4-FFF2-40B4-BE49-F238E27FC236}">
                    <a16:creationId xmlns:a16="http://schemas.microsoft.com/office/drawing/2014/main" id="{8A914D2B-5CF5-4D81-8373-F7734C54AB5A}"/>
                  </a:ext>
                </a:extLst>
              </p:cNvPr>
              <p:cNvSpPr txBox="1">
                <a:spLocks/>
              </p:cNvSpPr>
              <p:nvPr/>
            </p:nvSpPr>
            <p:spPr>
              <a:xfrm>
                <a:off x="1097279" y="1845734"/>
                <a:ext cx="4937760" cy="402336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spcBef>
                    <a:spcPts val="600"/>
                  </a:spcBef>
                  <a:buFont typeface="Wingdings" panose="05000000000000000000" pitchFamily="2" charset="2"/>
                  <a:buChar char="§"/>
                </a:pPr>
                <a:r>
                  <a:rPr lang="en-US" sz="2400" dirty="0"/>
                  <a:t> Chocolate example</a:t>
                </a:r>
              </a:p>
              <a:p>
                <a:pPr algn="just">
                  <a:spcBef>
                    <a:spcPts val="600"/>
                  </a:spcBef>
                  <a:buFont typeface="Wingdings" panose="05000000000000000000" pitchFamily="2" charset="2"/>
                  <a:buChar char="§"/>
                </a:pPr>
                <a:r>
                  <a:rPr lang="en-US" sz="2200" dirty="0">
                    <a:solidFill>
                      <a:schemeClr val="tx1"/>
                    </a:solidFill>
                    <a:latin typeface="NewBaskerville-Roman"/>
                  </a:rPr>
                  <a:t> Level of confidence C</a:t>
                </a:r>
                <a14:m>
                  <m:oMath xmlns:m="http://schemas.openxmlformats.org/officeDocument/2006/math">
                    <m:r>
                      <a:rPr lang="en-US" sz="2200" i="1" smtClean="0">
                        <a:solidFill>
                          <a:schemeClr val="tx1"/>
                        </a:solidFill>
                        <a:latin typeface="Cambria Math" panose="02040503050406030204" pitchFamily="18" charset="0"/>
                      </a:rPr>
                      <m:t>𝐶</m:t>
                    </m:r>
                    <m:r>
                      <a:rPr lang="en-US" sz="2200" i="1" smtClean="0">
                        <a:solidFill>
                          <a:schemeClr val="tx1"/>
                        </a:solidFill>
                        <a:latin typeface="Cambria Math" panose="02040503050406030204" pitchFamily="18" charset="0"/>
                      </a:rPr>
                      <m:t>=95%⇒</m:t>
                    </m:r>
                    <m:r>
                      <a:rPr lang="en-US" sz="2200" i="1" smtClean="0">
                        <a:solidFill>
                          <a:schemeClr val="tx1"/>
                        </a:solidFill>
                        <a:latin typeface="Cambria Math" panose="02040503050406030204" pitchFamily="18" charset="0"/>
                        <a:ea typeface="Cambria Math" panose="02040503050406030204" pitchFamily="18" charset="0"/>
                      </a:rPr>
                      <m:t>𝛼</m:t>
                    </m:r>
                    <m:r>
                      <a:rPr lang="en-US" sz="2200" i="1" smtClean="0">
                        <a:solidFill>
                          <a:schemeClr val="tx1"/>
                        </a:solidFill>
                        <a:latin typeface="Cambria Math" panose="02040503050406030204" pitchFamily="18" charset="0"/>
                        <a:ea typeface="Cambria Math" panose="02040503050406030204" pitchFamily="18" charset="0"/>
                      </a:rPr>
                      <m:t>=0.05</m:t>
                    </m:r>
                  </m:oMath>
                </a14:m>
                <a:endParaRPr lang="en-US" sz="2200" dirty="0">
                  <a:solidFill>
                    <a:schemeClr val="tx1"/>
                  </a:solidFill>
                  <a:latin typeface="NewBaskerville-Roman"/>
                </a:endParaRPr>
              </a:p>
              <a:p>
                <a:pPr algn="just">
                  <a:spcBef>
                    <a:spcPts val="600"/>
                  </a:spcBef>
                  <a:buFont typeface="Wingdings" panose="05000000000000000000" pitchFamily="2" charset="2"/>
                  <a:buChar char="§"/>
                </a:pPr>
                <a14:m>
                  <m:oMath xmlns:m="http://schemas.openxmlformats.org/officeDocument/2006/math">
                    <m:r>
                      <a:rPr lang="en-US" sz="2400" i="1" smtClean="0">
                        <a:solidFill>
                          <a:srgbClr val="FF0000"/>
                        </a:solidFill>
                        <a:latin typeface="Cambria Math" panose="02040503050406030204" pitchFamily="18" charset="0"/>
                      </a:rPr>
                      <m:t> </m:t>
                    </m:r>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𝐻</m:t>
                        </m:r>
                      </m:e>
                      <m:sub>
                        <m:r>
                          <a:rPr lang="en-US" sz="2400" i="1">
                            <a:solidFill>
                              <a:srgbClr val="FF0000"/>
                            </a:solidFill>
                            <a:latin typeface="Cambria Math" panose="02040503050406030204" pitchFamily="18" charset="0"/>
                          </a:rPr>
                          <m:t>0</m:t>
                        </m:r>
                      </m:sub>
                    </m:sSub>
                    <m:r>
                      <a:rPr lang="en-US" sz="2400" i="1">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ea typeface="Cambria Math" panose="02040503050406030204" pitchFamily="18" charset="0"/>
                      </a:rPr>
                      <m:t>𝜇</m:t>
                    </m:r>
                    <m:r>
                      <a:rPr lang="en-US" sz="2400" i="1">
                        <a:solidFill>
                          <a:srgbClr val="FF0000"/>
                        </a:solidFill>
                        <a:latin typeface="Cambria Math" panose="02040503050406030204" pitchFamily="18" charset="0"/>
                      </a:rPr>
                      <m:t>=</m:t>
                    </m:r>
                    <m:r>
                      <a:rPr lang="en-US" sz="2400" i="1" smtClean="0">
                        <a:solidFill>
                          <a:srgbClr val="FF0000"/>
                        </a:solidFill>
                        <a:latin typeface="Cambria Math" panose="02040503050406030204" pitchFamily="18" charset="0"/>
                      </a:rPr>
                      <m:t>5 </m:t>
                    </m:r>
                    <m:r>
                      <m:rPr>
                        <m:sty m:val="p"/>
                      </m:rPr>
                      <a:rPr lang="en-US" sz="2400" smtClean="0">
                        <a:solidFill>
                          <a:srgbClr val="FF0000"/>
                        </a:solidFill>
                        <a:latin typeface="Cambria Math" panose="02040503050406030204" pitchFamily="18" charset="0"/>
                      </a:rPr>
                      <m:t>g</m:t>
                    </m:r>
                  </m:oMath>
                </a14:m>
                <a:r>
                  <a:rPr lang="en-US" sz="2400" dirty="0">
                    <a:solidFill>
                      <a:srgbClr val="FF0000"/>
                    </a:solidFill>
                  </a:rPr>
                  <a:t>,  </a:t>
                </a:r>
                <a14:m>
                  <m:oMath xmlns:m="http://schemas.openxmlformats.org/officeDocument/2006/math">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𝐻</m:t>
                        </m:r>
                      </m:e>
                      <m:sub>
                        <m:r>
                          <a:rPr lang="en-US" sz="2400" i="1" smtClean="0">
                            <a:solidFill>
                              <a:srgbClr val="FF0000"/>
                            </a:solidFill>
                            <a:latin typeface="Cambria Math" panose="02040503050406030204" pitchFamily="18" charset="0"/>
                          </a:rPr>
                          <m:t>𝑎</m:t>
                        </m:r>
                      </m:sub>
                    </m:sSub>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𝜇</m:t>
                    </m:r>
                    <m:r>
                      <a:rPr lang="en-US" sz="2400" i="1" smtClean="0">
                        <a:solidFill>
                          <a:srgbClr val="FF0000"/>
                        </a:solidFill>
                        <a:latin typeface="Cambria Math" panose="02040503050406030204" pitchFamily="18" charset="0"/>
                        <a:ea typeface="Cambria Math" panose="02040503050406030204" pitchFamily="18" charset="0"/>
                      </a:rPr>
                      <m:t>≠</m:t>
                    </m:r>
                    <m:r>
                      <a:rPr lang="en-US" sz="2400" i="1" smtClean="0">
                        <a:solidFill>
                          <a:srgbClr val="FF0000"/>
                        </a:solidFill>
                        <a:latin typeface="Cambria Math" panose="02040503050406030204" pitchFamily="18" charset="0"/>
                      </a:rPr>
                      <m:t>5 </m:t>
                    </m:r>
                    <m:r>
                      <m:rPr>
                        <m:sty m:val="p"/>
                      </m:rPr>
                      <a:rPr lang="en-US" sz="2400" smtClean="0">
                        <a:solidFill>
                          <a:srgbClr val="FF0000"/>
                        </a:solidFill>
                        <a:latin typeface="Cambria Math" panose="02040503050406030204" pitchFamily="18" charset="0"/>
                      </a:rPr>
                      <m:t>g</m:t>
                    </m:r>
                  </m:oMath>
                </a14:m>
                <a:endParaRPr lang="en-US" sz="2400" dirty="0">
                  <a:solidFill>
                    <a:srgbClr val="FF0000"/>
                  </a:solidFill>
                </a:endParaRPr>
              </a:p>
              <a:p>
                <a:pPr algn="just">
                  <a:spcBef>
                    <a:spcPts val="600"/>
                  </a:spcBef>
                  <a:buFont typeface="Wingdings" panose="05000000000000000000" pitchFamily="2" charset="2"/>
                  <a:buChar char="§"/>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𝑐𝑎𝑙</m:t>
                        </m:r>
                      </m:sub>
                    </m:sSub>
                    <m:r>
                      <a:rPr lang="en-US" sz="2400" i="1">
                        <a:latin typeface="Cambria Math" panose="02040503050406030204" pitchFamily="18" charset="0"/>
                      </a:rPr>
                      <m:t>= </m:t>
                    </m:r>
                    <m:f>
                      <m:fPr>
                        <m:ctrlPr>
                          <a:rPr lang="en-US" sz="2400" i="1">
                            <a:latin typeface="Cambria Math" panose="02040503050406030204" pitchFamily="18" charset="0"/>
                          </a:rPr>
                        </m:ctrlPr>
                      </m:fPr>
                      <m:num>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𝜇</m:t>
                        </m:r>
                      </m:num>
                      <m:den>
                        <m:f>
                          <m:fPr>
                            <m:type m:val="skw"/>
                            <m:ctrlPr>
                              <a:rPr lang="en-US" sz="2400" i="1">
                                <a:latin typeface="Cambria Math" panose="02040503050406030204" pitchFamily="18" charset="0"/>
                              </a:rPr>
                            </m:ctrlPr>
                          </m:fPr>
                          <m:num>
                            <m:r>
                              <a:rPr lang="en-US" sz="2400" i="1">
                                <a:latin typeface="Cambria Math" panose="02040503050406030204" pitchFamily="18" charset="0"/>
                              </a:rPr>
                              <m:t>𝑠</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𝑛</m:t>
                                </m:r>
                              </m:e>
                            </m:rad>
                          </m:den>
                        </m:f>
                      </m:den>
                    </m:f>
                    <m:r>
                      <a:rPr lang="en-US" sz="240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i="1" smtClean="0">
                            <a:latin typeface="Cambria Math" panose="02040503050406030204" pitchFamily="18" charset="0"/>
                          </a:rPr>
                          <m:t>1.02</m:t>
                        </m:r>
                      </m:num>
                      <m:den>
                        <m:r>
                          <a:rPr lang="en-US" sz="2400" i="1" smtClean="0">
                            <a:latin typeface="Cambria Math" panose="02040503050406030204" pitchFamily="18" charset="0"/>
                          </a:rPr>
                          <m:t>0.68</m:t>
                        </m:r>
                      </m:den>
                    </m:f>
                    <m:r>
                      <a:rPr lang="en-US" sz="2400" i="1" smtClean="0">
                        <a:latin typeface="Cambria Math" panose="02040503050406030204" pitchFamily="18" charset="0"/>
                      </a:rPr>
                      <m:t>=1.5</m:t>
                    </m:r>
                  </m:oMath>
                </a14:m>
                <a:endParaRPr lang="en-US" sz="2400" dirty="0">
                  <a:solidFill>
                    <a:srgbClr val="FF0000"/>
                  </a:solidFill>
                </a:endParaRPr>
              </a:p>
              <a:p>
                <a:pPr algn="just">
                  <a:spcBef>
                    <a:spcPts val="600"/>
                  </a:spcBef>
                  <a:buFont typeface="Wingdings" panose="05000000000000000000" pitchFamily="2" charset="2"/>
                  <a:buChar char="§"/>
                </a:pPr>
                <a:r>
                  <a:rPr lang="en-US" sz="2400" dirty="0">
                    <a:solidFill>
                      <a:srgbClr val="FF0000"/>
                    </a:solidFill>
                  </a:rPr>
                  <a:t> </a:t>
                </a:r>
                <a:r>
                  <a:rPr lang="en-US" sz="2400" dirty="0"/>
                  <a:t>Since,</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𝑐𝑎𝑙</m:t>
                        </m:r>
                      </m:sub>
                    </m:sSub>
                    <m:r>
                      <a:rPr lang="en-US" sz="2400" i="1">
                        <a:latin typeface="Cambria Math" panose="02040503050406030204" pitchFamily="18" charset="0"/>
                      </a:rPr>
                      <m:t>&lt;</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𝑐𝑟𝑖𝑡</m:t>
                        </m:r>
                      </m:sub>
                    </m:sSub>
                  </m:oMath>
                </a14:m>
                <a:r>
                  <a:rPr lang="en-US" sz="2400" dirty="0"/>
                  <a:t>, we will </a:t>
                </a:r>
                <a:r>
                  <a:rPr lang="en-US" sz="2400" b="1" i="1" dirty="0">
                    <a:solidFill>
                      <a:srgbClr val="FF0000"/>
                    </a:solidFill>
                  </a:rPr>
                  <a:t>not reject H0 </a:t>
                </a:r>
                <a:r>
                  <a:rPr lang="en-US" sz="2400" dirty="0"/>
                  <a:t>(no significant difference)</a:t>
                </a:r>
              </a:p>
              <a:p>
                <a:pPr algn="just">
                  <a:spcBef>
                    <a:spcPts val="600"/>
                  </a:spcBef>
                  <a:buFont typeface="Wingdings" panose="05000000000000000000" pitchFamily="2" charset="2"/>
                  <a:buChar char="§"/>
                </a:pPr>
                <a:endParaRPr lang="en-US" sz="2400" dirty="0">
                  <a:solidFill>
                    <a:srgbClr val="FF0000"/>
                  </a:solidFill>
                </a:endParaRPr>
              </a:p>
              <a:p>
                <a:pPr marL="0" indent="0">
                  <a:buFont typeface="Wingdings 3" charset="2"/>
                  <a:buNone/>
                </a:pPr>
                <a:endParaRPr lang="en-US" sz="2400" dirty="0"/>
              </a:p>
            </p:txBody>
          </p:sp>
        </mc:Choice>
        <mc:Fallback xmlns="">
          <p:sp>
            <p:nvSpPr>
              <p:cNvPr id="6" name="Content Placeholder 5">
                <a:extLst>
                  <a:ext uri="{FF2B5EF4-FFF2-40B4-BE49-F238E27FC236}">
                    <a16:creationId xmlns:a16="http://schemas.microsoft.com/office/drawing/2014/main" id="{8A914D2B-5CF5-4D81-8373-F7734C54AB5A}"/>
                  </a:ext>
                </a:extLst>
              </p:cNvPr>
              <p:cNvSpPr>
                <a:spLocks noGrp="1" noRot="1" noChangeAspect="1" noMove="1" noResize="1" noEditPoints="1" noAdjustHandles="1" noChangeArrowheads="1" noChangeShapeType="1" noTextEdit="1"/>
              </p:cNvSpPr>
              <p:nvPr>
                <p:ph sz="half" idx="1"/>
              </p:nvPr>
            </p:nvSpPr>
            <p:spPr>
              <a:blipFill>
                <a:blip r:embed="rId2"/>
                <a:stretch>
                  <a:fillRect l="-3457" t="-2121" r="-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Content Placeholder 3">
                <a:extLst>
                  <a:ext uri="{FF2B5EF4-FFF2-40B4-BE49-F238E27FC236}">
                    <a16:creationId xmlns:a16="http://schemas.microsoft.com/office/drawing/2014/main" id="{A73BB483-BA47-4487-9DA8-0B924392AB62}"/>
                  </a:ext>
                </a:extLst>
              </p:cNvPr>
              <p:cNvGraphicFramePr>
                <a:graphicFrameLocks/>
              </p:cNvGraphicFramePr>
              <p:nvPr>
                <p:extLst>
                  <p:ext uri="{D42A27DB-BD31-4B8C-83A1-F6EECF244321}">
                    <p14:modId xmlns:p14="http://schemas.microsoft.com/office/powerpoint/2010/main" val="4291450042"/>
                  </p:ext>
                </p:extLst>
              </p:nvPr>
            </p:nvGraphicFramePr>
            <p:xfrm>
              <a:off x="7755594" y="1756091"/>
              <a:ext cx="1866983" cy="2209800"/>
            </p:xfrm>
            <a:graphic>
              <a:graphicData uri="http://schemas.openxmlformats.org/drawingml/2006/table">
                <a:tbl>
                  <a:tblPr firstRow="1" bandRow="1">
                    <a:tableStyleId>{5C22544A-7EE6-4342-B048-85BDC9FD1C3A}</a:tableStyleId>
                  </a:tblPr>
                  <a:tblGrid>
                    <a:gridCol w="519446">
                      <a:extLst>
                        <a:ext uri="{9D8B030D-6E8A-4147-A177-3AD203B41FA5}">
                          <a16:colId xmlns:a16="http://schemas.microsoft.com/office/drawing/2014/main" val="2274910780"/>
                        </a:ext>
                      </a:extLst>
                    </a:gridCol>
                    <a:gridCol w="1347537">
                      <a:extLst>
                        <a:ext uri="{9D8B030D-6E8A-4147-A177-3AD203B41FA5}">
                          <a16:colId xmlns:a16="http://schemas.microsoft.com/office/drawing/2014/main" val="781807067"/>
                        </a:ext>
                      </a:extLst>
                    </a:gridCol>
                  </a:tblGrid>
                  <a:tr h="370840">
                    <a:tc>
                      <a:txBody>
                        <a:bodyPr/>
                        <a:lstStyle/>
                        <a:p>
                          <a:r>
                            <a:rPr lang="en-US" dirty="0"/>
                            <a:t>No</a:t>
                          </a:r>
                        </a:p>
                      </a:txBody>
                      <a:tcPr/>
                    </a:tc>
                    <a:tc>
                      <a:txBody>
                        <a:bodyPr/>
                        <a:lstStyle/>
                        <a:p>
                          <a14:m>
                            <m:oMath xmlns:m="http://schemas.openxmlformats.org/officeDocument/2006/math">
                              <m:r>
                                <a:rPr lang="en-US" b="1" i="1" smtClean="0">
                                  <a:latin typeface="Cambria Math" panose="02040503050406030204" pitchFamily="18" charset="0"/>
                                </a:rPr>
                                <m:t>𝑾</m:t>
                              </m:r>
                            </m:oMath>
                          </a14:m>
                          <a:r>
                            <a:rPr lang="en-US" dirty="0"/>
                            <a:t> (g)</a:t>
                          </a:r>
                        </a:p>
                      </a:txBody>
                      <a:tcPr/>
                    </a:tc>
                    <a:extLst>
                      <a:ext uri="{0D108BD9-81ED-4DB2-BD59-A6C34878D82A}">
                        <a16:rowId xmlns:a16="http://schemas.microsoft.com/office/drawing/2014/main" val="2137471549"/>
                      </a:ext>
                    </a:extLst>
                  </a:tr>
                  <a:tr h="370840">
                    <a:tc>
                      <a:txBody>
                        <a:bodyPr/>
                        <a:lstStyle/>
                        <a:p>
                          <a:r>
                            <a:rPr lang="en-US" dirty="0"/>
                            <a:t>1</a:t>
                          </a:r>
                        </a:p>
                      </a:txBody>
                      <a:tcPr/>
                    </a:tc>
                    <a:tc>
                      <a:txBody>
                        <a:bodyPr/>
                        <a:lstStyle/>
                        <a:p>
                          <a:r>
                            <a:rPr lang="en-US" dirty="0"/>
                            <a:t>5.12</a:t>
                          </a:r>
                        </a:p>
                      </a:txBody>
                      <a:tcPr/>
                    </a:tc>
                    <a:extLst>
                      <a:ext uri="{0D108BD9-81ED-4DB2-BD59-A6C34878D82A}">
                        <a16:rowId xmlns:a16="http://schemas.microsoft.com/office/drawing/2014/main" val="3320576371"/>
                      </a:ext>
                    </a:extLst>
                  </a:tr>
                  <a:tr h="370840">
                    <a:tc>
                      <a:txBody>
                        <a:bodyPr/>
                        <a:lstStyle/>
                        <a:p>
                          <a:r>
                            <a:rPr lang="en-US" dirty="0"/>
                            <a:t>2</a:t>
                          </a:r>
                        </a:p>
                      </a:txBody>
                      <a:tcPr/>
                    </a:tc>
                    <a:tc>
                      <a:txBody>
                        <a:bodyPr/>
                        <a:lstStyle/>
                        <a:p>
                          <a:r>
                            <a:rPr lang="en-US" dirty="0"/>
                            <a:t>5.72</a:t>
                          </a:r>
                        </a:p>
                      </a:txBody>
                      <a:tcPr/>
                    </a:tc>
                    <a:extLst>
                      <a:ext uri="{0D108BD9-81ED-4DB2-BD59-A6C34878D82A}">
                        <a16:rowId xmlns:a16="http://schemas.microsoft.com/office/drawing/2014/main" val="4285267213"/>
                      </a:ext>
                    </a:extLst>
                  </a:tr>
                  <a:tr h="185420">
                    <a:tc>
                      <a:txBody>
                        <a:bodyPr/>
                        <a:lstStyle/>
                        <a:p>
                          <a:r>
                            <a:rPr lang="en-US" dirty="0"/>
                            <a:t>3 </a:t>
                          </a:r>
                        </a:p>
                      </a:txBody>
                      <a:tcPr/>
                    </a:tc>
                    <a:tc>
                      <a:txBody>
                        <a:bodyPr/>
                        <a:lstStyle/>
                        <a:p>
                          <a:r>
                            <a:rPr lang="en-US" dirty="0"/>
                            <a:t>7.23</a:t>
                          </a:r>
                        </a:p>
                      </a:txBody>
                      <a:tcPr/>
                    </a:tc>
                    <a:extLst>
                      <a:ext uri="{0D108BD9-81ED-4DB2-BD59-A6C34878D82A}">
                        <a16:rowId xmlns:a16="http://schemas.microsoft.com/office/drawing/2014/main" val="3015797283"/>
                      </a:ext>
                    </a:extLst>
                  </a:tr>
                  <a:tr h="182880">
                    <a:tc>
                      <a:txBody>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𝑊</m:t>
                                    </m:r>
                                  </m:e>
                                </m:acc>
                              </m:oMath>
                            </m:oMathPara>
                          </a14:m>
                          <a:endParaRPr lang="en-US" dirty="0"/>
                        </a:p>
                      </a:txBody>
                      <a:tcPr/>
                    </a:tc>
                    <a:tc>
                      <a:txBody>
                        <a:bodyPr/>
                        <a:lstStyle/>
                        <a:p>
                          <a:r>
                            <a:rPr lang="en-US" dirty="0"/>
                            <a:t>6.02</a:t>
                          </a:r>
                        </a:p>
                      </a:txBody>
                      <a:tcPr/>
                    </a:tc>
                    <a:extLst>
                      <a:ext uri="{0D108BD9-81ED-4DB2-BD59-A6C34878D82A}">
                        <a16:rowId xmlns:a16="http://schemas.microsoft.com/office/drawing/2014/main" val="941696171"/>
                      </a:ext>
                    </a:extLst>
                  </a:tr>
                  <a:tr h="18288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dirty="0"/>
                        </a:p>
                      </a:txBody>
                      <a:tcPr/>
                    </a:tc>
                    <a:tc>
                      <a:txBody>
                        <a:bodyPr/>
                        <a:lstStyle/>
                        <a:p>
                          <a:r>
                            <a:rPr lang="en-US" dirty="0"/>
                            <a:t>1.18</a:t>
                          </a:r>
                        </a:p>
                      </a:txBody>
                      <a:tcPr/>
                    </a:tc>
                    <a:extLst>
                      <a:ext uri="{0D108BD9-81ED-4DB2-BD59-A6C34878D82A}">
                        <a16:rowId xmlns:a16="http://schemas.microsoft.com/office/drawing/2014/main" val="3231862598"/>
                      </a:ext>
                    </a:extLst>
                  </a:tr>
                </a:tbl>
              </a:graphicData>
            </a:graphic>
          </p:graphicFrame>
        </mc:Choice>
        <mc:Fallback xmlns="">
          <p:graphicFrame>
            <p:nvGraphicFramePr>
              <p:cNvPr id="9" name="Content Placeholder 3">
                <a:extLst>
                  <a:ext uri="{FF2B5EF4-FFF2-40B4-BE49-F238E27FC236}">
                    <a16:creationId xmlns:a16="http://schemas.microsoft.com/office/drawing/2014/main" xmlns:a14="http://schemas.microsoft.com/office/drawing/2010/main" xmlns="" id="{A73BB483-BA47-4487-9DA8-0B924392AB62}"/>
                  </a:ext>
                </a:extLst>
              </p:cNvPr>
              <p:cNvGraphicFramePr>
                <a:graphicFrameLocks/>
              </p:cNvGraphicFramePr>
              <p:nvPr>
                <p:extLst>
                  <p:ext uri="{D42A27DB-BD31-4B8C-83A1-F6EECF244321}">
                    <p14:modId xmlns:p14="http://schemas.microsoft.com/office/powerpoint/2010/main" val="4291450042"/>
                  </p:ext>
                </p:extLst>
              </p:nvPr>
            </p:nvGraphicFramePr>
            <p:xfrm>
              <a:off x="7755594" y="1756091"/>
              <a:ext cx="1866983" cy="2209800"/>
            </p:xfrm>
            <a:graphic>
              <a:graphicData uri="http://schemas.openxmlformats.org/drawingml/2006/table">
                <a:tbl>
                  <a:tblPr firstRow="1" bandRow="1">
                    <a:tableStyleId>{5C22544A-7EE6-4342-B048-85BDC9FD1C3A}</a:tableStyleId>
                  </a:tblPr>
                  <a:tblGrid>
                    <a:gridCol w="519446">
                      <a:extLst>
                        <a:ext uri="{9D8B030D-6E8A-4147-A177-3AD203B41FA5}">
                          <a16:colId xmlns:a16="http://schemas.microsoft.com/office/drawing/2014/main" xmlns:a14="http://schemas.microsoft.com/office/drawing/2010/main" xmlns="" val="2274910780"/>
                        </a:ext>
                      </a:extLst>
                    </a:gridCol>
                    <a:gridCol w="1347537">
                      <a:extLst>
                        <a:ext uri="{9D8B030D-6E8A-4147-A177-3AD203B41FA5}">
                          <a16:colId xmlns:a16="http://schemas.microsoft.com/office/drawing/2014/main" xmlns:a14="http://schemas.microsoft.com/office/drawing/2010/main" xmlns="" val="781807067"/>
                        </a:ext>
                      </a:extLst>
                    </a:gridCol>
                  </a:tblGrid>
                  <a:tr h="370840">
                    <a:tc>
                      <a:txBody>
                        <a:bodyPr/>
                        <a:lstStyle/>
                        <a:p>
                          <a:r>
                            <a:rPr lang="en-US" dirty="0"/>
                            <a:t>No</a:t>
                          </a:r>
                        </a:p>
                      </a:txBody>
                      <a:tcPr/>
                    </a:tc>
                    <a:tc>
                      <a:txBody>
                        <a:bodyPr/>
                        <a:lstStyle/>
                        <a:p>
                          <a:endParaRPr lang="en-US"/>
                        </a:p>
                      </a:txBody>
                      <a:tcPr>
                        <a:blipFill rotWithShape="0">
                          <a:blip r:embed="rId3"/>
                          <a:stretch>
                            <a:fillRect l="-38739" t="-9836" r="-1802" b="-519672"/>
                          </a:stretch>
                        </a:blipFill>
                      </a:tcPr>
                    </a:tc>
                    <a:extLst>
                      <a:ext uri="{0D108BD9-81ED-4DB2-BD59-A6C34878D82A}">
                        <a16:rowId xmlns:a16="http://schemas.microsoft.com/office/drawing/2014/main" xmlns:a14="http://schemas.microsoft.com/office/drawing/2010/main" xmlns="" val="2137471549"/>
                      </a:ext>
                    </a:extLst>
                  </a:tr>
                  <a:tr h="370840">
                    <a:tc>
                      <a:txBody>
                        <a:bodyPr/>
                        <a:lstStyle/>
                        <a:p>
                          <a:r>
                            <a:rPr lang="en-US" dirty="0"/>
                            <a:t>1</a:t>
                          </a:r>
                        </a:p>
                      </a:txBody>
                      <a:tcPr/>
                    </a:tc>
                    <a:tc>
                      <a:txBody>
                        <a:bodyPr/>
                        <a:lstStyle/>
                        <a:p>
                          <a:r>
                            <a:rPr lang="en-US" dirty="0"/>
                            <a:t>5.12</a:t>
                          </a:r>
                        </a:p>
                      </a:txBody>
                      <a:tcPr/>
                    </a:tc>
                    <a:extLst>
                      <a:ext uri="{0D108BD9-81ED-4DB2-BD59-A6C34878D82A}">
                        <a16:rowId xmlns:a16="http://schemas.microsoft.com/office/drawing/2014/main" xmlns:a14="http://schemas.microsoft.com/office/drawing/2010/main" xmlns="" val="3320576371"/>
                      </a:ext>
                    </a:extLst>
                  </a:tr>
                  <a:tr h="370840">
                    <a:tc>
                      <a:txBody>
                        <a:bodyPr/>
                        <a:lstStyle/>
                        <a:p>
                          <a:r>
                            <a:rPr lang="en-US" dirty="0"/>
                            <a:t>2</a:t>
                          </a:r>
                        </a:p>
                      </a:txBody>
                      <a:tcPr/>
                    </a:tc>
                    <a:tc>
                      <a:txBody>
                        <a:bodyPr/>
                        <a:lstStyle/>
                        <a:p>
                          <a:r>
                            <a:rPr lang="en-US" dirty="0"/>
                            <a:t>5.72</a:t>
                          </a:r>
                        </a:p>
                      </a:txBody>
                      <a:tcPr/>
                    </a:tc>
                    <a:extLst>
                      <a:ext uri="{0D108BD9-81ED-4DB2-BD59-A6C34878D82A}">
                        <a16:rowId xmlns:a16="http://schemas.microsoft.com/office/drawing/2014/main" xmlns:a14="http://schemas.microsoft.com/office/drawing/2010/main" xmlns="" val="4285267213"/>
                      </a:ext>
                    </a:extLst>
                  </a:tr>
                  <a:tr h="365760">
                    <a:tc>
                      <a:txBody>
                        <a:bodyPr/>
                        <a:lstStyle/>
                        <a:p>
                          <a:r>
                            <a:rPr lang="en-US" dirty="0"/>
                            <a:t>3 </a:t>
                          </a:r>
                        </a:p>
                      </a:txBody>
                      <a:tcPr/>
                    </a:tc>
                    <a:tc>
                      <a:txBody>
                        <a:bodyPr/>
                        <a:lstStyle/>
                        <a:p>
                          <a:r>
                            <a:rPr lang="en-US" dirty="0"/>
                            <a:t>7.23</a:t>
                          </a:r>
                        </a:p>
                      </a:txBody>
                      <a:tcPr/>
                    </a:tc>
                    <a:extLst>
                      <a:ext uri="{0D108BD9-81ED-4DB2-BD59-A6C34878D82A}">
                        <a16:rowId xmlns:a16="http://schemas.microsoft.com/office/drawing/2014/main" xmlns:a14="http://schemas.microsoft.com/office/drawing/2010/main" xmlns="" val="3015797283"/>
                      </a:ext>
                    </a:extLst>
                  </a:tr>
                  <a:tr h="365760">
                    <a:tc>
                      <a:txBody>
                        <a:bodyPr/>
                        <a:lstStyle/>
                        <a:p>
                          <a:endParaRPr lang="en-US"/>
                        </a:p>
                      </a:txBody>
                      <a:tcPr>
                        <a:blipFill rotWithShape="0">
                          <a:blip r:embed="rId3"/>
                          <a:stretch>
                            <a:fillRect l="-1176" t="-415000" r="-265882" b="-125000"/>
                          </a:stretch>
                        </a:blipFill>
                      </a:tcPr>
                    </a:tc>
                    <a:tc>
                      <a:txBody>
                        <a:bodyPr/>
                        <a:lstStyle/>
                        <a:p>
                          <a:r>
                            <a:rPr lang="en-US" dirty="0"/>
                            <a:t>6.02</a:t>
                          </a:r>
                        </a:p>
                      </a:txBody>
                      <a:tcPr/>
                    </a:tc>
                    <a:extLst>
                      <a:ext uri="{0D108BD9-81ED-4DB2-BD59-A6C34878D82A}">
                        <a16:rowId xmlns:a16="http://schemas.microsoft.com/office/drawing/2014/main" xmlns:a14="http://schemas.microsoft.com/office/drawing/2010/main" xmlns="" val="941696171"/>
                      </a:ext>
                    </a:extLst>
                  </a:tr>
                  <a:tr h="365760">
                    <a:tc>
                      <a:txBody>
                        <a:bodyPr/>
                        <a:lstStyle/>
                        <a:p>
                          <a:endParaRPr lang="en-US"/>
                        </a:p>
                      </a:txBody>
                      <a:tcPr>
                        <a:blipFill rotWithShape="0">
                          <a:blip r:embed="rId3"/>
                          <a:stretch>
                            <a:fillRect l="-1176" t="-515000" r="-265882" b="-25000"/>
                          </a:stretch>
                        </a:blipFill>
                      </a:tcPr>
                    </a:tc>
                    <a:tc>
                      <a:txBody>
                        <a:bodyPr/>
                        <a:lstStyle/>
                        <a:p>
                          <a:r>
                            <a:rPr lang="en-US" dirty="0"/>
                            <a:t>1.18</a:t>
                          </a:r>
                        </a:p>
                      </a:txBody>
                      <a:tcPr/>
                    </a:tc>
                    <a:extLst>
                      <a:ext uri="{0D108BD9-81ED-4DB2-BD59-A6C34878D82A}">
                        <a16:rowId xmlns:a16="http://schemas.microsoft.com/office/drawing/2014/main" xmlns:a14="http://schemas.microsoft.com/office/drawing/2010/main" xmlns="" val="3231862598"/>
                      </a:ext>
                    </a:extLst>
                  </a:tr>
                </a:tbl>
              </a:graphicData>
            </a:graphic>
          </p:graphicFrame>
        </mc:Fallback>
      </mc:AlternateContent>
      <p:pic>
        <p:nvPicPr>
          <p:cNvPr id="10" name="Picture 9">
            <a:extLst>
              <a:ext uri="{FF2B5EF4-FFF2-40B4-BE49-F238E27FC236}">
                <a16:creationId xmlns:a16="http://schemas.microsoft.com/office/drawing/2014/main" id="{D2BF0E69-1F88-4966-BE0E-DC25E121D793}"/>
              </a:ext>
            </a:extLst>
          </p:cNvPr>
          <p:cNvPicPr>
            <a:picLocks noChangeAspect="1"/>
          </p:cNvPicPr>
          <p:nvPr/>
        </p:nvPicPr>
        <p:blipFill>
          <a:blip r:embed="rId4"/>
          <a:stretch>
            <a:fillRect/>
          </a:stretch>
        </p:blipFill>
        <p:spPr>
          <a:xfrm>
            <a:off x="6218238" y="4164965"/>
            <a:ext cx="4941697" cy="1927721"/>
          </a:xfrm>
          <a:prstGeom prst="rect">
            <a:avLst/>
          </a:prstGeom>
        </p:spPr>
      </p:pic>
    </p:spTree>
    <p:extLst>
      <p:ext uri="{BB962C8B-B14F-4D97-AF65-F5344CB8AC3E}">
        <p14:creationId xmlns:p14="http://schemas.microsoft.com/office/powerpoint/2010/main" val="280922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 (example)</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201257" cy="5456742"/>
          </a:xfrm>
        </p:spPr>
        <p:txBody>
          <a:bodyPr>
            <a:normAutofit/>
          </a:bodyPr>
          <a:lstStyle/>
          <a:p>
            <a:pPr algn="just">
              <a:buFont typeface="Wingdings" panose="05000000000000000000" pitchFamily="2" charset="2"/>
              <a:buChar char="Ø"/>
            </a:pPr>
            <a:r>
              <a:rPr lang="en-GB" sz="2200" dirty="0">
                <a:solidFill>
                  <a:schemeClr val="tx1"/>
                </a:solidFill>
                <a:latin typeface="NewBaskerville-Roman"/>
              </a:rPr>
              <a:t>A medical trail of a BP medicine was performed on five volunteers and their respective BPs are shown in the table. Is there a difference between before and after the treatment at  95% CI? </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48</a:t>
            </a:fld>
            <a:endParaRPr lang="en-US">
              <a:solidFill>
                <a:srgbClr val="90C226"/>
              </a:solidFill>
            </a:endParaRPr>
          </a:p>
        </p:txBody>
      </p:sp>
      <p:pic>
        <p:nvPicPr>
          <p:cNvPr id="7" name="Picture 6">
            <a:extLst>
              <a:ext uri="{FF2B5EF4-FFF2-40B4-BE49-F238E27FC236}">
                <a16:creationId xmlns:a16="http://schemas.microsoft.com/office/drawing/2014/main" id="{FB85CA32-790F-4DBB-85DD-34B81F020298}"/>
              </a:ext>
            </a:extLst>
          </p:cNvPr>
          <p:cNvPicPr>
            <a:picLocks noChangeAspect="1"/>
          </p:cNvPicPr>
          <p:nvPr/>
        </p:nvPicPr>
        <p:blipFill>
          <a:blip r:embed="rId2"/>
          <a:stretch>
            <a:fillRect/>
          </a:stretch>
        </p:blipFill>
        <p:spPr>
          <a:xfrm>
            <a:off x="1097279" y="2980783"/>
            <a:ext cx="2701581" cy="2137874"/>
          </a:xfrm>
          <a:prstGeom prst="rect">
            <a:avLst/>
          </a:prstGeom>
        </p:spPr>
      </p:pic>
      <p:pic>
        <p:nvPicPr>
          <p:cNvPr id="9" name="Picture 8">
            <a:extLst>
              <a:ext uri="{FF2B5EF4-FFF2-40B4-BE49-F238E27FC236}">
                <a16:creationId xmlns:a16="http://schemas.microsoft.com/office/drawing/2014/main" id="{90C0A584-1DC8-474C-A3EA-F38F151962FB}"/>
              </a:ext>
            </a:extLst>
          </p:cNvPr>
          <p:cNvPicPr>
            <a:picLocks noChangeAspect="1"/>
          </p:cNvPicPr>
          <p:nvPr/>
        </p:nvPicPr>
        <p:blipFill>
          <a:blip r:embed="rId3"/>
          <a:stretch>
            <a:fillRect/>
          </a:stretch>
        </p:blipFill>
        <p:spPr>
          <a:xfrm>
            <a:off x="5275503" y="4887438"/>
            <a:ext cx="3148841" cy="1336486"/>
          </a:xfrm>
          <a:prstGeom prst="rect">
            <a:avLst/>
          </a:prstGeom>
        </p:spPr>
      </p:pic>
      <p:pic>
        <p:nvPicPr>
          <p:cNvPr id="10" name="Picture 9">
            <a:extLst>
              <a:ext uri="{FF2B5EF4-FFF2-40B4-BE49-F238E27FC236}">
                <a16:creationId xmlns:a16="http://schemas.microsoft.com/office/drawing/2014/main" id="{64AA4639-511B-4985-ACA4-96FE17E132C6}"/>
              </a:ext>
            </a:extLst>
          </p:cNvPr>
          <p:cNvPicPr>
            <a:picLocks noChangeAspect="1"/>
          </p:cNvPicPr>
          <p:nvPr/>
        </p:nvPicPr>
        <p:blipFill>
          <a:blip r:embed="rId4"/>
          <a:stretch>
            <a:fillRect/>
          </a:stretch>
        </p:blipFill>
        <p:spPr>
          <a:xfrm>
            <a:off x="5413829" y="2508385"/>
            <a:ext cx="2872188" cy="2019843"/>
          </a:xfrm>
          <a:prstGeom prst="rect">
            <a:avLst/>
          </a:prstGeom>
        </p:spPr>
      </p:pic>
    </p:spTree>
    <p:extLst>
      <p:ext uri="{BB962C8B-B14F-4D97-AF65-F5344CB8AC3E}">
        <p14:creationId xmlns:p14="http://schemas.microsoft.com/office/powerpoint/2010/main" val="122235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t-Tests (example)</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128585"/>
            <a:ext cx="9201257" cy="5456742"/>
          </a:xfrm>
        </p:spPr>
        <p:txBody>
          <a:bodyPr>
            <a:normAutofit/>
          </a:bodyPr>
          <a:lstStyle/>
          <a:p>
            <a:pPr algn="just">
              <a:buFont typeface="Wingdings" panose="05000000000000000000" pitchFamily="2" charset="2"/>
              <a:buChar char="Ø"/>
            </a:pPr>
            <a:endParaRPr lang="en-GB" sz="22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49</a:t>
            </a:fld>
            <a:endParaRPr lang="en-US">
              <a:solidFill>
                <a:srgbClr val="90C226"/>
              </a:solidFill>
            </a:endParaRPr>
          </a:p>
        </p:txBody>
      </p:sp>
      <mc:AlternateContent xmlns:mc="http://schemas.openxmlformats.org/markup-compatibility/2006" xmlns:a14="http://schemas.microsoft.com/office/drawing/2010/main">
        <mc:Choice Requires="a14">
          <p:sp>
            <p:nvSpPr>
              <p:cNvPr id="8" name="Content Placeholder 6">
                <a:extLst>
                  <a:ext uri="{FF2B5EF4-FFF2-40B4-BE49-F238E27FC236}">
                    <a16:creationId xmlns:a16="http://schemas.microsoft.com/office/drawing/2014/main" id="{55AB2E30-8EAE-4359-854D-EC7114E48D5B}"/>
                  </a:ext>
                </a:extLst>
              </p:cNvPr>
              <p:cNvSpPr txBox="1">
                <a:spLocks/>
              </p:cNvSpPr>
              <p:nvPr/>
            </p:nvSpPr>
            <p:spPr>
              <a:xfrm>
                <a:off x="3857078" y="1305098"/>
                <a:ext cx="6284422" cy="4862951"/>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𝐻</m:t>
                        </m:r>
                      </m:e>
                      <m:sub>
                        <m:r>
                          <a:rPr lang="en-US" i="1" smtClean="0">
                            <a:latin typeface="Cambria Math" panose="02040503050406030204" pitchFamily="18" charset="0"/>
                          </a:rPr>
                          <m:t>0</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i="1" smtClean="0">
                            <a:latin typeface="Cambria Math" panose="02040503050406030204" pitchFamily="18" charset="0"/>
                          </a:rPr>
                          <m:t>𝑏</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smtClean="0">
                            <a:latin typeface="Cambria Math" panose="02040503050406030204" pitchFamily="18" charset="0"/>
                            <a:ea typeface="Cambria Math" panose="02040503050406030204" pitchFamily="18" charset="0"/>
                          </a:rPr>
                          <m:t>𝑎</m:t>
                        </m:r>
                      </m:sub>
                    </m:sSub>
                  </m:oMath>
                </a14:m>
                <a:endParaRPr lang="en-US" i="1" dirty="0">
                  <a:latin typeface="Cambria Math" panose="02040503050406030204" pitchFamily="18" charset="0"/>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smtClean="0">
                            <a:latin typeface="Cambria Math" panose="02040503050406030204" pitchFamily="18" charset="0"/>
                          </a:rPr>
                          <m:t>𝑎</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𝑏</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𝑎</m:t>
                        </m:r>
                      </m:sub>
                    </m:sSub>
                  </m:oMath>
                </a14:m>
                <a:endParaRPr lang="en-US" i="1" dirty="0">
                  <a:latin typeface="Cambria Math" panose="02040503050406030204" pitchFamily="18" charset="0"/>
                </a:endParaRPr>
              </a:p>
              <a:p>
                <a14:m>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𝑑</m:t>
                        </m:r>
                      </m:e>
                    </m:acc>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−2+2+2−9+0</m:t>
                        </m:r>
                      </m:num>
                      <m:den>
                        <m:r>
                          <a:rPr lang="en-US" i="1" smtClean="0">
                            <a:latin typeface="Cambria Math" panose="02040503050406030204" pitchFamily="18" charset="0"/>
                          </a:rPr>
                          <m:t>5</m:t>
                        </m:r>
                      </m:den>
                    </m:f>
                    <m:r>
                      <a:rPr lang="en-US" i="1" smtClean="0">
                        <a:latin typeface="Cambria Math" panose="02040503050406030204" pitchFamily="18" charset="0"/>
                      </a:rPr>
                      <m:t>=−1.4</m:t>
                    </m:r>
                  </m:oMath>
                </a14:m>
                <a:endParaRPr lang="en-US" dirty="0"/>
              </a:p>
              <a:p>
                <a14:m>
                  <m:oMath xmlns:m="http://schemas.openxmlformats.org/officeDocument/2006/math">
                    <m:r>
                      <a:rPr lang="en-US" i="1" smtClean="0">
                        <a:latin typeface="Cambria Math" panose="02040503050406030204" pitchFamily="18" charset="0"/>
                      </a:rPr>
                      <m:t>𝑠</m:t>
                    </m:r>
                    <m:r>
                      <a:rPr lang="en-US" i="1" smtClean="0">
                        <a:latin typeface="Cambria Math" panose="02040503050406030204" pitchFamily="18" charset="0"/>
                      </a:rPr>
                      <m:t>=</m:t>
                    </m:r>
                    <m:rad>
                      <m:radPr>
                        <m:degHide m:val="on"/>
                        <m:ctrlPr>
                          <a:rPr lang="en-US" i="1" smtClean="0">
                            <a:latin typeface="Cambria Math" panose="02040503050406030204" pitchFamily="18" charset="0"/>
                          </a:rPr>
                        </m:ctrlPr>
                      </m:radPr>
                      <m:deg/>
                      <m:e>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i="1" smtClean="0">
                                        <a:latin typeface="Cambria Math" panose="02040503050406030204" pitchFamily="18" charset="0"/>
                                      </a:rPr>
                                      <m:t>−2+1.4</m:t>
                                    </m:r>
                                  </m:e>
                                </m:d>
                              </m:e>
                              <m:sup>
                                <m:r>
                                  <a:rPr lang="en-US" i="1" smtClean="0">
                                    <a:latin typeface="Cambria Math" panose="02040503050406030204" pitchFamily="18" charset="0"/>
                                  </a:rPr>
                                  <m:t>2</m:t>
                                </m:r>
                              </m:sup>
                            </m:sSup>
                            <m:r>
                              <a:rPr lang="en-US"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smtClean="0">
                                        <a:latin typeface="Cambria Math" panose="02040503050406030204" pitchFamily="18" charset="0"/>
                                      </a:rPr>
                                      <m:t>2+1.4</m:t>
                                    </m:r>
                                  </m:e>
                                </m:d>
                              </m:e>
                              <m:sup>
                                <m:r>
                                  <a:rPr lang="en-US" i="1">
                                    <a:latin typeface="Cambria Math" panose="02040503050406030204" pitchFamily="18" charset="0"/>
                                  </a:rPr>
                                  <m:t>2</m:t>
                                </m:r>
                              </m:sup>
                            </m:sSup>
                            <m:r>
                              <a:rPr lang="en-US"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smtClean="0">
                                        <a:latin typeface="Cambria Math" panose="02040503050406030204" pitchFamily="18" charset="0"/>
                                      </a:rPr>
                                      <m:t>2+1.4</m:t>
                                    </m:r>
                                  </m:e>
                                </m:d>
                              </m:e>
                              <m:sup>
                                <m:r>
                                  <a:rPr lang="en-US" i="1">
                                    <a:latin typeface="Cambria Math" panose="02040503050406030204" pitchFamily="18" charset="0"/>
                                  </a:rPr>
                                  <m:t>2</m:t>
                                </m:r>
                              </m:sup>
                            </m:sSup>
                            <m:r>
                              <a:rPr lang="en-US"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smtClean="0">
                                        <a:latin typeface="Cambria Math" panose="02040503050406030204" pitchFamily="18" charset="0"/>
                                      </a:rPr>
                                      <m:t>−9+1.4</m:t>
                                    </m:r>
                                  </m:e>
                                </m:d>
                              </m:e>
                              <m:sup>
                                <m:r>
                                  <a:rPr lang="en-US" i="1">
                                    <a:latin typeface="Cambria Math" panose="02040503050406030204" pitchFamily="18" charset="0"/>
                                  </a:rPr>
                                  <m:t>2</m:t>
                                </m:r>
                              </m:sup>
                            </m:sSup>
                            <m:r>
                              <a:rPr lang="en-US"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smtClean="0">
                                        <a:latin typeface="Cambria Math" panose="02040503050406030204" pitchFamily="18" charset="0"/>
                                      </a:rPr>
                                      <m:t>0+1.4</m:t>
                                    </m:r>
                                  </m:e>
                                </m:d>
                              </m:e>
                              <m:sup>
                                <m:r>
                                  <a:rPr lang="en-US" i="1">
                                    <a:latin typeface="Cambria Math" panose="02040503050406030204" pitchFamily="18" charset="0"/>
                                  </a:rPr>
                                  <m:t>2</m:t>
                                </m:r>
                              </m:sup>
                            </m:sSup>
                          </m:num>
                          <m:den>
                            <m:r>
                              <a:rPr lang="en-US" i="1" smtClean="0">
                                <a:latin typeface="Cambria Math" panose="02040503050406030204" pitchFamily="18" charset="0"/>
                              </a:rPr>
                              <m:t>5−1</m:t>
                            </m:r>
                          </m:den>
                        </m:f>
                      </m:e>
                    </m:rad>
                    <m:r>
                      <a:rPr lang="en-US" i="1" smtClean="0">
                        <a:latin typeface="Cambria Math" panose="02040503050406030204" pitchFamily="18" charset="0"/>
                      </a:rPr>
                      <m:t>=4.56</m:t>
                    </m:r>
                  </m:oMath>
                </a14:m>
                <a:endParaRPr lang="en-US" dirty="0"/>
              </a:p>
              <a:p>
                <a14:m>
                  <m:oMath xmlns:m="http://schemas.openxmlformats.org/officeDocument/2006/math">
                    <m:f>
                      <m:fPr>
                        <m:type m:val="skw"/>
                        <m:ctrlPr>
                          <a:rPr lang="en-US" i="1">
                            <a:latin typeface="Cambria Math" panose="02040503050406030204" pitchFamily="18" charset="0"/>
                          </a:rPr>
                        </m:ctrlPr>
                      </m:fPr>
                      <m:num>
                        <m:r>
                          <a:rPr lang="en-US" i="1">
                            <a:latin typeface="Cambria Math" panose="02040503050406030204" pitchFamily="18" charset="0"/>
                          </a:rPr>
                          <m:t>𝑠</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i="1" smtClean="0">
                            <a:latin typeface="Cambria Math" panose="02040503050406030204" pitchFamily="18" charset="0"/>
                          </a:rPr>
                          <m:t>4.56</m:t>
                        </m:r>
                      </m:num>
                      <m:den>
                        <m:r>
                          <a:rPr lang="en-US" i="1" smtClean="0">
                            <a:latin typeface="Cambria Math" panose="02040503050406030204" pitchFamily="18" charset="0"/>
                          </a:rPr>
                          <m:t>2.236</m:t>
                        </m:r>
                      </m:den>
                    </m:f>
                    <m:r>
                      <a:rPr lang="en-US" i="1" smtClean="0">
                        <a:latin typeface="Cambria Math" panose="02040503050406030204" pitchFamily="18" charset="0"/>
                        <a:ea typeface="Cambria Math" panose="02040503050406030204" pitchFamily="18" charset="0"/>
                      </a:rPr>
                      <m:t>~2.04</m:t>
                    </m:r>
                  </m:oMath>
                </a14:m>
                <a:endParaRPr lang="en-US" dirty="0"/>
              </a:p>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𝑡</m:t>
                        </m:r>
                      </m:e>
                      <m:sub>
                        <m:r>
                          <a:rPr lang="en-US" i="1" smtClean="0">
                            <a:latin typeface="Cambria Math" panose="02040503050406030204" pitchFamily="18" charset="0"/>
                          </a:rPr>
                          <m:t>𝑐𝑎𝑙</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−1.4</m:t>
                        </m:r>
                      </m:num>
                      <m:den>
                        <m:r>
                          <a:rPr lang="en-US" i="1">
                            <a:latin typeface="Cambria Math" panose="02040503050406030204" pitchFamily="18" charset="0"/>
                          </a:rPr>
                          <m:t>2.04</m:t>
                        </m:r>
                      </m:den>
                    </m:f>
                    <m:r>
                      <a:rPr lang="en-US" i="1" smtClean="0">
                        <a:latin typeface="Cambria Math" panose="02040503050406030204" pitchFamily="18" charset="0"/>
                      </a:rPr>
                      <m:t>=0.69</m:t>
                    </m:r>
                  </m:oMath>
                </a14:m>
                <a:endParaRPr lang="en-US" dirty="0"/>
              </a:p>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𝑡</m:t>
                        </m:r>
                      </m:e>
                      <m:sub>
                        <m:r>
                          <a:rPr lang="en-US" i="1" smtClean="0">
                            <a:latin typeface="Cambria Math" panose="02040503050406030204" pitchFamily="18" charset="0"/>
                          </a:rPr>
                          <m:t>𝑐𝑟𝑖𝑡</m:t>
                        </m:r>
                      </m:sub>
                    </m:sSub>
                    <m:r>
                      <a:rPr lang="en-US" i="1" smtClean="0">
                        <a:latin typeface="Cambria Math" panose="02040503050406030204" pitchFamily="18" charset="0"/>
                      </a:rPr>
                      <m:t>=2.776</m:t>
                    </m:r>
                  </m:oMath>
                </a14:m>
                <a:r>
                  <a:rPr lang="en-US" dirty="0"/>
                  <a:t> (from table)</a:t>
                </a:r>
              </a:p>
              <a:p>
                <a:r>
                  <a:rPr lang="en-US" dirty="0"/>
                  <a:t>Since,</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𝑐𝑎𝑙</m:t>
                        </m:r>
                      </m:sub>
                    </m:sSub>
                    <m:r>
                      <a:rPr lang="en-US" i="1" smtClean="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𝑐𝑟𝑖𝑡</m:t>
                        </m:r>
                      </m:sub>
                    </m:sSub>
                  </m:oMath>
                </a14:m>
                <a:r>
                  <a:rPr lang="en-US" dirty="0"/>
                  <a:t>, we will </a:t>
                </a:r>
                <a:r>
                  <a:rPr lang="en-US" b="1" i="1" dirty="0">
                    <a:solidFill>
                      <a:srgbClr val="FF0000"/>
                    </a:solidFill>
                  </a:rPr>
                  <a:t>not reject H0 </a:t>
                </a:r>
                <a:r>
                  <a:rPr lang="en-US" dirty="0"/>
                  <a:t>(no significant impact of the medicine)</a:t>
                </a:r>
              </a:p>
              <a:p>
                <a:endParaRPr lang="en-US" dirty="0"/>
              </a:p>
            </p:txBody>
          </p:sp>
        </mc:Choice>
        <mc:Fallback xmlns="">
          <p:sp>
            <p:nvSpPr>
              <p:cNvPr id="8" name="Content Placeholder 6">
                <a:extLst>
                  <a:ext uri="{FF2B5EF4-FFF2-40B4-BE49-F238E27FC236}">
                    <a16:creationId xmlns="" xmlns:a16="http://schemas.microsoft.com/office/drawing/2014/main" xmlns:a14="http://schemas.microsoft.com/office/drawing/2010/main" id="{55AB2E30-8EAE-4359-854D-EC7114E48D5B}"/>
                  </a:ext>
                </a:extLst>
              </p:cNvPr>
              <p:cNvSpPr txBox="1">
                <a:spLocks noRot="1" noChangeAspect="1" noMove="1" noResize="1" noEditPoints="1" noAdjustHandles="1" noChangeArrowheads="1" noChangeShapeType="1" noTextEdit="1"/>
              </p:cNvSpPr>
              <p:nvPr/>
            </p:nvSpPr>
            <p:spPr>
              <a:xfrm>
                <a:off x="3857078" y="1305098"/>
                <a:ext cx="6284422" cy="4862951"/>
              </a:xfrm>
              <a:prstGeom prst="rect">
                <a:avLst/>
              </a:prstGeom>
              <a:blipFill rotWithShape="0">
                <a:blip r:embed="rId2"/>
                <a:stretch>
                  <a:fillRect l="-485"/>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90C0A584-1DC8-474C-A3EA-F38F151962FB}"/>
              </a:ext>
            </a:extLst>
          </p:cNvPr>
          <p:cNvPicPr>
            <a:picLocks noChangeAspect="1"/>
          </p:cNvPicPr>
          <p:nvPr/>
        </p:nvPicPr>
        <p:blipFill>
          <a:blip r:embed="rId3"/>
          <a:stretch>
            <a:fillRect/>
          </a:stretch>
        </p:blipFill>
        <p:spPr>
          <a:xfrm>
            <a:off x="537015" y="1845735"/>
            <a:ext cx="2962275" cy="1257300"/>
          </a:xfrm>
          <a:prstGeom prst="rect">
            <a:avLst/>
          </a:prstGeom>
        </p:spPr>
      </p:pic>
      <p:pic>
        <p:nvPicPr>
          <p:cNvPr id="12" name="Picture 11">
            <a:extLst>
              <a:ext uri="{FF2B5EF4-FFF2-40B4-BE49-F238E27FC236}">
                <a16:creationId xmlns:a16="http://schemas.microsoft.com/office/drawing/2014/main" id="{A0513614-C55E-4E31-8DB1-DA95DF480F7D}"/>
              </a:ext>
            </a:extLst>
          </p:cNvPr>
          <p:cNvPicPr>
            <a:picLocks noChangeAspect="1"/>
          </p:cNvPicPr>
          <p:nvPr/>
        </p:nvPicPr>
        <p:blipFill>
          <a:blip r:embed="rId4"/>
          <a:stretch>
            <a:fillRect/>
          </a:stretch>
        </p:blipFill>
        <p:spPr>
          <a:xfrm>
            <a:off x="537015" y="3211410"/>
            <a:ext cx="2872188" cy="2019843"/>
          </a:xfrm>
          <a:prstGeom prst="rect">
            <a:avLst/>
          </a:prstGeom>
        </p:spPr>
      </p:pic>
    </p:spTree>
    <p:extLst>
      <p:ext uri="{BB962C8B-B14F-4D97-AF65-F5344CB8AC3E}">
        <p14:creationId xmlns:p14="http://schemas.microsoft.com/office/powerpoint/2010/main" val="355487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458790" y="419721"/>
            <a:ext cx="11376454" cy="757057"/>
          </a:xfrm>
        </p:spPr>
        <p:txBody>
          <a:bodyPr>
            <a:normAutofit/>
          </a:bodyPr>
          <a:lstStyle/>
          <a:p>
            <a:r>
              <a:rPr lang="en-US" dirty="0"/>
              <a:t>t-Tests (example)</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458790" y="1401258"/>
            <a:ext cx="9201257" cy="5456742"/>
          </a:xfrm>
        </p:spPr>
        <p:txBody>
          <a:bodyPr>
            <a:normAutofit/>
          </a:bodyPr>
          <a:lstStyle/>
          <a:p>
            <a:pPr algn="just">
              <a:buFont typeface="Wingdings" panose="05000000000000000000" pitchFamily="2" charset="2"/>
              <a:buChar char="Ø"/>
            </a:pPr>
            <a:endParaRPr lang="en-GB" sz="22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50</a:t>
            </a:fld>
            <a:endParaRPr lang="en-US">
              <a:solidFill>
                <a:srgbClr val="90C226"/>
              </a:solidFill>
            </a:endParaRPr>
          </a:p>
        </p:txBody>
      </p:sp>
      <p:pic>
        <p:nvPicPr>
          <p:cNvPr id="21" name="Picture 20">
            <a:extLst>
              <a:ext uri="{FF2B5EF4-FFF2-40B4-BE49-F238E27FC236}">
                <a16:creationId xmlns:a16="http://schemas.microsoft.com/office/drawing/2014/main" id="{4E0CDE9B-6F85-4D3A-97B2-B4211877661C}"/>
              </a:ext>
            </a:extLst>
          </p:cNvPr>
          <p:cNvPicPr>
            <a:picLocks noChangeAspect="1"/>
          </p:cNvPicPr>
          <p:nvPr/>
        </p:nvPicPr>
        <p:blipFill>
          <a:blip r:embed="rId2"/>
          <a:stretch>
            <a:fillRect/>
          </a:stretch>
        </p:blipFill>
        <p:spPr>
          <a:xfrm>
            <a:off x="1097280" y="1982028"/>
            <a:ext cx="1714500" cy="647700"/>
          </a:xfrm>
          <a:prstGeom prst="rect">
            <a:avLst/>
          </a:prstGeom>
        </p:spPr>
      </p:pic>
      <p:pic>
        <p:nvPicPr>
          <p:cNvPr id="22" name="Picture 21">
            <a:extLst>
              <a:ext uri="{FF2B5EF4-FFF2-40B4-BE49-F238E27FC236}">
                <a16:creationId xmlns:a16="http://schemas.microsoft.com/office/drawing/2014/main" id="{4A9E38AB-B44D-4F9B-8CE3-70FCB0558058}"/>
              </a:ext>
            </a:extLst>
          </p:cNvPr>
          <p:cNvPicPr>
            <a:picLocks noChangeAspect="1"/>
          </p:cNvPicPr>
          <p:nvPr/>
        </p:nvPicPr>
        <p:blipFill>
          <a:blip r:embed="rId3"/>
          <a:stretch>
            <a:fillRect/>
          </a:stretch>
        </p:blipFill>
        <p:spPr>
          <a:xfrm>
            <a:off x="3016526" y="1982028"/>
            <a:ext cx="6019800" cy="533400"/>
          </a:xfrm>
          <a:prstGeom prst="rect">
            <a:avLst/>
          </a:prstGeom>
        </p:spPr>
      </p:pic>
      <p:pic>
        <p:nvPicPr>
          <p:cNvPr id="23" name="Picture 22">
            <a:extLst>
              <a:ext uri="{FF2B5EF4-FFF2-40B4-BE49-F238E27FC236}">
                <a16:creationId xmlns:a16="http://schemas.microsoft.com/office/drawing/2014/main" id="{DEE5DD32-A914-4CA6-A320-125DBE4FA48D}"/>
              </a:ext>
            </a:extLst>
          </p:cNvPr>
          <p:cNvPicPr>
            <a:picLocks noChangeAspect="1"/>
          </p:cNvPicPr>
          <p:nvPr/>
        </p:nvPicPr>
        <p:blipFill>
          <a:blip r:embed="rId4"/>
          <a:stretch>
            <a:fillRect/>
          </a:stretch>
        </p:blipFill>
        <p:spPr>
          <a:xfrm>
            <a:off x="1097280" y="2874396"/>
            <a:ext cx="3962400" cy="323850"/>
          </a:xfrm>
          <a:prstGeom prst="rect">
            <a:avLst/>
          </a:prstGeom>
        </p:spPr>
      </p:pic>
      <p:pic>
        <p:nvPicPr>
          <p:cNvPr id="24" name="Picture 23">
            <a:extLst>
              <a:ext uri="{FF2B5EF4-FFF2-40B4-BE49-F238E27FC236}">
                <a16:creationId xmlns:a16="http://schemas.microsoft.com/office/drawing/2014/main" id="{A1BCA183-2064-4C89-8CA9-C73463DAFF92}"/>
              </a:ext>
            </a:extLst>
          </p:cNvPr>
          <p:cNvPicPr>
            <a:picLocks noChangeAspect="1"/>
          </p:cNvPicPr>
          <p:nvPr/>
        </p:nvPicPr>
        <p:blipFill>
          <a:blip r:embed="rId5"/>
          <a:stretch>
            <a:fillRect/>
          </a:stretch>
        </p:blipFill>
        <p:spPr>
          <a:xfrm>
            <a:off x="1097280" y="3444241"/>
            <a:ext cx="1952625" cy="1676400"/>
          </a:xfrm>
          <a:prstGeom prst="rect">
            <a:avLst/>
          </a:prstGeom>
        </p:spPr>
      </p:pic>
      <p:pic>
        <p:nvPicPr>
          <p:cNvPr id="25" name="Picture 24">
            <a:extLst>
              <a:ext uri="{FF2B5EF4-FFF2-40B4-BE49-F238E27FC236}">
                <a16:creationId xmlns:a16="http://schemas.microsoft.com/office/drawing/2014/main" id="{4E1051AA-92CE-40B0-8D1E-BA81AD4049CB}"/>
              </a:ext>
            </a:extLst>
          </p:cNvPr>
          <p:cNvPicPr>
            <a:picLocks noChangeAspect="1"/>
          </p:cNvPicPr>
          <p:nvPr/>
        </p:nvPicPr>
        <p:blipFill>
          <a:blip r:embed="rId6"/>
          <a:stretch>
            <a:fillRect/>
          </a:stretch>
        </p:blipFill>
        <p:spPr>
          <a:xfrm>
            <a:off x="4240281" y="5120641"/>
            <a:ext cx="6076950" cy="1123950"/>
          </a:xfrm>
          <a:prstGeom prst="rect">
            <a:avLst/>
          </a:prstGeom>
        </p:spPr>
      </p:pic>
    </p:spTree>
    <p:extLst>
      <p:ext uri="{BB962C8B-B14F-4D97-AF65-F5344CB8AC3E}">
        <p14:creationId xmlns:p14="http://schemas.microsoft.com/office/powerpoint/2010/main" val="118319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ANOVA</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29731"/>
            <a:ext cx="9590556" cy="5288692"/>
          </a:xfrm>
        </p:spPr>
        <p:txBody>
          <a:bodyPr>
            <a:normAutofit/>
          </a:bodyPr>
          <a:lstStyle/>
          <a:p>
            <a:pPr algn="just">
              <a:buFont typeface="Wingdings" panose="05000000000000000000" pitchFamily="2" charset="2"/>
              <a:buChar char="Ø"/>
            </a:pPr>
            <a:r>
              <a:rPr lang="en-GB" sz="2800" dirty="0">
                <a:solidFill>
                  <a:schemeClr val="tx1"/>
                </a:solidFill>
                <a:latin typeface="NewBaskerville-Roman"/>
              </a:rPr>
              <a:t>The t-test is a method that determines whether two populations are statistically different from each other, whereas ANOVA determines whether three or more populations are statistically different from each other.</a:t>
            </a:r>
          </a:p>
          <a:p>
            <a:pPr algn="just">
              <a:buFont typeface="Wingdings" panose="05000000000000000000" pitchFamily="2" charset="2"/>
              <a:buChar char="Ø"/>
            </a:pPr>
            <a:r>
              <a:rPr lang="en-GB" sz="2800" dirty="0">
                <a:solidFill>
                  <a:schemeClr val="tx1"/>
                </a:solidFill>
                <a:latin typeface="NewBaskerville-Roman"/>
              </a:rPr>
              <a:t>The statistical procedure that tests for a statistically significant difference among the groups is called analysis of variance, or ANOVA</a:t>
            </a:r>
            <a:endParaRPr lang="en-US" sz="28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51</a:t>
            </a:fld>
            <a:endParaRPr lang="en-US">
              <a:solidFill>
                <a:srgbClr val="90C226"/>
              </a:solidFill>
            </a:endParaRPr>
          </a:p>
        </p:txBody>
      </p:sp>
    </p:spTree>
    <p:extLst>
      <p:ext uri="{BB962C8B-B14F-4D97-AF65-F5344CB8AC3E}">
        <p14:creationId xmlns:p14="http://schemas.microsoft.com/office/powerpoint/2010/main" val="1082292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ANOVA</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29731"/>
            <a:ext cx="8607268" cy="5288692"/>
          </a:xfrm>
        </p:spPr>
        <p:txBody>
          <a:bodyPr>
            <a:normAutofit/>
          </a:bodyPr>
          <a:lstStyle/>
          <a:p>
            <a:pPr algn="just">
              <a:buFont typeface="Wingdings" panose="05000000000000000000" pitchFamily="2" charset="2"/>
              <a:buChar char="Ø"/>
            </a:pPr>
            <a:r>
              <a:rPr lang="en-US" sz="2400" dirty="0">
                <a:solidFill>
                  <a:schemeClr val="tx1"/>
                </a:solidFill>
                <a:latin typeface="NewBaskerville-Roman"/>
              </a:rPr>
              <a:t>Suppose that, instead of an A/B test, we had a comparison of multiple groups, say A/B/C/D, each with numeric data. </a:t>
            </a:r>
          </a:p>
          <a:p>
            <a:pPr algn="just">
              <a:buFont typeface="Wingdings" panose="05000000000000000000" pitchFamily="2" charset="2"/>
              <a:buChar char="Ø"/>
            </a:pPr>
            <a:r>
              <a:rPr lang="en-US" sz="2400" dirty="0">
                <a:solidFill>
                  <a:schemeClr val="tx1"/>
                </a:solidFill>
                <a:latin typeface="NewBaskerville-Roman"/>
              </a:rPr>
              <a:t>The statistical procedure that tests for a statistically significant difference among the groups is called analysis of variance, or ANOVA.</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52</a:t>
            </a:fld>
            <a:endParaRPr lang="en-US">
              <a:solidFill>
                <a:srgbClr val="90C226"/>
              </a:solidFill>
            </a:endParaRPr>
          </a:p>
        </p:txBody>
      </p:sp>
      <p:pic>
        <p:nvPicPr>
          <p:cNvPr id="6" name="Picture 5">
            <a:extLst>
              <a:ext uri="{FF2B5EF4-FFF2-40B4-BE49-F238E27FC236}">
                <a16:creationId xmlns:a16="http://schemas.microsoft.com/office/drawing/2014/main" id="{85E465BE-5518-C90C-51C3-48E52074B4ED}"/>
              </a:ext>
            </a:extLst>
          </p:cNvPr>
          <p:cNvPicPr>
            <a:picLocks noChangeAspect="1"/>
          </p:cNvPicPr>
          <p:nvPr/>
        </p:nvPicPr>
        <p:blipFill>
          <a:blip r:embed="rId2"/>
          <a:stretch>
            <a:fillRect/>
          </a:stretch>
        </p:blipFill>
        <p:spPr>
          <a:xfrm>
            <a:off x="713146" y="3162582"/>
            <a:ext cx="8425197" cy="3199873"/>
          </a:xfrm>
          <a:prstGeom prst="rect">
            <a:avLst/>
          </a:prstGeom>
        </p:spPr>
      </p:pic>
      <p:pic>
        <p:nvPicPr>
          <p:cNvPr id="8" name="Picture 7">
            <a:extLst>
              <a:ext uri="{FF2B5EF4-FFF2-40B4-BE49-F238E27FC236}">
                <a16:creationId xmlns:a16="http://schemas.microsoft.com/office/drawing/2014/main" id="{67AD688B-4EFC-5882-D1DF-39EF4837F5B4}"/>
              </a:ext>
            </a:extLst>
          </p:cNvPr>
          <p:cNvPicPr>
            <a:picLocks noChangeAspect="1"/>
          </p:cNvPicPr>
          <p:nvPr/>
        </p:nvPicPr>
        <p:blipFill>
          <a:blip r:embed="rId3"/>
          <a:stretch>
            <a:fillRect/>
          </a:stretch>
        </p:blipFill>
        <p:spPr>
          <a:xfrm>
            <a:off x="9020375" y="1658034"/>
            <a:ext cx="3171625" cy="1982941"/>
          </a:xfrm>
          <a:prstGeom prst="rect">
            <a:avLst/>
          </a:prstGeom>
          <a:ln>
            <a:solidFill>
              <a:schemeClr val="tx1"/>
            </a:solidFill>
          </a:ln>
        </p:spPr>
      </p:pic>
    </p:spTree>
    <p:extLst>
      <p:ext uri="{BB962C8B-B14F-4D97-AF65-F5344CB8AC3E}">
        <p14:creationId xmlns:p14="http://schemas.microsoft.com/office/powerpoint/2010/main" val="193020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ANOVA</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29731"/>
            <a:ext cx="8878586" cy="5288692"/>
          </a:xfrm>
        </p:spPr>
        <p:txBody>
          <a:bodyPr>
            <a:normAutofit fontScale="92500" lnSpcReduction="20000"/>
          </a:bodyPr>
          <a:lstStyle/>
          <a:p>
            <a:pPr>
              <a:buFont typeface="Wingdings" panose="05000000000000000000" pitchFamily="2" charset="2"/>
              <a:buChar char="Ø"/>
            </a:pPr>
            <a:r>
              <a:rPr lang="en-US" sz="2800" dirty="0">
                <a:solidFill>
                  <a:schemeClr val="tx1"/>
                </a:solidFill>
                <a:latin typeface="NewBaskerville-Roman"/>
              </a:rPr>
              <a:t>Now we have a </a:t>
            </a:r>
            <a:r>
              <a:rPr lang="en-US" sz="2800" b="1" dirty="0">
                <a:solidFill>
                  <a:schemeClr val="tx1"/>
                </a:solidFill>
                <a:latin typeface="NewBaskerville-Roman"/>
              </a:rPr>
              <a:t>conundrum</a:t>
            </a:r>
            <a:r>
              <a:rPr lang="en-US" sz="2800" dirty="0">
                <a:solidFill>
                  <a:schemeClr val="tx1"/>
                </a:solidFill>
                <a:latin typeface="NewBaskerville-Roman"/>
              </a:rPr>
              <a:t> (see Figure 3-6). When we were comparing just two groups, it was a simple matter; we merely looked at the difference between the means of each group. </a:t>
            </a:r>
          </a:p>
          <a:p>
            <a:pPr>
              <a:buFont typeface="Wingdings" panose="05000000000000000000" pitchFamily="2" charset="2"/>
              <a:buChar char="Ø"/>
            </a:pPr>
            <a:r>
              <a:rPr lang="en-US" sz="2800" dirty="0">
                <a:solidFill>
                  <a:schemeClr val="tx1"/>
                </a:solidFill>
                <a:latin typeface="NewBaskerville-Roman"/>
              </a:rPr>
              <a:t>With four means, there are </a:t>
            </a:r>
            <a:r>
              <a:rPr lang="en-US" sz="2800" b="1" dirty="0">
                <a:solidFill>
                  <a:schemeClr val="tx1"/>
                </a:solidFill>
                <a:latin typeface="NewBaskerville-Roman"/>
              </a:rPr>
              <a:t>six possible comparisons </a:t>
            </a:r>
            <a:r>
              <a:rPr lang="en-US" sz="2800" dirty="0">
                <a:solidFill>
                  <a:schemeClr val="tx1"/>
                </a:solidFill>
                <a:latin typeface="NewBaskerville-Roman"/>
              </a:rPr>
              <a:t>between groups:</a:t>
            </a:r>
          </a:p>
          <a:p>
            <a:pPr lvl="1">
              <a:buFont typeface="Wingdings" panose="05000000000000000000" pitchFamily="2" charset="2"/>
              <a:buChar char="Ø"/>
            </a:pPr>
            <a:r>
              <a:rPr lang="en-US" sz="2600" dirty="0">
                <a:solidFill>
                  <a:schemeClr val="tx1"/>
                </a:solidFill>
                <a:latin typeface="NewBaskerville-Roman"/>
              </a:rPr>
              <a:t>Page 1 compared to page 2</a:t>
            </a:r>
          </a:p>
          <a:p>
            <a:pPr lvl="1">
              <a:buFont typeface="Wingdings" panose="05000000000000000000" pitchFamily="2" charset="2"/>
              <a:buChar char="Ø"/>
            </a:pPr>
            <a:r>
              <a:rPr lang="en-US" sz="2600" dirty="0">
                <a:solidFill>
                  <a:schemeClr val="tx1"/>
                </a:solidFill>
                <a:latin typeface="NewBaskerville-Roman"/>
              </a:rPr>
              <a:t>Page 1 compared to page 3</a:t>
            </a:r>
          </a:p>
          <a:p>
            <a:pPr lvl="1">
              <a:buFont typeface="Wingdings" panose="05000000000000000000" pitchFamily="2" charset="2"/>
              <a:buChar char="Ø"/>
            </a:pPr>
            <a:r>
              <a:rPr lang="en-US" sz="2600" dirty="0">
                <a:solidFill>
                  <a:schemeClr val="tx1"/>
                </a:solidFill>
                <a:latin typeface="NewBaskerville-Roman"/>
              </a:rPr>
              <a:t>Page 1 compared to page 4</a:t>
            </a:r>
          </a:p>
          <a:p>
            <a:pPr lvl="1">
              <a:buFont typeface="Wingdings" panose="05000000000000000000" pitchFamily="2" charset="2"/>
              <a:buChar char="Ø"/>
            </a:pPr>
            <a:r>
              <a:rPr lang="en-US" sz="2600" dirty="0">
                <a:solidFill>
                  <a:schemeClr val="tx1"/>
                </a:solidFill>
                <a:latin typeface="NewBaskerville-Roman"/>
              </a:rPr>
              <a:t>Page 2 compared to page 3</a:t>
            </a:r>
          </a:p>
          <a:p>
            <a:pPr lvl="1">
              <a:buFont typeface="Wingdings" panose="05000000000000000000" pitchFamily="2" charset="2"/>
              <a:buChar char="Ø"/>
            </a:pPr>
            <a:r>
              <a:rPr lang="en-US" sz="2600" dirty="0">
                <a:solidFill>
                  <a:schemeClr val="tx1"/>
                </a:solidFill>
                <a:latin typeface="NewBaskerville-Roman"/>
              </a:rPr>
              <a:t>Page 2 compared to page 4</a:t>
            </a:r>
          </a:p>
          <a:p>
            <a:pPr lvl="1">
              <a:buFont typeface="Wingdings" panose="05000000000000000000" pitchFamily="2" charset="2"/>
              <a:buChar char="Ø"/>
            </a:pPr>
            <a:r>
              <a:rPr lang="en-US" sz="2600" dirty="0">
                <a:solidFill>
                  <a:schemeClr val="tx1"/>
                </a:solidFill>
                <a:latin typeface="NewBaskerville-Roman"/>
              </a:rPr>
              <a:t>Page 3 compared to page 4</a:t>
            </a:r>
          </a:p>
          <a:p>
            <a:pPr>
              <a:buFont typeface="Wingdings" panose="05000000000000000000" pitchFamily="2" charset="2"/>
              <a:buChar char="Ø"/>
            </a:pPr>
            <a:r>
              <a:rPr lang="en-US" sz="2800" dirty="0">
                <a:solidFill>
                  <a:schemeClr val="tx1"/>
                </a:solidFill>
                <a:latin typeface="NewBaskerville-Roman"/>
              </a:rPr>
              <a:t>The more such pairwise comparisons we make, the greater the potential for being fooled by random chance</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53</a:t>
            </a:fld>
            <a:endParaRPr lang="en-US">
              <a:solidFill>
                <a:srgbClr val="90C226"/>
              </a:solidFill>
            </a:endParaRPr>
          </a:p>
        </p:txBody>
      </p:sp>
      <p:pic>
        <p:nvPicPr>
          <p:cNvPr id="10" name="Picture 9">
            <a:extLst>
              <a:ext uri="{FF2B5EF4-FFF2-40B4-BE49-F238E27FC236}">
                <a16:creationId xmlns:a16="http://schemas.microsoft.com/office/drawing/2014/main" id="{B29473EC-CED7-0107-CDFD-A95D161ACF22}"/>
              </a:ext>
            </a:extLst>
          </p:cNvPr>
          <p:cNvPicPr>
            <a:picLocks noChangeAspect="1"/>
          </p:cNvPicPr>
          <p:nvPr/>
        </p:nvPicPr>
        <p:blipFill>
          <a:blip r:embed="rId2"/>
          <a:stretch>
            <a:fillRect/>
          </a:stretch>
        </p:blipFill>
        <p:spPr>
          <a:xfrm>
            <a:off x="8330822" y="2133599"/>
            <a:ext cx="3861178" cy="3398642"/>
          </a:xfrm>
          <a:prstGeom prst="rect">
            <a:avLst/>
          </a:prstGeom>
          <a:ln>
            <a:solidFill>
              <a:schemeClr val="tx1"/>
            </a:solidFill>
          </a:ln>
        </p:spPr>
      </p:pic>
    </p:spTree>
    <p:extLst>
      <p:ext uri="{BB962C8B-B14F-4D97-AF65-F5344CB8AC3E}">
        <p14:creationId xmlns:p14="http://schemas.microsoft.com/office/powerpoint/2010/main" val="6089795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ANOVA</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29731"/>
            <a:ext cx="8878586" cy="5288692"/>
          </a:xfrm>
        </p:spPr>
        <p:txBody>
          <a:bodyPr>
            <a:normAutofit/>
          </a:bodyPr>
          <a:lstStyle/>
          <a:p>
            <a:pPr algn="just"/>
            <a:r>
              <a:rPr lang="en-US" sz="2800" dirty="0">
                <a:solidFill>
                  <a:schemeClr val="tx1"/>
                </a:solidFill>
                <a:latin typeface="NewBaskerville-Roman"/>
              </a:rPr>
              <a:t>Instead of worrying about all the different comparisons between individual pages we could possibly make, we can do a single overall test that addresses the question, </a:t>
            </a:r>
          </a:p>
          <a:p>
            <a:pPr algn="just"/>
            <a:r>
              <a:rPr lang="en-US" sz="2800" dirty="0">
                <a:solidFill>
                  <a:schemeClr val="tx1"/>
                </a:solidFill>
                <a:latin typeface="NewBaskerville-Roman"/>
              </a:rPr>
              <a:t>“Could all the pages have the same underlying stickiness, and the differences among them be due to the random way in which a common set of  session times got allocated among the four pages?”</a:t>
            </a:r>
          </a:p>
          <a:p>
            <a:pPr marL="0" indent="0" algn="just">
              <a:buNone/>
            </a:pPr>
            <a:endParaRPr lang="en-US" sz="28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54</a:t>
            </a:fld>
            <a:endParaRPr lang="en-US">
              <a:solidFill>
                <a:srgbClr val="90C226"/>
              </a:solidFill>
            </a:endParaRPr>
          </a:p>
        </p:txBody>
      </p:sp>
    </p:spTree>
    <p:extLst>
      <p:ext uri="{BB962C8B-B14F-4D97-AF65-F5344CB8AC3E}">
        <p14:creationId xmlns:p14="http://schemas.microsoft.com/office/powerpoint/2010/main" val="20054548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ANOVA</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38044"/>
            <a:ext cx="9482875" cy="5288692"/>
          </a:xfrm>
        </p:spPr>
        <p:txBody>
          <a:bodyPr>
            <a:normAutofit fontScale="77500" lnSpcReduction="20000"/>
          </a:bodyPr>
          <a:lstStyle/>
          <a:p>
            <a:pPr algn="just"/>
            <a:r>
              <a:rPr lang="en-US" sz="2800" dirty="0">
                <a:solidFill>
                  <a:schemeClr val="tx1"/>
                </a:solidFill>
                <a:latin typeface="NewBaskerville-Roman"/>
              </a:rPr>
              <a:t>The procedure used to test this is ANOVA. The basis for it can be seen in the following resampling procedure (specified here for the A/B/C/D test of web page stickiness):</a:t>
            </a:r>
          </a:p>
          <a:p>
            <a:pPr marL="914400" lvl="1" indent="-514350" algn="just">
              <a:buFont typeface="+mj-lt"/>
              <a:buAutoNum type="arabicPeriod"/>
            </a:pPr>
            <a:r>
              <a:rPr lang="en-US" sz="2600" dirty="0">
                <a:solidFill>
                  <a:schemeClr val="tx1"/>
                </a:solidFill>
                <a:latin typeface="NewBaskerville-Roman"/>
              </a:rPr>
              <a:t>Combine all the data together in a single box.</a:t>
            </a:r>
          </a:p>
          <a:p>
            <a:pPr marL="914400" lvl="1" indent="-514350" algn="just">
              <a:buFont typeface="+mj-lt"/>
              <a:buAutoNum type="arabicPeriod"/>
            </a:pPr>
            <a:r>
              <a:rPr lang="en-US" sz="2600" dirty="0">
                <a:solidFill>
                  <a:schemeClr val="tx1"/>
                </a:solidFill>
                <a:latin typeface="NewBaskerville-Roman"/>
              </a:rPr>
              <a:t>Shuffle and draw out four resamples of five values each.</a:t>
            </a:r>
          </a:p>
          <a:p>
            <a:pPr marL="914400" lvl="1" indent="-514350" algn="just">
              <a:buFont typeface="+mj-lt"/>
              <a:buAutoNum type="arabicPeriod"/>
            </a:pPr>
            <a:r>
              <a:rPr lang="en-US" sz="2600" dirty="0">
                <a:solidFill>
                  <a:schemeClr val="tx1"/>
                </a:solidFill>
                <a:latin typeface="NewBaskerville-Roman"/>
              </a:rPr>
              <a:t>Record the mean of each of the four groups.</a:t>
            </a:r>
          </a:p>
          <a:p>
            <a:pPr marL="914400" lvl="1" indent="-514350" algn="just">
              <a:buFont typeface="+mj-lt"/>
              <a:buAutoNum type="arabicPeriod"/>
            </a:pPr>
            <a:r>
              <a:rPr lang="en-US" sz="2600" dirty="0">
                <a:solidFill>
                  <a:schemeClr val="tx1"/>
                </a:solidFill>
                <a:latin typeface="NewBaskerville-Roman"/>
              </a:rPr>
              <a:t>Record the variance among the four group means.</a:t>
            </a:r>
          </a:p>
          <a:p>
            <a:pPr marL="914400" lvl="1" indent="-514350" algn="just">
              <a:buFont typeface="+mj-lt"/>
              <a:buAutoNum type="arabicPeriod"/>
            </a:pPr>
            <a:r>
              <a:rPr lang="en-US" sz="2600" dirty="0">
                <a:solidFill>
                  <a:schemeClr val="tx1"/>
                </a:solidFill>
                <a:latin typeface="NewBaskerville-Roman"/>
              </a:rPr>
              <a:t>Repeat steps 2–4 many (say, 1,000) times.</a:t>
            </a:r>
          </a:p>
          <a:p>
            <a:pPr algn="just"/>
            <a:r>
              <a:rPr lang="en-US" sz="2800" dirty="0">
                <a:solidFill>
                  <a:schemeClr val="tx1"/>
                </a:solidFill>
                <a:latin typeface="NewBaskerville-Roman"/>
              </a:rPr>
              <a:t>What proportion of the time did the resampled variance exceed the observed variance? This is the p-value.</a:t>
            </a:r>
          </a:p>
          <a:p>
            <a:pPr algn="just">
              <a:lnSpc>
                <a:spcPct val="120000"/>
              </a:lnSpc>
            </a:pPr>
            <a:r>
              <a:rPr lang="en-US" sz="2800" dirty="0">
                <a:solidFill>
                  <a:schemeClr val="tx1"/>
                </a:solidFill>
                <a:latin typeface="NewBaskerville-Roman"/>
              </a:rPr>
              <a:t>The resultant p-value is 0.092. In other words, given the same underlying stickiness, 9.3% of the time the response rate among four pages might differ as much as was actually observed, just by chance. This degree of improbability falls short of the traditional statistical threshold of 5%, so we conclude that the difference among the four pages could have arisen by chance.</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55</a:t>
            </a:fld>
            <a:endParaRPr lang="en-US">
              <a:solidFill>
                <a:srgbClr val="90C226"/>
              </a:solidFill>
            </a:endParaRPr>
          </a:p>
        </p:txBody>
      </p:sp>
    </p:spTree>
    <p:extLst>
      <p:ext uri="{BB962C8B-B14F-4D97-AF65-F5344CB8AC3E}">
        <p14:creationId xmlns:p14="http://schemas.microsoft.com/office/powerpoint/2010/main" val="1671569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Two Way ANOVA</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29731"/>
            <a:ext cx="9101669" cy="5288692"/>
          </a:xfrm>
        </p:spPr>
        <p:txBody>
          <a:bodyPr>
            <a:normAutofit/>
          </a:bodyPr>
          <a:lstStyle/>
          <a:p>
            <a:pPr algn="just"/>
            <a:r>
              <a:rPr lang="en-GB" sz="2800" dirty="0">
                <a:solidFill>
                  <a:schemeClr val="tx1"/>
                </a:solidFill>
                <a:latin typeface="NewBaskerville-Roman"/>
              </a:rPr>
              <a:t>A one-way ANOVA uses one independent variable, while a two-way ANOVA uses </a:t>
            </a:r>
            <a:r>
              <a:rPr lang="en-GB" sz="2800" b="1" dirty="0">
                <a:solidFill>
                  <a:schemeClr val="tx1"/>
                </a:solidFill>
                <a:latin typeface="NewBaskerville-Roman"/>
              </a:rPr>
              <a:t>two independent </a:t>
            </a:r>
            <a:r>
              <a:rPr lang="en-GB" sz="2800" dirty="0">
                <a:solidFill>
                  <a:schemeClr val="tx1"/>
                </a:solidFill>
                <a:latin typeface="NewBaskerville-Roman"/>
              </a:rPr>
              <a:t>variables.</a:t>
            </a:r>
          </a:p>
          <a:p>
            <a:pPr algn="just"/>
            <a:r>
              <a:rPr lang="en-GB" sz="2800" dirty="0">
                <a:solidFill>
                  <a:schemeClr val="tx1"/>
                </a:solidFill>
                <a:latin typeface="NewBaskerville-Roman"/>
              </a:rPr>
              <a:t>You can use a </a:t>
            </a:r>
            <a:r>
              <a:rPr lang="en-GB" sz="2800" b="1" i="1" dirty="0">
                <a:solidFill>
                  <a:schemeClr val="tx1"/>
                </a:solidFill>
                <a:latin typeface="NewBaskerville-Roman"/>
              </a:rPr>
              <a:t>two-way</a:t>
            </a:r>
            <a:r>
              <a:rPr lang="en-GB" sz="2800" dirty="0">
                <a:solidFill>
                  <a:schemeClr val="tx1"/>
                </a:solidFill>
                <a:latin typeface="NewBaskerville-Roman"/>
              </a:rPr>
              <a:t> ANOVA when you have collected data on a quantitative dependent variable at multiple levels of two categorical independent variables.</a:t>
            </a:r>
          </a:p>
          <a:p>
            <a:pPr algn="just"/>
            <a:r>
              <a:rPr lang="en-GB" sz="2800" dirty="0">
                <a:solidFill>
                  <a:schemeClr val="tx1"/>
                </a:solidFill>
                <a:latin typeface="NewBaskerville-Roman"/>
              </a:rPr>
              <a:t>A quantitative variable represents amounts or counts of things. It can be divided to find a group mean.</a:t>
            </a:r>
            <a:endParaRPr lang="en-US" sz="28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56</a:t>
            </a:fld>
            <a:endParaRPr lang="en-US">
              <a:solidFill>
                <a:srgbClr val="90C226"/>
              </a:solidFill>
            </a:endParaRPr>
          </a:p>
        </p:txBody>
      </p:sp>
    </p:spTree>
    <p:extLst>
      <p:ext uri="{BB962C8B-B14F-4D97-AF65-F5344CB8AC3E}">
        <p14:creationId xmlns:p14="http://schemas.microsoft.com/office/powerpoint/2010/main" val="2259857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Chi-Square Test</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29731"/>
            <a:ext cx="9039529" cy="5288692"/>
          </a:xfrm>
        </p:spPr>
        <p:txBody>
          <a:bodyPr>
            <a:normAutofit fontScale="92500" lnSpcReduction="10000"/>
          </a:bodyPr>
          <a:lstStyle/>
          <a:p>
            <a:pPr algn="just">
              <a:buFont typeface="Wingdings" panose="05000000000000000000" pitchFamily="2" charset="2"/>
              <a:buChar char="Ø"/>
            </a:pPr>
            <a:r>
              <a:rPr lang="en-US" sz="2800" dirty="0">
                <a:solidFill>
                  <a:schemeClr val="tx1"/>
                </a:solidFill>
                <a:latin typeface="NewBaskerville-Roman"/>
              </a:rPr>
              <a:t>Web testing often goes beyond A/B testing and tests multiple treatments at once. </a:t>
            </a:r>
          </a:p>
          <a:p>
            <a:pPr algn="just">
              <a:buFont typeface="Wingdings" panose="05000000000000000000" pitchFamily="2" charset="2"/>
              <a:buChar char="Ø"/>
            </a:pPr>
            <a:r>
              <a:rPr lang="en-US" sz="2800" dirty="0">
                <a:solidFill>
                  <a:schemeClr val="tx1"/>
                </a:solidFill>
                <a:latin typeface="NewBaskerville-Roman"/>
              </a:rPr>
              <a:t>The </a:t>
            </a:r>
            <a:r>
              <a:rPr lang="en-US" sz="2800" b="1" dirty="0">
                <a:solidFill>
                  <a:schemeClr val="tx1"/>
                </a:solidFill>
                <a:latin typeface="NewBaskerville-Roman"/>
              </a:rPr>
              <a:t>chi-square</a:t>
            </a:r>
            <a:r>
              <a:rPr lang="en-US" sz="2800" dirty="0">
                <a:solidFill>
                  <a:schemeClr val="tx1"/>
                </a:solidFill>
                <a:latin typeface="NewBaskerville-Roman"/>
              </a:rPr>
              <a:t> test is used with </a:t>
            </a:r>
            <a:r>
              <a:rPr lang="en-US" sz="2800" b="1" dirty="0">
                <a:solidFill>
                  <a:schemeClr val="tx1"/>
                </a:solidFill>
                <a:latin typeface="NewBaskerville-Roman"/>
              </a:rPr>
              <a:t>count data </a:t>
            </a:r>
            <a:r>
              <a:rPr lang="en-US" sz="2800" dirty="0">
                <a:solidFill>
                  <a:schemeClr val="tx1"/>
                </a:solidFill>
                <a:latin typeface="NewBaskerville-Roman"/>
              </a:rPr>
              <a:t>to test how well it fits some expected distribution</a:t>
            </a:r>
            <a:r>
              <a:rPr lang="en-US" sz="2800" dirty="0">
                <a:solidFill>
                  <a:srgbClr val="00B0F0"/>
                </a:solidFill>
                <a:latin typeface="NewBaskerville-Roman"/>
              </a:rPr>
              <a:t>. </a:t>
            </a:r>
          </a:p>
          <a:p>
            <a:pPr algn="just">
              <a:buFont typeface="Wingdings" panose="05000000000000000000" pitchFamily="2" charset="2"/>
              <a:buChar char="Ø"/>
            </a:pPr>
            <a:r>
              <a:rPr lang="en-US" sz="2800" dirty="0">
                <a:solidFill>
                  <a:schemeClr val="tx1"/>
                </a:solidFill>
                <a:latin typeface="NewBaskerville-Roman"/>
              </a:rPr>
              <a:t>The most common use of the chi-square statistic in statistical practice is with </a:t>
            </a:r>
            <a:r>
              <a:rPr lang="en-US" sz="2800" b="1" i="1" dirty="0">
                <a:solidFill>
                  <a:schemeClr val="tx1"/>
                </a:solidFill>
                <a:latin typeface="NewBaskerville-Roman"/>
              </a:rPr>
              <a:t>r × c contingency tables</a:t>
            </a:r>
            <a:r>
              <a:rPr lang="en-US" sz="2800" dirty="0">
                <a:solidFill>
                  <a:schemeClr val="tx1"/>
                </a:solidFill>
                <a:latin typeface="NewBaskerville-Roman"/>
              </a:rPr>
              <a:t>, to assess whether the null hypothesis of independence among variables is reasonable.</a:t>
            </a:r>
          </a:p>
          <a:p>
            <a:pPr algn="just">
              <a:buFont typeface="Wingdings" panose="05000000000000000000" pitchFamily="2" charset="2"/>
              <a:buChar char="Ø"/>
            </a:pPr>
            <a:r>
              <a:rPr lang="en-US" sz="2800" dirty="0">
                <a:solidFill>
                  <a:schemeClr val="tx1"/>
                </a:solidFill>
                <a:latin typeface="NewBaskerville-Roman"/>
              </a:rPr>
              <a:t>Chi-Square Test: A Resampling Approach</a:t>
            </a:r>
          </a:p>
          <a:p>
            <a:pPr lvl="1" algn="just">
              <a:buFont typeface="Wingdings" panose="05000000000000000000" pitchFamily="2" charset="2"/>
              <a:buChar char="Ø"/>
            </a:pPr>
            <a:r>
              <a:rPr lang="en-US" sz="2600" dirty="0">
                <a:solidFill>
                  <a:schemeClr val="tx1"/>
                </a:solidFill>
                <a:latin typeface="NewBaskerville-Roman"/>
              </a:rPr>
              <a:t>Suppose you are testing three different headlines A, B, and C and you run them	</a:t>
            </a:r>
            <a:r>
              <a:rPr lang="en-US" sz="2800" dirty="0">
                <a:solidFill>
                  <a:schemeClr val="tx1"/>
                </a:solidFill>
                <a:latin typeface="NewBaskerville-Roman"/>
              </a:rPr>
              <a:t>each on 1,000 visitors, with the results shown in Table 3-4 (PTO).</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57</a:t>
            </a:fld>
            <a:endParaRPr lang="en-US">
              <a:solidFill>
                <a:srgbClr val="90C226"/>
              </a:solidFill>
            </a:endParaRPr>
          </a:p>
        </p:txBody>
      </p:sp>
    </p:spTree>
    <p:extLst>
      <p:ext uri="{BB962C8B-B14F-4D97-AF65-F5344CB8AC3E}">
        <p14:creationId xmlns:p14="http://schemas.microsoft.com/office/powerpoint/2010/main" val="24174838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Chi-Square Test</a:t>
            </a:r>
            <a:endParaRPr lang="en-US"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568037" y="1029730"/>
            <a:ext cx="6262254" cy="5842438"/>
          </a:xfrm>
          <a:prstGeom prst="rect">
            <a:avLst/>
          </a:prstGeom>
        </p:spPr>
      </p:pic>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58</a:t>
            </a:fld>
            <a:endParaRPr lang="en-US">
              <a:solidFill>
                <a:srgbClr val="90C226"/>
              </a:solidFill>
            </a:endParaRPr>
          </a:p>
        </p:txBody>
      </p:sp>
    </p:spTree>
    <p:extLst>
      <p:ext uri="{BB962C8B-B14F-4D97-AF65-F5344CB8AC3E}">
        <p14:creationId xmlns:p14="http://schemas.microsoft.com/office/powerpoint/2010/main" val="23497373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Chi-Square Test</a:t>
            </a:r>
            <a:endParaRPr lang="en-US" dirty="0">
              <a:solidFill>
                <a:srgbClr val="FF0000"/>
              </a:solidFill>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59</a:t>
            </a:fld>
            <a:endParaRPr lang="en-US">
              <a:solidFill>
                <a:srgbClr val="90C226"/>
              </a:solidFill>
            </a:endParaRPr>
          </a:p>
        </p:txBody>
      </p:sp>
      <p:sp>
        <p:nvSpPr>
          <p:cNvPr id="7" name="Content Placeholder 6"/>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p:txBody>
      </p:sp>
      <p:pic>
        <p:nvPicPr>
          <p:cNvPr id="8" name="Picture 7"/>
          <p:cNvPicPr>
            <a:picLocks noChangeAspect="1"/>
          </p:cNvPicPr>
          <p:nvPr/>
        </p:nvPicPr>
        <p:blipFill>
          <a:blip r:embed="rId2"/>
          <a:stretch>
            <a:fillRect/>
          </a:stretch>
        </p:blipFill>
        <p:spPr>
          <a:xfrm>
            <a:off x="1029642" y="1061867"/>
            <a:ext cx="8415587" cy="4233339"/>
          </a:xfrm>
          <a:prstGeom prst="rect">
            <a:avLst/>
          </a:prstGeom>
        </p:spPr>
      </p:pic>
    </p:spTree>
    <p:extLst>
      <p:ext uri="{BB962C8B-B14F-4D97-AF65-F5344CB8AC3E}">
        <p14:creationId xmlns:p14="http://schemas.microsoft.com/office/powerpoint/2010/main" val="30294895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395416" y="272673"/>
            <a:ext cx="11376454" cy="757057"/>
          </a:xfrm>
        </p:spPr>
        <p:txBody>
          <a:bodyPr>
            <a:normAutofit/>
          </a:bodyPr>
          <a:lstStyle/>
          <a:p>
            <a:r>
              <a:rPr lang="en-US" dirty="0"/>
              <a:t>Chi-Square Test</a:t>
            </a:r>
            <a:endParaRPr lang="en-US" dirty="0">
              <a:solidFill>
                <a:srgbClr val="FF0000"/>
              </a:solidFill>
            </a:endParaRP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95416" y="1029731"/>
            <a:ext cx="9505042" cy="5288692"/>
          </a:xfrm>
        </p:spPr>
        <p:txBody>
          <a:bodyPr>
            <a:normAutofit fontScale="92500"/>
          </a:bodyPr>
          <a:lstStyle/>
          <a:p>
            <a:pPr algn="just">
              <a:buFont typeface="Wingdings" panose="05000000000000000000" pitchFamily="2" charset="2"/>
              <a:buChar char="Ø"/>
            </a:pPr>
            <a:r>
              <a:rPr lang="en-US" sz="2800" dirty="0">
                <a:solidFill>
                  <a:schemeClr val="tx1"/>
                </a:solidFill>
                <a:latin typeface="NewBaskerville-Roman"/>
              </a:rPr>
              <a:t>We can test with this </a:t>
            </a:r>
            <a:r>
              <a:rPr lang="en-US" sz="2800" b="1" dirty="0">
                <a:solidFill>
                  <a:schemeClr val="tx1"/>
                </a:solidFill>
                <a:latin typeface="NewBaskerville-Roman"/>
              </a:rPr>
              <a:t>resampling algorithm</a:t>
            </a:r>
            <a:r>
              <a:rPr lang="en-US" sz="2800" dirty="0">
                <a:solidFill>
                  <a:schemeClr val="tx1"/>
                </a:solidFill>
                <a:latin typeface="NewBaskerville-Roman"/>
              </a:rPr>
              <a:t>:</a:t>
            </a:r>
          </a:p>
          <a:p>
            <a:pPr lvl="1" algn="just">
              <a:buFont typeface="Wingdings" panose="05000000000000000000" pitchFamily="2" charset="2"/>
              <a:buChar char="Ø"/>
            </a:pPr>
            <a:r>
              <a:rPr lang="en-US" sz="2600" dirty="0">
                <a:solidFill>
                  <a:schemeClr val="tx1"/>
                </a:solidFill>
                <a:latin typeface="NewBaskerville-Roman"/>
              </a:rPr>
              <a:t>Constitute a box with 34 ones (clicks) and 2,966 zeros (no clicks).</a:t>
            </a:r>
          </a:p>
          <a:p>
            <a:pPr lvl="1" algn="just">
              <a:buFont typeface="Wingdings" panose="05000000000000000000" pitchFamily="2" charset="2"/>
              <a:buChar char="Ø"/>
            </a:pPr>
            <a:r>
              <a:rPr lang="en-US" sz="2600" dirty="0">
                <a:solidFill>
                  <a:schemeClr val="tx1"/>
                </a:solidFill>
                <a:latin typeface="NewBaskerville-Roman"/>
              </a:rPr>
              <a:t>Shuffle, take three separate samples of 1,000, and count the clicks in each.</a:t>
            </a:r>
          </a:p>
          <a:p>
            <a:pPr lvl="1" algn="just">
              <a:buFont typeface="Wingdings" panose="05000000000000000000" pitchFamily="2" charset="2"/>
              <a:buChar char="Ø"/>
            </a:pPr>
            <a:r>
              <a:rPr lang="en-US" sz="2600" dirty="0">
                <a:solidFill>
                  <a:schemeClr val="tx1"/>
                </a:solidFill>
                <a:latin typeface="NewBaskerville-Roman"/>
              </a:rPr>
              <a:t>Find the squared differences between the shuffled counts and the expected counts and sum them.</a:t>
            </a:r>
          </a:p>
          <a:p>
            <a:pPr lvl="1" algn="just">
              <a:buFont typeface="Wingdings" panose="05000000000000000000" pitchFamily="2" charset="2"/>
              <a:buChar char="Ø"/>
            </a:pPr>
            <a:r>
              <a:rPr lang="en-US" sz="2600" dirty="0">
                <a:solidFill>
                  <a:schemeClr val="tx1"/>
                </a:solidFill>
                <a:latin typeface="NewBaskerville-Roman"/>
              </a:rPr>
              <a:t>Repeat steps 2 and 3, say, 1,000 times.</a:t>
            </a:r>
          </a:p>
          <a:p>
            <a:pPr lvl="1" algn="just">
              <a:buFont typeface="Wingdings" panose="05000000000000000000" pitchFamily="2" charset="2"/>
              <a:buChar char="Ø"/>
            </a:pPr>
            <a:r>
              <a:rPr lang="en-US" sz="2600" dirty="0">
                <a:solidFill>
                  <a:schemeClr val="tx1"/>
                </a:solidFill>
                <a:latin typeface="NewBaskerville-Roman"/>
              </a:rPr>
              <a:t>How often does the</a:t>
            </a:r>
          </a:p>
          <a:p>
            <a:pPr algn="just">
              <a:lnSpc>
                <a:spcPct val="120000"/>
              </a:lnSpc>
              <a:buFont typeface="Wingdings" panose="05000000000000000000" pitchFamily="2" charset="2"/>
              <a:buChar char="Ø"/>
            </a:pPr>
            <a:r>
              <a:rPr lang="en-US" sz="2800" dirty="0">
                <a:solidFill>
                  <a:schemeClr val="tx1"/>
                </a:solidFill>
                <a:latin typeface="NewBaskerville-Roman"/>
              </a:rPr>
              <a:t>After resampling 1000 times we got chi square value of 1.6659 and concerned </a:t>
            </a:r>
            <a:r>
              <a:rPr lang="en-US" sz="2800" b="1" dirty="0">
                <a:solidFill>
                  <a:schemeClr val="tx1"/>
                </a:solidFill>
                <a:latin typeface="NewBaskerville-Roman"/>
              </a:rPr>
              <a:t>p-value is 0.4853 </a:t>
            </a:r>
            <a:r>
              <a:rPr lang="en-US" sz="2800" dirty="0">
                <a:solidFill>
                  <a:schemeClr val="tx1"/>
                </a:solidFill>
                <a:latin typeface="NewBaskerville-Roman"/>
              </a:rPr>
              <a:t>that show this result could </a:t>
            </a:r>
            <a:r>
              <a:rPr lang="en-US" sz="2800" b="1" dirty="0">
                <a:solidFill>
                  <a:schemeClr val="tx1"/>
                </a:solidFill>
                <a:latin typeface="NewBaskerville-Roman"/>
              </a:rPr>
              <a:t>have been obtained easily by a random chance</a:t>
            </a:r>
            <a:r>
              <a:rPr lang="en-US" sz="2800" dirty="0">
                <a:solidFill>
                  <a:schemeClr val="tx1"/>
                </a:solidFill>
                <a:latin typeface="NewBaskerville-Roman"/>
              </a:rPr>
              <a:t>.</a:t>
            </a:r>
          </a:p>
          <a:p>
            <a:endParaRPr lang="en-US" sz="2800" dirty="0">
              <a:solidFill>
                <a:schemeClr val="tx1"/>
              </a:solidFill>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60</a:t>
            </a:fld>
            <a:endParaRPr lang="en-US">
              <a:solidFill>
                <a:srgbClr val="90C226"/>
              </a:solidFill>
            </a:endParaRPr>
          </a:p>
        </p:txBody>
      </p:sp>
    </p:spTree>
    <p:extLst>
      <p:ext uri="{BB962C8B-B14F-4D97-AF65-F5344CB8AC3E}">
        <p14:creationId xmlns:p14="http://schemas.microsoft.com/office/powerpoint/2010/main" val="210585078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0</TotalTime>
  <Words>4558</Words>
  <Application>Microsoft Office PowerPoint</Application>
  <PresentationFormat>Widescreen</PresentationFormat>
  <Paragraphs>437</Paragraphs>
  <Slides>60</Slides>
  <Notes>1</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60</vt:i4>
      </vt:variant>
    </vt:vector>
  </HeadingPairs>
  <TitlesOfParts>
    <vt:vector size="75" baseType="lpstr">
      <vt:lpstr>Arial</vt:lpstr>
      <vt:lpstr>Calibri</vt:lpstr>
      <vt:lpstr>Calibri Light</vt:lpstr>
      <vt:lpstr>Cambria Math</vt:lpstr>
      <vt:lpstr>Domine</vt:lpstr>
      <vt:lpstr>FranklinGothic-DemiItal</vt:lpstr>
      <vt:lpstr>Georgia</vt:lpstr>
      <vt:lpstr>NewBaskerville-Roman</vt:lpstr>
      <vt:lpstr>Tahoma</vt:lpstr>
      <vt:lpstr>Times New Roman</vt:lpstr>
      <vt:lpstr>Trebuchet MS</vt:lpstr>
      <vt:lpstr>Wingdings</vt:lpstr>
      <vt:lpstr>Wingdings 3</vt:lpstr>
      <vt:lpstr>Custom Design</vt:lpstr>
      <vt:lpstr>Facet</vt:lpstr>
      <vt:lpstr>PowerPoint Presentation</vt:lpstr>
      <vt:lpstr>Contents</vt:lpstr>
      <vt:lpstr>A/B Testing</vt:lpstr>
      <vt:lpstr>A/B Testing</vt:lpstr>
      <vt:lpstr>A/B Testing (Additional reading)</vt:lpstr>
      <vt:lpstr>A/B Testing</vt:lpstr>
      <vt:lpstr>A/B Testing</vt:lpstr>
      <vt:lpstr>A/B Testing</vt:lpstr>
      <vt:lpstr>A/B Testing</vt:lpstr>
      <vt:lpstr>A/B Testing</vt:lpstr>
      <vt:lpstr>A/B Testing</vt:lpstr>
      <vt:lpstr>Hypothesis Tests</vt:lpstr>
      <vt:lpstr>Hypothesis Tests</vt:lpstr>
      <vt:lpstr>Hypothesis Tests</vt:lpstr>
      <vt:lpstr>Hypothesis Tests</vt:lpstr>
      <vt:lpstr>Hypothesis Tests</vt:lpstr>
      <vt:lpstr>Hypothesis Tests</vt:lpstr>
      <vt:lpstr>Hypothesis Tests</vt:lpstr>
      <vt:lpstr>Hypothesis Tests</vt:lpstr>
      <vt:lpstr>Hypothesis Tests</vt:lpstr>
      <vt:lpstr>Hypothesis Testing</vt:lpstr>
      <vt:lpstr>Resampling</vt:lpstr>
      <vt:lpstr>Resampling: Permutation Test</vt:lpstr>
      <vt:lpstr>PowerPoint Presentation</vt:lpstr>
      <vt:lpstr>Resampling: Permutation Test</vt:lpstr>
      <vt:lpstr>Resampling</vt:lpstr>
      <vt:lpstr>Resampling</vt:lpstr>
      <vt:lpstr>Resampling: Permutation Test</vt:lpstr>
      <vt:lpstr>Statistical Significance and p-Values</vt:lpstr>
      <vt:lpstr>Statistical Significance and p-Values</vt:lpstr>
      <vt:lpstr>Resampling: Permutation Test</vt:lpstr>
      <vt:lpstr>Statistical Significance and p-Values</vt:lpstr>
      <vt:lpstr>Statistical Significance and p-Values</vt:lpstr>
      <vt:lpstr>Statistical Significance and p-Values</vt:lpstr>
      <vt:lpstr>p-Values and Data Science</vt:lpstr>
      <vt:lpstr>Type 1 and Type 2 Errors</vt:lpstr>
      <vt:lpstr>t-Tests/ Student’s t-test</vt:lpstr>
      <vt:lpstr>t-Tests/ Student’s t-test</vt:lpstr>
      <vt:lpstr>t-Tests</vt:lpstr>
      <vt:lpstr>t-Tests</vt:lpstr>
      <vt:lpstr>What type of t test should I use?</vt:lpstr>
      <vt:lpstr>What type of t test should I use?</vt:lpstr>
      <vt:lpstr>Why t test (Additional reading)</vt:lpstr>
      <vt:lpstr>t-Tests(One-sample)</vt:lpstr>
      <vt:lpstr>t-Tests</vt:lpstr>
      <vt:lpstr>t-Tests (One-tailed vs. two-tailed tests)</vt:lpstr>
      <vt:lpstr>t-Tests (One-tailed vs. two-tailed tests)</vt:lpstr>
      <vt:lpstr>t-Tests (example)</vt:lpstr>
      <vt:lpstr>t-Tests (example)</vt:lpstr>
      <vt:lpstr>t-Tests (example)</vt:lpstr>
      <vt:lpstr>ANOVA</vt:lpstr>
      <vt:lpstr>ANOVA</vt:lpstr>
      <vt:lpstr>ANOVA</vt:lpstr>
      <vt:lpstr>ANOVA</vt:lpstr>
      <vt:lpstr>ANOVA</vt:lpstr>
      <vt:lpstr>Two Way ANOVA</vt:lpstr>
      <vt:lpstr>Chi-Square Test</vt:lpstr>
      <vt:lpstr>Chi-Square Test</vt:lpstr>
      <vt:lpstr>Chi-Square Test</vt:lpstr>
      <vt:lpstr>Chi-Square Test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dc:creator>SIBAU</dc:creator>
  <cp:lastModifiedBy>Muhammad Ismail Mangrio</cp:lastModifiedBy>
  <cp:revision>890</cp:revision>
  <dcterms:created xsi:type="dcterms:W3CDTF">2021-02-15T05:10:53Z</dcterms:created>
  <dcterms:modified xsi:type="dcterms:W3CDTF">2025-11-13T18:19:11Z</dcterms:modified>
</cp:coreProperties>
</file>
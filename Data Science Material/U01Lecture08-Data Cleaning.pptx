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307" r:id="rId5"/>
    <p:sldId id="308" r:id="rId6"/>
    <p:sldId id="289" r:id="rId7"/>
    <p:sldId id="309" r:id="rId8"/>
    <p:sldId id="310" r:id="rId9"/>
    <p:sldId id="304" r:id="rId10"/>
    <p:sldId id="311" r:id="rId11"/>
    <p:sldId id="312" r:id="rId12"/>
    <p:sldId id="305" r:id="rId13"/>
    <p:sldId id="27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80" d="100"/>
          <a:sy n="80" d="100"/>
        </p:scale>
        <p:origin x="57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Science</a:t>
            </a:r>
          </a:p>
        </p:txBody>
      </p:sp>
      <p:sp>
        <p:nvSpPr>
          <p:cNvPr id="3" name="Subtitle 2"/>
          <p:cNvSpPr>
            <a:spLocks noGrp="1"/>
          </p:cNvSpPr>
          <p:nvPr>
            <p:ph type="subTitle" idx="1"/>
          </p:nvPr>
        </p:nvSpPr>
        <p:spPr/>
        <p:txBody>
          <a:bodyPr>
            <a:normAutofit lnSpcReduction="10000"/>
          </a:bodyPr>
          <a:lstStyle/>
          <a:p>
            <a:r>
              <a:rPr lang="en-US" dirty="0"/>
              <a:t>Unit 01: Python for Data Science</a:t>
            </a:r>
          </a:p>
          <a:p>
            <a:r>
              <a:rPr lang="en-US" dirty="0"/>
              <a:t>Lecture 08</a:t>
            </a:r>
          </a:p>
          <a:p>
            <a:r>
              <a:rPr lang="en-US" dirty="0"/>
              <a:t>Introduction to Data Cleaning</a:t>
            </a:r>
          </a:p>
        </p:txBody>
      </p:sp>
    </p:spTree>
    <p:extLst>
      <p:ext uri="{BB962C8B-B14F-4D97-AF65-F5344CB8AC3E}">
        <p14:creationId xmlns:p14="http://schemas.microsoft.com/office/powerpoint/2010/main" val="267062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8502"/>
          </a:xfrm>
        </p:spPr>
        <p:txBody>
          <a:bodyPr/>
          <a:lstStyle/>
          <a:p>
            <a:r>
              <a:rPr lang="en-US" dirty="0"/>
              <a:t>Data Cleaning</a:t>
            </a:r>
          </a:p>
        </p:txBody>
      </p:sp>
      <p:sp>
        <p:nvSpPr>
          <p:cNvPr id="3" name="Content Placeholder 2"/>
          <p:cNvSpPr>
            <a:spLocks noGrp="1"/>
          </p:cNvSpPr>
          <p:nvPr>
            <p:ph idx="1"/>
          </p:nvPr>
        </p:nvSpPr>
        <p:spPr>
          <a:xfrm>
            <a:off x="304801" y="1283277"/>
            <a:ext cx="6207602" cy="3880773"/>
          </a:xfrm>
        </p:spPr>
        <p:txBody>
          <a:bodyPr>
            <a:noAutofit/>
          </a:bodyPr>
          <a:lstStyle/>
          <a:p>
            <a:r>
              <a:rPr lang="en-US" b="1" dirty="0"/>
              <a:t>Data cleaning </a:t>
            </a:r>
            <a:r>
              <a:rPr lang="en-US" dirty="0"/>
              <a:t>means </a:t>
            </a:r>
            <a:r>
              <a:rPr lang="en-US" b="1" dirty="0"/>
              <a:t>fixing bad data </a:t>
            </a:r>
            <a:r>
              <a:rPr lang="en-US" dirty="0"/>
              <a:t>in your data set.</a:t>
            </a:r>
          </a:p>
          <a:p>
            <a:r>
              <a:rPr lang="en-US" dirty="0"/>
              <a:t>Bad data could be:</a:t>
            </a:r>
          </a:p>
          <a:p>
            <a:pPr lvl="1"/>
            <a:r>
              <a:rPr lang="en-US" b="1" dirty="0"/>
              <a:t>Empty cells</a:t>
            </a:r>
          </a:p>
          <a:p>
            <a:pPr lvl="1"/>
            <a:r>
              <a:rPr lang="en-US" b="1" dirty="0"/>
              <a:t>Data in wrong format</a:t>
            </a:r>
          </a:p>
          <a:p>
            <a:pPr lvl="1"/>
            <a:r>
              <a:rPr lang="en-US" b="1" dirty="0"/>
              <a:t>Wrong data</a:t>
            </a:r>
          </a:p>
          <a:p>
            <a:pPr lvl="1"/>
            <a:r>
              <a:rPr lang="en-US" b="1" dirty="0"/>
              <a:t>Duplicates</a:t>
            </a:r>
          </a:p>
          <a:p>
            <a:r>
              <a:rPr lang="en-US" dirty="0"/>
              <a:t>In this lecture you will learn how to deal with all of them. This dataset contains:</a:t>
            </a:r>
          </a:p>
          <a:p>
            <a:pPr lvl="1"/>
            <a:r>
              <a:rPr lang="en-US" dirty="0"/>
              <a:t>The data set contains some </a:t>
            </a:r>
            <a:r>
              <a:rPr lang="en-US" b="1" dirty="0"/>
              <a:t>empty cells </a:t>
            </a:r>
            <a:r>
              <a:rPr lang="en-US" dirty="0"/>
              <a:t>("Date" in row 22, and "Calories" in row 18 and 28).</a:t>
            </a:r>
          </a:p>
          <a:p>
            <a:pPr lvl="1"/>
            <a:r>
              <a:rPr lang="en-US" dirty="0"/>
              <a:t>The data set contains </a:t>
            </a:r>
            <a:r>
              <a:rPr lang="en-US" b="1" dirty="0"/>
              <a:t>wrong format </a:t>
            </a:r>
            <a:r>
              <a:rPr lang="en-US" dirty="0"/>
              <a:t>("Date" in row 26).</a:t>
            </a:r>
          </a:p>
          <a:p>
            <a:pPr lvl="1"/>
            <a:r>
              <a:rPr lang="en-US" dirty="0"/>
              <a:t>The data set contains </a:t>
            </a:r>
            <a:r>
              <a:rPr lang="en-US" b="1" dirty="0"/>
              <a:t>wrong data </a:t>
            </a:r>
            <a:r>
              <a:rPr lang="en-US" dirty="0"/>
              <a:t>("Duration" in row 7).</a:t>
            </a:r>
          </a:p>
          <a:p>
            <a:pPr lvl="1"/>
            <a:r>
              <a:rPr lang="en-US" dirty="0"/>
              <a:t>The data set contains </a:t>
            </a:r>
            <a:r>
              <a:rPr lang="en-US" b="1" dirty="0"/>
              <a:t>duplicates</a:t>
            </a:r>
            <a:r>
              <a:rPr lang="en-US" dirty="0"/>
              <a:t> (row 11 and 12).</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5" name="Rectangle 20"/>
          <p:cNvSpPr>
            <a:spLocks noChangeArrowheads="1"/>
          </p:cNvSpPr>
          <p:nvPr/>
        </p:nvSpPr>
        <p:spPr bwMode="auto">
          <a:xfrm>
            <a:off x="6512402" y="91845"/>
            <a:ext cx="5669280" cy="6591508"/>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1600" b="1" dirty="0">
                <a:solidFill>
                  <a:srgbClr val="000000"/>
                </a:solidFill>
                <a:latin typeface="Consolas" panose="020B0609020204030204" pitchFamily="49" charset="0"/>
              </a:rPr>
              <a:t>Our Data Set</a:t>
            </a:r>
          </a:p>
          <a:p>
            <a:r>
              <a:rPr lang="en-US" sz="1200" b="1" dirty="0">
                <a:solidFill>
                  <a:srgbClr val="000000"/>
                </a:solidFill>
                <a:latin typeface="Consolas" panose="020B0609020204030204" pitchFamily="49" charset="0"/>
              </a:rPr>
              <a:t>In this chapters we will use this data set:</a:t>
            </a:r>
          </a:p>
          <a:p>
            <a:r>
              <a:rPr lang="en-US" sz="1200" b="1" dirty="0">
                <a:solidFill>
                  <a:srgbClr val="000000"/>
                </a:solidFill>
                <a:latin typeface="Consolas" panose="020B0609020204030204" pitchFamily="49" charset="0"/>
              </a:rPr>
              <a:t>      Duration          Date  Pulse  </a:t>
            </a:r>
            <a:r>
              <a:rPr lang="en-US" sz="1200" b="1" dirty="0" err="1">
                <a:solidFill>
                  <a:srgbClr val="000000"/>
                </a:solidFill>
                <a:latin typeface="Consolas" panose="020B0609020204030204" pitchFamily="49" charset="0"/>
              </a:rPr>
              <a:t>Maxpulse</a:t>
            </a:r>
            <a:r>
              <a:rPr lang="en-US" sz="1200" b="1" dirty="0">
                <a:solidFill>
                  <a:srgbClr val="000000"/>
                </a:solidFill>
                <a:latin typeface="Consolas" panose="020B0609020204030204" pitchFamily="49" charset="0"/>
              </a:rPr>
              <a:t>  Calories</a:t>
            </a:r>
          </a:p>
          <a:p>
            <a:r>
              <a:rPr lang="en-US" sz="1200" b="1" dirty="0">
                <a:solidFill>
                  <a:srgbClr val="000000"/>
                </a:solidFill>
                <a:latin typeface="Consolas" panose="020B0609020204030204" pitchFamily="49" charset="0"/>
              </a:rPr>
              <a:t>  0         60  '2020/12/01'    110       130     409.1</a:t>
            </a:r>
          </a:p>
          <a:p>
            <a:r>
              <a:rPr lang="en-US" sz="1200" b="1" dirty="0">
                <a:solidFill>
                  <a:srgbClr val="000000"/>
                </a:solidFill>
                <a:latin typeface="Consolas" panose="020B0609020204030204" pitchFamily="49" charset="0"/>
              </a:rPr>
              <a:t>  1         60  '2020/12/02'    117       145     479.0</a:t>
            </a:r>
          </a:p>
          <a:p>
            <a:r>
              <a:rPr lang="en-US" sz="1200" b="1" dirty="0">
                <a:solidFill>
                  <a:srgbClr val="000000"/>
                </a:solidFill>
                <a:latin typeface="Consolas" panose="020B0609020204030204" pitchFamily="49" charset="0"/>
              </a:rPr>
              <a:t>  2         60  '2020/12/03'    103       135     340.0</a:t>
            </a:r>
          </a:p>
          <a:p>
            <a:r>
              <a:rPr lang="en-US" sz="1200" b="1" dirty="0">
                <a:solidFill>
                  <a:srgbClr val="000000"/>
                </a:solidFill>
                <a:latin typeface="Consolas" panose="020B0609020204030204" pitchFamily="49" charset="0"/>
              </a:rPr>
              <a:t>  3         45  '2020/12/04'    109       175     282.4</a:t>
            </a:r>
          </a:p>
          <a:p>
            <a:r>
              <a:rPr lang="en-US" sz="1200" b="1" dirty="0">
                <a:solidFill>
                  <a:srgbClr val="000000"/>
                </a:solidFill>
                <a:latin typeface="Consolas" panose="020B0609020204030204" pitchFamily="49" charset="0"/>
              </a:rPr>
              <a:t>  4         45  '2020/12/05'    117       148     406.0</a:t>
            </a:r>
          </a:p>
          <a:p>
            <a:r>
              <a:rPr lang="en-US" sz="1200" b="1" dirty="0">
                <a:solidFill>
                  <a:srgbClr val="000000"/>
                </a:solidFill>
                <a:latin typeface="Consolas" panose="020B0609020204030204" pitchFamily="49" charset="0"/>
              </a:rPr>
              <a:t>  5         60  '2020/12/06'    102       127     300.0</a:t>
            </a:r>
          </a:p>
          <a:p>
            <a:r>
              <a:rPr lang="en-US" sz="1200" b="1" dirty="0">
                <a:solidFill>
                  <a:srgbClr val="000000"/>
                </a:solidFill>
                <a:latin typeface="Consolas" panose="020B0609020204030204" pitchFamily="49" charset="0"/>
              </a:rPr>
              <a:t>  6         60  '2020/12/07'    110       136     374.0</a:t>
            </a:r>
          </a:p>
          <a:p>
            <a:r>
              <a:rPr lang="en-US" sz="1200" b="1" dirty="0">
                <a:solidFill>
                  <a:srgbClr val="000000"/>
                </a:solidFill>
                <a:latin typeface="Consolas" panose="020B0609020204030204" pitchFamily="49" charset="0"/>
              </a:rPr>
              <a:t>  7        450  '2020/12/08'    104       134     253.3</a:t>
            </a:r>
          </a:p>
          <a:p>
            <a:r>
              <a:rPr lang="en-US" sz="1200" b="1" dirty="0">
                <a:solidFill>
                  <a:srgbClr val="000000"/>
                </a:solidFill>
                <a:latin typeface="Consolas" panose="020B0609020204030204" pitchFamily="49" charset="0"/>
              </a:rPr>
              <a:t>  8         30  '2020/12/09'    109       133     195.1</a:t>
            </a:r>
          </a:p>
          <a:p>
            <a:r>
              <a:rPr lang="en-US" sz="1200" b="1" dirty="0">
                <a:solidFill>
                  <a:srgbClr val="000000"/>
                </a:solidFill>
                <a:latin typeface="Consolas" panose="020B0609020204030204" pitchFamily="49" charset="0"/>
              </a:rPr>
              <a:t>  9         60  '2020/12/10'     98       124     269.0</a:t>
            </a:r>
          </a:p>
          <a:p>
            <a:r>
              <a:rPr lang="en-US" sz="1200" b="1" dirty="0">
                <a:solidFill>
                  <a:srgbClr val="000000"/>
                </a:solidFill>
                <a:latin typeface="Consolas" panose="020B0609020204030204" pitchFamily="49" charset="0"/>
              </a:rPr>
              <a:t>  10        60  '2020/12/11'    103       147     329.3</a:t>
            </a:r>
          </a:p>
          <a:p>
            <a:r>
              <a:rPr lang="en-US" sz="1200" b="1" dirty="0">
                <a:solidFill>
                  <a:srgbClr val="000000"/>
                </a:solidFill>
                <a:latin typeface="Consolas" panose="020B0609020204030204" pitchFamily="49" charset="0"/>
              </a:rPr>
              <a:t>  11        60  '2020/12/12'    100       120     250.7</a:t>
            </a:r>
          </a:p>
          <a:p>
            <a:r>
              <a:rPr lang="en-US" sz="1200" b="1" dirty="0">
                <a:solidFill>
                  <a:srgbClr val="000000"/>
                </a:solidFill>
                <a:latin typeface="Consolas" panose="020B0609020204030204" pitchFamily="49" charset="0"/>
              </a:rPr>
              <a:t>  12        60  '2020/12/12'    100       120     250.7</a:t>
            </a:r>
          </a:p>
          <a:p>
            <a:r>
              <a:rPr lang="en-US" sz="1200" b="1" dirty="0">
                <a:solidFill>
                  <a:srgbClr val="000000"/>
                </a:solidFill>
                <a:latin typeface="Consolas" panose="020B0609020204030204" pitchFamily="49" charset="0"/>
              </a:rPr>
              <a:t>  13        60  '2020/12/13'    106       128     345.3</a:t>
            </a:r>
          </a:p>
          <a:p>
            <a:r>
              <a:rPr lang="en-US" sz="1200" b="1" dirty="0">
                <a:solidFill>
                  <a:srgbClr val="000000"/>
                </a:solidFill>
                <a:latin typeface="Consolas" panose="020B0609020204030204" pitchFamily="49" charset="0"/>
              </a:rPr>
              <a:t>  14        60  '2020/12/14'    104       132     379.3</a:t>
            </a:r>
          </a:p>
          <a:p>
            <a:r>
              <a:rPr lang="en-US" sz="1200" b="1" dirty="0">
                <a:solidFill>
                  <a:srgbClr val="000000"/>
                </a:solidFill>
                <a:latin typeface="Consolas" panose="020B0609020204030204" pitchFamily="49" charset="0"/>
              </a:rPr>
              <a:t>  15        60  '2020/12/15'     98       123     275.0</a:t>
            </a:r>
          </a:p>
          <a:p>
            <a:r>
              <a:rPr lang="en-US" sz="1200" b="1" dirty="0">
                <a:solidFill>
                  <a:srgbClr val="000000"/>
                </a:solidFill>
                <a:latin typeface="Consolas" panose="020B0609020204030204" pitchFamily="49" charset="0"/>
              </a:rPr>
              <a:t>  16        60  '2020/12/16'     98       120     215.2</a:t>
            </a:r>
          </a:p>
          <a:p>
            <a:r>
              <a:rPr lang="en-US" sz="1200" b="1" dirty="0">
                <a:solidFill>
                  <a:srgbClr val="000000"/>
                </a:solidFill>
                <a:latin typeface="Consolas" panose="020B0609020204030204" pitchFamily="49" charset="0"/>
              </a:rPr>
              <a:t>  17        60  '2020/12/17'    100       120     300.0</a:t>
            </a:r>
          </a:p>
          <a:p>
            <a:r>
              <a:rPr lang="en-US" sz="1200" b="1" dirty="0">
                <a:solidFill>
                  <a:srgbClr val="000000"/>
                </a:solidFill>
                <a:latin typeface="Consolas" panose="020B0609020204030204" pitchFamily="49" charset="0"/>
              </a:rPr>
              <a:t>  18        45  '2020/12/18'     90       112       </a:t>
            </a:r>
            <a:r>
              <a:rPr lang="en-US" sz="1200" b="1" dirty="0" err="1">
                <a:solidFill>
                  <a:srgbClr val="000000"/>
                </a:solidFill>
                <a:latin typeface="Consolas" panose="020B0609020204030204" pitchFamily="49" charset="0"/>
              </a:rPr>
              <a:t>NaN</a:t>
            </a:r>
            <a:endParaRPr lang="en-US" sz="1200" b="1" dirty="0">
              <a:solidFill>
                <a:srgbClr val="000000"/>
              </a:solidFill>
              <a:latin typeface="Consolas" panose="020B0609020204030204" pitchFamily="49" charset="0"/>
            </a:endParaRPr>
          </a:p>
          <a:p>
            <a:r>
              <a:rPr lang="en-US" sz="1200" b="1" dirty="0">
                <a:solidFill>
                  <a:srgbClr val="000000"/>
                </a:solidFill>
                <a:latin typeface="Consolas" panose="020B0609020204030204" pitchFamily="49" charset="0"/>
              </a:rPr>
              <a:t>  19        60  '2020/12/19'    103       123     323.0</a:t>
            </a:r>
          </a:p>
          <a:p>
            <a:r>
              <a:rPr lang="en-US" sz="1200" b="1" dirty="0">
                <a:solidFill>
                  <a:srgbClr val="000000"/>
                </a:solidFill>
                <a:latin typeface="Consolas" panose="020B0609020204030204" pitchFamily="49" charset="0"/>
              </a:rPr>
              <a:t>  20        45  '2020/12/20'     97       125     243.0</a:t>
            </a:r>
          </a:p>
          <a:p>
            <a:r>
              <a:rPr lang="en-US" sz="1200" b="1" dirty="0">
                <a:solidFill>
                  <a:srgbClr val="000000"/>
                </a:solidFill>
                <a:latin typeface="Consolas" panose="020B0609020204030204" pitchFamily="49" charset="0"/>
              </a:rPr>
              <a:t>  21        60  '2020/12/21'    108       131     364.2</a:t>
            </a:r>
          </a:p>
          <a:p>
            <a:r>
              <a:rPr lang="en-US" sz="1200" b="1" dirty="0">
                <a:solidFill>
                  <a:srgbClr val="000000"/>
                </a:solidFill>
                <a:latin typeface="Consolas" panose="020B0609020204030204" pitchFamily="49" charset="0"/>
              </a:rPr>
              <a:t>  22        45           </a:t>
            </a:r>
            <a:r>
              <a:rPr lang="en-US" sz="1200" b="1" dirty="0" err="1">
                <a:solidFill>
                  <a:srgbClr val="000000"/>
                </a:solidFill>
                <a:latin typeface="Consolas" panose="020B0609020204030204" pitchFamily="49" charset="0"/>
              </a:rPr>
              <a:t>NaN</a:t>
            </a:r>
            <a:r>
              <a:rPr lang="en-US" sz="1200" b="1" dirty="0">
                <a:solidFill>
                  <a:srgbClr val="000000"/>
                </a:solidFill>
                <a:latin typeface="Consolas" panose="020B0609020204030204" pitchFamily="49" charset="0"/>
              </a:rPr>
              <a:t>    100       119     282.0</a:t>
            </a:r>
          </a:p>
          <a:p>
            <a:r>
              <a:rPr lang="en-US" sz="1200" b="1" dirty="0">
                <a:solidFill>
                  <a:srgbClr val="000000"/>
                </a:solidFill>
                <a:latin typeface="Consolas" panose="020B0609020204030204" pitchFamily="49" charset="0"/>
              </a:rPr>
              <a:t>  23        60  '2020/12/23'    130       101     300.0</a:t>
            </a:r>
          </a:p>
          <a:p>
            <a:r>
              <a:rPr lang="en-US" sz="1200" b="1" dirty="0">
                <a:solidFill>
                  <a:srgbClr val="000000"/>
                </a:solidFill>
                <a:latin typeface="Consolas" panose="020B0609020204030204" pitchFamily="49" charset="0"/>
              </a:rPr>
              <a:t>  24        45  '2020/12/24'    105       132     246.0</a:t>
            </a:r>
          </a:p>
          <a:p>
            <a:r>
              <a:rPr lang="en-US" sz="1200" b="1" dirty="0">
                <a:solidFill>
                  <a:srgbClr val="000000"/>
                </a:solidFill>
                <a:latin typeface="Consolas" panose="020B0609020204030204" pitchFamily="49" charset="0"/>
              </a:rPr>
              <a:t>  25        60  '2020/12/25'    102       126     334.5</a:t>
            </a:r>
          </a:p>
          <a:p>
            <a:r>
              <a:rPr lang="en-US" sz="1200" b="1" dirty="0">
                <a:solidFill>
                  <a:srgbClr val="000000"/>
                </a:solidFill>
                <a:latin typeface="Consolas" panose="020B0609020204030204" pitchFamily="49" charset="0"/>
              </a:rPr>
              <a:t>  26        60    2020/12/26    100       120     250.0</a:t>
            </a:r>
          </a:p>
          <a:p>
            <a:r>
              <a:rPr lang="en-US" sz="1200" b="1" dirty="0">
                <a:solidFill>
                  <a:srgbClr val="000000"/>
                </a:solidFill>
                <a:latin typeface="Consolas" panose="020B0609020204030204" pitchFamily="49" charset="0"/>
              </a:rPr>
              <a:t>  27        60  '2020/12/27'     92       118     241.0</a:t>
            </a:r>
          </a:p>
          <a:p>
            <a:r>
              <a:rPr lang="en-US" sz="1200" b="1" dirty="0">
                <a:solidFill>
                  <a:srgbClr val="000000"/>
                </a:solidFill>
                <a:latin typeface="Consolas" panose="020B0609020204030204" pitchFamily="49" charset="0"/>
              </a:rPr>
              <a:t>  28        60  '2020/12/28'    103       132       </a:t>
            </a:r>
            <a:r>
              <a:rPr lang="en-US" sz="1200" b="1" dirty="0" err="1">
                <a:solidFill>
                  <a:srgbClr val="000000"/>
                </a:solidFill>
                <a:latin typeface="Consolas" panose="020B0609020204030204" pitchFamily="49" charset="0"/>
              </a:rPr>
              <a:t>NaN</a:t>
            </a:r>
            <a:endParaRPr lang="en-US" sz="1200" b="1" dirty="0">
              <a:solidFill>
                <a:srgbClr val="000000"/>
              </a:solidFill>
              <a:latin typeface="Consolas" panose="020B0609020204030204" pitchFamily="49" charset="0"/>
            </a:endParaRPr>
          </a:p>
          <a:p>
            <a:r>
              <a:rPr lang="en-US" sz="1200" b="1" dirty="0">
                <a:solidFill>
                  <a:srgbClr val="000000"/>
                </a:solidFill>
                <a:latin typeface="Consolas" panose="020B0609020204030204" pitchFamily="49" charset="0"/>
              </a:rPr>
              <a:t>  29        60  '2020/12/29'    100       132     280.0</a:t>
            </a:r>
          </a:p>
          <a:p>
            <a:r>
              <a:rPr lang="en-US" sz="1200" b="1" dirty="0">
                <a:solidFill>
                  <a:srgbClr val="000000"/>
                </a:solidFill>
                <a:latin typeface="Consolas" panose="020B0609020204030204" pitchFamily="49" charset="0"/>
              </a:rPr>
              <a:t>  30        60  '2020/12/30'    102       129     380.3</a:t>
            </a:r>
          </a:p>
          <a:p>
            <a:r>
              <a:rPr lang="en-US" sz="1200" b="1" dirty="0">
                <a:solidFill>
                  <a:srgbClr val="000000"/>
                </a:solidFill>
                <a:latin typeface="Consolas" panose="020B0609020204030204" pitchFamily="49" charset="0"/>
              </a:rPr>
              <a:t>  31        60  '2020/12/31'     92       115     243.0</a:t>
            </a:r>
          </a:p>
        </p:txBody>
      </p:sp>
    </p:spTree>
    <p:extLst>
      <p:ext uri="{BB962C8B-B14F-4D97-AF65-F5344CB8AC3E}">
        <p14:creationId xmlns:p14="http://schemas.microsoft.com/office/powerpoint/2010/main" val="3750181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Empty cells</a:t>
            </a:r>
          </a:p>
        </p:txBody>
      </p:sp>
      <p:sp>
        <p:nvSpPr>
          <p:cNvPr id="3" name="Content Placeholder 2"/>
          <p:cNvSpPr>
            <a:spLocks noGrp="1"/>
          </p:cNvSpPr>
          <p:nvPr>
            <p:ph idx="1"/>
          </p:nvPr>
        </p:nvSpPr>
        <p:spPr>
          <a:xfrm>
            <a:off x="338668" y="2160589"/>
            <a:ext cx="6236700" cy="3880773"/>
          </a:xfrm>
        </p:spPr>
        <p:txBody>
          <a:bodyPr>
            <a:normAutofit fontScale="77500" lnSpcReduction="20000"/>
          </a:bodyPr>
          <a:lstStyle/>
          <a:p>
            <a:pPr>
              <a:lnSpc>
                <a:spcPct val="120000"/>
              </a:lnSpc>
            </a:pPr>
            <a:r>
              <a:rPr lang="en-US" sz="1900" b="1" dirty="0"/>
              <a:t>Empty Cells</a:t>
            </a:r>
            <a:r>
              <a:rPr lang="en-US" sz="1900" dirty="0"/>
              <a:t>: Empty cells can potentially give you a </a:t>
            </a:r>
            <a:r>
              <a:rPr lang="en-US" sz="1900" b="1" dirty="0"/>
              <a:t>wrong result </a:t>
            </a:r>
            <a:r>
              <a:rPr lang="en-US" sz="1900" dirty="0"/>
              <a:t>when you analyze data.</a:t>
            </a:r>
          </a:p>
          <a:p>
            <a:pPr>
              <a:lnSpc>
                <a:spcPct val="120000"/>
              </a:lnSpc>
            </a:pPr>
            <a:r>
              <a:rPr lang="en-US" sz="1900" b="1" dirty="0"/>
              <a:t>Remove Rows</a:t>
            </a:r>
            <a:r>
              <a:rPr lang="en-US" sz="1900" dirty="0"/>
              <a:t>: One way to </a:t>
            </a:r>
            <a:r>
              <a:rPr lang="en-US" sz="1900" b="1" dirty="0"/>
              <a:t>deal with empty ce</a:t>
            </a:r>
            <a:r>
              <a:rPr lang="en-US" sz="1900" dirty="0"/>
              <a:t>lls is to remove rows that contain empty cells.</a:t>
            </a:r>
          </a:p>
          <a:p>
            <a:pPr>
              <a:lnSpc>
                <a:spcPct val="120000"/>
              </a:lnSpc>
            </a:pPr>
            <a:r>
              <a:rPr lang="en-US" sz="1900" dirty="0"/>
              <a:t>This is usually OK, since data sets can be very big, and removing a few rows will not have a big impact on the result.</a:t>
            </a:r>
          </a:p>
          <a:p>
            <a:pPr>
              <a:lnSpc>
                <a:spcPct val="120000"/>
              </a:lnSpc>
            </a:pPr>
            <a:r>
              <a:rPr lang="en-US" sz="1900" dirty="0"/>
              <a:t>Note: By default, the </a:t>
            </a:r>
            <a:r>
              <a:rPr lang="en-US" sz="1900" dirty="0" err="1">
                <a:solidFill>
                  <a:srgbClr val="FF0000"/>
                </a:solidFill>
              </a:rPr>
              <a:t>dropna</a:t>
            </a:r>
            <a:r>
              <a:rPr lang="en-US" sz="1900" dirty="0">
                <a:solidFill>
                  <a:srgbClr val="FF0000"/>
                </a:solidFill>
              </a:rPr>
              <a:t>() </a:t>
            </a:r>
            <a:r>
              <a:rPr lang="en-US" sz="1900" dirty="0"/>
              <a:t>method returns a new </a:t>
            </a:r>
            <a:r>
              <a:rPr lang="en-US" sz="1900" b="1" dirty="0" err="1"/>
              <a:t>DataFrame</a:t>
            </a:r>
            <a:r>
              <a:rPr lang="en-US" sz="1900" dirty="0"/>
              <a:t>, and will not change the original.</a:t>
            </a:r>
          </a:p>
          <a:p>
            <a:pPr>
              <a:lnSpc>
                <a:spcPct val="120000"/>
              </a:lnSpc>
            </a:pPr>
            <a:r>
              <a:rPr lang="en-US" sz="1900" dirty="0"/>
              <a:t>If you want to change the original </a:t>
            </a:r>
            <a:r>
              <a:rPr lang="en-US" sz="1900" b="1" dirty="0" err="1"/>
              <a:t>DataFrame</a:t>
            </a:r>
            <a:r>
              <a:rPr lang="en-US" sz="1900" dirty="0"/>
              <a:t>, use the </a:t>
            </a:r>
            <a:r>
              <a:rPr lang="en-US" sz="1900" dirty="0" err="1">
                <a:solidFill>
                  <a:srgbClr val="FF0000"/>
                </a:solidFill>
              </a:rPr>
              <a:t>inplace</a:t>
            </a:r>
            <a:r>
              <a:rPr lang="en-US" sz="1900" dirty="0">
                <a:solidFill>
                  <a:srgbClr val="FF0000"/>
                </a:solidFill>
              </a:rPr>
              <a:t> = True </a:t>
            </a:r>
            <a:r>
              <a:rPr lang="en-US" sz="1900" dirty="0"/>
              <a:t>argument:</a:t>
            </a:r>
          </a:p>
          <a:p>
            <a:pPr>
              <a:lnSpc>
                <a:spcPct val="120000"/>
              </a:lnSpc>
            </a:pPr>
            <a:r>
              <a:rPr lang="en-US" sz="1900" dirty="0"/>
              <a:t>Note: Now, the </a:t>
            </a:r>
            <a:r>
              <a:rPr lang="en-US" sz="1900" dirty="0" err="1">
                <a:solidFill>
                  <a:srgbClr val="FF0000"/>
                </a:solidFill>
              </a:rPr>
              <a:t>dropna</a:t>
            </a:r>
            <a:r>
              <a:rPr lang="en-US" sz="1900" dirty="0">
                <a:solidFill>
                  <a:srgbClr val="FF0000"/>
                </a:solidFill>
              </a:rPr>
              <a:t>(</a:t>
            </a:r>
            <a:r>
              <a:rPr lang="en-US" sz="1900" dirty="0" err="1">
                <a:solidFill>
                  <a:srgbClr val="FF0000"/>
                </a:solidFill>
              </a:rPr>
              <a:t>inplace</a:t>
            </a:r>
            <a:r>
              <a:rPr lang="en-US" sz="1900" dirty="0">
                <a:solidFill>
                  <a:srgbClr val="FF0000"/>
                </a:solidFill>
              </a:rPr>
              <a:t> = True) </a:t>
            </a:r>
            <a:r>
              <a:rPr lang="en-US" sz="1900" dirty="0"/>
              <a:t>will NOT return a new </a:t>
            </a:r>
            <a:r>
              <a:rPr lang="en-US" sz="1900" dirty="0" err="1"/>
              <a:t>DataFrame</a:t>
            </a:r>
            <a:r>
              <a:rPr lang="en-US" sz="1900" dirty="0"/>
              <a:t>, but it will remove all rows containing NULL values from the original </a:t>
            </a:r>
            <a:r>
              <a:rPr lang="en-US" sz="1900" dirty="0" err="1"/>
              <a:t>DataFrame</a:t>
            </a:r>
            <a:r>
              <a:rPr lang="en-US" sz="1900" dirty="0"/>
              <a:t>.</a:t>
            </a:r>
          </a:p>
          <a:p>
            <a:endParaRPr lang="en-US" dirty="0"/>
          </a:p>
        </p:txBody>
      </p:sp>
      <p:sp>
        <p:nvSpPr>
          <p:cNvPr id="24" name="Rectangle 20"/>
          <p:cNvSpPr>
            <a:spLocks noChangeArrowheads="1"/>
          </p:cNvSpPr>
          <p:nvPr/>
        </p:nvSpPr>
        <p:spPr bwMode="auto">
          <a:xfrm>
            <a:off x="6575368" y="1049040"/>
            <a:ext cx="5548898" cy="4744848"/>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dirty="0">
                <a:solidFill>
                  <a:srgbClr val="000000"/>
                </a:solidFill>
                <a:latin typeface="Segoe UI" panose="020B0502040204020203" pitchFamily="34" charset="0"/>
              </a:rPr>
              <a:t>Example: </a:t>
            </a:r>
            <a:r>
              <a:rPr lang="en-US" sz="1600" dirty="0">
                <a:solidFill>
                  <a:srgbClr val="000000"/>
                </a:solidFill>
                <a:latin typeface="Verdana" panose="020B0604030504040204" pitchFamily="34" charset="0"/>
              </a:rPr>
              <a:t>Return a new Data Frame with no empty cells</a:t>
            </a:r>
          </a:p>
          <a:p>
            <a:r>
              <a:rPr lang="en-US" sz="1600" dirty="0">
                <a:solidFill>
                  <a:srgbClr val="0000CD"/>
                </a:solidFill>
                <a:latin typeface="Consolas" panose="020B0609020204030204" pitchFamily="49" charset="0"/>
              </a:rPr>
              <a:t>import</a:t>
            </a:r>
            <a:r>
              <a:rPr lang="en-US" sz="1600" dirty="0">
                <a:solidFill>
                  <a:srgbClr val="000000"/>
                </a:solidFill>
                <a:latin typeface="Consolas" panose="020B0609020204030204" pitchFamily="49" charset="0"/>
              </a:rPr>
              <a:t> pandas as </a:t>
            </a:r>
            <a:r>
              <a:rPr lang="en-US" sz="1600" dirty="0" err="1">
                <a:solidFill>
                  <a:srgbClr val="000000"/>
                </a:solidFill>
                <a:latin typeface="Consolas" panose="020B0609020204030204" pitchFamily="49" charset="0"/>
              </a:rPr>
              <a:t>pd</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err="1">
                <a:solidFill>
                  <a:srgbClr val="000000"/>
                </a:solidFill>
                <a:latin typeface="Consolas" panose="020B0609020204030204" pitchFamily="49" charset="0"/>
              </a:rPr>
              <a:t>df</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pd.read_csv</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'data.csv'</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err="1">
                <a:solidFill>
                  <a:srgbClr val="000000"/>
                </a:solidFill>
                <a:latin typeface="Consolas" panose="020B0609020204030204" pitchFamily="49" charset="0"/>
              </a:rPr>
              <a:t>new_df</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df.dropna</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a:solidFill>
                  <a:srgbClr val="0000CD"/>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new_df.to_string</a:t>
            </a:r>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a:solidFill>
                  <a:srgbClr val="000000"/>
                </a:solidFill>
                <a:latin typeface="Segoe UI" panose="020B0502040204020203" pitchFamily="34" charset="0"/>
              </a:rPr>
              <a:t>Example: </a:t>
            </a:r>
            <a:r>
              <a:rPr lang="en-US" sz="1600" dirty="0">
                <a:solidFill>
                  <a:srgbClr val="000000"/>
                </a:solidFill>
                <a:latin typeface="Verdana" panose="020B0604030504040204" pitchFamily="34" charset="0"/>
              </a:rPr>
              <a:t>Remove all rows with NULL values:</a:t>
            </a:r>
          </a:p>
          <a:p>
            <a:endParaRPr lang="en-US" sz="1600" dirty="0">
              <a:solidFill>
                <a:srgbClr val="0000CD"/>
              </a:solidFill>
              <a:latin typeface="Consolas" panose="020B0609020204030204" pitchFamily="49" charset="0"/>
            </a:endParaRPr>
          </a:p>
          <a:p>
            <a:r>
              <a:rPr lang="en-US" sz="1600" dirty="0">
                <a:solidFill>
                  <a:srgbClr val="0000CD"/>
                </a:solidFill>
                <a:latin typeface="Consolas" panose="020B0609020204030204" pitchFamily="49" charset="0"/>
              </a:rPr>
              <a:t>import</a:t>
            </a:r>
            <a:r>
              <a:rPr lang="en-US" sz="1600" dirty="0">
                <a:solidFill>
                  <a:srgbClr val="000000"/>
                </a:solidFill>
                <a:latin typeface="Consolas" panose="020B0609020204030204" pitchFamily="49" charset="0"/>
              </a:rPr>
              <a:t> pandas as </a:t>
            </a:r>
            <a:r>
              <a:rPr lang="en-US" sz="1600" dirty="0" err="1">
                <a:solidFill>
                  <a:srgbClr val="000000"/>
                </a:solidFill>
                <a:latin typeface="Consolas" panose="020B0609020204030204" pitchFamily="49" charset="0"/>
              </a:rPr>
              <a:t>pd</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err="1">
                <a:solidFill>
                  <a:srgbClr val="000000"/>
                </a:solidFill>
                <a:latin typeface="Consolas" panose="020B0609020204030204" pitchFamily="49" charset="0"/>
              </a:rPr>
              <a:t>df</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pd.read_csv</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'data.csv'</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err="1">
                <a:solidFill>
                  <a:srgbClr val="000000"/>
                </a:solidFill>
                <a:latin typeface="Consolas" panose="020B0609020204030204" pitchFamily="49" charset="0"/>
              </a:rPr>
              <a:t>df.dropna</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inplace</a:t>
            </a:r>
            <a:r>
              <a:rPr lang="en-US" sz="1600" dirty="0">
                <a:solidFill>
                  <a:srgbClr val="000000"/>
                </a:solidFill>
                <a:latin typeface="Consolas" panose="020B0609020204030204" pitchFamily="49" charset="0"/>
              </a:rPr>
              <a:t> = </a:t>
            </a:r>
            <a:r>
              <a:rPr lang="en-US" sz="1600" dirty="0">
                <a:solidFill>
                  <a:srgbClr val="0000CD"/>
                </a:solidFill>
                <a:latin typeface="Consolas" panose="020B0609020204030204" pitchFamily="49" charset="0"/>
              </a:rPr>
              <a:t>True</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a:solidFill>
                  <a:srgbClr val="0000CD"/>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df.to_string</a:t>
            </a:r>
            <a:r>
              <a:rPr lang="en-US" sz="1600" dirty="0">
                <a:solidFill>
                  <a:srgbClr val="000000"/>
                </a:solidFill>
                <a:latin typeface="Consolas" panose="020B0609020204030204" pitchFamily="49" charset="0"/>
              </a:rPr>
              <a:t>())</a:t>
            </a:r>
          </a:p>
          <a:p>
            <a:endParaRPr lang="en-US" sz="12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63381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Empty cells</a:t>
            </a:r>
          </a:p>
        </p:txBody>
      </p:sp>
      <p:sp>
        <p:nvSpPr>
          <p:cNvPr id="3" name="Content Placeholder 2"/>
          <p:cNvSpPr>
            <a:spLocks noGrp="1"/>
          </p:cNvSpPr>
          <p:nvPr>
            <p:ph idx="1"/>
          </p:nvPr>
        </p:nvSpPr>
        <p:spPr>
          <a:xfrm>
            <a:off x="304801" y="1347789"/>
            <a:ext cx="6177434" cy="3880773"/>
          </a:xfrm>
        </p:spPr>
        <p:txBody>
          <a:bodyPr>
            <a:noAutofit/>
          </a:bodyPr>
          <a:lstStyle/>
          <a:p>
            <a:endParaRPr lang="en-US" sz="2000" dirty="0"/>
          </a:p>
          <a:p>
            <a:r>
              <a:rPr lang="en-US" sz="2000" b="1" dirty="0"/>
              <a:t>Replace Empty Values</a:t>
            </a:r>
            <a:r>
              <a:rPr lang="en-US" sz="2000" dirty="0"/>
              <a:t>: Another way of dealing with empty cells is to </a:t>
            </a:r>
            <a:r>
              <a:rPr lang="en-US" sz="2000" b="1" dirty="0"/>
              <a:t>insert a new value instead</a:t>
            </a:r>
            <a:r>
              <a:rPr lang="en-US" sz="2000" dirty="0"/>
              <a:t>.</a:t>
            </a:r>
          </a:p>
          <a:p>
            <a:r>
              <a:rPr lang="en-US" sz="2000" dirty="0"/>
              <a:t>This way you do not have to delete entire rows just because of some empty cells.</a:t>
            </a:r>
          </a:p>
          <a:p>
            <a:r>
              <a:rPr lang="en-US" sz="2000" dirty="0"/>
              <a:t>The </a:t>
            </a:r>
            <a:r>
              <a:rPr lang="en-US" sz="2000" dirty="0" err="1">
                <a:solidFill>
                  <a:srgbClr val="FF0000"/>
                </a:solidFill>
              </a:rPr>
              <a:t>fillna</a:t>
            </a:r>
            <a:r>
              <a:rPr lang="en-US" sz="2000" dirty="0">
                <a:solidFill>
                  <a:srgbClr val="FF0000"/>
                </a:solidFill>
              </a:rPr>
              <a:t>()</a:t>
            </a:r>
            <a:r>
              <a:rPr lang="en-US" sz="2000" dirty="0"/>
              <a:t> method allows us to </a:t>
            </a:r>
            <a:r>
              <a:rPr lang="en-US" sz="2000" b="1" dirty="0"/>
              <a:t>replace empty cells with a value</a:t>
            </a:r>
            <a:endParaRPr lang="en-US" sz="2000" dirty="0"/>
          </a:p>
          <a:p>
            <a:r>
              <a:rPr lang="en-US" sz="2000" b="1" dirty="0"/>
              <a:t>Replace Only For Specified Columns</a:t>
            </a:r>
            <a:r>
              <a:rPr lang="en-US" sz="2000" dirty="0"/>
              <a:t>: The example01 above replaces all empty cells in the whole Data Frame.</a:t>
            </a:r>
          </a:p>
          <a:p>
            <a:r>
              <a:rPr lang="en-US" sz="2000" dirty="0"/>
              <a:t>In Example02 only replace empty values for one column, specify the column name for the </a:t>
            </a:r>
            <a:r>
              <a:rPr lang="en-US" sz="2000" dirty="0" err="1"/>
              <a:t>DataFrame</a:t>
            </a:r>
            <a:endParaRPr lang="en-US" sz="2000" dirty="0"/>
          </a:p>
        </p:txBody>
      </p:sp>
      <p:sp>
        <p:nvSpPr>
          <p:cNvPr id="24" name="Rectangle 20"/>
          <p:cNvSpPr>
            <a:spLocks noChangeArrowheads="1"/>
          </p:cNvSpPr>
          <p:nvPr/>
        </p:nvSpPr>
        <p:spPr bwMode="auto">
          <a:xfrm>
            <a:off x="6307667" y="1002873"/>
            <a:ext cx="5816599" cy="4837181"/>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solidFill>
                  <a:srgbClr val="000000"/>
                </a:solidFill>
                <a:latin typeface="Segoe UI" panose="020B0502040204020203" pitchFamily="34" charset="0"/>
              </a:rPr>
              <a:t>Example01: </a:t>
            </a:r>
            <a:r>
              <a:rPr lang="en-US" dirty="0">
                <a:solidFill>
                  <a:srgbClr val="000000"/>
                </a:solidFill>
                <a:latin typeface="Verdana" panose="020B0604030504040204" pitchFamily="34" charset="0"/>
              </a:rPr>
              <a:t>Replace NULL values with the number 130:</a:t>
            </a:r>
          </a:p>
          <a:p>
            <a:r>
              <a:rPr lang="en-US" dirty="0">
                <a:solidFill>
                  <a:srgbClr val="0000CD"/>
                </a:solidFill>
                <a:latin typeface="Consolas" panose="020B0609020204030204" pitchFamily="49" charset="0"/>
              </a:rPr>
              <a:t>import</a:t>
            </a:r>
            <a:r>
              <a:rPr lang="en-US" dirty="0">
                <a:solidFill>
                  <a:srgbClr val="000000"/>
                </a:solidFill>
                <a:latin typeface="Consolas" panose="020B0609020204030204" pitchFamily="49" charset="0"/>
              </a:rPr>
              <a:t> pandas as </a:t>
            </a:r>
            <a:r>
              <a:rPr lang="en-US" dirty="0" err="1">
                <a:solidFill>
                  <a:srgbClr val="000000"/>
                </a:solidFill>
                <a:latin typeface="Consolas" panose="020B0609020204030204" pitchFamily="49" charset="0"/>
              </a:rPr>
              <a:t>pd</a:t>
            </a:r>
            <a:br>
              <a:rPr lang="en-US" dirty="0">
                <a:solidFill>
                  <a:srgbClr val="000000"/>
                </a:solidFill>
                <a:latin typeface="Consolas" panose="020B0609020204030204" pitchFamily="49" charset="0"/>
              </a:rPr>
            </a:b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df</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pd.read_csv</a:t>
            </a:r>
            <a:r>
              <a:rPr lang="en-US" dirty="0">
                <a:solidFill>
                  <a:srgbClr val="000000"/>
                </a:solidFill>
                <a:latin typeface="Consolas" panose="020B0609020204030204" pitchFamily="49" charset="0"/>
              </a:rPr>
              <a:t>(</a:t>
            </a:r>
            <a:r>
              <a:rPr lang="en-US" dirty="0">
                <a:solidFill>
                  <a:srgbClr val="A52A2A"/>
                </a:solidFill>
                <a:latin typeface="Consolas" panose="020B0609020204030204" pitchFamily="49" charset="0"/>
              </a:rPr>
              <a:t>'data.csv'</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df.fillna</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130</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inplace</a:t>
            </a:r>
            <a:r>
              <a:rPr lang="en-US" dirty="0">
                <a:solidFill>
                  <a:srgbClr val="000000"/>
                </a:solidFill>
                <a:latin typeface="Consolas" panose="020B0609020204030204" pitchFamily="49" charset="0"/>
              </a:rPr>
              <a:t> = </a:t>
            </a:r>
            <a:r>
              <a:rPr lang="en-US" dirty="0">
                <a:solidFill>
                  <a:srgbClr val="0000CD"/>
                </a:solidFill>
                <a:latin typeface="Consolas" panose="020B0609020204030204" pitchFamily="49" charset="0"/>
              </a:rPr>
              <a:t>True</a:t>
            </a:r>
            <a:r>
              <a:rPr lang="en-US" dirty="0">
                <a:solidFill>
                  <a:srgbClr val="000000"/>
                </a:solidFill>
                <a:latin typeface="Consolas" panose="020B0609020204030204" pitchFamily="49" charset="0"/>
              </a:rPr>
              <a:t>)</a:t>
            </a:r>
          </a:p>
          <a:p>
            <a:endParaRPr lang="en-US" dirty="0">
              <a:solidFill>
                <a:srgbClr val="000000"/>
              </a:solidFill>
              <a:latin typeface="Segoe UI" panose="020B0502040204020203" pitchFamily="34" charset="0"/>
            </a:endParaRPr>
          </a:p>
          <a:p>
            <a:r>
              <a:rPr lang="en-US" dirty="0">
                <a:solidFill>
                  <a:srgbClr val="000000"/>
                </a:solidFill>
                <a:latin typeface="Segoe UI" panose="020B0502040204020203" pitchFamily="34" charset="0"/>
              </a:rPr>
              <a:t>Example02: </a:t>
            </a:r>
            <a:r>
              <a:rPr lang="en-US" dirty="0">
                <a:solidFill>
                  <a:srgbClr val="000000"/>
                </a:solidFill>
                <a:latin typeface="Verdana" panose="020B0604030504040204" pitchFamily="34" charset="0"/>
              </a:rPr>
              <a:t>Replace NULL values in the "Calories" columns with the number 130:</a:t>
            </a:r>
          </a:p>
          <a:p>
            <a:endParaRPr lang="en-US" dirty="0">
              <a:solidFill>
                <a:srgbClr val="0000CD"/>
              </a:solidFill>
              <a:latin typeface="Consolas" panose="020B0609020204030204" pitchFamily="49" charset="0"/>
            </a:endParaRPr>
          </a:p>
          <a:p>
            <a:r>
              <a:rPr lang="en-US" dirty="0">
                <a:solidFill>
                  <a:srgbClr val="0000CD"/>
                </a:solidFill>
                <a:latin typeface="Consolas" panose="020B0609020204030204" pitchFamily="49" charset="0"/>
              </a:rPr>
              <a:t>import</a:t>
            </a:r>
            <a:r>
              <a:rPr lang="en-US" dirty="0">
                <a:solidFill>
                  <a:srgbClr val="000000"/>
                </a:solidFill>
                <a:latin typeface="Consolas" panose="020B0609020204030204" pitchFamily="49" charset="0"/>
              </a:rPr>
              <a:t> pandas as </a:t>
            </a:r>
            <a:r>
              <a:rPr lang="en-US" dirty="0" err="1">
                <a:solidFill>
                  <a:srgbClr val="000000"/>
                </a:solidFill>
                <a:latin typeface="Consolas" panose="020B0609020204030204" pitchFamily="49" charset="0"/>
              </a:rPr>
              <a:t>pd</a:t>
            </a:r>
            <a:br>
              <a:rPr lang="en-US" dirty="0">
                <a:solidFill>
                  <a:srgbClr val="000000"/>
                </a:solidFill>
                <a:latin typeface="Consolas" panose="020B0609020204030204" pitchFamily="49" charset="0"/>
              </a:rPr>
            </a:b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df</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pd.read_csv</a:t>
            </a:r>
            <a:r>
              <a:rPr lang="en-US" dirty="0">
                <a:solidFill>
                  <a:srgbClr val="000000"/>
                </a:solidFill>
                <a:latin typeface="Consolas" panose="020B0609020204030204" pitchFamily="49" charset="0"/>
              </a:rPr>
              <a:t>(</a:t>
            </a:r>
            <a:r>
              <a:rPr lang="en-US" dirty="0">
                <a:solidFill>
                  <a:srgbClr val="A52A2A"/>
                </a:solidFill>
                <a:latin typeface="Consolas" panose="020B0609020204030204" pitchFamily="49" charset="0"/>
              </a:rPr>
              <a:t>'data.csv'</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df</a:t>
            </a:r>
            <a:r>
              <a:rPr lang="en-US" dirty="0">
                <a:solidFill>
                  <a:srgbClr val="000000"/>
                </a:solidFill>
                <a:latin typeface="Consolas" panose="020B0609020204030204" pitchFamily="49" charset="0"/>
              </a:rPr>
              <a:t>[</a:t>
            </a:r>
            <a:r>
              <a:rPr lang="en-US" dirty="0">
                <a:solidFill>
                  <a:srgbClr val="A52A2A"/>
                </a:solidFill>
                <a:latin typeface="Consolas" panose="020B0609020204030204" pitchFamily="49" charset="0"/>
              </a:rPr>
              <a:t>"Calories"</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fillna</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130</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inplace</a:t>
            </a:r>
            <a:r>
              <a:rPr lang="en-US" dirty="0">
                <a:solidFill>
                  <a:srgbClr val="000000"/>
                </a:solidFill>
                <a:latin typeface="Consolas" panose="020B0609020204030204" pitchFamily="49" charset="0"/>
              </a:rPr>
              <a:t> = </a:t>
            </a:r>
            <a:r>
              <a:rPr lang="en-US" dirty="0">
                <a:solidFill>
                  <a:srgbClr val="0000CD"/>
                </a:solidFill>
                <a:latin typeface="Consolas" panose="020B0609020204030204" pitchFamily="49" charset="0"/>
              </a:rPr>
              <a:t>True</a:t>
            </a:r>
            <a:r>
              <a:rPr lang="en-US" dirty="0">
                <a:solidFill>
                  <a:srgbClr val="000000"/>
                </a:solidFill>
                <a:latin typeface="Consolas" panose="020B0609020204030204" pitchFamily="49" charset="0"/>
              </a:rPr>
              <a:t>)</a:t>
            </a:r>
          </a:p>
          <a:p>
            <a:endParaRPr lang="en-US"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72512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Empty cells</a:t>
            </a:r>
          </a:p>
        </p:txBody>
      </p:sp>
      <p:sp>
        <p:nvSpPr>
          <p:cNvPr id="3" name="Content Placeholder 2"/>
          <p:cNvSpPr>
            <a:spLocks noGrp="1"/>
          </p:cNvSpPr>
          <p:nvPr>
            <p:ph idx="1"/>
          </p:nvPr>
        </p:nvSpPr>
        <p:spPr>
          <a:xfrm>
            <a:off x="511079" y="1354255"/>
            <a:ext cx="5898033" cy="3880773"/>
          </a:xfrm>
        </p:spPr>
        <p:txBody>
          <a:bodyPr>
            <a:noAutofit/>
          </a:bodyPr>
          <a:lstStyle/>
          <a:p>
            <a:endParaRPr lang="en-US" sz="2000" dirty="0"/>
          </a:p>
          <a:p>
            <a:r>
              <a:rPr lang="en-US" sz="2000" b="1" dirty="0"/>
              <a:t>Replace Using Mean, Median, or Mode</a:t>
            </a:r>
            <a:r>
              <a:rPr lang="en-US" sz="2000" dirty="0"/>
              <a:t>: A common way to </a:t>
            </a:r>
            <a:r>
              <a:rPr lang="en-US" sz="2000" b="1" dirty="0"/>
              <a:t>replace empty cells</a:t>
            </a:r>
            <a:r>
              <a:rPr lang="en-US" sz="2000" dirty="0"/>
              <a:t>, is to calculate the </a:t>
            </a:r>
            <a:r>
              <a:rPr lang="en-US" sz="2000" b="1" dirty="0"/>
              <a:t>mean, median or mode </a:t>
            </a:r>
            <a:r>
              <a:rPr lang="en-US" sz="2000" dirty="0"/>
              <a:t>value of the column.</a:t>
            </a:r>
          </a:p>
          <a:p>
            <a:r>
              <a:rPr lang="en-US" sz="2000" dirty="0"/>
              <a:t>Pandas uses the </a:t>
            </a:r>
            <a:r>
              <a:rPr lang="en-US" sz="2000" dirty="0">
                <a:solidFill>
                  <a:srgbClr val="FF0000"/>
                </a:solidFill>
              </a:rPr>
              <a:t>mean() median()</a:t>
            </a:r>
            <a:r>
              <a:rPr lang="en-US" sz="2000" dirty="0"/>
              <a:t> and </a:t>
            </a:r>
            <a:r>
              <a:rPr lang="en-US" sz="2000" dirty="0">
                <a:solidFill>
                  <a:srgbClr val="FF0000"/>
                </a:solidFill>
              </a:rPr>
              <a:t>mode() </a:t>
            </a:r>
            <a:r>
              <a:rPr lang="en-US" sz="2000" dirty="0"/>
              <a:t>methods to calculate the respective values for a specified column:</a:t>
            </a:r>
          </a:p>
          <a:p>
            <a:r>
              <a:rPr lang="en-US" sz="2000" b="1" dirty="0"/>
              <a:t>Mean</a:t>
            </a:r>
            <a:r>
              <a:rPr lang="en-US" sz="2000" dirty="0"/>
              <a:t> = the average value (the sum of all values divided by number of values).</a:t>
            </a:r>
          </a:p>
          <a:p>
            <a:r>
              <a:rPr lang="en-US" sz="2000" b="1" dirty="0"/>
              <a:t>Median</a:t>
            </a:r>
            <a:r>
              <a:rPr lang="en-US" sz="2000" dirty="0"/>
              <a:t> = the value in the middle, after you have sorted all values ascending.</a:t>
            </a:r>
          </a:p>
          <a:p>
            <a:r>
              <a:rPr lang="en-US" sz="2000" b="1" dirty="0"/>
              <a:t>Mode</a:t>
            </a:r>
            <a:r>
              <a:rPr lang="en-US" sz="2000" dirty="0"/>
              <a:t> = the value that appears most frequently</a:t>
            </a:r>
          </a:p>
        </p:txBody>
      </p:sp>
      <p:sp>
        <p:nvSpPr>
          <p:cNvPr id="24" name="Rectangle 20"/>
          <p:cNvSpPr>
            <a:spLocks noChangeArrowheads="1"/>
          </p:cNvSpPr>
          <p:nvPr/>
        </p:nvSpPr>
        <p:spPr bwMode="auto">
          <a:xfrm>
            <a:off x="6766406" y="125707"/>
            <a:ext cx="5357860" cy="6591508"/>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400" dirty="0">
                <a:solidFill>
                  <a:srgbClr val="000000"/>
                </a:solidFill>
                <a:latin typeface="Segoe UI" panose="020B0502040204020203" pitchFamily="34" charset="0"/>
              </a:rPr>
              <a:t>Example: </a:t>
            </a:r>
            <a:r>
              <a:rPr lang="en-US" sz="1400" dirty="0">
                <a:solidFill>
                  <a:srgbClr val="000000"/>
                </a:solidFill>
                <a:latin typeface="Verdana" panose="020B0604030504040204" pitchFamily="34" charset="0"/>
              </a:rPr>
              <a:t>Calculate the MEAN, and replace any empty values with it:</a:t>
            </a:r>
          </a:p>
          <a:p>
            <a:r>
              <a:rPr lang="en-US" sz="1400" dirty="0">
                <a:solidFill>
                  <a:srgbClr val="0000CD"/>
                </a:solidFill>
                <a:latin typeface="Consolas" panose="020B0609020204030204" pitchFamily="49" charset="0"/>
              </a:rPr>
              <a:t>import</a:t>
            </a:r>
            <a:r>
              <a:rPr lang="en-US" sz="1400" dirty="0">
                <a:solidFill>
                  <a:srgbClr val="000000"/>
                </a:solidFill>
                <a:latin typeface="Consolas" panose="020B0609020204030204" pitchFamily="49" charset="0"/>
              </a:rPr>
              <a:t> pandas as </a:t>
            </a:r>
            <a:r>
              <a:rPr lang="en-US" sz="1400" dirty="0" err="1">
                <a:solidFill>
                  <a:srgbClr val="000000"/>
                </a:solidFill>
                <a:latin typeface="Consolas" panose="020B0609020204030204" pitchFamily="49" charset="0"/>
              </a:rPr>
              <a:t>pd</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pd.read_csv</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'data.csv'</a:t>
            </a: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x = </a:t>
            </a: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"Calories"</a:t>
            </a:r>
            <a:r>
              <a:rPr lang="en-US" sz="1400" dirty="0">
                <a:solidFill>
                  <a:srgbClr val="000000"/>
                </a:solidFill>
                <a:latin typeface="Consolas" panose="020B0609020204030204" pitchFamily="49" charset="0"/>
              </a:rPr>
              <a:t>].mean()</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"Calories"</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fillna</a:t>
            </a:r>
            <a:r>
              <a:rPr lang="en-US" sz="1400" dirty="0">
                <a:solidFill>
                  <a:srgbClr val="000000"/>
                </a:solidFill>
                <a:latin typeface="Consolas" panose="020B0609020204030204" pitchFamily="49" charset="0"/>
              </a:rPr>
              <a:t>(x, </a:t>
            </a:r>
            <a:r>
              <a:rPr lang="en-US" sz="1400" dirty="0" err="1">
                <a:solidFill>
                  <a:srgbClr val="000000"/>
                </a:solidFill>
                <a:latin typeface="Consolas" panose="020B0609020204030204" pitchFamily="49" charset="0"/>
              </a:rPr>
              <a:t>inplace</a:t>
            </a:r>
            <a:r>
              <a:rPr lang="en-US" sz="1400" dirty="0">
                <a:solidFill>
                  <a:srgbClr val="000000"/>
                </a:solidFill>
                <a:latin typeface="Consolas" panose="020B0609020204030204" pitchFamily="49" charset="0"/>
              </a:rPr>
              <a:t> = </a:t>
            </a:r>
            <a:r>
              <a:rPr lang="en-US" sz="1400" dirty="0">
                <a:solidFill>
                  <a:srgbClr val="0000CD"/>
                </a:solidFill>
                <a:latin typeface="Consolas" panose="020B0609020204030204" pitchFamily="49" charset="0"/>
              </a:rPr>
              <a:t>True</a:t>
            </a:r>
            <a:r>
              <a:rPr lang="en-US" sz="1400" dirty="0">
                <a:solidFill>
                  <a:srgbClr val="000000"/>
                </a:solidFill>
                <a:latin typeface="Consolas" panose="020B0609020204030204" pitchFamily="49" charset="0"/>
              </a:rPr>
              <a:t>)</a:t>
            </a:r>
          </a:p>
          <a:p>
            <a:endParaRPr lang="en-US" sz="1400" dirty="0">
              <a:solidFill>
                <a:srgbClr val="000000"/>
              </a:solidFill>
              <a:latin typeface="Consolas" panose="020B0609020204030204" pitchFamily="49" charset="0"/>
            </a:endParaRPr>
          </a:p>
          <a:p>
            <a:r>
              <a:rPr lang="en-US" sz="1400" dirty="0">
                <a:solidFill>
                  <a:srgbClr val="000000"/>
                </a:solidFill>
                <a:latin typeface="Segoe UI" panose="020B0502040204020203" pitchFamily="34" charset="0"/>
              </a:rPr>
              <a:t>Example: </a:t>
            </a:r>
            <a:r>
              <a:rPr lang="en-US" sz="1400" dirty="0">
                <a:solidFill>
                  <a:srgbClr val="000000"/>
                </a:solidFill>
                <a:latin typeface="Verdana" panose="020B0604030504040204" pitchFamily="34" charset="0"/>
              </a:rPr>
              <a:t>Calculate the MEDIAN, and replace any empty values with it:</a:t>
            </a:r>
          </a:p>
          <a:p>
            <a:r>
              <a:rPr lang="en-US" sz="1400" dirty="0">
                <a:solidFill>
                  <a:srgbClr val="0000CD"/>
                </a:solidFill>
                <a:latin typeface="Consolas" panose="020B0609020204030204" pitchFamily="49" charset="0"/>
              </a:rPr>
              <a:t>import</a:t>
            </a:r>
            <a:r>
              <a:rPr lang="en-US" sz="1400" dirty="0">
                <a:solidFill>
                  <a:srgbClr val="000000"/>
                </a:solidFill>
                <a:latin typeface="Consolas" panose="020B0609020204030204" pitchFamily="49" charset="0"/>
              </a:rPr>
              <a:t> pandas as </a:t>
            </a:r>
            <a:r>
              <a:rPr lang="en-US" sz="1400" dirty="0" err="1">
                <a:solidFill>
                  <a:srgbClr val="000000"/>
                </a:solidFill>
                <a:latin typeface="Consolas" panose="020B0609020204030204" pitchFamily="49" charset="0"/>
              </a:rPr>
              <a:t>pd</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pd.read_csv</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'data.csv'</a:t>
            </a: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x = </a:t>
            </a: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"Calories"</a:t>
            </a:r>
            <a:r>
              <a:rPr lang="en-US" sz="1400" dirty="0">
                <a:solidFill>
                  <a:srgbClr val="000000"/>
                </a:solidFill>
                <a:latin typeface="Consolas" panose="020B0609020204030204" pitchFamily="49" charset="0"/>
              </a:rPr>
              <a:t>].median()</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"Calories"</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fillna</a:t>
            </a:r>
            <a:r>
              <a:rPr lang="en-US" sz="1400" dirty="0">
                <a:solidFill>
                  <a:srgbClr val="000000"/>
                </a:solidFill>
                <a:latin typeface="Consolas" panose="020B0609020204030204" pitchFamily="49" charset="0"/>
              </a:rPr>
              <a:t>(x, </a:t>
            </a:r>
            <a:r>
              <a:rPr lang="en-US" sz="1400" dirty="0" err="1">
                <a:solidFill>
                  <a:srgbClr val="000000"/>
                </a:solidFill>
                <a:latin typeface="Consolas" panose="020B0609020204030204" pitchFamily="49" charset="0"/>
              </a:rPr>
              <a:t>inplace</a:t>
            </a:r>
            <a:r>
              <a:rPr lang="en-US" sz="1400" dirty="0">
                <a:solidFill>
                  <a:srgbClr val="000000"/>
                </a:solidFill>
                <a:latin typeface="Consolas" panose="020B0609020204030204" pitchFamily="49" charset="0"/>
              </a:rPr>
              <a:t> = </a:t>
            </a:r>
            <a:r>
              <a:rPr lang="en-US" sz="1400" dirty="0">
                <a:solidFill>
                  <a:srgbClr val="0000CD"/>
                </a:solidFill>
                <a:latin typeface="Consolas" panose="020B0609020204030204" pitchFamily="49" charset="0"/>
              </a:rPr>
              <a:t>True</a:t>
            </a:r>
            <a:r>
              <a:rPr lang="en-US" sz="1400" dirty="0">
                <a:solidFill>
                  <a:srgbClr val="000000"/>
                </a:solidFill>
                <a:latin typeface="Consolas" panose="020B0609020204030204" pitchFamily="49" charset="0"/>
              </a:rPr>
              <a:t>)</a:t>
            </a:r>
          </a:p>
          <a:p>
            <a:endParaRPr lang="en-US" sz="1400" dirty="0">
              <a:solidFill>
                <a:srgbClr val="000000"/>
              </a:solidFill>
              <a:latin typeface="Consolas" panose="020B0609020204030204" pitchFamily="49" charset="0"/>
            </a:endParaRPr>
          </a:p>
          <a:p>
            <a:r>
              <a:rPr lang="en-US" sz="1400" dirty="0">
                <a:solidFill>
                  <a:srgbClr val="000000"/>
                </a:solidFill>
                <a:latin typeface="Segoe UI" panose="020B0502040204020203" pitchFamily="34" charset="0"/>
              </a:rPr>
              <a:t>Example: </a:t>
            </a:r>
            <a:r>
              <a:rPr lang="en-US" sz="1400" dirty="0">
                <a:solidFill>
                  <a:srgbClr val="000000"/>
                </a:solidFill>
                <a:latin typeface="Verdana" panose="020B0604030504040204" pitchFamily="34" charset="0"/>
              </a:rPr>
              <a:t>Calculate the MODE, and replace any empty values with it:</a:t>
            </a:r>
          </a:p>
          <a:p>
            <a:r>
              <a:rPr lang="en-US" sz="1400" dirty="0">
                <a:solidFill>
                  <a:srgbClr val="0000CD"/>
                </a:solidFill>
                <a:latin typeface="Consolas" panose="020B0609020204030204" pitchFamily="49" charset="0"/>
              </a:rPr>
              <a:t>import</a:t>
            </a:r>
            <a:r>
              <a:rPr lang="en-US" sz="1400" dirty="0">
                <a:solidFill>
                  <a:srgbClr val="000000"/>
                </a:solidFill>
                <a:latin typeface="Consolas" panose="020B0609020204030204" pitchFamily="49" charset="0"/>
              </a:rPr>
              <a:t> pandas as </a:t>
            </a:r>
            <a:r>
              <a:rPr lang="en-US" sz="1400" dirty="0" err="1">
                <a:solidFill>
                  <a:srgbClr val="000000"/>
                </a:solidFill>
                <a:latin typeface="Consolas" panose="020B0609020204030204" pitchFamily="49" charset="0"/>
              </a:rPr>
              <a:t>pd</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pd.read_csv</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'data.csv'</a:t>
            </a: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x = </a:t>
            </a: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"Calories"</a:t>
            </a:r>
            <a:r>
              <a:rPr lang="en-US" sz="1400" dirty="0">
                <a:solidFill>
                  <a:srgbClr val="000000"/>
                </a:solidFill>
                <a:latin typeface="Consolas" panose="020B0609020204030204" pitchFamily="49" charset="0"/>
              </a:rPr>
              <a:t>].mode()[</a:t>
            </a:r>
            <a:r>
              <a:rPr lang="en-US" sz="1400" dirty="0">
                <a:solidFill>
                  <a:srgbClr val="FF0000"/>
                </a:solidFill>
                <a:latin typeface="Consolas" panose="020B0609020204030204" pitchFamily="49" charset="0"/>
              </a:rPr>
              <a:t>0</a:t>
            </a: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err="1">
                <a:solidFill>
                  <a:srgbClr val="000000"/>
                </a:solidFill>
                <a:latin typeface="Consolas" panose="020B0609020204030204" pitchFamily="49" charset="0"/>
              </a:rPr>
              <a:t>df</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"Calories"</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fillna</a:t>
            </a:r>
            <a:r>
              <a:rPr lang="en-US" sz="1400" dirty="0">
                <a:solidFill>
                  <a:srgbClr val="000000"/>
                </a:solidFill>
                <a:latin typeface="Consolas" panose="020B0609020204030204" pitchFamily="49" charset="0"/>
              </a:rPr>
              <a:t>(x, </a:t>
            </a:r>
            <a:r>
              <a:rPr lang="en-US" sz="1400" dirty="0" err="1">
                <a:solidFill>
                  <a:srgbClr val="000000"/>
                </a:solidFill>
                <a:latin typeface="Consolas" panose="020B0609020204030204" pitchFamily="49" charset="0"/>
              </a:rPr>
              <a:t>inplace</a:t>
            </a:r>
            <a:r>
              <a:rPr lang="en-US" sz="1400" dirty="0">
                <a:solidFill>
                  <a:srgbClr val="000000"/>
                </a:solidFill>
                <a:latin typeface="Consolas" panose="020B0609020204030204" pitchFamily="49" charset="0"/>
              </a:rPr>
              <a:t> = </a:t>
            </a:r>
            <a:r>
              <a:rPr lang="en-US" sz="1400" dirty="0">
                <a:solidFill>
                  <a:srgbClr val="0000CD"/>
                </a:solidFill>
                <a:latin typeface="Consolas" panose="020B0609020204030204" pitchFamily="49" charset="0"/>
              </a:rPr>
              <a:t>True</a:t>
            </a:r>
            <a:r>
              <a:rPr lang="en-US" sz="1400" dirty="0">
                <a:solidFill>
                  <a:srgbClr val="000000"/>
                </a:solidFill>
                <a:latin typeface="Consolas" panose="020B0609020204030204" pitchFamily="49" charset="0"/>
              </a:rPr>
              <a:t>)</a:t>
            </a:r>
            <a:endParaRPr lang="en-US" sz="14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918724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Cleaning Data of Wrong Format</a:t>
            </a:r>
          </a:p>
        </p:txBody>
      </p:sp>
      <p:sp>
        <p:nvSpPr>
          <p:cNvPr id="3" name="Content Placeholder 2"/>
          <p:cNvSpPr>
            <a:spLocks noGrp="1"/>
          </p:cNvSpPr>
          <p:nvPr>
            <p:ph idx="1"/>
          </p:nvPr>
        </p:nvSpPr>
        <p:spPr>
          <a:xfrm>
            <a:off x="745067" y="1169989"/>
            <a:ext cx="5898033" cy="3880773"/>
          </a:xfrm>
        </p:spPr>
        <p:txBody>
          <a:bodyPr>
            <a:normAutofit lnSpcReduction="10000"/>
          </a:bodyPr>
          <a:lstStyle/>
          <a:p>
            <a:r>
              <a:rPr lang="en-US" b="1" dirty="0"/>
              <a:t>Data of Wrong Format</a:t>
            </a:r>
            <a:r>
              <a:rPr lang="en-US" dirty="0"/>
              <a:t>: Cells with data of wrong format can make it difficult, or even impossible, to analyze data.</a:t>
            </a:r>
          </a:p>
          <a:p>
            <a:r>
              <a:rPr lang="en-US" dirty="0"/>
              <a:t>To fix it, you have </a:t>
            </a:r>
            <a:r>
              <a:rPr lang="en-US" b="1" dirty="0"/>
              <a:t>two options</a:t>
            </a:r>
            <a:r>
              <a:rPr lang="en-US" dirty="0"/>
              <a:t>: </a:t>
            </a:r>
            <a:r>
              <a:rPr lang="en-US" b="1" dirty="0"/>
              <a:t>remove the rows</a:t>
            </a:r>
            <a:r>
              <a:rPr lang="en-US" dirty="0"/>
              <a:t>, or </a:t>
            </a:r>
            <a:r>
              <a:rPr lang="en-US" b="1" dirty="0"/>
              <a:t>convert all cells in the columns into the same format</a:t>
            </a:r>
            <a:r>
              <a:rPr lang="en-US" dirty="0"/>
              <a:t>.</a:t>
            </a:r>
          </a:p>
          <a:p>
            <a:r>
              <a:rPr lang="en-US" b="1" dirty="0"/>
              <a:t>Convert Into a Correct Format</a:t>
            </a:r>
            <a:r>
              <a:rPr lang="en-US" dirty="0"/>
              <a:t>: In our Data Frame, we have two cells with the wrong format. Check out row 22 and 26, the 'Date' column should be a string that represents a date:</a:t>
            </a:r>
          </a:p>
          <a:p>
            <a:r>
              <a:rPr lang="en-US" dirty="0"/>
              <a:t>Let's try to convert all cells in the 'Date' column into dates.</a:t>
            </a:r>
          </a:p>
          <a:p>
            <a:r>
              <a:rPr lang="en-US" dirty="0"/>
              <a:t>Pandas has a </a:t>
            </a:r>
            <a:r>
              <a:rPr lang="en-US" dirty="0" err="1">
                <a:solidFill>
                  <a:srgbClr val="FF0000"/>
                </a:solidFill>
              </a:rPr>
              <a:t>to_datetime</a:t>
            </a:r>
            <a:r>
              <a:rPr lang="en-US" dirty="0">
                <a:solidFill>
                  <a:srgbClr val="FF0000"/>
                </a:solidFill>
              </a:rPr>
              <a:t>() </a:t>
            </a:r>
            <a:r>
              <a:rPr lang="en-US" dirty="0"/>
              <a:t>method for this:</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24" name="Rectangle 20"/>
          <p:cNvSpPr>
            <a:spLocks noChangeArrowheads="1"/>
          </p:cNvSpPr>
          <p:nvPr/>
        </p:nvSpPr>
        <p:spPr bwMode="auto">
          <a:xfrm>
            <a:off x="7065356" y="412353"/>
            <a:ext cx="5126644" cy="6222176"/>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200" dirty="0">
                <a:solidFill>
                  <a:srgbClr val="000000"/>
                </a:solidFill>
                <a:latin typeface="Segoe UI" panose="020B0502040204020203" pitchFamily="34" charset="0"/>
              </a:rPr>
              <a:t>      Duration          Date  Pulse  </a:t>
            </a:r>
            <a:r>
              <a:rPr lang="fr-FR" sz="1200" dirty="0" err="1">
                <a:solidFill>
                  <a:srgbClr val="000000"/>
                </a:solidFill>
                <a:latin typeface="Segoe UI" panose="020B0502040204020203" pitchFamily="34" charset="0"/>
              </a:rPr>
              <a:t>Maxpulse</a:t>
            </a:r>
            <a:r>
              <a:rPr lang="fr-FR" sz="1200" dirty="0">
                <a:solidFill>
                  <a:srgbClr val="000000"/>
                </a:solidFill>
                <a:latin typeface="Segoe UI" panose="020B0502040204020203" pitchFamily="34" charset="0"/>
              </a:rPr>
              <a:t>  Calories</a:t>
            </a:r>
          </a:p>
          <a:p>
            <a:r>
              <a:rPr lang="fr-FR" sz="1200" dirty="0">
                <a:solidFill>
                  <a:srgbClr val="000000"/>
                </a:solidFill>
                <a:latin typeface="Segoe UI" panose="020B0502040204020203" pitchFamily="34" charset="0"/>
              </a:rPr>
              <a:t>  0         60  '2020/12/01'    110       130     409.1</a:t>
            </a:r>
          </a:p>
          <a:p>
            <a:r>
              <a:rPr lang="fr-FR" sz="1200" dirty="0">
                <a:solidFill>
                  <a:srgbClr val="000000"/>
                </a:solidFill>
                <a:latin typeface="Segoe UI" panose="020B0502040204020203" pitchFamily="34" charset="0"/>
              </a:rPr>
              <a:t>  1         60  '2020/12/02'    117       145     479.0</a:t>
            </a:r>
          </a:p>
          <a:p>
            <a:r>
              <a:rPr lang="fr-FR" sz="1200" dirty="0">
                <a:solidFill>
                  <a:srgbClr val="000000"/>
                </a:solidFill>
                <a:latin typeface="Segoe UI" panose="020B0502040204020203" pitchFamily="34" charset="0"/>
              </a:rPr>
              <a:t>  2         60  '2020/12/03'    103       135     340.0</a:t>
            </a:r>
          </a:p>
          <a:p>
            <a:r>
              <a:rPr lang="fr-FR" sz="1200" dirty="0">
                <a:solidFill>
                  <a:srgbClr val="000000"/>
                </a:solidFill>
                <a:latin typeface="Segoe UI" panose="020B0502040204020203" pitchFamily="34" charset="0"/>
              </a:rPr>
              <a:t>  3         45  '2020/12/04'    109       175     282.4</a:t>
            </a:r>
          </a:p>
          <a:p>
            <a:r>
              <a:rPr lang="fr-FR" sz="1200" dirty="0">
                <a:solidFill>
                  <a:srgbClr val="000000"/>
                </a:solidFill>
                <a:latin typeface="Segoe UI" panose="020B0502040204020203" pitchFamily="34" charset="0"/>
              </a:rPr>
              <a:t>  4         45  '2020/12/05'    117       148     406.0</a:t>
            </a:r>
          </a:p>
          <a:p>
            <a:r>
              <a:rPr lang="fr-FR" sz="1200" dirty="0">
                <a:solidFill>
                  <a:srgbClr val="000000"/>
                </a:solidFill>
                <a:latin typeface="Segoe UI" panose="020B0502040204020203" pitchFamily="34" charset="0"/>
              </a:rPr>
              <a:t>  5         60  '2020/12/06'    102       127     300.0</a:t>
            </a:r>
          </a:p>
          <a:p>
            <a:r>
              <a:rPr lang="fr-FR" sz="1200" dirty="0">
                <a:solidFill>
                  <a:srgbClr val="000000"/>
                </a:solidFill>
                <a:latin typeface="Segoe UI" panose="020B0502040204020203" pitchFamily="34" charset="0"/>
              </a:rPr>
              <a:t>  6         60  '2020/12/07'    110       136     374.0</a:t>
            </a:r>
          </a:p>
          <a:p>
            <a:r>
              <a:rPr lang="fr-FR" sz="1200" dirty="0">
                <a:solidFill>
                  <a:srgbClr val="000000"/>
                </a:solidFill>
                <a:latin typeface="Segoe UI" panose="020B0502040204020203" pitchFamily="34" charset="0"/>
              </a:rPr>
              <a:t>  7        450  '2020/12/08'    104       134     253.3</a:t>
            </a:r>
          </a:p>
          <a:p>
            <a:r>
              <a:rPr lang="fr-FR" sz="1200" dirty="0">
                <a:solidFill>
                  <a:srgbClr val="000000"/>
                </a:solidFill>
                <a:latin typeface="Segoe UI" panose="020B0502040204020203" pitchFamily="34" charset="0"/>
              </a:rPr>
              <a:t>  8         30  '2020/12/09'    109       133     195.1</a:t>
            </a:r>
          </a:p>
          <a:p>
            <a:r>
              <a:rPr lang="fr-FR" sz="1200" dirty="0">
                <a:solidFill>
                  <a:srgbClr val="000000"/>
                </a:solidFill>
                <a:latin typeface="Segoe UI" panose="020B0502040204020203" pitchFamily="34" charset="0"/>
              </a:rPr>
              <a:t>  9         60  '2020/12/10'     98       124     269.0</a:t>
            </a:r>
          </a:p>
          <a:p>
            <a:r>
              <a:rPr lang="fr-FR" sz="1200" dirty="0">
                <a:solidFill>
                  <a:srgbClr val="000000"/>
                </a:solidFill>
                <a:latin typeface="Segoe UI" panose="020B0502040204020203" pitchFamily="34" charset="0"/>
              </a:rPr>
              <a:t>  10        60  '2020/12/11'    103       147     329.3</a:t>
            </a:r>
          </a:p>
          <a:p>
            <a:r>
              <a:rPr lang="fr-FR" sz="1200" dirty="0">
                <a:solidFill>
                  <a:srgbClr val="000000"/>
                </a:solidFill>
                <a:latin typeface="Segoe UI" panose="020B0502040204020203" pitchFamily="34" charset="0"/>
              </a:rPr>
              <a:t>  11        60  '2020/12/12'    100       120     250.7</a:t>
            </a:r>
          </a:p>
          <a:p>
            <a:r>
              <a:rPr lang="fr-FR" sz="1200" dirty="0">
                <a:solidFill>
                  <a:srgbClr val="000000"/>
                </a:solidFill>
                <a:latin typeface="Segoe UI" panose="020B0502040204020203" pitchFamily="34" charset="0"/>
              </a:rPr>
              <a:t>  12        60  '2020/12/12'    100       120     250.7</a:t>
            </a:r>
          </a:p>
          <a:p>
            <a:r>
              <a:rPr lang="fr-FR" sz="1200" dirty="0">
                <a:solidFill>
                  <a:srgbClr val="000000"/>
                </a:solidFill>
                <a:latin typeface="Segoe UI" panose="020B0502040204020203" pitchFamily="34" charset="0"/>
              </a:rPr>
              <a:t>  13        60  '2020/12/13'    106       128     345.3</a:t>
            </a:r>
          </a:p>
          <a:p>
            <a:r>
              <a:rPr lang="fr-FR" sz="1200" dirty="0">
                <a:solidFill>
                  <a:srgbClr val="000000"/>
                </a:solidFill>
                <a:latin typeface="Segoe UI" panose="020B0502040204020203" pitchFamily="34" charset="0"/>
              </a:rPr>
              <a:t>  14        60  '2020/12/14'    104       132     379.3</a:t>
            </a:r>
          </a:p>
          <a:p>
            <a:r>
              <a:rPr lang="fr-FR" sz="1200" dirty="0">
                <a:solidFill>
                  <a:srgbClr val="000000"/>
                </a:solidFill>
                <a:latin typeface="Segoe UI" panose="020B0502040204020203" pitchFamily="34" charset="0"/>
              </a:rPr>
              <a:t>  15        60  '2020/12/15'     98       123     275.0</a:t>
            </a:r>
          </a:p>
          <a:p>
            <a:r>
              <a:rPr lang="fr-FR" sz="1200" dirty="0">
                <a:solidFill>
                  <a:srgbClr val="000000"/>
                </a:solidFill>
                <a:latin typeface="Segoe UI" panose="020B0502040204020203" pitchFamily="34" charset="0"/>
              </a:rPr>
              <a:t>  16        60  '2020/12/16'     98       120     215.2</a:t>
            </a:r>
          </a:p>
          <a:p>
            <a:r>
              <a:rPr lang="fr-FR" sz="1200" dirty="0">
                <a:solidFill>
                  <a:srgbClr val="000000"/>
                </a:solidFill>
                <a:latin typeface="Segoe UI" panose="020B0502040204020203" pitchFamily="34" charset="0"/>
              </a:rPr>
              <a:t>  17        60  '2020/12/17'    100       120     300.0</a:t>
            </a:r>
          </a:p>
          <a:p>
            <a:r>
              <a:rPr lang="fr-FR" sz="1200" dirty="0">
                <a:solidFill>
                  <a:srgbClr val="000000"/>
                </a:solidFill>
                <a:latin typeface="Segoe UI" panose="020B0502040204020203" pitchFamily="34" charset="0"/>
              </a:rPr>
              <a:t>  18        45  '2020/12/18'     90       112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19        60  '2020/12/19'    103       123     323.0</a:t>
            </a:r>
          </a:p>
          <a:p>
            <a:r>
              <a:rPr lang="fr-FR" sz="1200" dirty="0">
                <a:solidFill>
                  <a:srgbClr val="000000"/>
                </a:solidFill>
                <a:latin typeface="Segoe UI" panose="020B0502040204020203" pitchFamily="34" charset="0"/>
              </a:rPr>
              <a:t>  20        45  '2020/12/20'     97       125     243.0</a:t>
            </a:r>
          </a:p>
          <a:p>
            <a:r>
              <a:rPr lang="fr-FR" sz="1200" dirty="0">
                <a:solidFill>
                  <a:srgbClr val="000000"/>
                </a:solidFill>
                <a:latin typeface="Segoe UI" panose="020B0502040204020203" pitchFamily="34" charset="0"/>
              </a:rPr>
              <a:t>  21        60  '2020/12/21'    108       131     364.2</a:t>
            </a:r>
          </a:p>
          <a:p>
            <a:r>
              <a:rPr lang="fr-FR" sz="1200" b="1" dirty="0">
                <a:solidFill>
                  <a:srgbClr val="000000"/>
                </a:solidFill>
                <a:latin typeface="Segoe UI" panose="020B0502040204020203" pitchFamily="34" charset="0"/>
              </a:rPr>
              <a:t>  22        45           </a:t>
            </a:r>
            <a:r>
              <a:rPr lang="fr-FR" sz="1200" b="1" dirty="0" err="1">
                <a:solidFill>
                  <a:srgbClr val="000000"/>
                </a:solidFill>
                <a:latin typeface="Segoe UI" panose="020B0502040204020203" pitchFamily="34" charset="0"/>
              </a:rPr>
              <a:t>NaN</a:t>
            </a:r>
            <a:r>
              <a:rPr lang="fr-FR" sz="1200" b="1" dirty="0">
                <a:solidFill>
                  <a:srgbClr val="000000"/>
                </a:solidFill>
                <a:latin typeface="Segoe UI" panose="020B0502040204020203" pitchFamily="34" charset="0"/>
              </a:rPr>
              <a:t>    100       119     282.0</a:t>
            </a:r>
          </a:p>
          <a:p>
            <a:r>
              <a:rPr lang="fr-FR" sz="1200" dirty="0">
                <a:solidFill>
                  <a:srgbClr val="000000"/>
                </a:solidFill>
                <a:latin typeface="Segoe UI" panose="020B0502040204020203" pitchFamily="34" charset="0"/>
              </a:rPr>
              <a:t>  23        60  '2020/12/23'    130       101     300.0</a:t>
            </a:r>
          </a:p>
          <a:p>
            <a:r>
              <a:rPr lang="fr-FR" sz="1200" dirty="0">
                <a:solidFill>
                  <a:srgbClr val="000000"/>
                </a:solidFill>
                <a:latin typeface="Segoe UI" panose="020B0502040204020203" pitchFamily="34" charset="0"/>
              </a:rPr>
              <a:t>  24        45  '2020/12/24'    105       132     246.0</a:t>
            </a:r>
          </a:p>
          <a:p>
            <a:r>
              <a:rPr lang="fr-FR" sz="1200" dirty="0">
                <a:solidFill>
                  <a:srgbClr val="000000"/>
                </a:solidFill>
                <a:latin typeface="Segoe UI" panose="020B0502040204020203" pitchFamily="34" charset="0"/>
              </a:rPr>
              <a:t>  25        60  '2020/12/25'    102       126     334.5</a:t>
            </a:r>
          </a:p>
          <a:p>
            <a:r>
              <a:rPr lang="fr-FR" sz="1200" b="1" dirty="0">
                <a:solidFill>
                  <a:srgbClr val="000000"/>
                </a:solidFill>
                <a:latin typeface="Segoe UI" panose="020B0502040204020203" pitchFamily="34" charset="0"/>
              </a:rPr>
              <a:t>  26        60      20201226    100       120     250.0</a:t>
            </a:r>
          </a:p>
          <a:p>
            <a:r>
              <a:rPr lang="fr-FR" sz="1200" dirty="0">
                <a:solidFill>
                  <a:srgbClr val="000000"/>
                </a:solidFill>
                <a:latin typeface="Segoe UI" panose="020B0502040204020203" pitchFamily="34" charset="0"/>
              </a:rPr>
              <a:t>  27        60  '2020/12/27'     92       118     241.0</a:t>
            </a:r>
          </a:p>
          <a:p>
            <a:r>
              <a:rPr lang="fr-FR" sz="1200" dirty="0">
                <a:solidFill>
                  <a:srgbClr val="000000"/>
                </a:solidFill>
                <a:latin typeface="Segoe UI" panose="020B0502040204020203" pitchFamily="34" charset="0"/>
              </a:rPr>
              <a:t>  28        60  '2020/12/28'    103       132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29        60  '2020/12/29'    100       132     280.0</a:t>
            </a:r>
          </a:p>
          <a:p>
            <a:r>
              <a:rPr lang="fr-FR" sz="1200" dirty="0">
                <a:solidFill>
                  <a:srgbClr val="000000"/>
                </a:solidFill>
                <a:latin typeface="Segoe UI" panose="020B0502040204020203" pitchFamily="34" charset="0"/>
              </a:rPr>
              <a:t>  30        60  '2020/12/30'    102       129     380.3</a:t>
            </a:r>
          </a:p>
          <a:p>
            <a:r>
              <a:rPr lang="fr-FR" sz="1200" dirty="0">
                <a:solidFill>
                  <a:srgbClr val="000000"/>
                </a:solidFill>
                <a:latin typeface="Segoe UI" panose="020B0502040204020203" pitchFamily="34" charset="0"/>
              </a:rPr>
              <a:t>  31        60  '2020/12/31'     92       115     243.0</a:t>
            </a:r>
            <a:endParaRPr lang="en-US" sz="1200" b="0" i="0" dirty="0">
              <a:solidFill>
                <a:srgbClr val="000000"/>
              </a:solidFill>
              <a:effectLst/>
              <a:latin typeface="Consolas" panose="020B0609020204030204" pitchFamily="49" charset="0"/>
            </a:endParaRPr>
          </a:p>
        </p:txBody>
      </p:sp>
      <p:sp>
        <p:nvSpPr>
          <p:cNvPr id="7" name="Rectangle 20"/>
          <p:cNvSpPr>
            <a:spLocks noChangeArrowheads="1"/>
          </p:cNvSpPr>
          <p:nvPr/>
        </p:nvSpPr>
        <p:spPr bwMode="auto">
          <a:xfrm>
            <a:off x="1130761" y="4981385"/>
            <a:ext cx="5126644" cy="1790193"/>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200" dirty="0">
                <a:solidFill>
                  <a:srgbClr val="000000"/>
                </a:solidFill>
                <a:latin typeface="Segoe UI" panose="020B0502040204020203" pitchFamily="34" charset="0"/>
              </a:rPr>
              <a:t>Example</a:t>
            </a:r>
          </a:p>
          <a:p>
            <a:r>
              <a:rPr lang="en-US" sz="1200" dirty="0">
                <a:solidFill>
                  <a:srgbClr val="000000"/>
                </a:solidFill>
                <a:latin typeface="Verdana" panose="020B0604030504040204" pitchFamily="34" charset="0"/>
              </a:rPr>
              <a:t>Convert to date:</a:t>
            </a:r>
          </a:p>
          <a:p>
            <a:r>
              <a:rPr lang="en-US" sz="1200" dirty="0">
                <a:solidFill>
                  <a:srgbClr val="0000CD"/>
                </a:solidFill>
                <a:latin typeface="Consolas" panose="020B0609020204030204" pitchFamily="49" charset="0"/>
              </a:rPr>
              <a:t>import</a:t>
            </a:r>
            <a:r>
              <a:rPr lang="en-US" sz="1200" dirty="0">
                <a:solidFill>
                  <a:srgbClr val="000000"/>
                </a:solidFill>
                <a:latin typeface="Consolas" panose="020B0609020204030204" pitchFamily="49" charset="0"/>
              </a:rPr>
              <a:t> pandas as </a:t>
            </a:r>
            <a:r>
              <a:rPr lang="en-US" sz="1200" dirty="0" err="1">
                <a:solidFill>
                  <a:srgbClr val="000000"/>
                </a:solidFill>
                <a:latin typeface="Consolas" panose="020B0609020204030204" pitchFamily="49" charset="0"/>
              </a:rPr>
              <a:t>pd</a:t>
            </a:r>
            <a:br>
              <a:rPr lang="en-US" sz="1200" dirty="0">
                <a:solidFill>
                  <a:srgbClr val="000000"/>
                </a:solidFill>
                <a:latin typeface="Consolas" panose="020B0609020204030204" pitchFamily="49" charset="0"/>
              </a:rPr>
            </a:br>
            <a:br>
              <a:rPr lang="en-US" sz="1200" dirty="0">
                <a:solidFill>
                  <a:srgbClr val="000000"/>
                </a:solidFill>
                <a:latin typeface="Consolas" panose="020B0609020204030204" pitchFamily="49" charset="0"/>
              </a:rPr>
            </a:br>
            <a:r>
              <a:rPr lang="en-US" sz="1200" dirty="0" err="1">
                <a:solidFill>
                  <a:srgbClr val="000000"/>
                </a:solidFill>
                <a:latin typeface="Consolas" panose="020B0609020204030204" pitchFamily="49" charset="0"/>
              </a:rPr>
              <a:t>df</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pd.read_csv</a:t>
            </a:r>
            <a:r>
              <a:rPr lang="en-US" sz="1200" dirty="0">
                <a:solidFill>
                  <a:srgbClr val="000000"/>
                </a:solidFill>
                <a:latin typeface="Consolas" panose="020B0609020204030204" pitchFamily="49" charset="0"/>
              </a:rPr>
              <a:t>(</a:t>
            </a:r>
            <a:r>
              <a:rPr lang="en-US" sz="1200" dirty="0">
                <a:solidFill>
                  <a:srgbClr val="A52A2A"/>
                </a:solidFill>
                <a:latin typeface="Consolas" panose="020B0609020204030204" pitchFamily="49" charset="0"/>
              </a:rPr>
              <a:t>'data.csv'</a:t>
            </a:r>
            <a:r>
              <a:rPr lang="en-US" sz="1200" dirty="0">
                <a:solidFill>
                  <a:srgbClr val="000000"/>
                </a:solidFill>
                <a:latin typeface="Consolas" panose="020B0609020204030204" pitchFamily="49" charset="0"/>
              </a:rPr>
              <a:t>)</a:t>
            </a:r>
            <a:br>
              <a:rPr lang="en-US" sz="1200" dirty="0">
                <a:solidFill>
                  <a:srgbClr val="000000"/>
                </a:solidFill>
                <a:latin typeface="Consolas" panose="020B0609020204030204" pitchFamily="49" charset="0"/>
              </a:rPr>
            </a:br>
            <a:br>
              <a:rPr lang="en-US" sz="1200" dirty="0">
                <a:solidFill>
                  <a:srgbClr val="000000"/>
                </a:solidFill>
                <a:latin typeface="Consolas" panose="020B0609020204030204" pitchFamily="49" charset="0"/>
              </a:rPr>
            </a:br>
            <a:r>
              <a:rPr lang="en-US" sz="1200" dirty="0" err="1">
                <a:solidFill>
                  <a:srgbClr val="000000"/>
                </a:solidFill>
                <a:latin typeface="Consolas" panose="020B0609020204030204" pitchFamily="49" charset="0"/>
              </a:rPr>
              <a:t>df</a:t>
            </a:r>
            <a:r>
              <a:rPr lang="en-US" sz="1200" dirty="0">
                <a:solidFill>
                  <a:srgbClr val="000000"/>
                </a:solidFill>
                <a:latin typeface="Consolas" panose="020B0609020204030204" pitchFamily="49" charset="0"/>
              </a:rPr>
              <a:t>[</a:t>
            </a:r>
            <a:r>
              <a:rPr lang="en-US" sz="1200" dirty="0">
                <a:solidFill>
                  <a:srgbClr val="A52A2A"/>
                </a:solidFill>
                <a:latin typeface="Consolas" panose="020B0609020204030204" pitchFamily="49" charset="0"/>
              </a:rPr>
              <a:t>'Date'</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pd.to_datetime</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df</a:t>
            </a:r>
            <a:r>
              <a:rPr lang="en-US" sz="1200" dirty="0">
                <a:solidFill>
                  <a:srgbClr val="000000"/>
                </a:solidFill>
                <a:latin typeface="Consolas" panose="020B0609020204030204" pitchFamily="49" charset="0"/>
              </a:rPr>
              <a:t>[</a:t>
            </a:r>
            <a:r>
              <a:rPr lang="en-US" sz="1200" dirty="0">
                <a:solidFill>
                  <a:srgbClr val="A52A2A"/>
                </a:solidFill>
                <a:latin typeface="Consolas" panose="020B0609020204030204" pitchFamily="49" charset="0"/>
              </a:rPr>
              <a:t>'Date'</a:t>
            </a:r>
            <a:r>
              <a:rPr lang="en-US" sz="1200" dirty="0">
                <a:solidFill>
                  <a:srgbClr val="000000"/>
                </a:solidFill>
                <a:latin typeface="Consolas" panose="020B0609020204030204" pitchFamily="49" charset="0"/>
              </a:rPr>
              <a:t>])</a:t>
            </a:r>
            <a:br>
              <a:rPr lang="en-US" sz="1200" dirty="0">
                <a:solidFill>
                  <a:srgbClr val="000000"/>
                </a:solidFill>
                <a:latin typeface="Consolas" panose="020B0609020204030204" pitchFamily="49" charset="0"/>
              </a:rPr>
            </a:br>
            <a:br>
              <a:rPr lang="en-US" sz="1200" dirty="0">
                <a:solidFill>
                  <a:srgbClr val="000000"/>
                </a:solidFill>
                <a:latin typeface="Consolas" panose="020B0609020204030204" pitchFamily="49" charset="0"/>
              </a:rPr>
            </a:br>
            <a:r>
              <a:rPr lang="en-US" sz="1200" dirty="0">
                <a:solidFill>
                  <a:srgbClr val="0000CD"/>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df.to_string</a:t>
            </a:r>
            <a:r>
              <a:rPr lang="en-US" sz="1200" dirty="0">
                <a:solidFill>
                  <a:srgbClr val="000000"/>
                </a:solidFill>
                <a:latin typeface="Consolas" panose="020B0609020204030204" pitchFamily="49" charset="0"/>
              </a:rPr>
              <a:t>())</a:t>
            </a:r>
            <a:endParaRPr lang="en-US" sz="12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44866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Pandas - Cleaning Data of Wrong Format</a:t>
            </a:r>
          </a:p>
        </p:txBody>
      </p:sp>
      <p:sp>
        <p:nvSpPr>
          <p:cNvPr id="3" name="Content Placeholder 2"/>
          <p:cNvSpPr>
            <a:spLocks noGrp="1"/>
          </p:cNvSpPr>
          <p:nvPr>
            <p:ph idx="1"/>
          </p:nvPr>
        </p:nvSpPr>
        <p:spPr>
          <a:xfrm>
            <a:off x="745067" y="1169989"/>
            <a:ext cx="5898033" cy="3880773"/>
          </a:xfrm>
        </p:spPr>
        <p:txBody>
          <a:bodyPr>
            <a:normAutofit/>
          </a:bodyPr>
          <a:lstStyle/>
          <a:p>
            <a:r>
              <a:rPr lang="en-US" dirty="0"/>
              <a:t>As you can see from the result, the date in </a:t>
            </a:r>
            <a:r>
              <a:rPr lang="en-US" b="1" dirty="0"/>
              <a:t>row 26 was fixed</a:t>
            </a:r>
            <a:r>
              <a:rPr lang="en-US" dirty="0"/>
              <a:t>, but the empty date in row </a:t>
            </a:r>
            <a:r>
              <a:rPr lang="en-US" b="1" dirty="0"/>
              <a:t>22 got a </a:t>
            </a:r>
            <a:r>
              <a:rPr lang="en-US" b="1" dirty="0" err="1"/>
              <a:t>NaT</a:t>
            </a:r>
            <a:r>
              <a:rPr lang="en-US" b="1" dirty="0"/>
              <a:t> </a:t>
            </a:r>
            <a:r>
              <a:rPr lang="en-US" dirty="0"/>
              <a:t>(</a:t>
            </a:r>
            <a:r>
              <a:rPr lang="en-US" b="1" dirty="0"/>
              <a:t>Not a Time</a:t>
            </a:r>
            <a:r>
              <a:rPr lang="en-US" dirty="0"/>
              <a:t>) value, in other words an empty value. </a:t>
            </a:r>
          </a:p>
          <a:p>
            <a:r>
              <a:rPr lang="en-US" dirty="0"/>
              <a:t>One way to deal with empty values is simply </a:t>
            </a:r>
            <a:r>
              <a:rPr lang="en-US" b="1" dirty="0"/>
              <a:t>removing the entire row</a:t>
            </a:r>
            <a:r>
              <a:rPr lang="en-US" dirty="0"/>
              <a:t>.</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24" name="Rectangle 20"/>
          <p:cNvSpPr>
            <a:spLocks noChangeArrowheads="1"/>
          </p:cNvSpPr>
          <p:nvPr/>
        </p:nvSpPr>
        <p:spPr bwMode="auto">
          <a:xfrm>
            <a:off x="7065356" y="412353"/>
            <a:ext cx="5126644" cy="6222176"/>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200" dirty="0">
                <a:solidFill>
                  <a:srgbClr val="000000"/>
                </a:solidFill>
                <a:latin typeface="Segoe UI" panose="020B0502040204020203" pitchFamily="34" charset="0"/>
              </a:rPr>
              <a:t> Duration          Date  Pulse  </a:t>
            </a:r>
            <a:r>
              <a:rPr lang="fr-FR" sz="1200" dirty="0" err="1">
                <a:solidFill>
                  <a:srgbClr val="000000"/>
                </a:solidFill>
                <a:latin typeface="Segoe UI" panose="020B0502040204020203" pitchFamily="34" charset="0"/>
              </a:rPr>
              <a:t>Maxpulse</a:t>
            </a:r>
            <a:r>
              <a:rPr lang="fr-FR" sz="1200" dirty="0">
                <a:solidFill>
                  <a:srgbClr val="000000"/>
                </a:solidFill>
                <a:latin typeface="Segoe UI" panose="020B0502040204020203" pitchFamily="34" charset="0"/>
              </a:rPr>
              <a:t>  Calories</a:t>
            </a:r>
          </a:p>
          <a:p>
            <a:r>
              <a:rPr lang="fr-FR" sz="1200" dirty="0">
                <a:solidFill>
                  <a:srgbClr val="000000"/>
                </a:solidFill>
                <a:latin typeface="Segoe UI" panose="020B0502040204020203" pitchFamily="34" charset="0"/>
              </a:rPr>
              <a:t>  0         60  '2020/12/01'    110       130     409.1</a:t>
            </a:r>
          </a:p>
          <a:p>
            <a:r>
              <a:rPr lang="fr-FR" sz="1200" dirty="0">
                <a:solidFill>
                  <a:srgbClr val="000000"/>
                </a:solidFill>
                <a:latin typeface="Segoe UI" panose="020B0502040204020203" pitchFamily="34" charset="0"/>
              </a:rPr>
              <a:t>  1         60  '2020/12/02'    117       145     479.0</a:t>
            </a:r>
          </a:p>
          <a:p>
            <a:r>
              <a:rPr lang="fr-FR" sz="1200" dirty="0">
                <a:solidFill>
                  <a:srgbClr val="000000"/>
                </a:solidFill>
                <a:latin typeface="Segoe UI" panose="020B0502040204020203" pitchFamily="34" charset="0"/>
              </a:rPr>
              <a:t>  2         60  '2020/12/03'    103       135     340.0</a:t>
            </a:r>
          </a:p>
          <a:p>
            <a:r>
              <a:rPr lang="fr-FR" sz="1200" dirty="0">
                <a:solidFill>
                  <a:srgbClr val="000000"/>
                </a:solidFill>
                <a:latin typeface="Segoe UI" panose="020B0502040204020203" pitchFamily="34" charset="0"/>
              </a:rPr>
              <a:t>  3         45  '2020/12/04'    109       175     282.4</a:t>
            </a:r>
          </a:p>
          <a:p>
            <a:r>
              <a:rPr lang="fr-FR" sz="1200" dirty="0">
                <a:solidFill>
                  <a:srgbClr val="000000"/>
                </a:solidFill>
                <a:latin typeface="Segoe UI" panose="020B0502040204020203" pitchFamily="34" charset="0"/>
              </a:rPr>
              <a:t>  4         45  '2020/12/05'    117       148     406.0</a:t>
            </a:r>
          </a:p>
          <a:p>
            <a:r>
              <a:rPr lang="fr-FR" sz="1200" dirty="0">
                <a:solidFill>
                  <a:srgbClr val="000000"/>
                </a:solidFill>
                <a:latin typeface="Segoe UI" panose="020B0502040204020203" pitchFamily="34" charset="0"/>
              </a:rPr>
              <a:t>  5         60  '2020/12/06'    102       127     300.0</a:t>
            </a:r>
          </a:p>
          <a:p>
            <a:r>
              <a:rPr lang="fr-FR" sz="1200" dirty="0">
                <a:solidFill>
                  <a:srgbClr val="000000"/>
                </a:solidFill>
                <a:latin typeface="Segoe UI" panose="020B0502040204020203" pitchFamily="34" charset="0"/>
              </a:rPr>
              <a:t>  6         60  '2020/12/07'    110       136     374.0</a:t>
            </a:r>
          </a:p>
          <a:p>
            <a:r>
              <a:rPr lang="fr-FR" sz="1200" dirty="0">
                <a:solidFill>
                  <a:srgbClr val="000000"/>
                </a:solidFill>
                <a:latin typeface="Segoe UI" panose="020B0502040204020203" pitchFamily="34" charset="0"/>
              </a:rPr>
              <a:t>  7        450  '2020/12/08'    104       134     253.3</a:t>
            </a:r>
          </a:p>
          <a:p>
            <a:r>
              <a:rPr lang="fr-FR" sz="1200" dirty="0">
                <a:solidFill>
                  <a:srgbClr val="000000"/>
                </a:solidFill>
                <a:latin typeface="Segoe UI" panose="020B0502040204020203" pitchFamily="34" charset="0"/>
              </a:rPr>
              <a:t>  8         30  '2020/12/09'    109       133     195.1</a:t>
            </a:r>
          </a:p>
          <a:p>
            <a:r>
              <a:rPr lang="fr-FR" sz="1200" dirty="0">
                <a:solidFill>
                  <a:srgbClr val="000000"/>
                </a:solidFill>
                <a:latin typeface="Segoe UI" panose="020B0502040204020203" pitchFamily="34" charset="0"/>
              </a:rPr>
              <a:t>  9         60  '2020/12/10'     98       124     269.0</a:t>
            </a:r>
          </a:p>
          <a:p>
            <a:r>
              <a:rPr lang="fr-FR" sz="1200" dirty="0">
                <a:solidFill>
                  <a:srgbClr val="000000"/>
                </a:solidFill>
                <a:latin typeface="Segoe UI" panose="020B0502040204020203" pitchFamily="34" charset="0"/>
              </a:rPr>
              <a:t>  10        60  '2020/12/11'    103       147     329.3</a:t>
            </a:r>
          </a:p>
          <a:p>
            <a:r>
              <a:rPr lang="fr-FR" sz="1200" dirty="0">
                <a:solidFill>
                  <a:srgbClr val="000000"/>
                </a:solidFill>
                <a:latin typeface="Segoe UI" panose="020B0502040204020203" pitchFamily="34" charset="0"/>
              </a:rPr>
              <a:t>  11        60  '2020/12/12'    100       120     250.7</a:t>
            </a:r>
          </a:p>
          <a:p>
            <a:r>
              <a:rPr lang="fr-FR" sz="1200" dirty="0">
                <a:solidFill>
                  <a:srgbClr val="000000"/>
                </a:solidFill>
                <a:latin typeface="Segoe UI" panose="020B0502040204020203" pitchFamily="34" charset="0"/>
              </a:rPr>
              <a:t>  12        60  '2020/12/12'    100       120     250.7</a:t>
            </a:r>
          </a:p>
          <a:p>
            <a:r>
              <a:rPr lang="fr-FR" sz="1200" dirty="0">
                <a:solidFill>
                  <a:srgbClr val="000000"/>
                </a:solidFill>
                <a:latin typeface="Segoe UI" panose="020B0502040204020203" pitchFamily="34" charset="0"/>
              </a:rPr>
              <a:t>  13        60  '2020/12/13'    106       128     345.3</a:t>
            </a:r>
          </a:p>
          <a:p>
            <a:r>
              <a:rPr lang="fr-FR" sz="1200" dirty="0">
                <a:solidFill>
                  <a:srgbClr val="000000"/>
                </a:solidFill>
                <a:latin typeface="Segoe UI" panose="020B0502040204020203" pitchFamily="34" charset="0"/>
              </a:rPr>
              <a:t>  14        60  '2020/12/14'    104       132     379.3</a:t>
            </a:r>
          </a:p>
          <a:p>
            <a:r>
              <a:rPr lang="fr-FR" sz="1200" dirty="0">
                <a:solidFill>
                  <a:srgbClr val="000000"/>
                </a:solidFill>
                <a:latin typeface="Segoe UI" panose="020B0502040204020203" pitchFamily="34" charset="0"/>
              </a:rPr>
              <a:t>  15        60  '2020/12/15'     98       123     275.0</a:t>
            </a:r>
          </a:p>
          <a:p>
            <a:r>
              <a:rPr lang="fr-FR" sz="1200" dirty="0">
                <a:solidFill>
                  <a:srgbClr val="000000"/>
                </a:solidFill>
                <a:latin typeface="Segoe UI" panose="020B0502040204020203" pitchFamily="34" charset="0"/>
              </a:rPr>
              <a:t>  16        60  '2020/12/16'     98       120     215.2</a:t>
            </a:r>
          </a:p>
          <a:p>
            <a:r>
              <a:rPr lang="fr-FR" sz="1200" dirty="0">
                <a:solidFill>
                  <a:srgbClr val="000000"/>
                </a:solidFill>
                <a:latin typeface="Segoe UI" panose="020B0502040204020203" pitchFamily="34" charset="0"/>
              </a:rPr>
              <a:t>  17        60  '2020/12/17'    100       120     300.0</a:t>
            </a:r>
          </a:p>
          <a:p>
            <a:r>
              <a:rPr lang="fr-FR" sz="1200" dirty="0">
                <a:solidFill>
                  <a:srgbClr val="000000"/>
                </a:solidFill>
                <a:latin typeface="Segoe UI" panose="020B0502040204020203" pitchFamily="34" charset="0"/>
              </a:rPr>
              <a:t>  18        45  '2020/12/18'     90       112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19        60  '2020/12/19'    103       123     323.0</a:t>
            </a:r>
          </a:p>
          <a:p>
            <a:r>
              <a:rPr lang="fr-FR" sz="1200" dirty="0">
                <a:solidFill>
                  <a:srgbClr val="000000"/>
                </a:solidFill>
                <a:latin typeface="Segoe UI" panose="020B0502040204020203" pitchFamily="34" charset="0"/>
              </a:rPr>
              <a:t>  20        45  '2020/12/20'     97       125     243.0</a:t>
            </a:r>
          </a:p>
          <a:p>
            <a:r>
              <a:rPr lang="fr-FR" sz="1200" dirty="0">
                <a:solidFill>
                  <a:srgbClr val="000000"/>
                </a:solidFill>
                <a:latin typeface="Segoe UI" panose="020B0502040204020203" pitchFamily="34" charset="0"/>
              </a:rPr>
              <a:t>  21        60  '2020/12/21'    108       131     364.2</a:t>
            </a:r>
          </a:p>
          <a:p>
            <a:r>
              <a:rPr lang="fr-FR" sz="1200" dirty="0">
                <a:solidFill>
                  <a:srgbClr val="000000"/>
                </a:solidFill>
                <a:latin typeface="Segoe UI" panose="020B0502040204020203" pitchFamily="34" charset="0"/>
              </a:rPr>
              <a:t>  22        45           </a:t>
            </a:r>
            <a:r>
              <a:rPr lang="fr-FR" sz="1200" dirty="0" err="1">
                <a:solidFill>
                  <a:srgbClr val="000000"/>
                </a:solidFill>
                <a:latin typeface="Segoe UI" panose="020B0502040204020203" pitchFamily="34" charset="0"/>
              </a:rPr>
              <a:t>NaT</a:t>
            </a:r>
            <a:r>
              <a:rPr lang="fr-FR" sz="1200" dirty="0">
                <a:solidFill>
                  <a:srgbClr val="000000"/>
                </a:solidFill>
                <a:latin typeface="Segoe UI" panose="020B0502040204020203" pitchFamily="34" charset="0"/>
              </a:rPr>
              <a:t>    100       119     282.0</a:t>
            </a:r>
          </a:p>
          <a:p>
            <a:r>
              <a:rPr lang="fr-FR" sz="1200" dirty="0">
                <a:solidFill>
                  <a:srgbClr val="000000"/>
                </a:solidFill>
                <a:latin typeface="Segoe UI" panose="020B0502040204020203" pitchFamily="34" charset="0"/>
              </a:rPr>
              <a:t>  23        60  '2020/12/23'    130       101     300.0</a:t>
            </a:r>
          </a:p>
          <a:p>
            <a:r>
              <a:rPr lang="fr-FR" sz="1200" dirty="0">
                <a:solidFill>
                  <a:srgbClr val="000000"/>
                </a:solidFill>
                <a:latin typeface="Segoe UI" panose="020B0502040204020203" pitchFamily="34" charset="0"/>
              </a:rPr>
              <a:t>  24        45  '2020/12/24'    105       132     246.0</a:t>
            </a:r>
          </a:p>
          <a:p>
            <a:r>
              <a:rPr lang="fr-FR" sz="1200" dirty="0">
                <a:solidFill>
                  <a:srgbClr val="000000"/>
                </a:solidFill>
                <a:latin typeface="Segoe UI" panose="020B0502040204020203" pitchFamily="34" charset="0"/>
              </a:rPr>
              <a:t>  25        60  '2020/12/25'    102       126     334.5</a:t>
            </a:r>
          </a:p>
          <a:p>
            <a:r>
              <a:rPr lang="fr-FR" sz="1200" dirty="0">
                <a:solidFill>
                  <a:srgbClr val="000000"/>
                </a:solidFill>
                <a:latin typeface="Segoe UI" panose="020B0502040204020203" pitchFamily="34" charset="0"/>
              </a:rPr>
              <a:t>  26        60  '2020/12/26'    100       120     250.0</a:t>
            </a:r>
          </a:p>
          <a:p>
            <a:r>
              <a:rPr lang="fr-FR" sz="1200" dirty="0">
                <a:solidFill>
                  <a:srgbClr val="000000"/>
                </a:solidFill>
                <a:latin typeface="Segoe UI" panose="020B0502040204020203" pitchFamily="34" charset="0"/>
              </a:rPr>
              <a:t>  27        60  '2020/12/27'     92       118     241.0</a:t>
            </a:r>
          </a:p>
          <a:p>
            <a:r>
              <a:rPr lang="fr-FR" sz="1200" dirty="0">
                <a:solidFill>
                  <a:srgbClr val="000000"/>
                </a:solidFill>
                <a:latin typeface="Segoe UI" panose="020B0502040204020203" pitchFamily="34" charset="0"/>
              </a:rPr>
              <a:t>  28        60  '2020/12/28'    103       132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29        60  '2020/12/29'    100       132     280.0</a:t>
            </a:r>
          </a:p>
          <a:p>
            <a:r>
              <a:rPr lang="fr-FR" sz="1200" dirty="0">
                <a:solidFill>
                  <a:srgbClr val="000000"/>
                </a:solidFill>
                <a:latin typeface="Segoe UI" panose="020B0502040204020203" pitchFamily="34" charset="0"/>
              </a:rPr>
              <a:t>  30        60  '2020/12/30'    102       129     380.3</a:t>
            </a:r>
          </a:p>
          <a:p>
            <a:r>
              <a:rPr lang="fr-FR" sz="1200" dirty="0">
                <a:solidFill>
                  <a:srgbClr val="000000"/>
                </a:solidFill>
                <a:latin typeface="Segoe UI" panose="020B0502040204020203" pitchFamily="34" charset="0"/>
              </a:rPr>
              <a:t>  31        60  '2020/12/31'     92       115     243.0</a:t>
            </a:r>
            <a:endParaRPr lang="en-US" sz="1200" b="0" i="0" dirty="0">
              <a:solidFill>
                <a:srgbClr val="000000"/>
              </a:solidFill>
              <a:effectLst/>
              <a:latin typeface="Consolas" panose="020B0609020204030204" pitchFamily="49" charset="0"/>
            </a:endParaRPr>
          </a:p>
        </p:txBody>
      </p:sp>
      <p:sp>
        <p:nvSpPr>
          <p:cNvPr id="7" name="Rectangle 20"/>
          <p:cNvSpPr>
            <a:spLocks noChangeArrowheads="1"/>
          </p:cNvSpPr>
          <p:nvPr/>
        </p:nvSpPr>
        <p:spPr bwMode="auto">
          <a:xfrm>
            <a:off x="745067" y="3355355"/>
            <a:ext cx="5126644" cy="2344191"/>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dirty="0">
                <a:solidFill>
                  <a:srgbClr val="000000"/>
                </a:solidFill>
                <a:latin typeface="Segoe UI" panose="020B0502040204020203" pitchFamily="34" charset="0"/>
              </a:rPr>
              <a:t>Example</a:t>
            </a:r>
          </a:p>
          <a:p>
            <a:r>
              <a:rPr lang="en-US" sz="1600" dirty="0">
                <a:solidFill>
                  <a:srgbClr val="000000"/>
                </a:solidFill>
                <a:latin typeface="Verdana" panose="020B0604030504040204" pitchFamily="34" charset="0"/>
              </a:rPr>
              <a:t>Convert to date:</a:t>
            </a:r>
          </a:p>
          <a:p>
            <a:r>
              <a:rPr lang="en-US" sz="1600" dirty="0">
                <a:solidFill>
                  <a:srgbClr val="0000CD"/>
                </a:solidFill>
                <a:latin typeface="Consolas" panose="020B0609020204030204" pitchFamily="49" charset="0"/>
              </a:rPr>
              <a:t>import</a:t>
            </a:r>
            <a:r>
              <a:rPr lang="en-US" sz="1600" dirty="0">
                <a:solidFill>
                  <a:srgbClr val="000000"/>
                </a:solidFill>
                <a:latin typeface="Consolas" panose="020B0609020204030204" pitchFamily="49" charset="0"/>
              </a:rPr>
              <a:t> pandas as </a:t>
            </a:r>
            <a:r>
              <a:rPr lang="en-US" sz="1600" dirty="0" err="1">
                <a:solidFill>
                  <a:srgbClr val="000000"/>
                </a:solidFill>
                <a:latin typeface="Consolas" panose="020B0609020204030204" pitchFamily="49" charset="0"/>
              </a:rPr>
              <a:t>pd</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err="1">
                <a:solidFill>
                  <a:srgbClr val="000000"/>
                </a:solidFill>
                <a:latin typeface="Consolas" panose="020B0609020204030204" pitchFamily="49" charset="0"/>
              </a:rPr>
              <a:t>df</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pd.read_csv</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'data.csv'</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err="1">
                <a:solidFill>
                  <a:srgbClr val="000000"/>
                </a:solidFill>
                <a:latin typeface="Consolas" panose="020B0609020204030204" pitchFamily="49" charset="0"/>
              </a:rPr>
              <a:t>df</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'Date'</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pd.to_datetime</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df</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'Date'</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br>
              <a:rPr lang="en-US" sz="1600" dirty="0">
                <a:solidFill>
                  <a:srgbClr val="000000"/>
                </a:solidFill>
                <a:latin typeface="Consolas" panose="020B0609020204030204" pitchFamily="49" charset="0"/>
              </a:rPr>
            </a:br>
            <a:r>
              <a:rPr lang="en-US" sz="1600" dirty="0">
                <a:solidFill>
                  <a:srgbClr val="0000CD"/>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df.to_string</a:t>
            </a:r>
            <a:r>
              <a:rPr lang="en-US" sz="1600" dirty="0">
                <a:solidFill>
                  <a:srgbClr val="000000"/>
                </a:solidFill>
                <a:latin typeface="Consolas" panose="020B0609020204030204" pitchFamily="49" charset="0"/>
              </a:rPr>
              <a:t>())</a:t>
            </a:r>
            <a:endParaRPr lang="en-US" sz="16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57974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Pandas - Cleaning Data of Wrong Format</a:t>
            </a:r>
          </a:p>
        </p:txBody>
      </p:sp>
      <p:sp>
        <p:nvSpPr>
          <p:cNvPr id="3" name="Content Placeholder 2"/>
          <p:cNvSpPr>
            <a:spLocks noGrp="1"/>
          </p:cNvSpPr>
          <p:nvPr>
            <p:ph idx="1"/>
          </p:nvPr>
        </p:nvSpPr>
        <p:spPr>
          <a:xfrm>
            <a:off x="745067" y="1169989"/>
            <a:ext cx="5898033" cy="3880773"/>
          </a:xfrm>
        </p:spPr>
        <p:txBody>
          <a:bodyPr>
            <a:normAutofit/>
          </a:bodyPr>
          <a:lstStyle/>
          <a:p>
            <a:r>
              <a:rPr lang="en-US" dirty="0"/>
              <a:t>Re</a:t>
            </a:r>
            <a:r>
              <a:rPr lang="en-US" b="1" dirty="0"/>
              <a:t>moving Rows</a:t>
            </a:r>
          </a:p>
          <a:p>
            <a:r>
              <a:rPr lang="en-US" dirty="0"/>
              <a:t>The result from the converting in the example above gave us a </a:t>
            </a:r>
            <a:r>
              <a:rPr lang="en-US" dirty="0" err="1"/>
              <a:t>NaT</a:t>
            </a:r>
            <a:r>
              <a:rPr lang="en-US" dirty="0"/>
              <a:t> value, which can be handled as a NULL value, and we can remove the row by using the </a:t>
            </a:r>
            <a:r>
              <a:rPr lang="en-US" dirty="0" err="1"/>
              <a:t>dropna</a:t>
            </a:r>
            <a:r>
              <a:rPr lang="en-US" dirty="0"/>
              <a:t>() method..</a:t>
            </a:r>
          </a:p>
          <a:p>
            <a:endParaRPr lang="en-US" dirty="0"/>
          </a:p>
          <a:p>
            <a:r>
              <a:rPr lang="en-US" dirty="0"/>
              <a:t>Row 22 removed</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24" name="Rectangle 20"/>
          <p:cNvSpPr>
            <a:spLocks noChangeArrowheads="1"/>
          </p:cNvSpPr>
          <p:nvPr/>
        </p:nvSpPr>
        <p:spPr bwMode="auto">
          <a:xfrm>
            <a:off x="7065356" y="412353"/>
            <a:ext cx="5126644" cy="6222176"/>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200" dirty="0">
                <a:solidFill>
                  <a:srgbClr val="000000"/>
                </a:solidFill>
                <a:latin typeface="Segoe UI" panose="020B0502040204020203" pitchFamily="34" charset="0"/>
              </a:rPr>
              <a:t> Duration       Date  Pulse  </a:t>
            </a:r>
            <a:r>
              <a:rPr lang="fr-FR" sz="1200" dirty="0" err="1">
                <a:solidFill>
                  <a:srgbClr val="000000"/>
                </a:solidFill>
                <a:latin typeface="Segoe UI" panose="020B0502040204020203" pitchFamily="34" charset="0"/>
              </a:rPr>
              <a:t>Maxpulse</a:t>
            </a:r>
            <a:r>
              <a:rPr lang="fr-FR" sz="1200" dirty="0">
                <a:solidFill>
                  <a:srgbClr val="000000"/>
                </a:solidFill>
                <a:latin typeface="Segoe UI" panose="020B0502040204020203" pitchFamily="34" charset="0"/>
              </a:rPr>
              <a:t>  Calories</a:t>
            </a:r>
          </a:p>
          <a:p>
            <a:r>
              <a:rPr lang="fr-FR" sz="1200" dirty="0">
                <a:solidFill>
                  <a:srgbClr val="000000"/>
                </a:solidFill>
                <a:latin typeface="Segoe UI" panose="020B0502040204020203" pitchFamily="34" charset="0"/>
              </a:rPr>
              <a:t>0         60 2020-12-01    110       130     409.1</a:t>
            </a:r>
          </a:p>
          <a:p>
            <a:r>
              <a:rPr lang="fr-FR" sz="1200" dirty="0">
                <a:solidFill>
                  <a:srgbClr val="000000"/>
                </a:solidFill>
                <a:latin typeface="Segoe UI" panose="020B0502040204020203" pitchFamily="34" charset="0"/>
              </a:rPr>
              <a:t>1         60 2020-12-02    117       145     479.0</a:t>
            </a:r>
          </a:p>
          <a:p>
            <a:r>
              <a:rPr lang="fr-FR" sz="1200" dirty="0">
                <a:solidFill>
                  <a:srgbClr val="000000"/>
                </a:solidFill>
                <a:latin typeface="Segoe UI" panose="020B0502040204020203" pitchFamily="34" charset="0"/>
              </a:rPr>
              <a:t>2         60 2020-12-03    103       135     340.0</a:t>
            </a:r>
          </a:p>
          <a:p>
            <a:r>
              <a:rPr lang="fr-FR" sz="1200" dirty="0">
                <a:solidFill>
                  <a:srgbClr val="000000"/>
                </a:solidFill>
                <a:latin typeface="Segoe UI" panose="020B0502040204020203" pitchFamily="34" charset="0"/>
              </a:rPr>
              <a:t>3         45 2020-12-04    109       175     282.4</a:t>
            </a:r>
          </a:p>
          <a:p>
            <a:r>
              <a:rPr lang="fr-FR" sz="1200" dirty="0">
                <a:solidFill>
                  <a:srgbClr val="000000"/>
                </a:solidFill>
                <a:latin typeface="Segoe UI" panose="020B0502040204020203" pitchFamily="34" charset="0"/>
              </a:rPr>
              <a:t>4         45 2020-12-05    117       148     406.0</a:t>
            </a:r>
          </a:p>
          <a:p>
            <a:r>
              <a:rPr lang="fr-FR" sz="1200" dirty="0">
                <a:solidFill>
                  <a:srgbClr val="000000"/>
                </a:solidFill>
                <a:latin typeface="Segoe UI" panose="020B0502040204020203" pitchFamily="34" charset="0"/>
              </a:rPr>
              <a:t>5         60 2020-12-06    102       127     300.0</a:t>
            </a:r>
          </a:p>
          <a:p>
            <a:r>
              <a:rPr lang="fr-FR" sz="1200" dirty="0">
                <a:solidFill>
                  <a:srgbClr val="000000"/>
                </a:solidFill>
                <a:latin typeface="Segoe UI" panose="020B0502040204020203" pitchFamily="34" charset="0"/>
              </a:rPr>
              <a:t>6         60 2020-12-07    110       136     374.0</a:t>
            </a:r>
          </a:p>
          <a:p>
            <a:r>
              <a:rPr lang="fr-FR" sz="1200" dirty="0">
                <a:solidFill>
                  <a:srgbClr val="000000"/>
                </a:solidFill>
                <a:latin typeface="Segoe UI" panose="020B0502040204020203" pitchFamily="34" charset="0"/>
              </a:rPr>
              <a:t>7        450 2020-12-08    104       134     253.3</a:t>
            </a:r>
          </a:p>
          <a:p>
            <a:r>
              <a:rPr lang="fr-FR" sz="1200" dirty="0">
                <a:solidFill>
                  <a:srgbClr val="000000"/>
                </a:solidFill>
                <a:latin typeface="Segoe UI" panose="020B0502040204020203" pitchFamily="34" charset="0"/>
              </a:rPr>
              <a:t>8         30 2020-12-09    109       133     195.1</a:t>
            </a:r>
          </a:p>
          <a:p>
            <a:r>
              <a:rPr lang="fr-FR" sz="1200" dirty="0">
                <a:solidFill>
                  <a:srgbClr val="000000"/>
                </a:solidFill>
                <a:latin typeface="Segoe UI" panose="020B0502040204020203" pitchFamily="34" charset="0"/>
              </a:rPr>
              <a:t>9         60 2020-12-10     98       124     269.0</a:t>
            </a:r>
          </a:p>
          <a:p>
            <a:r>
              <a:rPr lang="fr-FR" sz="1200" dirty="0">
                <a:solidFill>
                  <a:srgbClr val="000000"/>
                </a:solidFill>
                <a:latin typeface="Segoe UI" panose="020B0502040204020203" pitchFamily="34" charset="0"/>
              </a:rPr>
              <a:t>10        60 2020-12-11    103       147     329.3</a:t>
            </a:r>
          </a:p>
          <a:p>
            <a:r>
              <a:rPr lang="fr-FR" sz="1200" dirty="0">
                <a:solidFill>
                  <a:srgbClr val="000000"/>
                </a:solidFill>
                <a:latin typeface="Segoe UI" panose="020B0502040204020203" pitchFamily="34" charset="0"/>
              </a:rPr>
              <a:t>11        60 2020-12-12    100       120     250.7</a:t>
            </a:r>
          </a:p>
          <a:p>
            <a:r>
              <a:rPr lang="fr-FR" sz="1200" dirty="0">
                <a:solidFill>
                  <a:srgbClr val="000000"/>
                </a:solidFill>
                <a:latin typeface="Segoe UI" panose="020B0502040204020203" pitchFamily="34" charset="0"/>
              </a:rPr>
              <a:t>12        60 2020-12-12    100       120     250.7</a:t>
            </a:r>
          </a:p>
          <a:p>
            <a:r>
              <a:rPr lang="fr-FR" sz="1200" dirty="0">
                <a:solidFill>
                  <a:srgbClr val="000000"/>
                </a:solidFill>
                <a:latin typeface="Segoe UI" panose="020B0502040204020203" pitchFamily="34" charset="0"/>
              </a:rPr>
              <a:t>13        60 2020-12-13    106       128     345.3</a:t>
            </a:r>
          </a:p>
          <a:p>
            <a:r>
              <a:rPr lang="fr-FR" sz="1200" dirty="0">
                <a:solidFill>
                  <a:srgbClr val="000000"/>
                </a:solidFill>
                <a:latin typeface="Segoe UI" panose="020B0502040204020203" pitchFamily="34" charset="0"/>
              </a:rPr>
              <a:t>14        60 2020-12-14    104       132     379.3</a:t>
            </a:r>
          </a:p>
          <a:p>
            <a:r>
              <a:rPr lang="fr-FR" sz="1200" dirty="0">
                <a:solidFill>
                  <a:srgbClr val="000000"/>
                </a:solidFill>
                <a:latin typeface="Segoe UI" panose="020B0502040204020203" pitchFamily="34" charset="0"/>
              </a:rPr>
              <a:t>15        60 2020-12-15     98       123     275.0</a:t>
            </a:r>
          </a:p>
          <a:p>
            <a:r>
              <a:rPr lang="fr-FR" sz="1200" dirty="0">
                <a:solidFill>
                  <a:srgbClr val="000000"/>
                </a:solidFill>
                <a:latin typeface="Segoe UI" panose="020B0502040204020203" pitchFamily="34" charset="0"/>
              </a:rPr>
              <a:t>16        60 2020-12-16     98       120     215.2</a:t>
            </a:r>
          </a:p>
          <a:p>
            <a:r>
              <a:rPr lang="fr-FR" sz="1200" dirty="0">
                <a:solidFill>
                  <a:srgbClr val="000000"/>
                </a:solidFill>
                <a:latin typeface="Segoe UI" panose="020B0502040204020203" pitchFamily="34" charset="0"/>
              </a:rPr>
              <a:t>17        60 2020-12-17    100       120     300.0</a:t>
            </a:r>
          </a:p>
          <a:p>
            <a:r>
              <a:rPr lang="fr-FR" sz="1200" dirty="0">
                <a:solidFill>
                  <a:srgbClr val="000000"/>
                </a:solidFill>
                <a:latin typeface="Segoe UI" panose="020B0502040204020203" pitchFamily="34" charset="0"/>
              </a:rPr>
              <a:t>18        45 2020-12-18     90       112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19        60 2020-12-19    103       123     323.0</a:t>
            </a:r>
          </a:p>
          <a:p>
            <a:r>
              <a:rPr lang="fr-FR" sz="1200" dirty="0">
                <a:solidFill>
                  <a:srgbClr val="000000"/>
                </a:solidFill>
                <a:latin typeface="Segoe UI" panose="020B0502040204020203" pitchFamily="34" charset="0"/>
              </a:rPr>
              <a:t>20        45 2020-12-20     97       125     243.0</a:t>
            </a:r>
          </a:p>
          <a:p>
            <a:r>
              <a:rPr lang="fr-FR" sz="1200" b="1" dirty="0">
                <a:solidFill>
                  <a:srgbClr val="000000"/>
                </a:solidFill>
                <a:latin typeface="Segoe UI" panose="020B0502040204020203" pitchFamily="34" charset="0"/>
              </a:rPr>
              <a:t>21        60 2020-12-21    108       131     364.2</a:t>
            </a:r>
          </a:p>
          <a:p>
            <a:r>
              <a:rPr lang="fr-FR" sz="1200" b="1" dirty="0">
                <a:solidFill>
                  <a:srgbClr val="000000"/>
                </a:solidFill>
                <a:latin typeface="Segoe UI" panose="020B0502040204020203" pitchFamily="34" charset="0"/>
              </a:rPr>
              <a:t>23        60 2020-12-23    130       101     300.0</a:t>
            </a:r>
          </a:p>
          <a:p>
            <a:r>
              <a:rPr lang="fr-FR" sz="1200" dirty="0">
                <a:solidFill>
                  <a:srgbClr val="000000"/>
                </a:solidFill>
                <a:latin typeface="Segoe UI" panose="020B0502040204020203" pitchFamily="34" charset="0"/>
              </a:rPr>
              <a:t>24        45 2020-12-24    105       132     246.0</a:t>
            </a:r>
          </a:p>
          <a:p>
            <a:r>
              <a:rPr lang="fr-FR" sz="1200" dirty="0">
                <a:solidFill>
                  <a:srgbClr val="000000"/>
                </a:solidFill>
                <a:latin typeface="Segoe UI" panose="020B0502040204020203" pitchFamily="34" charset="0"/>
              </a:rPr>
              <a:t>25        60 2020-12-25    102       126     334.5</a:t>
            </a:r>
          </a:p>
          <a:p>
            <a:r>
              <a:rPr lang="fr-FR" sz="1200" dirty="0">
                <a:solidFill>
                  <a:srgbClr val="000000"/>
                </a:solidFill>
                <a:latin typeface="Segoe UI" panose="020B0502040204020203" pitchFamily="34" charset="0"/>
              </a:rPr>
              <a:t>26        60 2020-12-26    100       120     250.0</a:t>
            </a:r>
          </a:p>
          <a:p>
            <a:r>
              <a:rPr lang="fr-FR" sz="1200" dirty="0">
                <a:solidFill>
                  <a:srgbClr val="000000"/>
                </a:solidFill>
                <a:latin typeface="Segoe UI" panose="020B0502040204020203" pitchFamily="34" charset="0"/>
              </a:rPr>
              <a:t>27        60 2020-12-27     92       118     241.0</a:t>
            </a:r>
          </a:p>
          <a:p>
            <a:r>
              <a:rPr lang="fr-FR" sz="1200" dirty="0">
                <a:solidFill>
                  <a:srgbClr val="000000"/>
                </a:solidFill>
                <a:latin typeface="Segoe UI" panose="020B0502040204020203" pitchFamily="34" charset="0"/>
              </a:rPr>
              <a:t>28        60 2020-12-28    103       132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29        60 2020-12-29    100       132     280.0</a:t>
            </a:r>
          </a:p>
          <a:p>
            <a:r>
              <a:rPr lang="fr-FR" sz="1200" dirty="0">
                <a:solidFill>
                  <a:srgbClr val="000000"/>
                </a:solidFill>
                <a:latin typeface="Segoe UI" panose="020B0502040204020203" pitchFamily="34" charset="0"/>
              </a:rPr>
              <a:t>30        60 2020-12-30    102       129     380.3</a:t>
            </a:r>
          </a:p>
          <a:p>
            <a:r>
              <a:rPr lang="fr-FR" sz="1200" dirty="0">
                <a:solidFill>
                  <a:srgbClr val="000000"/>
                </a:solidFill>
                <a:latin typeface="Segoe UI" panose="020B0502040204020203" pitchFamily="34" charset="0"/>
              </a:rPr>
              <a:t>31        60 2020-12-31     92       115     243.0</a:t>
            </a:r>
            <a:endParaRPr lang="en-US" sz="1200" b="0" i="0" dirty="0">
              <a:solidFill>
                <a:srgbClr val="000000"/>
              </a:solidFill>
              <a:effectLst/>
              <a:latin typeface="Consolas" panose="020B0609020204030204" pitchFamily="49" charset="0"/>
            </a:endParaRPr>
          </a:p>
        </p:txBody>
      </p:sp>
      <p:sp>
        <p:nvSpPr>
          <p:cNvPr id="7" name="Rectangle 20"/>
          <p:cNvSpPr>
            <a:spLocks noChangeArrowheads="1"/>
          </p:cNvSpPr>
          <p:nvPr/>
        </p:nvSpPr>
        <p:spPr bwMode="auto">
          <a:xfrm>
            <a:off x="574271" y="3989410"/>
            <a:ext cx="5698605" cy="1359306"/>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dirty="0">
                <a:solidFill>
                  <a:srgbClr val="000000"/>
                </a:solidFill>
                <a:latin typeface="Segoe UI" panose="020B0502040204020203" pitchFamily="34" charset="0"/>
              </a:rPr>
              <a:t>Example</a:t>
            </a:r>
          </a:p>
          <a:p>
            <a:r>
              <a:rPr lang="en-US" sz="1600" dirty="0">
                <a:solidFill>
                  <a:srgbClr val="000000"/>
                </a:solidFill>
                <a:latin typeface="Verdana" panose="020B0604030504040204" pitchFamily="34" charset="0"/>
              </a:rPr>
              <a:t>Remove rows with a NULL value in the "Date" column:</a:t>
            </a:r>
          </a:p>
          <a:p>
            <a:endParaRPr lang="en-US" sz="1600" dirty="0">
              <a:solidFill>
                <a:srgbClr val="000000"/>
              </a:solidFill>
              <a:latin typeface="Verdana" panose="020B0604030504040204" pitchFamily="34" charset="0"/>
            </a:endParaRPr>
          </a:p>
          <a:p>
            <a:r>
              <a:rPr lang="en-US" sz="1600" dirty="0" err="1">
                <a:solidFill>
                  <a:srgbClr val="000000"/>
                </a:solidFill>
                <a:latin typeface="Consolas" panose="020B0609020204030204" pitchFamily="49" charset="0"/>
              </a:rPr>
              <a:t>df.dropna</a:t>
            </a:r>
            <a:r>
              <a:rPr lang="en-US" sz="1600" dirty="0">
                <a:solidFill>
                  <a:srgbClr val="000000"/>
                </a:solidFill>
                <a:latin typeface="Consolas" panose="020B0609020204030204" pitchFamily="49" charset="0"/>
              </a:rPr>
              <a:t>(subset=[</a:t>
            </a:r>
            <a:r>
              <a:rPr lang="en-US" sz="1600" dirty="0">
                <a:solidFill>
                  <a:srgbClr val="A52A2A"/>
                </a:solidFill>
                <a:latin typeface="Consolas" panose="020B0609020204030204" pitchFamily="49" charset="0"/>
              </a:rPr>
              <a:t>'Date'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inplace</a:t>
            </a:r>
            <a:r>
              <a:rPr lang="en-US" sz="1600" dirty="0">
                <a:solidFill>
                  <a:srgbClr val="000000"/>
                </a:solidFill>
                <a:latin typeface="Consolas" panose="020B0609020204030204" pitchFamily="49" charset="0"/>
              </a:rPr>
              <a:t> = </a:t>
            </a:r>
            <a:r>
              <a:rPr lang="en-US" sz="1600" dirty="0">
                <a:solidFill>
                  <a:srgbClr val="0000CD"/>
                </a:solidFill>
                <a:latin typeface="Consolas" panose="020B0609020204030204" pitchFamily="49" charset="0"/>
              </a:rPr>
              <a:t>True</a:t>
            </a:r>
            <a:r>
              <a:rPr lang="en-US" sz="1600" dirty="0">
                <a:solidFill>
                  <a:srgbClr val="000000"/>
                </a:solidFill>
                <a:latin typeface="Consolas" panose="020B0609020204030204" pitchFamily="49" charset="0"/>
              </a:rPr>
              <a:t>)</a:t>
            </a:r>
          </a:p>
          <a:p>
            <a:endParaRPr lang="en-US" sz="16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165410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Fixing Wrong Data</a:t>
            </a:r>
          </a:p>
        </p:txBody>
      </p:sp>
      <p:sp>
        <p:nvSpPr>
          <p:cNvPr id="3" name="Content Placeholder 2"/>
          <p:cNvSpPr>
            <a:spLocks noGrp="1"/>
          </p:cNvSpPr>
          <p:nvPr>
            <p:ph idx="1"/>
          </p:nvPr>
        </p:nvSpPr>
        <p:spPr>
          <a:xfrm>
            <a:off x="270934" y="1467943"/>
            <a:ext cx="6468533" cy="3880773"/>
          </a:xfrm>
        </p:spPr>
        <p:txBody>
          <a:bodyPr>
            <a:noAutofit/>
          </a:bodyPr>
          <a:lstStyle/>
          <a:p>
            <a:r>
              <a:rPr lang="en-US" dirty="0"/>
              <a:t>"</a:t>
            </a:r>
            <a:r>
              <a:rPr lang="en-US" b="1" dirty="0"/>
              <a:t>Wrong data</a:t>
            </a:r>
            <a:r>
              <a:rPr lang="en-US" dirty="0"/>
              <a:t>" does not have to be "</a:t>
            </a:r>
            <a:r>
              <a:rPr lang="en-US" b="1" dirty="0"/>
              <a:t>empty cells</a:t>
            </a:r>
            <a:r>
              <a:rPr lang="en-US" dirty="0"/>
              <a:t>" or "wrong format", it can just be wrong, like if someone registered "199" instead of "1.99".</a:t>
            </a:r>
          </a:p>
          <a:p>
            <a:r>
              <a:rPr lang="en-US" b="1" dirty="0"/>
              <a:t>Sometimes you can spot wrong data by looking </a:t>
            </a:r>
            <a:r>
              <a:rPr lang="en-US" dirty="0"/>
              <a:t>at the data set, because you have an expectation of what it should be.</a:t>
            </a:r>
          </a:p>
          <a:p>
            <a:r>
              <a:rPr lang="en-US" dirty="0"/>
              <a:t>If you take a look at our data set, you can see that in row </a:t>
            </a:r>
            <a:r>
              <a:rPr lang="en-US" b="1" dirty="0"/>
              <a:t>7, the duration is 450</a:t>
            </a:r>
            <a:r>
              <a:rPr lang="en-US" dirty="0"/>
              <a:t>, but for all the other rows the duration is between 30 and 60.</a:t>
            </a:r>
          </a:p>
          <a:p>
            <a:r>
              <a:rPr lang="en-US" dirty="0"/>
              <a:t>It doesn't have to be wrong, but taking in consideration that this is the data set of someone's workout sessions, we conclude with the fact that this person did not work out in 450 minutes.</a:t>
            </a:r>
          </a:p>
          <a:p>
            <a:r>
              <a:rPr lang="en-US" dirty="0"/>
              <a:t>How can we fix wrong values, like the one for "</a:t>
            </a:r>
            <a:r>
              <a:rPr lang="en-US" b="1" dirty="0"/>
              <a:t>Duration" in row </a:t>
            </a:r>
            <a:r>
              <a:rPr lang="en-US" sz="1600" b="1" dirty="0"/>
              <a:t>7?</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24" name="Rectangle 20"/>
          <p:cNvSpPr>
            <a:spLocks noChangeArrowheads="1"/>
          </p:cNvSpPr>
          <p:nvPr/>
        </p:nvSpPr>
        <p:spPr bwMode="auto">
          <a:xfrm>
            <a:off x="6888480" y="621494"/>
            <a:ext cx="5126644" cy="6222176"/>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200" b="1" dirty="0">
                <a:solidFill>
                  <a:srgbClr val="000000"/>
                </a:solidFill>
                <a:latin typeface="Segoe UI" panose="020B0502040204020203" pitchFamily="34" charset="0"/>
              </a:rPr>
              <a:t> Duration          Date  Pulse  </a:t>
            </a:r>
            <a:r>
              <a:rPr lang="fr-FR" sz="1200" b="1" dirty="0" err="1">
                <a:solidFill>
                  <a:srgbClr val="000000"/>
                </a:solidFill>
                <a:latin typeface="Segoe UI" panose="020B0502040204020203" pitchFamily="34" charset="0"/>
              </a:rPr>
              <a:t>Maxpulse</a:t>
            </a:r>
            <a:r>
              <a:rPr lang="fr-FR" sz="1200" b="1" dirty="0">
                <a:solidFill>
                  <a:srgbClr val="000000"/>
                </a:solidFill>
                <a:latin typeface="Segoe UI" panose="020B0502040204020203" pitchFamily="34" charset="0"/>
              </a:rPr>
              <a:t>  Calories</a:t>
            </a:r>
          </a:p>
          <a:p>
            <a:r>
              <a:rPr lang="fr-FR" sz="1200" b="1" dirty="0">
                <a:solidFill>
                  <a:srgbClr val="000000"/>
                </a:solidFill>
                <a:latin typeface="Segoe UI" panose="020B0502040204020203" pitchFamily="34" charset="0"/>
              </a:rPr>
              <a:t>  0         60  '2020/12/01'    110       130     409.1</a:t>
            </a:r>
          </a:p>
          <a:p>
            <a:r>
              <a:rPr lang="fr-FR" sz="1200" b="1" dirty="0">
                <a:solidFill>
                  <a:srgbClr val="000000"/>
                </a:solidFill>
                <a:latin typeface="Segoe UI" panose="020B0502040204020203" pitchFamily="34" charset="0"/>
              </a:rPr>
              <a:t>  1         60  '2020/12/02'    117       145     479.0</a:t>
            </a:r>
          </a:p>
          <a:p>
            <a:r>
              <a:rPr lang="fr-FR" sz="1200" b="1" dirty="0">
                <a:solidFill>
                  <a:srgbClr val="000000"/>
                </a:solidFill>
                <a:latin typeface="Segoe UI" panose="020B0502040204020203" pitchFamily="34" charset="0"/>
              </a:rPr>
              <a:t>  2         60  '2020/12/03'    103       135     340.0</a:t>
            </a:r>
          </a:p>
          <a:p>
            <a:r>
              <a:rPr lang="fr-FR" sz="1200" b="1" dirty="0">
                <a:solidFill>
                  <a:srgbClr val="000000"/>
                </a:solidFill>
                <a:latin typeface="Segoe UI" panose="020B0502040204020203" pitchFamily="34" charset="0"/>
              </a:rPr>
              <a:t>  3         45  '2020/12/04'    109       175     282.4</a:t>
            </a:r>
          </a:p>
          <a:p>
            <a:r>
              <a:rPr lang="fr-FR" sz="1200" b="1" dirty="0">
                <a:solidFill>
                  <a:srgbClr val="000000"/>
                </a:solidFill>
                <a:latin typeface="Segoe UI" panose="020B0502040204020203" pitchFamily="34" charset="0"/>
              </a:rPr>
              <a:t>  4         45  '2020/12/05'    117       148     406.0</a:t>
            </a:r>
          </a:p>
          <a:p>
            <a:r>
              <a:rPr lang="fr-FR" sz="1200" b="1" dirty="0">
                <a:solidFill>
                  <a:srgbClr val="000000"/>
                </a:solidFill>
                <a:latin typeface="Segoe UI" panose="020B0502040204020203" pitchFamily="34" charset="0"/>
              </a:rPr>
              <a:t>  5         60  '2020/12/06'    102       127     300.0</a:t>
            </a:r>
          </a:p>
          <a:p>
            <a:r>
              <a:rPr lang="fr-FR" sz="1200" b="1" dirty="0">
                <a:solidFill>
                  <a:srgbClr val="000000"/>
                </a:solidFill>
                <a:latin typeface="Segoe UI" panose="020B0502040204020203" pitchFamily="34" charset="0"/>
              </a:rPr>
              <a:t>  6         60  '2020/12/07'    110       136     374.0</a:t>
            </a:r>
          </a:p>
          <a:p>
            <a:r>
              <a:rPr lang="fr-FR" sz="1200" b="1" dirty="0">
                <a:solidFill>
                  <a:srgbClr val="000000"/>
                </a:solidFill>
                <a:latin typeface="Segoe UI" panose="020B0502040204020203" pitchFamily="34" charset="0"/>
              </a:rPr>
              <a:t>  7        450  '2020/12/08'    104       134     253.3</a:t>
            </a:r>
          </a:p>
          <a:p>
            <a:r>
              <a:rPr lang="fr-FR" sz="1200" b="1" dirty="0">
                <a:solidFill>
                  <a:srgbClr val="000000"/>
                </a:solidFill>
                <a:latin typeface="Segoe UI" panose="020B0502040204020203" pitchFamily="34" charset="0"/>
              </a:rPr>
              <a:t>  8         30  '2020/12/09'    109       133     195.1</a:t>
            </a:r>
          </a:p>
          <a:p>
            <a:r>
              <a:rPr lang="fr-FR" sz="1200" b="1" dirty="0">
                <a:solidFill>
                  <a:srgbClr val="000000"/>
                </a:solidFill>
                <a:latin typeface="Segoe UI" panose="020B0502040204020203" pitchFamily="34" charset="0"/>
              </a:rPr>
              <a:t>  9         60  '2020/12/10'     98       124     269.0</a:t>
            </a:r>
          </a:p>
          <a:p>
            <a:r>
              <a:rPr lang="fr-FR" sz="1200" b="1" dirty="0">
                <a:solidFill>
                  <a:srgbClr val="000000"/>
                </a:solidFill>
                <a:latin typeface="Segoe UI" panose="020B0502040204020203" pitchFamily="34" charset="0"/>
              </a:rPr>
              <a:t>  10        60  '2020/12/11'    103       147     329.3</a:t>
            </a:r>
          </a:p>
          <a:p>
            <a:r>
              <a:rPr lang="fr-FR" sz="1200" b="1" dirty="0">
                <a:solidFill>
                  <a:srgbClr val="000000"/>
                </a:solidFill>
                <a:latin typeface="Segoe UI" panose="020B0502040204020203" pitchFamily="34" charset="0"/>
              </a:rPr>
              <a:t>  11        60  '2020/12/12'    100       120     250.7</a:t>
            </a:r>
          </a:p>
          <a:p>
            <a:r>
              <a:rPr lang="fr-FR" sz="1200" b="1" dirty="0">
                <a:solidFill>
                  <a:srgbClr val="000000"/>
                </a:solidFill>
                <a:latin typeface="Segoe UI" panose="020B0502040204020203" pitchFamily="34" charset="0"/>
              </a:rPr>
              <a:t>  12        60  '2020/12/12'    100       120     250.7</a:t>
            </a:r>
          </a:p>
          <a:p>
            <a:r>
              <a:rPr lang="fr-FR" sz="1200" b="1" dirty="0">
                <a:solidFill>
                  <a:srgbClr val="000000"/>
                </a:solidFill>
                <a:latin typeface="Segoe UI" panose="020B0502040204020203" pitchFamily="34" charset="0"/>
              </a:rPr>
              <a:t>  13        60  '2020/12/13'    106       128     345.3</a:t>
            </a:r>
          </a:p>
          <a:p>
            <a:r>
              <a:rPr lang="fr-FR" sz="1200" b="1" dirty="0">
                <a:solidFill>
                  <a:srgbClr val="000000"/>
                </a:solidFill>
                <a:latin typeface="Segoe UI" panose="020B0502040204020203" pitchFamily="34" charset="0"/>
              </a:rPr>
              <a:t>  14        60  '2020/12/14'    104       132     379.3</a:t>
            </a:r>
          </a:p>
          <a:p>
            <a:r>
              <a:rPr lang="fr-FR" sz="1200" b="1" dirty="0">
                <a:solidFill>
                  <a:srgbClr val="000000"/>
                </a:solidFill>
                <a:latin typeface="Segoe UI" panose="020B0502040204020203" pitchFamily="34" charset="0"/>
              </a:rPr>
              <a:t>  15        60  '2020/12/15'     98       123     275.0</a:t>
            </a:r>
          </a:p>
          <a:p>
            <a:r>
              <a:rPr lang="fr-FR" sz="1200" b="1" dirty="0">
                <a:solidFill>
                  <a:srgbClr val="000000"/>
                </a:solidFill>
                <a:latin typeface="Segoe UI" panose="020B0502040204020203" pitchFamily="34" charset="0"/>
              </a:rPr>
              <a:t>  16        60  '2020/12/16'     98       120     215.2</a:t>
            </a:r>
          </a:p>
          <a:p>
            <a:r>
              <a:rPr lang="fr-FR" sz="1200" b="1" dirty="0">
                <a:solidFill>
                  <a:srgbClr val="000000"/>
                </a:solidFill>
                <a:latin typeface="Segoe UI" panose="020B0502040204020203" pitchFamily="34" charset="0"/>
              </a:rPr>
              <a:t>  17        60  '2020/12/17'    100       120     300.0</a:t>
            </a:r>
          </a:p>
          <a:p>
            <a:r>
              <a:rPr lang="fr-FR" sz="1200" b="1" dirty="0">
                <a:solidFill>
                  <a:srgbClr val="000000"/>
                </a:solidFill>
                <a:latin typeface="Segoe UI" panose="020B0502040204020203" pitchFamily="34" charset="0"/>
              </a:rPr>
              <a:t>  18        45  '2020/12/18'     90       112       </a:t>
            </a:r>
            <a:r>
              <a:rPr lang="fr-FR" sz="1200" b="1" dirty="0" err="1">
                <a:solidFill>
                  <a:srgbClr val="000000"/>
                </a:solidFill>
                <a:latin typeface="Segoe UI" panose="020B0502040204020203" pitchFamily="34" charset="0"/>
              </a:rPr>
              <a:t>NaN</a:t>
            </a:r>
            <a:endParaRPr lang="fr-FR" sz="1200" b="1" dirty="0">
              <a:solidFill>
                <a:srgbClr val="000000"/>
              </a:solidFill>
              <a:latin typeface="Segoe UI" panose="020B0502040204020203" pitchFamily="34" charset="0"/>
            </a:endParaRPr>
          </a:p>
          <a:p>
            <a:r>
              <a:rPr lang="fr-FR" sz="1200" b="1" dirty="0">
                <a:solidFill>
                  <a:srgbClr val="000000"/>
                </a:solidFill>
                <a:latin typeface="Segoe UI" panose="020B0502040204020203" pitchFamily="34" charset="0"/>
              </a:rPr>
              <a:t>  19        60  '2020/12/19'    103       123     323.0</a:t>
            </a:r>
          </a:p>
          <a:p>
            <a:r>
              <a:rPr lang="fr-FR" sz="1200" b="1" dirty="0">
                <a:solidFill>
                  <a:srgbClr val="000000"/>
                </a:solidFill>
                <a:latin typeface="Segoe UI" panose="020B0502040204020203" pitchFamily="34" charset="0"/>
              </a:rPr>
              <a:t>  20        45  '2020/12/20'     97       125     243.0</a:t>
            </a:r>
          </a:p>
          <a:p>
            <a:r>
              <a:rPr lang="fr-FR" sz="1200" b="1" dirty="0">
                <a:solidFill>
                  <a:srgbClr val="000000"/>
                </a:solidFill>
                <a:latin typeface="Segoe UI" panose="020B0502040204020203" pitchFamily="34" charset="0"/>
              </a:rPr>
              <a:t>  21        60  '2020/12/21'    108       131     364.2</a:t>
            </a:r>
          </a:p>
          <a:p>
            <a:r>
              <a:rPr lang="fr-FR" sz="1200" b="1" dirty="0">
                <a:solidFill>
                  <a:srgbClr val="000000"/>
                </a:solidFill>
                <a:latin typeface="Segoe UI" panose="020B0502040204020203" pitchFamily="34" charset="0"/>
              </a:rPr>
              <a:t>  22        45           </a:t>
            </a:r>
            <a:r>
              <a:rPr lang="fr-FR" sz="1200" b="1" dirty="0" err="1">
                <a:solidFill>
                  <a:srgbClr val="000000"/>
                </a:solidFill>
                <a:latin typeface="Segoe UI" panose="020B0502040204020203" pitchFamily="34" charset="0"/>
              </a:rPr>
              <a:t>NaN</a:t>
            </a:r>
            <a:r>
              <a:rPr lang="fr-FR" sz="1200" b="1" dirty="0">
                <a:solidFill>
                  <a:srgbClr val="000000"/>
                </a:solidFill>
                <a:latin typeface="Segoe UI" panose="020B0502040204020203" pitchFamily="34" charset="0"/>
              </a:rPr>
              <a:t>    100       119     282.0</a:t>
            </a:r>
          </a:p>
          <a:p>
            <a:r>
              <a:rPr lang="fr-FR" sz="1200" b="1" dirty="0">
                <a:solidFill>
                  <a:srgbClr val="000000"/>
                </a:solidFill>
                <a:latin typeface="Segoe UI" panose="020B0502040204020203" pitchFamily="34" charset="0"/>
              </a:rPr>
              <a:t>  23        60  '2020/12/23'    130       101     300.0</a:t>
            </a:r>
          </a:p>
          <a:p>
            <a:r>
              <a:rPr lang="fr-FR" sz="1200" b="1" dirty="0">
                <a:solidFill>
                  <a:srgbClr val="000000"/>
                </a:solidFill>
                <a:latin typeface="Segoe UI" panose="020B0502040204020203" pitchFamily="34" charset="0"/>
              </a:rPr>
              <a:t>  24        45  '2020/12/24'    105       132     246.0</a:t>
            </a:r>
          </a:p>
          <a:p>
            <a:r>
              <a:rPr lang="fr-FR" sz="1200" b="1" dirty="0">
                <a:solidFill>
                  <a:srgbClr val="000000"/>
                </a:solidFill>
                <a:latin typeface="Segoe UI" panose="020B0502040204020203" pitchFamily="34" charset="0"/>
              </a:rPr>
              <a:t>  25        60  '2020/12/25'    102       126     334.5</a:t>
            </a:r>
          </a:p>
          <a:p>
            <a:r>
              <a:rPr lang="fr-FR" sz="1200" b="1" dirty="0">
                <a:solidFill>
                  <a:srgbClr val="000000"/>
                </a:solidFill>
                <a:latin typeface="Segoe UI" panose="020B0502040204020203" pitchFamily="34" charset="0"/>
              </a:rPr>
              <a:t>  26        60      20201226    100       120     250.0</a:t>
            </a:r>
          </a:p>
          <a:p>
            <a:r>
              <a:rPr lang="fr-FR" sz="1200" b="1" dirty="0">
                <a:solidFill>
                  <a:srgbClr val="000000"/>
                </a:solidFill>
                <a:latin typeface="Segoe UI" panose="020B0502040204020203" pitchFamily="34" charset="0"/>
              </a:rPr>
              <a:t>  27        60  '2020/12/27'     92       118     241.0</a:t>
            </a:r>
          </a:p>
          <a:p>
            <a:r>
              <a:rPr lang="fr-FR" sz="1200" b="1" dirty="0">
                <a:solidFill>
                  <a:srgbClr val="000000"/>
                </a:solidFill>
                <a:latin typeface="Segoe UI" panose="020B0502040204020203" pitchFamily="34" charset="0"/>
              </a:rPr>
              <a:t>  28        60  '2020/12/28'    103       132       </a:t>
            </a:r>
            <a:r>
              <a:rPr lang="fr-FR" sz="1200" b="1" dirty="0" err="1">
                <a:solidFill>
                  <a:srgbClr val="000000"/>
                </a:solidFill>
                <a:latin typeface="Segoe UI" panose="020B0502040204020203" pitchFamily="34" charset="0"/>
              </a:rPr>
              <a:t>NaN</a:t>
            </a:r>
            <a:endParaRPr lang="fr-FR" sz="1200" b="1" dirty="0">
              <a:solidFill>
                <a:srgbClr val="000000"/>
              </a:solidFill>
              <a:latin typeface="Segoe UI" panose="020B0502040204020203" pitchFamily="34" charset="0"/>
            </a:endParaRPr>
          </a:p>
          <a:p>
            <a:r>
              <a:rPr lang="fr-FR" sz="1200" b="1" dirty="0">
                <a:solidFill>
                  <a:srgbClr val="000000"/>
                </a:solidFill>
                <a:latin typeface="Segoe UI" panose="020B0502040204020203" pitchFamily="34" charset="0"/>
              </a:rPr>
              <a:t>  29        60  '2020/12/29'    100       132     280.0</a:t>
            </a:r>
          </a:p>
          <a:p>
            <a:r>
              <a:rPr lang="fr-FR" sz="1200" b="1" dirty="0">
                <a:solidFill>
                  <a:srgbClr val="000000"/>
                </a:solidFill>
                <a:latin typeface="Segoe UI" panose="020B0502040204020203" pitchFamily="34" charset="0"/>
              </a:rPr>
              <a:t>  30        60  '2020/12/30'    102       129     380.3</a:t>
            </a:r>
          </a:p>
          <a:p>
            <a:r>
              <a:rPr lang="fr-FR" sz="1200" b="1" dirty="0">
                <a:solidFill>
                  <a:srgbClr val="000000"/>
                </a:solidFill>
                <a:latin typeface="Segoe UI" panose="020B0502040204020203" pitchFamily="34" charset="0"/>
              </a:rPr>
              <a:t>  31        60  '2020/12/31'     92       115     243.0</a:t>
            </a:r>
            <a:endParaRPr lang="en-US" sz="12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035939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Fixing Wrong Data</a:t>
            </a:r>
          </a:p>
        </p:txBody>
      </p:sp>
      <p:sp>
        <p:nvSpPr>
          <p:cNvPr id="3" name="Content Placeholder 2"/>
          <p:cNvSpPr>
            <a:spLocks noGrp="1"/>
          </p:cNvSpPr>
          <p:nvPr>
            <p:ph idx="1"/>
          </p:nvPr>
        </p:nvSpPr>
        <p:spPr>
          <a:xfrm>
            <a:off x="677334" y="2160589"/>
            <a:ext cx="5898033" cy="3880773"/>
          </a:xfrm>
        </p:spPr>
        <p:txBody>
          <a:bodyPr>
            <a:normAutofit/>
          </a:bodyPr>
          <a:lstStyle/>
          <a:p>
            <a:r>
              <a:rPr lang="en-US" b="1" dirty="0"/>
              <a:t>Replacing Values</a:t>
            </a:r>
            <a:r>
              <a:rPr lang="en-US" dirty="0"/>
              <a:t>: One way to fix wrong values is to replace them with something else.</a:t>
            </a:r>
          </a:p>
          <a:p>
            <a:endParaRPr lang="en-US" dirty="0"/>
          </a:p>
          <a:p>
            <a:r>
              <a:rPr lang="en-US" dirty="0"/>
              <a:t>In our example, it is most likely a typo, and the value should be "</a:t>
            </a:r>
            <a:r>
              <a:rPr lang="en-US" b="1" dirty="0"/>
              <a:t>45" instead of "450"</a:t>
            </a:r>
            <a:r>
              <a:rPr lang="en-US" dirty="0"/>
              <a:t>,</a:t>
            </a:r>
            <a:r>
              <a:rPr lang="en-US" b="1" dirty="0"/>
              <a:t> </a:t>
            </a:r>
            <a:r>
              <a:rPr lang="en-US" dirty="0"/>
              <a:t>and we could just insert "45" in row 7:</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24" name="Rectangle 20"/>
          <p:cNvSpPr>
            <a:spLocks noChangeArrowheads="1"/>
          </p:cNvSpPr>
          <p:nvPr/>
        </p:nvSpPr>
        <p:spPr bwMode="auto">
          <a:xfrm>
            <a:off x="6888480" y="621494"/>
            <a:ext cx="5126644" cy="6222176"/>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200" dirty="0">
                <a:solidFill>
                  <a:srgbClr val="000000"/>
                </a:solidFill>
                <a:latin typeface="Segoe UI" panose="020B0502040204020203" pitchFamily="34" charset="0"/>
              </a:rPr>
              <a:t> Duration          Date  Pulse  </a:t>
            </a:r>
            <a:r>
              <a:rPr lang="fr-FR" sz="1200" dirty="0" err="1">
                <a:solidFill>
                  <a:srgbClr val="000000"/>
                </a:solidFill>
                <a:latin typeface="Segoe UI" panose="020B0502040204020203" pitchFamily="34" charset="0"/>
              </a:rPr>
              <a:t>Maxpulse</a:t>
            </a:r>
            <a:r>
              <a:rPr lang="fr-FR" sz="1200" dirty="0">
                <a:solidFill>
                  <a:srgbClr val="000000"/>
                </a:solidFill>
                <a:latin typeface="Segoe UI" panose="020B0502040204020203" pitchFamily="34" charset="0"/>
              </a:rPr>
              <a:t>  Calories</a:t>
            </a:r>
          </a:p>
          <a:p>
            <a:r>
              <a:rPr lang="fr-FR" sz="1200" dirty="0">
                <a:solidFill>
                  <a:srgbClr val="000000"/>
                </a:solidFill>
                <a:latin typeface="Segoe UI" panose="020B0502040204020203" pitchFamily="34" charset="0"/>
              </a:rPr>
              <a:t>  0         60  '2020/12/01'    110       130     409.1</a:t>
            </a:r>
          </a:p>
          <a:p>
            <a:r>
              <a:rPr lang="fr-FR" sz="1200" dirty="0">
                <a:solidFill>
                  <a:srgbClr val="000000"/>
                </a:solidFill>
                <a:latin typeface="Segoe UI" panose="020B0502040204020203" pitchFamily="34" charset="0"/>
              </a:rPr>
              <a:t>  1         60  '2020/12/02'    117       145     479.0</a:t>
            </a:r>
          </a:p>
          <a:p>
            <a:r>
              <a:rPr lang="fr-FR" sz="1200" dirty="0">
                <a:solidFill>
                  <a:srgbClr val="000000"/>
                </a:solidFill>
                <a:latin typeface="Segoe UI" panose="020B0502040204020203" pitchFamily="34" charset="0"/>
              </a:rPr>
              <a:t>  2         60  '2020/12/03'    103       135     340.0</a:t>
            </a:r>
          </a:p>
          <a:p>
            <a:r>
              <a:rPr lang="fr-FR" sz="1200" dirty="0">
                <a:solidFill>
                  <a:srgbClr val="000000"/>
                </a:solidFill>
                <a:latin typeface="Segoe UI" panose="020B0502040204020203" pitchFamily="34" charset="0"/>
              </a:rPr>
              <a:t>  3         45  '2020/12/04'    109       175     282.4</a:t>
            </a:r>
          </a:p>
          <a:p>
            <a:r>
              <a:rPr lang="fr-FR" sz="1200" dirty="0">
                <a:solidFill>
                  <a:srgbClr val="000000"/>
                </a:solidFill>
                <a:latin typeface="Segoe UI" panose="020B0502040204020203" pitchFamily="34" charset="0"/>
              </a:rPr>
              <a:t>  4         45  '2020/12/05'    117       148     406.0</a:t>
            </a:r>
          </a:p>
          <a:p>
            <a:r>
              <a:rPr lang="fr-FR" sz="1200" dirty="0">
                <a:solidFill>
                  <a:srgbClr val="000000"/>
                </a:solidFill>
                <a:latin typeface="Segoe UI" panose="020B0502040204020203" pitchFamily="34" charset="0"/>
              </a:rPr>
              <a:t>  5         60  '2020/12/06'    102       127     300.0</a:t>
            </a:r>
          </a:p>
          <a:p>
            <a:r>
              <a:rPr lang="fr-FR" sz="1200" dirty="0">
                <a:solidFill>
                  <a:srgbClr val="000000"/>
                </a:solidFill>
                <a:latin typeface="Segoe UI" panose="020B0502040204020203" pitchFamily="34" charset="0"/>
              </a:rPr>
              <a:t>  6         60  '2020/12/07'    110       136     374.0</a:t>
            </a:r>
          </a:p>
          <a:p>
            <a:r>
              <a:rPr lang="fr-FR" sz="1200" dirty="0">
                <a:solidFill>
                  <a:srgbClr val="000000"/>
                </a:solidFill>
                <a:latin typeface="Segoe UI" panose="020B0502040204020203" pitchFamily="34" charset="0"/>
              </a:rPr>
              <a:t>  </a:t>
            </a:r>
            <a:r>
              <a:rPr lang="fr-FR" sz="1200" b="1" dirty="0">
                <a:solidFill>
                  <a:srgbClr val="000000"/>
                </a:solidFill>
                <a:latin typeface="Segoe UI" panose="020B0502040204020203" pitchFamily="34" charset="0"/>
              </a:rPr>
              <a:t>7        45  '2020/12/08'    104       134     253.3</a:t>
            </a:r>
          </a:p>
          <a:p>
            <a:r>
              <a:rPr lang="fr-FR" sz="1200" dirty="0">
                <a:solidFill>
                  <a:srgbClr val="000000"/>
                </a:solidFill>
                <a:latin typeface="Segoe UI" panose="020B0502040204020203" pitchFamily="34" charset="0"/>
              </a:rPr>
              <a:t>  8         30  '2020/12/09'    109       133     195.1</a:t>
            </a:r>
          </a:p>
          <a:p>
            <a:r>
              <a:rPr lang="fr-FR" sz="1200" dirty="0">
                <a:solidFill>
                  <a:srgbClr val="000000"/>
                </a:solidFill>
                <a:latin typeface="Segoe UI" panose="020B0502040204020203" pitchFamily="34" charset="0"/>
              </a:rPr>
              <a:t>  9         60  '2020/12/10'     98       124     269.0</a:t>
            </a:r>
          </a:p>
          <a:p>
            <a:r>
              <a:rPr lang="fr-FR" sz="1200" dirty="0">
                <a:solidFill>
                  <a:srgbClr val="000000"/>
                </a:solidFill>
                <a:latin typeface="Segoe UI" panose="020B0502040204020203" pitchFamily="34" charset="0"/>
              </a:rPr>
              <a:t>  10        60  '2020/12/11'    103       147     329.3</a:t>
            </a:r>
          </a:p>
          <a:p>
            <a:r>
              <a:rPr lang="fr-FR" sz="1200" dirty="0">
                <a:solidFill>
                  <a:srgbClr val="000000"/>
                </a:solidFill>
                <a:latin typeface="Segoe UI" panose="020B0502040204020203" pitchFamily="34" charset="0"/>
              </a:rPr>
              <a:t>  11        60  '2020/12/12'    100       120     250.7</a:t>
            </a:r>
          </a:p>
          <a:p>
            <a:r>
              <a:rPr lang="fr-FR" sz="1200" dirty="0">
                <a:solidFill>
                  <a:srgbClr val="000000"/>
                </a:solidFill>
                <a:latin typeface="Segoe UI" panose="020B0502040204020203" pitchFamily="34" charset="0"/>
              </a:rPr>
              <a:t>  12        60  '2020/12/12'    100       120     250.7</a:t>
            </a:r>
          </a:p>
          <a:p>
            <a:r>
              <a:rPr lang="fr-FR" sz="1200" dirty="0">
                <a:solidFill>
                  <a:srgbClr val="000000"/>
                </a:solidFill>
                <a:latin typeface="Segoe UI" panose="020B0502040204020203" pitchFamily="34" charset="0"/>
              </a:rPr>
              <a:t>  13        60  '2020/12/13'    106       128     345.3</a:t>
            </a:r>
          </a:p>
          <a:p>
            <a:r>
              <a:rPr lang="fr-FR" sz="1200" dirty="0">
                <a:solidFill>
                  <a:srgbClr val="000000"/>
                </a:solidFill>
                <a:latin typeface="Segoe UI" panose="020B0502040204020203" pitchFamily="34" charset="0"/>
              </a:rPr>
              <a:t>  14        60  '2020/12/14'    104       132     379.3</a:t>
            </a:r>
          </a:p>
          <a:p>
            <a:r>
              <a:rPr lang="fr-FR" sz="1200" dirty="0">
                <a:solidFill>
                  <a:srgbClr val="000000"/>
                </a:solidFill>
                <a:latin typeface="Segoe UI" panose="020B0502040204020203" pitchFamily="34" charset="0"/>
              </a:rPr>
              <a:t>  15        60  '2020/12/15'     98       123     275.0</a:t>
            </a:r>
          </a:p>
          <a:p>
            <a:r>
              <a:rPr lang="fr-FR" sz="1200" dirty="0">
                <a:solidFill>
                  <a:srgbClr val="000000"/>
                </a:solidFill>
                <a:latin typeface="Segoe UI" panose="020B0502040204020203" pitchFamily="34" charset="0"/>
              </a:rPr>
              <a:t>  16        60  '2020/12/16'     98       120     215.2</a:t>
            </a:r>
          </a:p>
          <a:p>
            <a:r>
              <a:rPr lang="fr-FR" sz="1200" dirty="0">
                <a:solidFill>
                  <a:srgbClr val="000000"/>
                </a:solidFill>
                <a:latin typeface="Segoe UI" panose="020B0502040204020203" pitchFamily="34" charset="0"/>
              </a:rPr>
              <a:t>  17        60  '2020/12/17'    100       120     300.0</a:t>
            </a:r>
          </a:p>
          <a:p>
            <a:r>
              <a:rPr lang="fr-FR" sz="1200" dirty="0">
                <a:solidFill>
                  <a:srgbClr val="000000"/>
                </a:solidFill>
                <a:latin typeface="Segoe UI" panose="020B0502040204020203" pitchFamily="34" charset="0"/>
              </a:rPr>
              <a:t>  18        45  '2020/12/18'     90       112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19        60  '2020/12/19'    103       123     323.0</a:t>
            </a:r>
          </a:p>
          <a:p>
            <a:r>
              <a:rPr lang="fr-FR" sz="1200" dirty="0">
                <a:solidFill>
                  <a:srgbClr val="000000"/>
                </a:solidFill>
                <a:latin typeface="Segoe UI" panose="020B0502040204020203" pitchFamily="34" charset="0"/>
              </a:rPr>
              <a:t>  20        45  '2020/12/20'     97       125     243.0</a:t>
            </a:r>
          </a:p>
          <a:p>
            <a:r>
              <a:rPr lang="fr-FR" sz="1200" dirty="0">
                <a:solidFill>
                  <a:srgbClr val="000000"/>
                </a:solidFill>
                <a:latin typeface="Segoe UI" panose="020B0502040204020203" pitchFamily="34" charset="0"/>
              </a:rPr>
              <a:t>  21        60  '2020/12/21'    108       131     364.2</a:t>
            </a:r>
          </a:p>
          <a:p>
            <a:r>
              <a:rPr lang="fr-FR" sz="1200" dirty="0">
                <a:solidFill>
                  <a:srgbClr val="000000"/>
                </a:solidFill>
                <a:latin typeface="Segoe UI" panose="020B0502040204020203" pitchFamily="34" charset="0"/>
              </a:rPr>
              <a:t>  22        45           </a:t>
            </a:r>
            <a:r>
              <a:rPr lang="fr-FR" sz="1200" dirty="0" err="1">
                <a:solidFill>
                  <a:srgbClr val="000000"/>
                </a:solidFill>
                <a:latin typeface="Segoe UI" panose="020B0502040204020203" pitchFamily="34" charset="0"/>
              </a:rPr>
              <a:t>NaN</a:t>
            </a:r>
            <a:r>
              <a:rPr lang="fr-FR" sz="1200" dirty="0">
                <a:solidFill>
                  <a:srgbClr val="000000"/>
                </a:solidFill>
                <a:latin typeface="Segoe UI" panose="020B0502040204020203" pitchFamily="34" charset="0"/>
              </a:rPr>
              <a:t>    100       119     282.0</a:t>
            </a:r>
          </a:p>
          <a:p>
            <a:r>
              <a:rPr lang="fr-FR" sz="1200" dirty="0">
                <a:solidFill>
                  <a:srgbClr val="000000"/>
                </a:solidFill>
                <a:latin typeface="Segoe UI" panose="020B0502040204020203" pitchFamily="34" charset="0"/>
              </a:rPr>
              <a:t>  23        60  '2020/12/23'    130       101     300.0</a:t>
            </a:r>
          </a:p>
          <a:p>
            <a:r>
              <a:rPr lang="fr-FR" sz="1200" dirty="0">
                <a:solidFill>
                  <a:srgbClr val="000000"/>
                </a:solidFill>
                <a:latin typeface="Segoe UI" panose="020B0502040204020203" pitchFamily="34" charset="0"/>
              </a:rPr>
              <a:t>  24        45  '2020/12/24'    105       132     246.0</a:t>
            </a:r>
          </a:p>
          <a:p>
            <a:r>
              <a:rPr lang="fr-FR" sz="1200" dirty="0">
                <a:solidFill>
                  <a:srgbClr val="000000"/>
                </a:solidFill>
                <a:latin typeface="Segoe UI" panose="020B0502040204020203" pitchFamily="34" charset="0"/>
              </a:rPr>
              <a:t>  25        60  '2020/12/25'    102       126     334.5</a:t>
            </a:r>
          </a:p>
          <a:p>
            <a:r>
              <a:rPr lang="fr-FR" sz="1200" dirty="0">
                <a:solidFill>
                  <a:srgbClr val="000000"/>
                </a:solidFill>
                <a:latin typeface="Segoe UI" panose="020B0502040204020203" pitchFamily="34" charset="0"/>
              </a:rPr>
              <a:t>  26        60      20201226    100       120     250.0</a:t>
            </a:r>
          </a:p>
          <a:p>
            <a:r>
              <a:rPr lang="fr-FR" sz="1200" dirty="0">
                <a:solidFill>
                  <a:srgbClr val="000000"/>
                </a:solidFill>
                <a:latin typeface="Segoe UI" panose="020B0502040204020203" pitchFamily="34" charset="0"/>
              </a:rPr>
              <a:t>  27        60  '2020/12/27'     92       118     241.0</a:t>
            </a:r>
          </a:p>
          <a:p>
            <a:r>
              <a:rPr lang="fr-FR" sz="1200" dirty="0">
                <a:solidFill>
                  <a:srgbClr val="000000"/>
                </a:solidFill>
                <a:latin typeface="Segoe UI" panose="020B0502040204020203" pitchFamily="34" charset="0"/>
              </a:rPr>
              <a:t>  28        60  '2020/12/28'    103       132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29        60  '2020/12/29'    100       132     280.0</a:t>
            </a:r>
          </a:p>
          <a:p>
            <a:r>
              <a:rPr lang="fr-FR" sz="1200" dirty="0">
                <a:solidFill>
                  <a:srgbClr val="000000"/>
                </a:solidFill>
                <a:latin typeface="Segoe UI" panose="020B0502040204020203" pitchFamily="34" charset="0"/>
              </a:rPr>
              <a:t>  30        60  '2020/12/30'    102       129     380.3</a:t>
            </a:r>
          </a:p>
          <a:p>
            <a:r>
              <a:rPr lang="fr-FR" sz="1200" dirty="0">
                <a:solidFill>
                  <a:srgbClr val="000000"/>
                </a:solidFill>
                <a:latin typeface="Segoe UI" panose="020B0502040204020203" pitchFamily="34" charset="0"/>
              </a:rPr>
              <a:t>  31        60  '2020/12/31'     92       115     243.0</a:t>
            </a:r>
            <a:endParaRPr lang="en-US" sz="1200" dirty="0">
              <a:solidFill>
                <a:srgbClr val="000000"/>
              </a:solidFill>
              <a:latin typeface="Consolas" panose="020B0609020204030204" pitchFamily="49" charset="0"/>
            </a:endParaRPr>
          </a:p>
        </p:txBody>
      </p:sp>
      <p:sp>
        <p:nvSpPr>
          <p:cNvPr id="6" name="Rectangle 20"/>
          <p:cNvSpPr>
            <a:spLocks noChangeArrowheads="1"/>
          </p:cNvSpPr>
          <p:nvPr/>
        </p:nvSpPr>
        <p:spPr bwMode="auto">
          <a:xfrm>
            <a:off x="1063028" y="4930013"/>
            <a:ext cx="5126644" cy="1082307"/>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dirty="0">
                <a:solidFill>
                  <a:srgbClr val="000000"/>
                </a:solidFill>
                <a:latin typeface="Segoe UI" panose="020B0502040204020203" pitchFamily="34" charset="0"/>
              </a:rPr>
              <a:t>Example: </a:t>
            </a:r>
            <a:r>
              <a:rPr lang="en-US" sz="1600" dirty="0">
                <a:solidFill>
                  <a:srgbClr val="000000"/>
                </a:solidFill>
                <a:latin typeface="Verdana" panose="020B0604030504040204" pitchFamily="34" charset="0"/>
              </a:rPr>
              <a:t>Set "Duration" = 45 in row 7</a:t>
            </a:r>
          </a:p>
          <a:p>
            <a:endParaRPr lang="en-US" sz="1600" dirty="0">
              <a:solidFill>
                <a:srgbClr val="000000"/>
              </a:solidFill>
              <a:latin typeface="Verdana" panose="020B0604030504040204" pitchFamily="34" charset="0"/>
            </a:endParaRPr>
          </a:p>
          <a:p>
            <a:r>
              <a:rPr lang="en-US" sz="1600" dirty="0" err="1">
                <a:solidFill>
                  <a:srgbClr val="000000"/>
                </a:solidFill>
                <a:latin typeface="Consolas" panose="020B0609020204030204" pitchFamily="49" charset="0"/>
              </a:rPr>
              <a:t>df.loc</a:t>
            </a:r>
            <a:r>
              <a:rPr lang="en-US" sz="1600" dirty="0">
                <a:solidFill>
                  <a:srgbClr val="000000"/>
                </a:solidFill>
                <a:latin typeface="Consolas" panose="020B0609020204030204" pitchFamily="49" charset="0"/>
              </a:rPr>
              <a:t>[</a:t>
            </a:r>
            <a:r>
              <a:rPr lang="en-US" sz="1600" dirty="0">
                <a:solidFill>
                  <a:srgbClr val="FF0000"/>
                </a:solidFill>
                <a:latin typeface="Consolas" panose="020B0609020204030204" pitchFamily="49" charset="0"/>
              </a:rPr>
              <a:t>7</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'Duration'</a:t>
            </a:r>
            <a:r>
              <a:rPr lang="en-US" sz="1600" dirty="0">
                <a:solidFill>
                  <a:srgbClr val="000000"/>
                </a:solidFill>
                <a:latin typeface="Consolas" panose="020B0609020204030204" pitchFamily="49" charset="0"/>
              </a:rPr>
              <a:t>] = </a:t>
            </a:r>
            <a:r>
              <a:rPr lang="en-US" sz="1600" dirty="0">
                <a:solidFill>
                  <a:srgbClr val="FF0000"/>
                </a:solidFill>
                <a:latin typeface="Consolas" panose="020B0609020204030204" pitchFamily="49" charset="0"/>
              </a:rPr>
              <a:t>45</a:t>
            </a:r>
            <a:endParaRPr lang="en-US" sz="1600" dirty="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52639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Fixing Wrong Data</a:t>
            </a:r>
          </a:p>
        </p:txBody>
      </p:sp>
      <p:sp>
        <p:nvSpPr>
          <p:cNvPr id="3" name="Content Placeholder 2"/>
          <p:cNvSpPr>
            <a:spLocks noGrp="1"/>
          </p:cNvSpPr>
          <p:nvPr>
            <p:ph idx="1"/>
          </p:nvPr>
        </p:nvSpPr>
        <p:spPr>
          <a:xfrm>
            <a:off x="540636" y="1467943"/>
            <a:ext cx="5898033" cy="3880773"/>
          </a:xfrm>
        </p:spPr>
        <p:txBody>
          <a:bodyPr>
            <a:noAutofit/>
          </a:bodyPr>
          <a:lstStyle/>
          <a:p>
            <a:r>
              <a:rPr lang="en-US" dirty="0"/>
              <a:t>For </a:t>
            </a:r>
            <a:r>
              <a:rPr lang="en-US" b="1" dirty="0"/>
              <a:t>small data sets you might be able to replace </a:t>
            </a:r>
            <a:r>
              <a:rPr lang="en-US" dirty="0"/>
              <a:t>the wrong data one by one, </a:t>
            </a:r>
            <a:r>
              <a:rPr lang="en-US" b="1" dirty="0"/>
              <a:t>but not for big data sets</a:t>
            </a:r>
            <a:r>
              <a:rPr lang="en-US" dirty="0"/>
              <a:t>.</a:t>
            </a:r>
          </a:p>
          <a:p>
            <a:endParaRPr lang="en-US" dirty="0"/>
          </a:p>
          <a:p>
            <a:r>
              <a:rPr lang="en-US" dirty="0"/>
              <a:t>To </a:t>
            </a:r>
            <a:r>
              <a:rPr lang="en-US" b="1" dirty="0"/>
              <a:t>replace wrong data </a:t>
            </a:r>
            <a:r>
              <a:rPr lang="en-US" dirty="0"/>
              <a:t>for </a:t>
            </a:r>
            <a:r>
              <a:rPr lang="en-US" b="1" dirty="0"/>
              <a:t>larger data sets </a:t>
            </a:r>
            <a:r>
              <a:rPr lang="en-US" dirty="0"/>
              <a:t>you can </a:t>
            </a:r>
            <a:r>
              <a:rPr lang="en-US" b="1" dirty="0"/>
              <a:t>create some rules</a:t>
            </a:r>
            <a:r>
              <a:rPr lang="en-US" dirty="0"/>
              <a:t>, e.g. set some boundaries for legal values, and replace any values that are outside of the boundaries.</a:t>
            </a:r>
          </a:p>
          <a:p>
            <a:r>
              <a:rPr lang="en-US" b="1" dirty="0"/>
              <a:t>Removing Rows</a:t>
            </a:r>
            <a:r>
              <a:rPr lang="en-US" dirty="0"/>
              <a:t>: Another way of handling wrong data is to </a:t>
            </a:r>
            <a:r>
              <a:rPr lang="en-US" b="1" dirty="0"/>
              <a:t>remove the rows that contains wrong data</a:t>
            </a:r>
            <a:r>
              <a:rPr lang="en-US" dirty="0"/>
              <a:t>.</a:t>
            </a:r>
          </a:p>
          <a:p>
            <a:endParaRPr lang="en-US" dirty="0"/>
          </a:p>
          <a:p>
            <a:r>
              <a:rPr lang="en-US" dirty="0"/>
              <a:t>This way you do not have to find out what to replace them with, and there is a good chance you do not need them to do your analyses.</a:t>
            </a:r>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6" name="Rectangle 20"/>
          <p:cNvSpPr>
            <a:spLocks noChangeArrowheads="1"/>
          </p:cNvSpPr>
          <p:nvPr/>
        </p:nvSpPr>
        <p:spPr bwMode="auto">
          <a:xfrm>
            <a:off x="6316133" y="1496421"/>
            <a:ext cx="5715924" cy="4560182"/>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solidFill>
                  <a:srgbClr val="000000"/>
                </a:solidFill>
                <a:latin typeface="Segoe UI" panose="020B0502040204020203" pitchFamily="34" charset="0"/>
              </a:rPr>
              <a:t>Example: </a:t>
            </a:r>
            <a:r>
              <a:rPr lang="en-US" dirty="0">
                <a:solidFill>
                  <a:srgbClr val="000000"/>
                </a:solidFill>
                <a:latin typeface="Verdana" panose="020B0604030504040204" pitchFamily="34" charset="0"/>
              </a:rPr>
              <a:t>Loop through all values in the "Duration" column. If the value is higher than 120, set it to 120:</a:t>
            </a:r>
          </a:p>
          <a:p>
            <a:endParaRPr lang="en-US" dirty="0">
              <a:solidFill>
                <a:srgbClr val="0000CD"/>
              </a:solidFill>
              <a:latin typeface="Consolas" panose="020B0609020204030204" pitchFamily="49" charset="0"/>
            </a:endParaRPr>
          </a:p>
          <a:p>
            <a:r>
              <a:rPr lang="en-US" dirty="0">
                <a:solidFill>
                  <a:srgbClr val="0000CD"/>
                </a:solidFill>
                <a:latin typeface="Consolas" panose="020B0609020204030204" pitchFamily="49" charset="0"/>
              </a:rPr>
              <a:t>for</a:t>
            </a:r>
            <a:r>
              <a:rPr lang="en-US" dirty="0">
                <a:solidFill>
                  <a:srgbClr val="000000"/>
                </a:solidFill>
                <a:latin typeface="Consolas" panose="020B0609020204030204" pitchFamily="49" charset="0"/>
              </a:rPr>
              <a:t> x </a:t>
            </a:r>
            <a:r>
              <a:rPr lang="en-US" dirty="0">
                <a:solidFill>
                  <a:srgbClr val="0000CD"/>
                </a:solidFill>
                <a:latin typeface="Consolas" panose="020B0609020204030204" pitchFamily="49" charset="0"/>
              </a:rPr>
              <a:t>in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df.index</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if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df.loc</a:t>
            </a:r>
            <a:r>
              <a:rPr lang="en-US" dirty="0">
                <a:solidFill>
                  <a:srgbClr val="000000"/>
                </a:solidFill>
                <a:latin typeface="Consolas" panose="020B0609020204030204" pitchFamily="49" charset="0"/>
              </a:rPr>
              <a:t>[x, </a:t>
            </a:r>
            <a:r>
              <a:rPr lang="en-US" dirty="0">
                <a:solidFill>
                  <a:srgbClr val="A52A2A"/>
                </a:solidFill>
                <a:latin typeface="Consolas" panose="020B0609020204030204" pitchFamily="49" charset="0"/>
              </a:rPr>
              <a:t>"Duration"</a:t>
            </a:r>
            <a:r>
              <a:rPr lang="en-US" dirty="0">
                <a:solidFill>
                  <a:srgbClr val="000000"/>
                </a:solidFill>
                <a:latin typeface="Consolas" panose="020B0609020204030204" pitchFamily="49" charset="0"/>
              </a:rPr>
              <a:t>] &gt; </a:t>
            </a:r>
            <a:r>
              <a:rPr lang="en-US" dirty="0">
                <a:solidFill>
                  <a:srgbClr val="FF0000"/>
                </a:solidFill>
                <a:latin typeface="Consolas" panose="020B0609020204030204" pitchFamily="49" charset="0"/>
              </a:rPr>
              <a:t>120</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df.loc</a:t>
            </a:r>
            <a:r>
              <a:rPr lang="en-US" dirty="0">
                <a:solidFill>
                  <a:srgbClr val="000000"/>
                </a:solidFill>
                <a:latin typeface="Consolas" panose="020B0609020204030204" pitchFamily="49" charset="0"/>
              </a:rPr>
              <a:t>[x, </a:t>
            </a:r>
            <a:r>
              <a:rPr lang="en-US" dirty="0">
                <a:solidFill>
                  <a:srgbClr val="A52A2A"/>
                </a:solidFill>
                <a:latin typeface="Consolas" panose="020B0609020204030204" pitchFamily="49" charset="0"/>
              </a:rPr>
              <a:t>"Duration"</a:t>
            </a:r>
            <a:r>
              <a:rPr lang="en-US"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120</a:t>
            </a:r>
          </a:p>
          <a:p>
            <a:endParaRPr lang="en-US" dirty="0">
              <a:solidFill>
                <a:srgbClr val="FF0000"/>
              </a:solidFill>
              <a:latin typeface="Consolas" panose="020B0609020204030204" pitchFamily="49" charset="0"/>
            </a:endParaRPr>
          </a:p>
          <a:p>
            <a:r>
              <a:rPr lang="en-US" dirty="0">
                <a:solidFill>
                  <a:srgbClr val="000000"/>
                </a:solidFill>
                <a:latin typeface="Segoe UI" panose="020B0502040204020203" pitchFamily="34" charset="0"/>
              </a:rPr>
              <a:t>Example: </a:t>
            </a:r>
            <a:r>
              <a:rPr lang="en-US" dirty="0">
                <a:solidFill>
                  <a:srgbClr val="000000"/>
                </a:solidFill>
                <a:latin typeface="Verdana" panose="020B0604030504040204" pitchFamily="34" charset="0"/>
              </a:rPr>
              <a:t>Delete rows where "Duration" is higher than 120:</a:t>
            </a:r>
          </a:p>
          <a:p>
            <a:endParaRPr lang="en-US" dirty="0">
              <a:solidFill>
                <a:srgbClr val="0000CD"/>
              </a:solidFill>
              <a:latin typeface="Consolas" panose="020B0609020204030204" pitchFamily="49" charset="0"/>
            </a:endParaRPr>
          </a:p>
          <a:p>
            <a:r>
              <a:rPr lang="en-US" dirty="0">
                <a:solidFill>
                  <a:srgbClr val="0000CD"/>
                </a:solidFill>
                <a:latin typeface="Consolas" panose="020B0609020204030204" pitchFamily="49" charset="0"/>
              </a:rPr>
              <a:t>for</a:t>
            </a:r>
            <a:r>
              <a:rPr lang="en-US" dirty="0">
                <a:solidFill>
                  <a:srgbClr val="000000"/>
                </a:solidFill>
                <a:latin typeface="Consolas" panose="020B0609020204030204" pitchFamily="49" charset="0"/>
              </a:rPr>
              <a:t> x </a:t>
            </a:r>
            <a:r>
              <a:rPr lang="en-US" dirty="0">
                <a:solidFill>
                  <a:srgbClr val="0000CD"/>
                </a:solidFill>
                <a:latin typeface="Consolas" panose="020B0609020204030204" pitchFamily="49" charset="0"/>
              </a:rPr>
              <a:t>in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df.index</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if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df.loc</a:t>
            </a:r>
            <a:r>
              <a:rPr lang="en-US" dirty="0">
                <a:solidFill>
                  <a:srgbClr val="000000"/>
                </a:solidFill>
                <a:latin typeface="Consolas" panose="020B0609020204030204" pitchFamily="49" charset="0"/>
              </a:rPr>
              <a:t>[x, </a:t>
            </a:r>
            <a:r>
              <a:rPr lang="en-US" dirty="0">
                <a:solidFill>
                  <a:srgbClr val="A52A2A"/>
                </a:solidFill>
                <a:latin typeface="Consolas" panose="020B0609020204030204" pitchFamily="49" charset="0"/>
              </a:rPr>
              <a:t>"Duration"</a:t>
            </a:r>
            <a:r>
              <a:rPr lang="en-US" dirty="0">
                <a:solidFill>
                  <a:srgbClr val="000000"/>
                </a:solidFill>
                <a:latin typeface="Consolas" panose="020B0609020204030204" pitchFamily="49" charset="0"/>
              </a:rPr>
              <a:t>] &gt; </a:t>
            </a:r>
            <a:r>
              <a:rPr lang="en-US" dirty="0">
                <a:solidFill>
                  <a:srgbClr val="FF0000"/>
                </a:solidFill>
                <a:latin typeface="Consolas" panose="020B0609020204030204" pitchFamily="49" charset="0"/>
              </a:rPr>
              <a:t>120</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df.drop</a:t>
            </a:r>
            <a:r>
              <a:rPr lang="en-US" dirty="0">
                <a:solidFill>
                  <a:srgbClr val="000000"/>
                </a:solidFill>
                <a:latin typeface="Consolas" panose="020B0609020204030204" pitchFamily="49" charset="0"/>
              </a:rPr>
              <a:t>(x, </a:t>
            </a:r>
            <a:r>
              <a:rPr lang="en-US" dirty="0" err="1">
                <a:solidFill>
                  <a:srgbClr val="000000"/>
                </a:solidFill>
                <a:latin typeface="Consolas" panose="020B0609020204030204" pitchFamily="49" charset="0"/>
              </a:rPr>
              <a:t>inplace</a:t>
            </a:r>
            <a:r>
              <a:rPr lang="en-US" dirty="0">
                <a:solidFill>
                  <a:srgbClr val="000000"/>
                </a:solidFill>
                <a:latin typeface="Consolas" panose="020B0609020204030204" pitchFamily="49" charset="0"/>
              </a:rPr>
              <a:t> = </a:t>
            </a:r>
            <a:r>
              <a:rPr lang="en-US" dirty="0">
                <a:solidFill>
                  <a:srgbClr val="0000CD"/>
                </a:solidFill>
                <a:latin typeface="Consolas" panose="020B0609020204030204" pitchFamily="49" charset="0"/>
              </a:rPr>
              <a:t>True</a:t>
            </a:r>
            <a:r>
              <a:rPr lang="en-US"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174276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Removing Duplicates</a:t>
            </a:r>
          </a:p>
        </p:txBody>
      </p:sp>
      <p:sp>
        <p:nvSpPr>
          <p:cNvPr id="3" name="Content Placeholder 2"/>
          <p:cNvSpPr>
            <a:spLocks noGrp="1"/>
          </p:cNvSpPr>
          <p:nvPr>
            <p:ph idx="1"/>
          </p:nvPr>
        </p:nvSpPr>
        <p:spPr>
          <a:xfrm>
            <a:off x="0" y="1431807"/>
            <a:ext cx="6705600" cy="3880773"/>
          </a:xfrm>
        </p:spPr>
        <p:txBody>
          <a:bodyPr>
            <a:normAutofit/>
          </a:bodyPr>
          <a:lstStyle/>
          <a:p>
            <a:r>
              <a:rPr lang="en-US" sz="2000" b="1" dirty="0"/>
              <a:t>Removing Duplicates</a:t>
            </a:r>
            <a:r>
              <a:rPr lang="en-US" sz="2000" dirty="0"/>
              <a:t>: Duplicate rows are rows that have been registered more than one time.</a:t>
            </a:r>
          </a:p>
          <a:p>
            <a:r>
              <a:rPr lang="en-US" sz="2000" dirty="0"/>
              <a:t>By taking a look at our test data set, we can assume that row 11 and 12 are duplicates.</a:t>
            </a:r>
          </a:p>
          <a:p>
            <a:r>
              <a:rPr lang="en-US" sz="2000" dirty="0"/>
              <a:t>To discover duplicates, we can use the </a:t>
            </a:r>
            <a:r>
              <a:rPr lang="en-US" sz="2000" dirty="0">
                <a:solidFill>
                  <a:srgbClr val="FF0000"/>
                </a:solidFill>
              </a:rPr>
              <a:t>duplicated() </a:t>
            </a:r>
            <a:r>
              <a:rPr lang="en-US" sz="2000" dirty="0"/>
              <a:t>method.</a:t>
            </a:r>
          </a:p>
          <a:p>
            <a:r>
              <a:rPr lang="en-US" sz="2000" dirty="0"/>
              <a:t>The </a:t>
            </a:r>
            <a:r>
              <a:rPr lang="en-US" sz="2000" dirty="0">
                <a:solidFill>
                  <a:srgbClr val="FF0000"/>
                </a:solidFill>
              </a:rPr>
              <a:t>duplicated() </a:t>
            </a:r>
            <a:r>
              <a:rPr lang="en-US" sz="2000" dirty="0"/>
              <a:t>method returns a Boolean values for each row:</a:t>
            </a:r>
          </a:p>
          <a:p>
            <a:r>
              <a:rPr lang="en-US" sz="2000" b="1" dirty="0"/>
              <a:t>To remove duplicates</a:t>
            </a:r>
            <a:r>
              <a:rPr lang="en-US" sz="2000" dirty="0"/>
              <a:t>, use the </a:t>
            </a:r>
            <a:r>
              <a:rPr lang="en-US" sz="2000" dirty="0" err="1">
                <a:solidFill>
                  <a:srgbClr val="FF0000"/>
                </a:solidFill>
              </a:rPr>
              <a:t>drop_duplicates</a:t>
            </a:r>
            <a:r>
              <a:rPr lang="en-US" sz="2000" dirty="0">
                <a:solidFill>
                  <a:srgbClr val="FF0000"/>
                </a:solidFill>
              </a:rPr>
              <a:t>() </a:t>
            </a:r>
            <a:r>
              <a:rPr lang="en-US" sz="2000" dirty="0"/>
              <a:t>method.</a:t>
            </a:r>
          </a:p>
          <a:p>
            <a:endParaRPr lang="en-US" dirty="0"/>
          </a:p>
        </p:txBody>
      </p:sp>
      <p:sp>
        <p:nvSpPr>
          <p:cNvPr id="4" name="TextBox 3"/>
          <p:cNvSpPr txBox="1"/>
          <p:nvPr/>
        </p:nvSpPr>
        <p:spPr>
          <a:xfrm>
            <a:off x="7838901" y="5164050"/>
            <a:ext cx="5145579" cy="369332"/>
          </a:xfrm>
          <a:prstGeom prst="rect">
            <a:avLst/>
          </a:prstGeom>
          <a:noFill/>
        </p:spPr>
        <p:txBody>
          <a:bodyPr wrap="square" rtlCol="0">
            <a:spAutoFit/>
          </a:bodyPr>
          <a:lstStyle/>
          <a:p>
            <a:r>
              <a:rPr lang="en-US" dirty="0"/>
              <a:t>f</a:t>
            </a:r>
          </a:p>
        </p:txBody>
      </p:sp>
      <p:sp>
        <p:nvSpPr>
          <p:cNvPr id="24" name="Rectangle 20"/>
          <p:cNvSpPr>
            <a:spLocks noChangeArrowheads="1"/>
          </p:cNvSpPr>
          <p:nvPr/>
        </p:nvSpPr>
        <p:spPr bwMode="auto">
          <a:xfrm>
            <a:off x="711198" y="5033939"/>
            <a:ext cx="6050280" cy="1790193"/>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dirty="0">
                <a:solidFill>
                  <a:srgbClr val="000000"/>
                </a:solidFill>
                <a:latin typeface="Consolas" panose="020B0609020204030204" pitchFamily="49" charset="0"/>
              </a:rPr>
              <a:t>Example: </a:t>
            </a:r>
            <a:r>
              <a:rPr lang="en-US" sz="1400" dirty="0">
                <a:solidFill>
                  <a:srgbClr val="000000"/>
                </a:solidFill>
                <a:latin typeface="Consolas" panose="020B0609020204030204" pitchFamily="49" charset="0"/>
              </a:rPr>
              <a:t>Returns True for every row that is a duplicate, </a:t>
            </a:r>
            <a:r>
              <a:rPr lang="en-US" sz="1400" dirty="0" err="1">
                <a:solidFill>
                  <a:srgbClr val="000000"/>
                </a:solidFill>
                <a:latin typeface="Consolas" panose="020B0609020204030204" pitchFamily="49" charset="0"/>
              </a:rPr>
              <a:t>othwerwise</a:t>
            </a:r>
            <a:r>
              <a:rPr lang="en-US" sz="1400" dirty="0">
                <a:solidFill>
                  <a:srgbClr val="000000"/>
                </a:solidFill>
                <a:latin typeface="Consolas" panose="020B0609020204030204" pitchFamily="49" charset="0"/>
              </a:rPr>
              <a:t> False</a:t>
            </a:r>
          </a:p>
          <a:p>
            <a:r>
              <a:rPr lang="en-US" sz="1600" dirty="0">
                <a:solidFill>
                  <a:srgbClr val="0000CD"/>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df.duplicated</a:t>
            </a:r>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a:solidFill>
                  <a:srgbClr val="000000"/>
                </a:solidFill>
                <a:latin typeface="Segoe UI" panose="020B0502040204020203" pitchFamily="34" charset="0"/>
              </a:rPr>
              <a:t>Example</a:t>
            </a:r>
          </a:p>
          <a:p>
            <a:r>
              <a:rPr lang="en-US" sz="1400" dirty="0">
                <a:solidFill>
                  <a:srgbClr val="000000"/>
                </a:solidFill>
                <a:latin typeface="Consolas" panose="020B0609020204030204" pitchFamily="49" charset="0"/>
              </a:rPr>
              <a:t>Remove all duplicates:</a:t>
            </a:r>
          </a:p>
          <a:p>
            <a:r>
              <a:rPr lang="en-US" sz="1600" dirty="0" err="1">
                <a:solidFill>
                  <a:srgbClr val="000000"/>
                </a:solidFill>
                <a:latin typeface="Consolas" panose="020B0609020204030204" pitchFamily="49" charset="0"/>
              </a:rPr>
              <a:t>df.drop_duplicates</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inplace</a:t>
            </a:r>
            <a:r>
              <a:rPr lang="en-US" sz="1600" dirty="0">
                <a:solidFill>
                  <a:srgbClr val="000000"/>
                </a:solidFill>
                <a:latin typeface="Consolas" panose="020B0609020204030204" pitchFamily="49" charset="0"/>
              </a:rPr>
              <a:t> = </a:t>
            </a:r>
            <a:r>
              <a:rPr lang="en-US" sz="1600" dirty="0">
                <a:solidFill>
                  <a:srgbClr val="0000CD"/>
                </a:solidFill>
                <a:latin typeface="Consolas" panose="020B0609020204030204" pitchFamily="49" charset="0"/>
              </a:rPr>
              <a:t>True</a:t>
            </a:r>
            <a:r>
              <a:rPr lang="en-US" sz="1600" dirty="0">
                <a:solidFill>
                  <a:srgbClr val="000000"/>
                </a:solidFill>
                <a:latin typeface="Consolas" panose="020B0609020204030204" pitchFamily="49" charset="0"/>
              </a:rPr>
              <a:t>)</a:t>
            </a:r>
          </a:p>
        </p:txBody>
      </p:sp>
      <p:sp>
        <p:nvSpPr>
          <p:cNvPr id="6" name="Rectangle 20"/>
          <p:cNvSpPr>
            <a:spLocks noChangeArrowheads="1"/>
          </p:cNvSpPr>
          <p:nvPr/>
        </p:nvSpPr>
        <p:spPr bwMode="auto">
          <a:xfrm>
            <a:off x="6888480" y="529161"/>
            <a:ext cx="5126644" cy="6406842"/>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200" dirty="0">
                <a:solidFill>
                  <a:srgbClr val="000000"/>
                </a:solidFill>
                <a:latin typeface="Segoe UI" panose="020B0502040204020203" pitchFamily="34" charset="0"/>
              </a:rPr>
              <a:t>      Duration          Date  Pulse  </a:t>
            </a:r>
            <a:r>
              <a:rPr lang="fr-FR" sz="1200" dirty="0" err="1">
                <a:solidFill>
                  <a:srgbClr val="000000"/>
                </a:solidFill>
                <a:latin typeface="Segoe UI" panose="020B0502040204020203" pitchFamily="34" charset="0"/>
              </a:rPr>
              <a:t>Maxpulse</a:t>
            </a:r>
            <a:r>
              <a:rPr lang="fr-FR" sz="1200" dirty="0">
                <a:solidFill>
                  <a:srgbClr val="000000"/>
                </a:solidFill>
                <a:latin typeface="Segoe UI" panose="020B0502040204020203" pitchFamily="34" charset="0"/>
              </a:rPr>
              <a:t>  Calories</a:t>
            </a:r>
          </a:p>
          <a:p>
            <a:r>
              <a:rPr lang="fr-FR" sz="1200" dirty="0">
                <a:solidFill>
                  <a:srgbClr val="000000"/>
                </a:solidFill>
                <a:latin typeface="Segoe UI" panose="020B0502040204020203" pitchFamily="34" charset="0"/>
              </a:rPr>
              <a:t>  0         60  '2020/12/01'    110       130     409.1</a:t>
            </a:r>
          </a:p>
          <a:p>
            <a:r>
              <a:rPr lang="fr-FR" sz="1200" dirty="0">
                <a:solidFill>
                  <a:srgbClr val="000000"/>
                </a:solidFill>
                <a:latin typeface="Segoe UI" panose="020B0502040204020203" pitchFamily="34" charset="0"/>
              </a:rPr>
              <a:t>  1         60  '2020/12/02'    117       145     479.0</a:t>
            </a:r>
          </a:p>
          <a:p>
            <a:r>
              <a:rPr lang="fr-FR" sz="1200" dirty="0">
                <a:solidFill>
                  <a:srgbClr val="000000"/>
                </a:solidFill>
                <a:latin typeface="Segoe UI" panose="020B0502040204020203" pitchFamily="34" charset="0"/>
              </a:rPr>
              <a:t>  2         60  '2020/12/03'    103       135     340.0</a:t>
            </a:r>
          </a:p>
          <a:p>
            <a:r>
              <a:rPr lang="fr-FR" sz="1200" dirty="0">
                <a:solidFill>
                  <a:srgbClr val="000000"/>
                </a:solidFill>
                <a:latin typeface="Segoe UI" panose="020B0502040204020203" pitchFamily="34" charset="0"/>
              </a:rPr>
              <a:t>  3         45  '2020/12/04'    109       175     282.4</a:t>
            </a:r>
          </a:p>
          <a:p>
            <a:r>
              <a:rPr lang="fr-FR" sz="1200" dirty="0">
                <a:solidFill>
                  <a:srgbClr val="000000"/>
                </a:solidFill>
                <a:latin typeface="Segoe UI" panose="020B0502040204020203" pitchFamily="34" charset="0"/>
              </a:rPr>
              <a:t>  4         45  '2020/12/05'    117       148     406.0</a:t>
            </a:r>
          </a:p>
          <a:p>
            <a:r>
              <a:rPr lang="fr-FR" sz="1200" dirty="0">
                <a:solidFill>
                  <a:srgbClr val="000000"/>
                </a:solidFill>
                <a:latin typeface="Segoe UI" panose="020B0502040204020203" pitchFamily="34" charset="0"/>
              </a:rPr>
              <a:t>  5         60  '2020/12/06'    102       127     300.0</a:t>
            </a:r>
          </a:p>
          <a:p>
            <a:r>
              <a:rPr lang="fr-FR" sz="1200" dirty="0">
                <a:solidFill>
                  <a:srgbClr val="000000"/>
                </a:solidFill>
                <a:latin typeface="Segoe UI" panose="020B0502040204020203" pitchFamily="34" charset="0"/>
              </a:rPr>
              <a:t>  6         60  '2020/12/07'    110       136     374.0</a:t>
            </a:r>
          </a:p>
          <a:p>
            <a:r>
              <a:rPr lang="fr-FR" sz="1200" dirty="0">
                <a:solidFill>
                  <a:srgbClr val="000000"/>
                </a:solidFill>
                <a:latin typeface="Segoe UI" panose="020B0502040204020203" pitchFamily="34" charset="0"/>
              </a:rPr>
              <a:t>  7        450  '2020/12/08'    104       134     253.3</a:t>
            </a:r>
          </a:p>
          <a:p>
            <a:r>
              <a:rPr lang="fr-FR" sz="1200" dirty="0">
                <a:solidFill>
                  <a:srgbClr val="000000"/>
                </a:solidFill>
                <a:latin typeface="Segoe UI" panose="020B0502040204020203" pitchFamily="34" charset="0"/>
              </a:rPr>
              <a:t>  8         30  '2020/12/09'    109       133     195.1</a:t>
            </a:r>
          </a:p>
          <a:p>
            <a:r>
              <a:rPr lang="fr-FR" sz="1200" dirty="0">
                <a:solidFill>
                  <a:srgbClr val="000000"/>
                </a:solidFill>
                <a:latin typeface="Segoe UI" panose="020B0502040204020203" pitchFamily="34" charset="0"/>
              </a:rPr>
              <a:t>  9         60  '2020/12/10'     98       124     269.0</a:t>
            </a:r>
          </a:p>
          <a:p>
            <a:r>
              <a:rPr lang="fr-FR" sz="1200" dirty="0">
                <a:solidFill>
                  <a:srgbClr val="000000"/>
                </a:solidFill>
                <a:latin typeface="Segoe UI" panose="020B0502040204020203" pitchFamily="34" charset="0"/>
              </a:rPr>
              <a:t>  10        60  '2020/12/11'    103       147     329.3</a:t>
            </a:r>
          </a:p>
          <a:p>
            <a:r>
              <a:rPr lang="fr-FR" sz="1200" dirty="0">
                <a:solidFill>
                  <a:srgbClr val="000000"/>
                </a:solidFill>
                <a:latin typeface="Segoe UI" panose="020B0502040204020203" pitchFamily="34" charset="0"/>
              </a:rPr>
              <a:t>  11        60  '2020/12/12'    100       120     250.7</a:t>
            </a:r>
          </a:p>
          <a:p>
            <a:r>
              <a:rPr lang="fr-FR" sz="1200" dirty="0">
                <a:solidFill>
                  <a:srgbClr val="000000"/>
                </a:solidFill>
                <a:latin typeface="Segoe UI" panose="020B0502040204020203" pitchFamily="34" charset="0"/>
              </a:rPr>
              <a:t>  12        60  '2020/12/12'    100       120     250.7</a:t>
            </a:r>
          </a:p>
          <a:p>
            <a:r>
              <a:rPr lang="fr-FR" sz="1200" dirty="0">
                <a:solidFill>
                  <a:srgbClr val="000000"/>
                </a:solidFill>
                <a:latin typeface="Segoe UI" panose="020B0502040204020203" pitchFamily="34" charset="0"/>
              </a:rPr>
              <a:t>  13        60  '2020/12/13'    106       128     345.3</a:t>
            </a:r>
          </a:p>
          <a:p>
            <a:r>
              <a:rPr lang="fr-FR" sz="1200" dirty="0">
                <a:solidFill>
                  <a:srgbClr val="000000"/>
                </a:solidFill>
                <a:latin typeface="Segoe UI" panose="020B0502040204020203" pitchFamily="34" charset="0"/>
              </a:rPr>
              <a:t>  14        60  '2020/12/14'    104       132     379.3</a:t>
            </a:r>
          </a:p>
          <a:p>
            <a:r>
              <a:rPr lang="fr-FR" sz="1200" dirty="0">
                <a:solidFill>
                  <a:srgbClr val="000000"/>
                </a:solidFill>
                <a:latin typeface="Segoe UI" panose="020B0502040204020203" pitchFamily="34" charset="0"/>
              </a:rPr>
              <a:t>  15        60  '2020/12/15'     98       123     275.0</a:t>
            </a:r>
          </a:p>
          <a:p>
            <a:r>
              <a:rPr lang="fr-FR" sz="1200" dirty="0">
                <a:solidFill>
                  <a:srgbClr val="000000"/>
                </a:solidFill>
                <a:latin typeface="Segoe UI" panose="020B0502040204020203" pitchFamily="34" charset="0"/>
              </a:rPr>
              <a:t>  16        60  '2020/12/16'     98       120     215.2</a:t>
            </a:r>
          </a:p>
          <a:p>
            <a:r>
              <a:rPr lang="fr-FR" sz="1200" dirty="0">
                <a:solidFill>
                  <a:srgbClr val="000000"/>
                </a:solidFill>
                <a:latin typeface="Segoe UI" panose="020B0502040204020203" pitchFamily="34" charset="0"/>
              </a:rPr>
              <a:t>  17        60  '2020/12/17'    100       120     300.0</a:t>
            </a:r>
          </a:p>
          <a:p>
            <a:r>
              <a:rPr lang="fr-FR" sz="1200" dirty="0">
                <a:solidFill>
                  <a:srgbClr val="000000"/>
                </a:solidFill>
                <a:latin typeface="Segoe UI" panose="020B0502040204020203" pitchFamily="34" charset="0"/>
              </a:rPr>
              <a:t>  18        45  '2020/12/18'     90       112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19        60  '2020/12/19'    103       123     323.0</a:t>
            </a:r>
          </a:p>
          <a:p>
            <a:r>
              <a:rPr lang="fr-FR" sz="1200" dirty="0">
                <a:solidFill>
                  <a:srgbClr val="000000"/>
                </a:solidFill>
                <a:latin typeface="Segoe UI" panose="020B0502040204020203" pitchFamily="34" charset="0"/>
              </a:rPr>
              <a:t>  20        45  '2020/12/20'     97       125     243.0</a:t>
            </a:r>
          </a:p>
          <a:p>
            <a:r>
              <a:rPr lang="fr-FR" sz="1200" dirty="0">
                <a:solidFill>
                  <a:srgbClr val="000000"/>
                </a:solidFill>
                <a:latin typeface="Segoe UI" panose="020B0502040204020203" pitchFamily="34" charset="0"/>
              </a:rPr>
              <a:t>  21        60  '2020/12/21'    108       131     364.2</a:t>
            </a:r>
          </a:p>
          <a:p>
            <a:r>
              <a:rPr lang="fr-FR" sz="1200" dirty="0">
                <a:solidFill>
                  <a:srgbClr val="000000"/>
                </a:solidFill>
                <a:latin typeface="Segoe UI" panose="020B0502040204020203" pitchFamily="34" charset="0"/>
              </a:rPr>
              <a:t>  22        45           </a:t>
            </a:r>
            <a:r>
              <a:rPr lang="fr-FR" sz="1200" dirty="0" err="1">
                <a:solidFill>
                  <a:srgbClr val="000000"/>
                </a:solidFill>
                <a:latin typeface="Segoe UI" panose="020B0502040204020203" pitchFamily="34" charset="0"/>
              </a:rPr>
              <a:t>NaN</a:t>
            </a:r>
            <a:r>
              <a:rPr lang="fr-FR" sz="1200" dirty="0">
                <a:solidFill>
                  <a:srgbClr val="000000"/>
                </a:solidFill>
                <a:latin typeface="Segoe UI" panose="020B0502040204020203" pitchFamily="34" charset="0"/>
              </a:rPr>
              <a:t>    100       119     282.0</a:t>
            </a:r>
          </a:p>
          <a:p>
            <a:r>
              <a:rPr lang="fr-FR" sz="1200" dirty="0">
                <a:solidFill>
                  <a:srgbClr val="000000"/>
                </a:solidFill>
                <a:latin typeface="Segoe UI" panose="020B0502040204020203" pitchFamily="34" charset="0"/>
              </a:rPr>
              <a:t>  23        60  '2020/12/23'    130       101     300.0</a:t>
            </a:r>
          </a:p>
          <a:p>
            <a:r>
              <a:rPr lang="fr-FR" sz="1200" dirty="0">
                <a:solidFill>
                  <a:srgbClr val="000000"/>
                </a:solidFill>
                <a:latin typeface="Segoe UI" panose="020B0502040204020203" pitchFamily="34" charset="0"/>
              </a:rPr>
              <a:t>  24        45  '2020/12/24'    105       132     246.0</a:t>
            </a:r>
          </a:p>
          <a:p>
            <a:r>
              <a:rPr lang="fr-FR" sz="1200" dirty="0">
                <a:solidFill>
                  <a:srgbClr val="000000"/>
                </a:solidFill>
                <a:latin typeface="Segoe UI" panose="020B0502040204020203" pitchFamily="34" charset="0"/>
              </a:rPr>
              <a:t>  25        60  '2020/12/25'    102       126     334.5</a:t>
            </a:r>
          </a:p>
          <a:p>
            <a:r>
              <a:rPr lang="fr-FR" sz="1200" dirty="0">
                <a:solidFill>
                  <a:srgbClr val="000000"/>
                </a:solidFill>
                <a:latin typeface="Segoe UI" panose="020B0502040204020203" pitchFamily="34" charset="0"/>
              </a:rPr>
              <a:t>  26        60      20201226    100       120     250.0</a:t>
            </a:r>
          </a:p>
          <a:p>
            <a:r>
              <a:rPr lang="fr-FR" sz="1200" dirty="0">
                <a:solidFill>
                  <a:srgbClr val="000000"/>
                </a:solidFill>
                <a:latin typeface="Segoe UI" panose="020B0502040204020203" pitchFamily="34" charset="0"/>
              </a:rPr>
              <a:t>  27        60  '2020/12/27'     92       118     241.0</a:t>
            </a:r>
          </a:p>
          <a:p>
            <a:r>
              <a:rPr lang="fr-FR" sz="1200" dirty="0">
                <a:solidFill>
                  <a:srgbClr val="000000"/>
                </a:solidFill>
                <a:latin typeface="Segoe UI" panose="020B0502040204020203" pitchFamily="34" charset="0"/>
              </a:rPr>
              <a:t>  28        60  '2020/12/28'    103       132       </a:t>
            </a:r>
            <a:r>
              <a:rPr lang="fr-FR" sz="1200" dirty="0" err="1">
                <a:solidFill>
                  <a:srgbClr val="000000"/>
                </a:solidFill>
                <a:latin typeface="Segoe UI" panose="020B0502040204020203" pitchFamily="34" charset="0"/>
              </a:rPr>
              <a:t>NaN</a:t>
            </a:r>
            <a:endParaRPr lang="fr-FR" sz="1200" dirty="0">
              <a:solidFill>
                <a:srgbClr val="000000"/>
              </a:solidFill>
              <a:latin typeface="Segoe UI" panose="020B0502040204020203" pitchFamily="34" charset="0"/>
            </a:endParaRPr>
          </a:p>
          <a:p>
            <a:r>
              <a:rPr lang="fr-FR" sz="1200" dirty="0">
                <a:solidFill>
                  <a:srgbClr val="000000"/>
                </a:solidFill>
                <a:latin typeface="Segoe UI" panose="020B0502040204020203" pitchFamily="34" charset="0"/>
              </a:rPr>
              <a:t>  29        60  '2020/12/29'    100       132     280.0</a:t>
            </a:r>
          </a:p>
          <a:p>
            <a:r>
              <a:rPr lang="fr-FR" sz="1200" dirty="0">
                <a:solidFill>
                  <a:srgbClr val="000000"/>
                </a:solidFill>
                <a:latin typeface="Segoe UI" panose="020B0502040204020203" pitchFamily="34" charset="0"/>
              </a:rPr>
              <a:t>  30        60  '2020/12/30'    102       129     380.3</a:t>
            </a:r>
          </a:p>
          <a:p>
            <a:r>
              <a:rPr lang="fr-FR" sz="1200" dirty="0">
                <a:solidFill>
                  <a:srgbClr val="000000"/>
                </a:solidFill>
                <a:latin typeface="Segoe UI" panose="020B0502040204020203" pitchFamily="34" charset="0"/>
              </a:rPr>
              <a:t>  31        60  '2020/12/31'     92       115     243.0</a:t>
            </a:r>
            <a:endParaRPr lang="en-US" sz="12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68284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Summary</a:t>
            </a:r>
            <a:br>
              <a:rPr lang="fr-FR" dirty="0"/>
            </a:br>
            <a:endParaRPr lang="en-US" dirty="0"/>
          </a:p>
        </p:txBody>
      </p:sp>
      <p:sp>
        <p:nvSpPr>
          <p:cNvPr id="10" name="TextBox 9"/>
          <p:cNvSpPr txBox="1"/>
          <p:nvPr/>
        </p:nvSpPr>
        <p:spPr>
          <a:xfrm>
            <a:off x="9274002" y="2826327"/>
            <a:ext cx="184731" cy="369332"/>
          </a:xfrm>
          <a:prstGeom prst="rect">
            <a:avLst/>
          </a:prstGeom>
          <a:noFill/>
        </p:spPr>
        <p:txBody>
          <a:bodyPr wrap="none" rtlCol="0">
            <a:spAutoFit/>
          </a:bodyPr>
          <a:lstStyle/>
          <a:p>
            <a:endParaRPr lang="en-US" dirty="0"/>
          </a:p>
        </p:txBody>
      </p:sp>
      <p:sp>
        <p:nvSpPr>
          <p:cNvPr id="3" name="Content Placeholder 2"/>
          <p:cNvSpPr>
            <a:spLocks noGrp="1"/>
          </p:cNvSpPr>
          <p:nvPr>
            <p:ph idx="1"/>
          </p:nvPr>
        </p:nvSpPr>
        <p:spPr/>
        <p:txBody>
          <a:bodyPr/>
          <a:lstStyle/>
          <a:p>
            <a:r>
              <a:rPr lang="en-GB" dirty="0"/>
              <a:t>In this lecture we learned following concepts:</a:t>
            </a:r>
          </a:p>
          <a:p>
            <a:pPr lvl="1"/>
            <a:r>
              <a:rPr lang="en-GB" dirty="0"/>
              <a:t>Detailed Introduction Data Cleaning using pandas library</a:t>
            </a:r>
          </a:p>
        </p:txBody>
      </p:sp>
    </p:spTree>
    <p:extLst>
      <p:ext uri="{BB962C8B-B14F-4D97-AF65-F5344CB8AC3E}">
        <p14:creationId xmlns:p14="http://schemas.microsoft.com/office/powerpoint/2010/main" val="17237174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0</TotalTime>
  <Words>3507</Words>
  <Application>Microsoft Office PowerPoint</Application>
  <PresentationFormat>Widescreen</PresentationFormat>
  <Paragraphs>363</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Consolas</vt:lpstr>
      <vt:lpstr>Segoe UI</vt:lpstr>
      <vt:lpstr>Trebuchet MS</vt:lpstr>
      <vt:lpstr>Verdana</vt:lpstr>
      <vt:lpstr>Wingdings 3</vt:lpstr>
      <vt:lpstr>Facet</vt:lpstr>
      <vt:lpstr>Data Science</vt:lpstr>
      <vt:lpstr>Data Cleaning</vt:lpstr>
      <vt:lpstr>Cleaning Empty cells</vt:lpstr>
      <vt:lpstr>Cleaning Empty cells</vt:lpstr>
      <vt:lpstr>Cleaning Empty cells</vt:lpstr>
      <vt:lpstr>Cleaning Data of Wrong Format</vt:lpstr>
      <vt:lpstr>Pandas - Cleaning Data of Wrong Format</vt:lpstr>
      <vt:lpstr>Pandas - Cleaning Data of Wrong Format</vt:lpstr>
      <vt:lpstr>Fixing Wrong Data</vt:lpstr>
      <vt:lpstr>Fixing Wrong Data</vt:lpstr>
      <vt:lpstr>Fixing Wrong Data</vt:lpstr>
      <vt:lpstr>Removing Duplicates</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DR.ASIF</dc:creator>
  <cp:lastModifiedBy>Muhammad Ismail Mangrio</cp:lastModifiedBy>
  <cp:revision>67</cp:revision>
  <dcterms:created xsi:type="dcterms:W3CDTF">2023-08-12T13:47:27Z</dcterms:created>
  <dcterms:modified xsi:type="dcterms:W3CDTF">2025-09-15T17:58:11Z</dcterms:modified>
</cp:coreProperties>
</file>
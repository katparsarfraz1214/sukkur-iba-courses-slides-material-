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4" r:id="rId1"/>
    <p:sldMasterId id="2147483766" r:id="rId2"/>
  </p:sldMasterIdLst>
  <p:notesMasterIdLst>
    <p:notesMasterId r:id="rId37"/>
  </p:notesMasterIdLst>
  <p:sldIdLst>
    <p:sldId id="381" r:id="rId3"/>
    <p:sldId id="382" r:id="rId4"/>
    <p:sldId id="462" r:id="rId5"/>
    <p:sldId id="463" r:id="rId6"/>
    <p:sldId id="321" r:id="rId7"/>
    <p:sldId id="443" r:id="rId8"/>
    <p:sldId id="386" r:id="rId9"/>
    <p:sldId id="437" r:id="rId10"/>
    <p:sldId id="438" r:id="rId11"/>
    <p:sldId id="324" r:id="rId12"/>
    <p:sldId id="439" r:id="rId13"/>
    <p:sldId id="440" r:id="rId14"/>
    <p:sldId id="447" r:id="rId15"/>
    <p:sldId id="464" r:id="rId16"/>
    <p:sldId id="441" r:id="rId17"/>
    <p:sldId id="442" r:id="rId18"/>
    <p:sldId id="448" r:id="rId19"/>
    <p:sldId id="465" r:id="rId20"/>
    <p:sldId id="457" r:id="rId21"/>
    <p:sldId id="466" r:id="rId22"/>
    <p:sldId id="467" r:id="rId23"/>
    <p:sldId id="450" r:id="rId24"/>
    <p:sldId id="451" r:id="rId25"/>
    <p:sldId id="455" r:id="rId26"/>
    <p:sldId id="453" r:id="rId27"/>
    <p:sldId id="452" r:id="rId28"/>
    <p:sldId id="468" r:id="rId29"/>
    <p:sldId id="469" r:id="rId30"/>
    <p:sldId id="470" r:id="rId31"/>
    <p:sldId id="456" r:id="rId32"/>
    <p:sldId id="454" r:id="rId33"/>
    <p:sldId id="459" r:id="rId34"/>
    <p:sldId id="460" r:id="rId35"/>
    <p:sldId id="46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81387" autoAdjust="0"/>
  </p:normalViewPr>
  <p:slideViewPr>
    <p:cSldViewPr snapToGrid="0">
      <p:cViewPr varScale="1">
        <p:scale>
          <a:sx n="65" d="100"/>
          <a:sy n="65" d="100"/>
        </p:scale>
        <p:origin x="154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C09E9-14A4-45C6-99A8-7CC7BB07ADA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84E74-A0D6-41E3-ADF1-94BED98E5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Fitted Y (Predicted Marks)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84E74-A0D6-41E3-ADF1-94BED98E59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28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76AA-8073-FEE9-7E60-CC0C47C3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8A521-0DF9-389F-9503-97C2BE98B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F8820-4A99-B5EB-F7B1-FAD55215C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Fitted Y (Predicted Marks)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9F3EF-A422-EFD6-9E6B-095FBEE6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84E74-A0D6-41E3-ADF1-94BED98E59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93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RSS (Residual Sum of Squares)</a:t>
            </a:r>
            <a:r>
              <a:rPr lang="en-US" dirty="0"/>
              <a:t> = sum of squared differences between actual and predicted values.</a:t>
            </a:r>
          </a:p>
          <a:p>
            <a:endParaRPr lang="en-US" dirty="0"/>
          </a:p>
          <a:p>
            <a:r>
              <a:rPr lang="en-US" b="1" dirty="0"/>
              <a:t>TSS (Total Sum of Squares)</a:t>
            </a:r>
            <a:r>
              <a:rPr lang="en-US" dirty="0"/>
              <a:t> = sum of squared differences between actual values and the mean.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R² tells us the proportion of variability in the output (y) that the model can explain.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84E74-A0D6-41E3-ADF1-94BED98E59A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6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40A0-6A14-4DC2-B961-001C9513D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5AE87-C35F-4C2F-AD08-D73FD39F4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DA23-FCAA-4679-8BE8-72E77C4B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D726-818C-48BB-B310-2C428B3311D1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D9E2-7802-4FC8-9E2F-99849D1C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7A9C-41AF-4BB3-9283-86AC2109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0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4211-EE05-4884-8F04-3696F8AF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8108-2612-4681-BB7E-D89D773F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207AD-E5B1-4F11-A56E-ACC7C46D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BD90-6470-4B1E-87B9-D453AC3CDE0A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15C8-EEA9-4C2A-9F3B-EB13A689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AD01F-3955-4196-BCEA-AD68EC5C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5135-D581-4F98-B725-6486F7DA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5886B-9E4C-4CFA-9699-4CE1ACAE6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61DD5-0CA6-433F-8FD6-00598797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82CC-9D28-4299-AC9D-FE178F20A7A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09AFE-1821-4DB9-959E-4047114A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D4C6-A231-4C79-99D2-94494FD7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39C-BFC2-4467-8529-46F6D8D1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D8C6-5534-4698-A273-DB05F6B5F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D41C-C070-4A39-927E-23EA8264F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E58C5-9AFF-4213-A596-09C17477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5EB0-8F36-4C40-912D-A68528FA36C9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C3A5D-24C7-4E53-8C38-7437EBB2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07114-156D-4F22-BB75-A0617F2A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08B6-C176-4AFC-8DEF-1EBA687E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CFFD0-248E-43D5-BE02-997D11FD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0CC39-67F6-4AB4-884A-0D3C5A4A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CEE79-6218-42B6-9666-71ED58B41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9EB86-6CD3-494E-9652-49CE5040F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199B6-AB7A-46B0-9CFC-C64A616E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0FA0-A296-42EE-ABA1-0670553F1E5E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9821B-8F08-46B8-B491-DFB2980B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05734-24AF-474D-AACE-825F1AA4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FAB6-9E45-44E1-8AAD-3756C932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DE234-3308-4ADE-8121-52BEAB1D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0AC9E-2DA3-48C7-A30F-BAB68A20C137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9F5AF-DD67-467C-80C0-F2580A68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8A2DD-C06D-4773-9287-09DCA331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3992C-1008-48FB-B94E-F8DBBDC4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7-BBBD-4B0F-B8E5-210C20C04F42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17C32-0889-480B-BA86-811E002E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E60F9-5553-463E-95E3-2ED60866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A2A1-3525-4965-AB1C-AE11E854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92DF-6D87-4418-BD64-ECA26A003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C9F12-751B-428D-8A71-6A09DCA7E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B4E92-9E43-4720-8E55-A0D279EB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06F6-EDFF-4D56-B978-64A7B04623A4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A06E-7C01-4259-A560-D4DE0FE6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3108F-C22A-4665-AFC7-3B361DBA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8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2D93-277D-45AD-8CC9-1A254ACA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FBEC7-6A3F-404A-BF0E-75CBCA639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BFBCF-2423-4852-B930-D8F0D126C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7F99F-EF58-4759-AD06-EFC2B27BB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61037-06F2-4E9B-A29B-8DA643CFA15D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76BE7-3C01-4501-A5B0-1099B474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F5465-21A3-4983-A70A-A40EED10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1900-43FD-44F2-BAF4-27E1B9B1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D86F4-46EF-4729-8819-60FFA52BD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61F1B-EE0D-4A98-A59C-FE24BE0AE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4282A-6CF4-43FD-8EA3-1C8E69F7CA11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0A5F8-CE66-436C-A014-C3A03BAB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5B76E-B615-4A07-883D-1CE0F38B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4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51FBB-507E-4F4C-8D1E-C0F83724C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44820-4BD1-4780-B0B9-2AACEFDCD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A1BF3-B713-4AFF-9CB0-E8179E1C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470D-AA6A-43DB-919E-57559CBE8D1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4064E-D194-4BC4-9AB5-88AF14A7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6F4D-1D58-4ED5-981D-99B82124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20EB-E61A-4E7B-8237-72FE7FEA2E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81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7169-A8F7-4B16-86DC-532A7328D13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832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4E37-AE7B-4853-B03A-7A88C1E406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675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D31E6-08DE-4565-BF88-0D24FDA64C7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994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FAD4-2CC8-4CEF-87A2-6B11F309AC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29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EEEFD-F28B-4A70-A521-9D3B8B016A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416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C98C-8F3B-49DF-8881-451450907D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561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2981-FCE1-4884-860D-E2F46A0148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429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3EA5-586D-4084-A40C-3AAED418E00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729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CF196-51AD-4FAC-919A-E5B012B64F4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219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91C9-DD5D-42F9-AAE4-DC19129555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  <a:endParaRPr lang="en-US" dirty="0">
              <a:solidFill>
                <a:srgbClr val="90C226">
                  <a:lumMod val="60000"/>
                  <a:lumOff val="4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5827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9323-E3EF-4565-9744-2BB3A70E4B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4707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7219-60B1-4EFF-8BBE-ECF64BB7E4B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18375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15C2-76A3-4A78-86B1-76CB4E123F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9712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8A35-E953-48E0-B752-B654F6D364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712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F35C1-20EF-44D9-A8B6-571722EE225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75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A1018-6A69-4704-B20A-8CF82212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7DABA-4B41-4D66-B028-8FDC949C8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4EF3-AC51-413E-97E4-8416CE649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B20D3-887E-4CD2-9C45-AA2E769DB6A5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E2E-B5E1-4BA7-85D2-CC6A7E982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1916-F929-469B-ADED-E173BBF2F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13368-87E2-45D4-94DC-4C7E2F69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46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B4CB1-C34F-451D-BFC2-15C7530D957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77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tmp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tmp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8AFFFA3-D2FC-4485-ABF8-56ECFCC3BE5A}"/>
              </a:ext>
            </a:extLst>
          </p:cNvPr>
          <p:cNvSpPr txBox="1">
            <a:spLocks/>
          </p:cNvSpPr>
          <p:nvPr/>
        </p:nvSpPr>
        <p:spPr>
          <a:xfrm>
            <a:off x="516048" y="2281473"/>
            <a:ext cx="9172906" cy="20485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6600"/>
              </a:spcBef>
              <a:spcAft>
                <a:spcPts val="4800"/>
              </a:spcAft>
            </a:pPr>
            <a:r>
              <a:rPr lang="en-GB" sz="4100" dirty="0">
                <a:solidFill>
                  <a:srgbClr val="90C226"/>
                </a:solidFill>
              </a:rPr>
              <a:t>Regression</a:t>
            </a:r>
            <a:br>
              <a:rPr lang="en-US" sz="4900" dirty="0">
                <a:solidFill>
                  <a:srgbClr val="90C226"/>
                </a:solidFill>
              </a:rPr>
            </a:br>
            <a:r>
              <a:rPr lang="en-US" sz="2700" dirty="0">
                <a:solidFill>
                  <a:srgbClr val="90C226"/>
                </a:solidFill>
              </a:rPr>
              <a:t>Unit 02 Lecture 06</a:t>
            </a:r>
            <a:br>
              <a:rPr lang="en-US" dirty="0">
                <a:solidFill>
                  <a:srgbClr val="90C226"/>
                </a:solidFill>
              </a:rPr>
            </a:br>
            <a:endParaRPr lang="en-US" dirty="0">
              <a:solidFill>
                <a:srgbClr val="90C226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0C3BD14-3D28-4B9E-A32C-59118B1FBF1E}"/>
              </a:ext>
            </a:extLst>
          </p:cNvPr>
          <p:cNvSpPr txBox="1">
            <a:spLocks/>
          </p:cNvSpPr>
          <p:nvPr/>
        </p:nvSpPr>
        <p:spPr>
          <a:xfrm>
            <a:off x="1922018" y="4203233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0C226"/>
              </a:buClr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</a:rPr>
              <a:t>Dr. Muhammad Ismail Mangrio</a:t>
            </a:r>
          </a:p>
        </p:txBody>
      </p:sp>
    </p:spTree>
    <p:extLst>
      <p:ext uri="{BB962C8B-B14F-4D97-AF65-F5344CB8AC3E}">
        <p14:creationId xmlns:p14="http://schemas.microsoft.com/office/powerpoint/2010/main" val="2179507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7380-475E-4EC8-BCF1-FF3771C6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754" y="0"/>
            <a:ext cx="9875520" cy="1356360"/>
          </a:xfrm>
        </p:spPr>
        <p:txBody>
          <a:bodyPr/>
          <a:lstStyle/>
          <a:p>
            <a:r>
              <a:rPr lang="en-US" sz="4400" b="0" i="0" dirty="0">
                <a:solidFill>
                  <a:schemeClr val="accent2"/>
                </a:solidFill>
                <a:effectLst/>
                <a:latin typeface="FranklinGothic-DemiItal"/>
              </a:rPr>
              <a:t>Contents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391AE-0FD7-4CD8-B503-7346B38F1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025" y="783316"/>
            <a:ext cx="11947557" cy="583109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 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Equation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Fitted Values and Residuals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Squares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King County Housing Data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Assessing the Model </a:t>
            </a:r>
          </a:p>
          <a:p>
            <a:pPr lvl="1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91FBE-E94D-4354-8F19-B8A3DE40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2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45AB-8CB8-DDAF-5FF8-2A407D97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85169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CFD9-BAC8-655F-3934-23C8A092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Regression?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7293A-47EC-8BA5-9913-E4CDEAF5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3</a:t>
            </a:fld>
            <a:endParaRPr lang="en-US">
              <a:solidFill>
                <a:srgbClr val="90C226"/>
              </a:solidFill>
            </a:endParaRPr>
          </a:p>
        </p:txBody>
      </p:sp>
      <p:pic>
        <p:nvPicPr>
          <p:cNvPr id="6" name="Picture 5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6935C4A1-F346-B223-497C-9CC7EEF7A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92546"/>
            <a:ext cx="7620360" cy="4986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315A85-9EF1-3667-0BB1-F77CA8D3051A}"/>
              </a:ext>
            </a:extLst>
          </p:cNvPr>
          <p:cNvSpPr txBox="1"/>
          <p:nvPr/>
        </p:nvSpPr>
        <p:spPr>
          <a:xfrm>
            <a:off x="6646429" y="4440703"/>
            <a:ext cx="49454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Regression find the relationship between variables and make predictions.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A55A03E-15FC-D0D3-5D1B-76F88A69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40523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E956-660F-ECCC-0F3D-DB19D94C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6CFC-DAB1-8FB0-CADC-E57F5201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4</a:t>
            </a:fld>
            <a:endParaRPr lang="en-US">
              <a:solidFill>
                <a:srgbClr val="90C226"/>
              </a:solidFill>
            </a:endParaRPr>
          </a:p>
        </p:txBody>
      </p:sp>
      <p:pic>
        <p:nvPicPr>
          <p:cNvPr id="6" name="Picture 5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29BE47A9-2EBD-0121-691C-A2114C48A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59" y="1211593"/>
            <a:ext cx="8123766" cy="525234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7064CD-F449-DC06-90F3-884F4A34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57825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regression is a statistical technique that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relates a dependent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to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or more independent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most common goal in statistics is to answer the question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variable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associated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 variable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if so,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can we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it to predict Y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process of training a model on data where the outcome is known, for subsequent application to data where the outcome is not known, is termed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supervised learning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Typically, a regression analysis is done for one of two purposes: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order to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 the value of the dependent 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for individuals for whom some information concerning the explanatory variables is available, or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to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estimate the effect of some explanatory variable 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the dependent variable</a:t>
            </a:r>
          </a:p>
          <a:p>
            <a:pPr algn="just"/>
            <a:endParaRPr lang="en-US" sz="2800" b="0" i="0" dirty="0">
              <a:solidFill>
                <a:srgbClr val="00B0F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9EF97-AE86-01EC-3C2A-1DD7E83E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66960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 variable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Whose values depend on the other variables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Independent variable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Who forms the basis of estimation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800" b="0" i="0" dirty="0">
              <a:solidFill>
                <a:srgbClr val="00B0F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20274"/>
              </p:ext>
            </p:extLst>
          </p:nvPr>
        </p:nvGraphicFramePr>
        <p:xfrm>
          <a:off x="1371599" y="3354800"/>
          <a:ext cx="638602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Independent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Dependent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Expenditure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Height of the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Heights of the children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study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Marks in exams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C9467-922D-4913-BD4B-F7A64BF3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47651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Simple linear regression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provides a model of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 between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magnitude of one variable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of a second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—for example, as X increases, Y also increases. Or as X increases, Y decreases.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Correlation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another way to measure how two variables are related.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difference between regression and correlation is: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Correlation measures the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 of an association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between two variables. 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 </a:t>
            </a: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quantifies the nature of the relationship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Simple linear regression estimates how much Y will change when X changes by a certain amount. With the correlation coefficient, the variables X and Y are inter‐changeable.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4EB9C-3058-D129-0983-3F1A8C39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89357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Regression(The Regression Equation)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7800933" cy="5456742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regression, we are trying to predict the Y variable from X using a linear relationship (i.e., a line): 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𝑦=𝑏0+𝑏1𝑋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symbol b0 is known as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intercept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(or constant), and the symbol b1 as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slope for X or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 coefficient.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b0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value of dependent when independent variable value is zero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b1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tells the rate change in dependent variable with unit change in independent variable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Y variable is known as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or dependent variable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since it depends on X.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X variable is known as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predictor or independent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variable.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machine learning community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tends to use other terms, calling Y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X a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vector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2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788" y="3090028"/>
            <a:ext cx="3904211" cy="383716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9289-40BB-B589-78A4-486392B2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76442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Regression(The Regression Equation)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7800933" cy="545674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scatterplot in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4-1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displaying the number of years a worker was exposed to cotton dust (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Exposure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versus a measure of lung capacity (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PEFR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“peak expiratory flow rate”).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is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PEFR related to Exposure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It’s hard to tell based just on the picture.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Simple linear regression tries to find the “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best” line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predict the response PEFR as a function of the predictor variable Exposure: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PEFR = b0 + b1 Exposure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2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788" y="3090028"/>
            <a:ext cx="3904211" cy="383716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24FA7-9B31-EE14-D9B8-AAA5B1B8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50717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dirty="0" err="1"/>
              <a:t>Colab</a:t>
            </a:r>
            <a:r>
              <a:rPr lang="en-US" dirty="0"/>
              <a:t> code for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130969" cy="545674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install pre-requisite libraries</a:t>
            </a:r>
          </a:p>
          <a:p>
            <a:pPr lvl="1"/>
            <a:r>
              <a:rPr lang="en-US" dirty="0"/>
              <a:t>pip install </a:t>
            </a:r>
            <a:r>
              <a:rPr lang="en-US" dirty="0" err="1"/>
              <a:t>dmba</a:t>
            </a:r>
            <a:endParaRPr lang="en-US" dirty="0"/>
          </a:p>
          <a:p>
            <a:pPr lvl="1"/>
            <a:r>
              <a:rPr lang="en-US" dirty="0"/>
              <a:t>pip install </a:t>
            </a:r>
            <a:r>
              <a:rPr lang="en-US" dirty="0" err="1"/>
              <a:t>pygam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18" y="1648803"/>
            <a:ext cx="6023363" cy="522581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93D31-34B5-E6D4-2DCD-412A764F6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4236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dirty="0" err="1"/>
              <a:t>Colab</a:t>
            </a:r>
            <a:r>
              <a:rPr lang="en-US" dirty="0"/>
              <a:t> code for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130969" cy="545674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6" y="821833"/>
            <a:ext cx="3305636" cy="1257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848" y="0"/>
            <a:ext cx="4375327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232" y="1734680"/>
            <a:ext cx="4731651" cy="50844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4" y="2317516"/>
            <a:ext cx="2730856" cy="19899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13181" y="1136898"/>
            <a:ext cx="2859870" cy="47577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701052" y="855912"/>
            <a:ext cx="404422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dirty="0"/>
              <a:t>The intercept, or </a:t>
            </a:r>
            <a:r>
              <a:rPr lang="en-US" sz="1050" b="1" dirty="0"/>
              <a:t>b0</a:t>
            </a:r>
            <a:r>
              <a:rPr lang="en-US" sz="1050" dirty="0"/>
              <a:t>, is </a:t>
            </a:r>
            <a:r>
              <a:rPr lang="en-US" sz="1050" b="1" dirty="0"/>
              <a:t>424.583</a:t>
            </a:r>
            <a:r>
              <a:rPr lang="en-US" sz="1050" dirty="0"/>
              <a:t> and can be interpreted as the predicted </a:t>
            </a:r>
            <a:r>
              <a:rPr lang="en-US" sz="1050" b="1" dirty="0"/>
              <a:t>PEFR for a worker with zero years exposure</a:t>
            </a:r>
            <a:r>
              <a:rPr lang="en-US" sz="1050" dirty="0"/>
              <a:t>. The regression coefficient, or </a:t>
            </a:r>
            <a:r>
              <a:rPr lang="en-US" sz="1050" b="1" dirty="0"/>
              <a:t>b1</a:t>
            </a:r>
            <a:r>
              <a:rPr lang="en-US" sz="1050" dirty="0"/>
              <a:t>, can be interpreted as follows: for each additional year that a worker is exposed to cotton dust, the worker’s PEFR measurement is reduced by </a:t>
            </a:r>
            <a:r>
              <a:rPr lang="en-US" sz="1050" b="1" dirty="0"/>
              <a:t>–4.185</a:t>
            </a:r>
            <a:r>
              <a:rPr lang="en-US" sz="1050" dirty="0"/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7" y="6524037"/>
            <a:ext cx="3247797" cy="3139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30591-1190-A358-5B9E-BEDFC3CC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34074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 (Fitted Values and Residuals)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concepts in regression analysis are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fitted values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(the predictions) and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residuals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(prediction errors).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the data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doesn’t fall exactly on a line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so the regression equation should include an explicit error term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400" b="1" i="1" baseline="-200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  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𝑌𝑖=𝑏0+𝑏1𝑋𝑖+𝑒𝑖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fitted values are typically denoted by (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Y-hat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These are given by: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notation (𝑏0) ̅   and 𝑏 ̅1 indicates that the coefficients are estimated versus known.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 the residuals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 by subtracting the predicted values from the original data: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896" y="2778938"/>
            <a:ext cx="219106" cy="3524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262" y="3899095"/>
            <a:ext cx="1654233" cy="4887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934" y="5793971"/>
            <a:ext cx="2056303" cy="61251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02A8E-1FAF-3780-3B98-59BF5F30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602246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 (Fitted Values and Residuals)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6296329" cy="545674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Residuals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Let's take a moment to notice the little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gap between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observed y-value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(the scatter point labelled y) and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predicted y-value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(the point on the line labelled yˆ). This gap is called the residual.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Definition:  The residual is 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vertical distance between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observed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point and your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predicted y-value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7664" t="2331"/>
          <a:stretch>
            <a:fillRect/>
          </a:stretch>
        </p:blipFill>
        <p:spPr>
          <a:xfrm>
            <a:off x="6915150" y="1743074"/>
            <a:ext cx="5276849" cy="5114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767" y="5333013"/>
            <a:ext cx="2657695" cy="792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46391-F4FB-ED46-EE3D-2F8613ABC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686" y="6125816"/>
            <a:ext cx="2892776" cy="55384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819647-A365-B91F-CB6C-3CB47779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72673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01099-C021-E750-C160-99C7640A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B5ECC-FFB0-6437-90DB-0C83F7EB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chemeClr val="bg1"/>
                </a:solidFill>
              </a:rPr>
              <a:t>Simple Linear Regression (Fitted Values and Residuals)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A2793F-E7E1-23CB-5997-A5252B816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754" y="2160590"/>
            <a:ext cx="3973943" cy="34401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Residuals tell us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far off the model’s prediction 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each data point.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Small residuals → model fits well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Large residuals → model does not fit that point 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B06C-B3E1-0161-6CEF-1427851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6161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D2369D-D71F-40BA-DF01-72AA90988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040996"/>
              </p:ext>
            </p:extLst>
          </p:nvPr>
        </p:nvGraphicFramePr>
        <p:xfrm>
          <a:off x="5333880" y="2243973"/>
          <a:ext cx="6858120" cy="26528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72763">
                  <a:extLst>
                    <a:ext uri="{9D8B030D-6E8A-4147-A177-3AD203B41FA5}">
                      <a16:colId xmlns:a16="http://schemas.microsoft.com/office/drawing/2014/main" val="81625089"/>
                    </a:ext>
                  </a:extLst>
                </a:gridCol>
                <a:gridCol w="1528469">
                  <a:extLst>
                    <a:ext uri="{9D8B030D-6E8A-4147-A177-3AD203B41FA5}">
                      <a16:colId xmlns:a16="http://schemas.microsoft.com/office/drawing/2014/main" val="2313215963"/>
                    </a:ext>
                  </a:extLst>
                </a:gridCol>
                <a:gridCol w="1478083">
                  <a:extLst>
                    <a:ext uri="{9D8B030D-6E8A-4147-A177-3AD203B41FA5}">
                      <a16:colId xmlns:a16="http://schemas.microsoft.com/office/drawing/2014/main" val="2425165628"/>
                    </a:ext>
                  </a:extLst>
                </a:gridCol>
                <a:gridCol w="2178805">
                  <a:extLst>
                    <a:ext uri="{9D8B030D-6E8A-4147-A177-3AD203B41FA5}">
                      <a16:colId xmlns:a16="http://schemas.microsoft.com/office/drawing/2014/main" val="2934481270"/>
                    </a:ext>
                  </a:extLst>
                </a:gridCol>
              </a:tblGrid>
              <a:tr h="101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 cap="none" spc="0" dirty="0">
                          <a:solidFill>
                            <a:schemeClr val="tx1"/>
                          </a:solidFill>
                        </a:rPr>
                        <a:t>X (Hours)</a:t>
                      </a:r>
                    </a:p>
                  </a:txBody>
                  <a:tcPr marL="0" marR="130732" marT="26146" marB="1307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 cap="none" spc="0" dirty="0">
                          <a:solidFill>
                            <a:schemeClr val="tx1"/>
                          </a:solidFill>
                        </a:rPr>
                        <a:t>Actual Y</a:t>
                      </a:r>
                    </a:p>
                  </a:txBody>
                  <a:tcPr marL="0" marR="130732" marT="26146" marB="1307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 cap="none" spc="0" dirty="0">
                          <a:solidFill>
                            <a:schemeClr val="tx1"/>
                          </a:solidFill>
                        </a:rPr>
                        <a:t>Fitted Y</a:t>
                      </a:r>
                    </a:p>
                  </a:txBody>
                  <a:tcPr marL="0" marR="130732" marT="26146" marB="1307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cap="none" spc="0" dirty="0">
                          <a:solidFill>
                            <a:schemeClr val="tx1"/>
                          </a:solidFill>
                        </a:rPr>
                        <a:t>Residual (Y - Ŷ)</a:t>
                      </a:r>
                    </a:p>
                  </a:txBody>
                  <a:tcPr marL="0" marR="130732" marT="26146" marB="1307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05312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 dirty="0">
                          <a:solidFill>
                            <a:schemeClr val="tx1"/>
                          </a:solidFill>
                        </a:rPr>
                        <a:t>49.5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370637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 dirty="0">
                          <a:solidFill>
                            <a:schemeClr val="tx1"/>
                          </a:solidFill>
                        </a:rPr>
                        <a:t>54.0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826781"/>
                  </a:ext>
                </a:extLst>
              </a:tr>
              <a:tr h="544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58.5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0" marR="130732" marT="39220" marB="130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064290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9C4DDFC-845F-0E49-A26D-3341C7DD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33292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Regression(Fitted Values and Residuals)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4-3 illustrates the residuals from the regression line fit to the lung data.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residuals are the length of the vertical dashed lines from the data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6" y="1995055"/>
            <a:ext cx="6123708" cy="48629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02" y="2254977"/>
            <a:ext cx="5875698" cy="32979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07022-BF0B-45CB-8590-C5F1703D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554243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757057"/>
          </a:xfrm>
        </p:spPr>
        <p:txBody>
          <a:bodyPr>
            <a:normAutofit/>
          </a:bodyPr>
          <a:lstStyle/>
          <a:p>
            <a:r>
              <a:rPr lang="en-US" sz="2800" dirty="0"/>
              <a:t>Simple Linear Regression(Least Squares)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6" y="1128585"/>
            <a:ext cx="9230722" cy="545674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is the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fit to the data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there is a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relationship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you could imagine fitting the line by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practice, the regression line is the estimate that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minimizes the sum of squared residual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values, also called the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residual sum of squares or RSS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699" y="4346246"/>
            <a:ext cx="2971704" cy="19029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DFE7D-CF9A-4E79-C2E6-5D84DF2E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00066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pic>
        <p:nvPicPr>
          <p:cNvPr id="10" name="Content Placeholder 9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15C4D7D8-71F0-2453-7457-454E5A6E2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15" y="1034897"/>
            <a:ext cx="9592839" cy="537159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17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91F5CA4-60BE-849B-5A6F-8646CFCD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624760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530B-F1F3-A3C5-2E51-A6C154F2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7C08-AF89-A348-7802-B7112ECF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6A85-4335-0910-2808-50FFC6ED4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9081094" cy="557701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When there are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multiple predictors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, the equation is simply extended to accommodate them:</a:t>
            </a:r>
          </a:p>
          <a:p>
            <a:pPr algn="just"/>
            <a:endParaRPr lang="en-US" sz="2000" b="0" i="0" dirty="0">
              <a:solidFill>
                <a:srgbClr val="000000"/>
              </a:solidFill>
              <a:effectLst/>
              <a:latin typeface="NewBaskerville-Roman"/>
            </a:endParaRPr>
          </a:p>
          <a:p>
            <a:pPr algn="just"/>
            <a:endParaRPr lang="en-US" sz="2000" dirty="0">
              <a:solidFill>
                <a:srgbClr val="000000"/>
              </a:solidFill>
              <a:latin typeface="NewBaskerville-Roman"/>
            </a:endParaRP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Instead of a line, we now have a linear model—the relationship between each coefficient and its variable (feature) is linear.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All of the other concepts in simple linear regression, such as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fitting by least squares 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and the definition of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fitted values 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and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residuals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,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extend to the multiple linear regression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 setting. 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For example, the fitted values are given by:</a:t>
            </a:r>
          </a:p>
          <a:p>
            <a:pPr algn="just"/>
            <a:endParaRPr lang="en-US" sz="2000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81128-6BC6-FABA-6942-7045BE49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C1C42-DCF4-2695-D40D-EEE8086D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069" y="1589079"/>
            <a:ext cx="4581218" cy="667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6452D6-9FBA-11B7-EFE4-F197CDC57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75" y="4816939"/>
            <a:ext cx="5438250" cy="89532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0A3C0-E728-3698-9942-2883AD77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412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9081094" cy="557701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NewBaskerville-Roman"/>
              </a:rPr>
              <a:t>Simple linear regression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  <a:p>
            <a:pPr algn="just"/>
            <a:endParaRPr lang="en-US" dirty="0">
              <a:solidFill>
                <a:srgbClr val="000000"/>
              </a:solidFill>
              <a:latin typeface="NewBaskerville-Roman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NewBaskerville-Roman"/>
              </a:rPr>
              <a:t>Multiple regression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17" y="3621528"/>
            <a:ext cx="4787351" cy="19172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117" y="1589079"/>
            <a:ext cx="1885861" cy="67352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B6359-41FB-60A1-6BEE-18014558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43475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BFDA-5C92-AEAA-2809-14C3B1A5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DB1D-F702-804C-74BF-ADCAE26C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pic>
        <p:nvPicPr>
          <p:cNvPr id="7" name="Content Placeholder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4955FD28-39A7-316E-EB7B-2DC41DD87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60" y="930876"/>
            <a:ext cx="9345751" cy="520522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10019-05D9-70C1-D77D-5AC846B6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5AFD91-7392-C9EA-578A-A7DF7865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111553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EFF2-2EA7-00D2-F01C-7F50624A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D3C6-1709-3177-9282-C8B6EDC4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68F74-71CD-D8A1-DF05-9B8A25ED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21</a:t>
            </a:fld>
            <a:endParaRPr lang="en-US"/>
          </a:p>
        </p:txBody>
      </p:sp>
      <p:pic>
        <p:nvPicPr>
          <p:cNvPr id="8" name="Content Placeholder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80332B68-5881-4669-EA7C-79C3EDBCE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31" y="922764"/>
            <a:ext cx="11269870" cy="5012471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5E96A2-A7A9-9252-D8FC-FC60CC70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627509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11376454" cy="5577015"/>
          </a:xfrm>
        </p:spPr>
        <p:txBody>
          <a:bodyPr>
            <a:normAutofit/>
          </a:bodyPr>
          <a:lstStyle/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87ACD6-4AE1-811E-9F51-53723B076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4" y="987074"/>
            <a:ext cx="9131372" cy="583087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3FF79-6415-2AC3-C48C-CE75FD52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212977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11376454" cy="5577015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The goal is to predict the sales price from the other variables. 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8D22C-EA65-733A-F37B-298812ED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31" y="1476632"/>
            <a:ext cx="11276691" cy="2189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50211-3EFA-C820-FF3B-8D2DB786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59" y="3743409"/>
            <a:ext cx="9467850" cy="19240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06BF0-76EE-EE7E-F62D-B98BD18C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766016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8698709" cy="557701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In </a:t>
            </a:r>
            <a:r>
              <a:rPr lang="en-US" sz="2400" b="1" dirty="0">
                <a:solidFill>
                  <a:srgbClr val="000000"/>
                </a:solidFill>
                <a:latin typeface="NewBaskerville-Roman"/>
              </a:rPr>
              <a:t>Multiple regression 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the </a:t>
            </a:r>
            <a:r>
              <a:rPr lang="en-US" sz="2400" b="1" dirty="0">
                <a:solidFill>
                  <a:srgbClr val="000000"/>
                </a:solidFill>
                <a:latin typeface="NewBaskerville-Roman"/>
              </a:rPr>
              <a:t>interpretation of the coefficients is same 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as simple </a:t>
            </a:r>
            <a:r>
              <a:rPr lang="en-US" sz="2400" b="1" dirty="0">
                <a:solidFill>
                  <a:srgbClr val="000000"/>
                </a:solidFill>
                <a:latin typeface="NewBaskerville-Roman"/>
              </a:rPr>
              <a:t>linear regression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: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the predicted value Y changes by the coefficient </a:t>
            </a:r>
            <a:r>
              <a:rPr lang="en-US" sz="2400" dirty="0" err="1">
                <a:solidFill>
                  <a:srgbClr val="000000"/>
                </a:solidFill>
                <a:latin typeface="NewBaskerville-Roman"/>
              </a:rPr>
              <a:t>bj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 for each unit change in </a:t>
            </a:r>
            <a:r>
              <a:rPr lang="en-US" sz="2400" dirty="0" err="1">
                <a:solidFill>
                  <a:srgbClr val="000000"/>
                </a:solidFill>
                <a:latin typeface="NewBaskerville-Roman"/>
              </a:rPr>
              <a:t>Xj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 assuming all the other variables, </a:t>
            </a:r>
            <a:r>
              <a:rPr lang="en-US" sz="2400" dirty="0" err="1">
                <a:solidFill>
                  <a:srgbClr val="000000"/>
                </a:solidFill>
                <a:latin typeface="NewBaskerville-Roman"/>
              </a:rPr>
              <a:t>Xk</a:t>
            </a:r>
            <a:r>
              <a:rPr lang="en-US" sz="2400" dirty="0">
                <a:solidFill>
                  <a:srgbClr val="000000"/>
                </a:solidFill>
                <a:latin typeface="NewBaskerville-Roman"/>
              </a:rPr>
              <a:t> for k ≠ j, remain the same. </a:t>
            </a:r>
          </a:p>
          <a:p>
            <a:pPr lvl="1"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For example, adding an extra finished square foot to a house increases the estimated value by roughly $229; adding 1,000 finished square feet implies the value will increase by $228,800.</a:t>
            </a:r>
            <a:endParaRPr lang="en-US" sz="2000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4D2B8-F1DE-ED35-1605-CE016AE6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026864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D4190-0DDA-FE58-D69A-877A928F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52" y="18283"/>
            <a:ext cx="6882938" cy="68397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B0B79-806C-3459-E46A-447255E2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670648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D4190-0DDA-FE58-D69A-877A928F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8A58E-9BD2-B335-827B-AE4E24DA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67" y="340309"/>
            <a:ext cx="8406070" cy="6248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2AF1AB-7DC3-97DC-1591-0B0105E2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65" y="3966204"/>
            <a:ext cx="5522568" cy="1482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3D22-8715-9526-C61C-69036772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478338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8E87EB-3F61-C910-1934-DC1779B6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27</a:t>
            </a:fld>
            <a:endParaRPr lang="en-US">
              <a:solidFill>
                <a:srgbClr val="90C226"/>
              </a:solidFill>
            </a:endParaRPr>
          </a:p>
        </p:txBody>
      </p:sp>
      <p:pic>
        <p:nvPicPr>
          <p:cNvPr id="4" name="Picture 3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D9EE4295-D1E4-0C9B-E3A6-89F431D2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9" y="853256"/>
            <a:ext cx="11503283" cy="5705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58A6A8-F55D-06CB-30C5-756036F7C92F}"/>
              </a:ext>
            </a:extLst>
          </p:cNvPr>
          <p:cNvSpPr txBox="1"/>
          <p:nvPr/>
        </p:nvSpPr>
        <p:spPr>
          <a:xfrm>
            <a:off x="403057" y="142869"/>
            <a:ext cx="6100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RMSE (Root Mean Squared Error)</a:t>
            </a:r>
            <a:endParaRPr lang="en-GB" sz="28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BC5035-7873-6D35-799A-736A004E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580793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D364A3-77B4-34F1-ADAE-0A68DBD7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28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B9004-2403-30CB-2409-C2DB3F597393}"/>
              </a:ext>
            </a:extLst>
          </p:cNvPr>
          <p:cNvSpPr txBox="1"/>
          <p:nvPr/>
        </p:nvSpPr>
        <p:spPr>
          <a:xfrm>
            <a:off x="342900" y="170264"/>
            <a:ext cx="6100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RSE (Residual Standard Error)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20049-C7CF-16CC-CDD5-866D5FC35849}"/>
              </a:ext>
            </a:extLst>
          </p:cNvPr>
          <p:cNvSpPr txBox="1"/>
          <p:nvPr/>
        </p:nvSpPr>
        <p:spPr>
          <a:xfrm>
            <a:off x="342900" y="825578"/>
            <a:ext cx="10293016" cy="95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RSE is the standard deviation of the residuals, adjusted for the number of predictors.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measures </a:t>
            </a:r>
            <a:r>
              <a:rPr lang="en-US" sz="2000" b="1" dirty="0"/>
              <a:t>the typical size of the residuals after considering all features</a:t>
            </a:r>
            <a:endParaRPr lang="en-GB" sz="2000" dirty="0"/>
          </a:p>
        </p:txBody>
      </p:sp>
      <p:pic>
        <p:nvPicPr>
          <p:cNvPr id="10" name="Picture 9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A944045F-7419-385D-557F-33585C56B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57" y="1833375"/>
            <a:ext cx="7484285" cy="4940404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226E6A2-493D-057E-E573-9C18057E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887728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4336-7999-540F-D237-2AB035AC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A5CEF2-5C7F-BFB8-F288-F9CCDF42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29</a:t>
            </a:fld>
            <a:endParaRPr lang="en-US">
              <a:solidFill>
                <a:srgbClr val="90C226"/>
              </a:solidFill>
            </a:endParaRPr>
          </a:p>
        </p:txBody>
      </p:sp>
      <p:pic>
        <p:nvPicPr>
          <p:cNvPr id="12" name="Picture 11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EE3288AB-776C-6980-CF41-21A134E17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93" y="0"/>
            <a:ext cx="8377723" cy="3344626"/>
          </a:xfrm>
          <a:prstGeom prst="rect">
            <a:avLst/>
          </a:prstGeom>
        </p:spPr>
      </p:pic>
      <p:pic>
        <p:nvPicPr>
          <p:cNvPr id="5" name="Picture 4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40751F3F-59AB-20ED-A669-1615D33DA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5" y="3513374"/>
            <a:ext cx="8683321" cy="3067899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B1EAF1-B887-2428-3D90-D2B12F33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836044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9265943" cy="557701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Another useful metric that you will see in software output is the coefficient of determination, also called the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R-squared statistic 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or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R2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. R-squared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ranges from 0 to 1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R² = 1 → perfect fit, all points lie on the regression line.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R² = 0 → the model does not explain any variability, same as using the mean as prediction.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It measures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the proportion of variation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 in the data that is accounted for in the model. 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It is useful mainly in explanatory uses of regression where you want to </a:t>
            </a:r>
            <a:r>
              <a:rPr lang="en-US" sz="2000" b="1" dirty="0">
                <a:solidFill>
                  <a:srgbClr val="000000"/>
                </a:solidFill>
                <a:latin typeface="NewBaskerville-Roman"/>
              </a:rPr>
              <a:t>assess how well the model fits the data</a:t>
            </a:r>
            <a:r>
              <a:rPr lang="en-US" sz="2000" dirty="0">
                <a:solidFill>
                  <a:srgbClr val="000000"/>
                </a:solidFill>
                <a:latin typeface="NewBaskerville-Roman"/>
              </a:rPr>
              <a:t>. The formula for R2 is:</a:t>
            </a:r>
            <a:endParaRPr lang="en-US" sz="2000" b="0" i="0" dirty="0">
              <a:solidFill>
                <a:srgbClr val="000000"/>
              </a:solidFill>
              <a:effectLst/>
              <a:latin typeface="NewBaskerville-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757" y="4773499"/>
            <a:ext cx="3151886" cy="1450425"/>
          </a:xfrm>
          <a:prstGeom prst="rect">
            <a:avLst/>
          </a:prstGeom>
        </p:spPr>
      </p:pic>
      <p:pic>
        <p:nvPicPr>
          <p:cNvPr id="8" name="Picture 7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19981E0A-19A0-84E7-76A2-1E40FB79A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877" y="4940528"/>
            <a:ext cx="2183010" cy="1100834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AC1B6C-6F36-338B-1FCF-2591472A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777593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6" y="272673"/>
            <a:ext cx="11376454" cy="658203"/>
          </a:xfrm>
        </p:spPr>
        <p:txBody>
          <a:bodyPr>
            <a:normAutofit/>
          </a:bodyPr>
          <a:lstStyle/>
          <a:p>
            <a:r>
              <a:rPr lang="en-US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5" y="930876"/>
            <a:ext cx="8981341" cy="557701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Classic statistical regression metrics (R2, F-statistics, and p-values) are all “in-sample” metrics they are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applied to the same data 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that was used to fit the model.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It would make a lot of sense to set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aside some of the original data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,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not use it to fit the model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, and then apply the model to the set-aside (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holdout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) data to see how well it does.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Normally, you would use a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majority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 of the data to fit the model and use a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smaller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 portion to test the model.</a:t>
            </a: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Cross-validation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 extends the idea of a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holdout sample 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to multiple sequential holdout samples.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The division of the data into the training sample and the holdout sample is also called a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fold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The algorithm for basic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k-fold cross-validation 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is as follows: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Set aside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1/k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 of the data as a </a:t>
            </a:r>
            <a:r>
              <a:rPr lang="en-US" b="1" i="0" dirty="0">
                <a:solidFill>
                  <a:srgbClr val="000000"/>
                </a:solidFill>
                <a:effectLst/>
                <a:latin typeface="NewBaskerville-Roman"/>
              </a:rPr>
              <a:t>holdout sample</a:t>
            </a: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Train the model on the remaining data.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Apply (score) the model to the 1/k holdout, and record needed model assessment metrics.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Restore the first 1/k of the data, and set aside the next 1/k (excluding any records that got picked the first time).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Repeat steps 2 and 3.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Repeat until each record has been used in the holdout portion.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NewBaskerville-Roman"/>
              </a:rPr>
              <a:t>Average or otherwise combine the model assessment metrics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6A460-A6F9-D14C-56D6-1150DA4F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06847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Example (Paper pencil)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4" y="2039251"/>
            <a:ext cx="6132813" cy="42740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4989A-2970-C8AD-4F3C-DC85B438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63558-D938-DF76-E7ED-01CE7D0B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32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71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Example (Paper pencil)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22" y="2452301"/>
            <a:ext cx="6838950" cy="14097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C91F8-1A3A-06F8-A80A-96140662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FE9F3-2B04-E99D-E9EF-68E97C6C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33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00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Example (Paper pencil)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3224"/>
            <a:ext cx="6800850" cy="3248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71" y="1903970"/>
            <a:ext cx="5269499" cy="49540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559CB-E321-9957-4B4C-5E6848B1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38C89-1CB1-8D69-3D55-F01337A1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>
                <a:solidFill>
                  <a:srgbClr val="90C226"/>
                </a:solidFill>
              </a:rPr>
              <a:pPr/>
              <a:t>34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811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1795</Words>
  <Application>Microsoft Office PowerPoint</Application>
  <PresentationFormat>Widescreen</PresentationFormat>
  <Paragraphs>235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Calibri</vt:lpstr>
      <vt:lpstr>Calibri Light</vt:lpstr>
      <vt:lpstr>FranklinGothic-DemiItal</vt:lpstr>
      <vt:lpstr>NewBaskerville-Roman</vt:lpstr>
      <vt:lpstr>Tahoma</vt:lpstr>
      <vt:lpstr>Times New Roman</vt:lpstr>
      <vt:lpstr>Trebuchet MS</vt:lpstr>
      <vt:lpstr>Wingdings</vt:lpstr>
      <vt:lpstr>Wingdings 3</vt:lpstr>
      <vt:lpstr>Custom Design</vt:lpstr>
      <vt:lpstr>Facet</vt:lpstr>
      <vt:lpstr>PowerPoint Presentation</vt:lpstr>
      <vt:lpstr>Contents</vt:lpstr>
      <vt:lpstr>Why Do We Need Regression?</vt:lpstr>
      <vt:lpstr>Regression</vt:lpstr>
      <vt:lpstr>Regression</vt:lpstr>
      <vt:lpstr>Regression</vt:lpstr>
      <vt:lpstr>Simple Linear Regression</vt:lpstr>
      <vt:lpstr>Simple Linear Regression(The Regression Equation)</vt:lpstr>
      <vt:lpstr>Simple Linear Regression(The Regression Equation)</vt:lpstr>
      <vt:lpstr>Colab code for regression</vt:lpstr>
      <vt:lpstr>Colab code for regression</vt:lpstr>
      <vt:lpstr>Simple Linear Regression (Fitted Values and Residuals)</vt:lpstr>
      <vt:lpstr>Simple Linear Regression (Fitted Values and Residuals)</vt:lpstr>
      <vt:lpstr>Simple Linear Regression (Fitted Values and Residuals)</vt:lpstr>
      <vt:lpstr>Simple Linear Regression(Fitted Values and Residuals)</vt:lpstr>
      <vt:lpstr>Simple Linear Regression(Least Squares)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 Linear Regression</vt:lpstr>
      <vt:lpstr>Cross-Validation</vt:lpstr>
      <vt:lpstr>Regression Example (Paper pencil) </vt:lpstr>
      <vt:lpstr>Regression Example (Paper pencil) </vt:lpstr>
      <vt:lpstr>Regression Example (Paper pencil)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SIBAU</dc:creator>
  <cp:lastModifiedBy>Muhammad Ismail Mangrio</cp:lastModifiedBy>
  <cp:revision>933</cp:revision>
  <dcterms:created xsi:type="dcterms:W3CDTF">2021-02-15T05:10:53Z</dcterms:created>
  <dcterms:modified xsi:type="dcterms:W3CDTF">2025-11-19T19:53:00Z</dcterms:modified>
</cp:coreProperties>
</file>
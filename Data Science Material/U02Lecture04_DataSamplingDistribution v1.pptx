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4" r:id="rId1"/>
    <p:sldMasterId id="2147483766" r:id="rId2"/>
  </p:sldMasterIdLst>
  <p:notesMasterIdLst>
    <p:notesMasterId r:id="rId71"/>
  </p:notesMasterIdLst>
  <p:sldIdLst>
    <p:sldId id="379" r:id="rId3"/>
    <p:sldId id="380" r:id="rId4"/>
    <p:sldId id="381" r:id="rId5"/>
    <p:sldId id="382" r:id="rId6"/>
    <p:sldId id="383" r:id="rId7"/>
    <p:sldId id="384" r:id="rId8"/>
    <p:sldId id="385" r:id="rId9"/>
    <p:sldId id="386" r:id="rId10"/>
    <p:sldId id="387" r:id="rId11"/>
    <p:sldId id="388" r:id="rId12"/>
    <p:sldId id="389" r:id="rId13"/>
    <p:sldId id="390" r:id="rId14"/>
    <p:sldId id="391" r:id="rId15"/>
    <p:sldId id="392" r:id="rId16"/>
    <p:sldId id="393" r:id="rId17"/>
    <p:sldId id="394" r:id="rId18"/>
    <p:sldId id="395" r:id="rId19"/>
    <p:sldId id="396" r:id="rId20"/>
    <p:sldId id="397" r:id="rId21"/>
    <p:sldId id="398" r:id="rId22"/>
    <p:sldId id="399" r:id="rId23"/>
    <p:sldId id="428" r:id="rId24"/>
    <p:sldId id="400" r:id="rId25"/>
    <p:sldId id="401" r:id="rId26"/>
    <p:sldId id="402" r:id="rId27"/>
    <p:sldId id="403" r:id="rId28"/>
    <p:sldId id="405" r:id="rId29"/>
    <p:sldId id="406" r:id="rId30"/>
    <p:sldId id="420" r:id="rId31"/>
    <p:sldId id="407" r:id="rId32"/>
    <p:sldId id="408" r:id="rId33"/>
    <p:sldId id="409" r:id="rId34"/>
    <p:sldId id="410" r:id="rId35"/>
    <p:sldId id="411" r:id="rId36"/>
    <p:sldId id="412" r:id="rId37"/>
    <p:sldId id="413" r:id="rId38"/>
    <p:sldId id="414" r:id="rId39"/>
    <p:sldId id="415" r:id="rId40"/>
    <p:sldId id="416" r:id="rId41"/>
    <p:sldId id="417" r:id="rId42"/>
    <p:sldId id="429" r:id="rId43"/>
    <p:sldId id="418" r:id="rId44"/>
    <p:sldId id="421" r:id="rId45"/>
    <p:sldId id="430" r:id="rId46"/>
    <p:sldId id="422" r:id="rId47"/>
    <p:sldId id="419" r:id="rId48"/>
    <p:sldId id="355" r:id="rId49"/>
    <p:sldId id="358" r:id="rId50"/>
    <p:sldId id="423" r:id="rId51"/>
    <p:sldId id="359" r:id="rId52"/>
    <p:sldId id="357" r:id="rId53"/>
    <p:sldId id="360" r:id="rId54"/>
    <p:sldId id="361" r:id="rId55"/>
    <p:sldId id="362" r:id="rId56"/>
    <p:sldId id="363" r:id="rId57"/>
    <p:sldId id="364" r:id="rId58"/>
    <p:sldId id="424" r:id="rId59"/>
    <p:sldId id="425" r:id="rId60"/>
    <p:sldId id="426" r:id="rId61"/>
    <p:sldId id="365" r:id="rId62"/>
    <p:sldId id="370" r:id="rId63"/>
    <p:sldId id="366" r:id="rId64"/>
    <p:sldId id="427" r:id="rId65"/>
    <p:sldId id="368" r:id="rId66"/>
    <p:sldId id="376" r:id="rId67"/>
    <p:sldId id="377" r:id="rId68"/>
    <p:sldId id="371" r:id="rId69"/>
    <p:sldId id="375" r:id="rId7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81387" autoAdjust="0"/>
  </p:normalViewPr>
  <p:slideViewPr>
    <p:cSldViewPr snapToGrid="0">
      <p:cViewPr varScale="1">
        <p:scale>
          <a:sx n="80" d="100"/>
          <a:sy n="80" d="100"/>
        </p:scale>
        <p:origin x="66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9C09E9-14A4-45C6-99A8-7CC7BB07ADA9}" type="datetimeFigureOut">
              <a:rPr lang="en-US" smtClean="0"/>
              <a:t>10/30/2025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884E74-A0D6-41E3-ADF1-94BED98E59AD}" type="slidenum">
              <a:rPr lang="en-US" smtClean="0"/>
              <a:t>‹#›</a:t>
            </a:fld>
            <a:endParaRPr lang="en-US"/>
          </a:p>
        </p:txBody>
      </p:sp>
    </p:spTree>
    <p:extLst>
      <p:ext uri="{BB962C8B-B14F-4D97-AF65-F5344CB8AC3E}">
        <p14:creationId xmlns:p14="http://schemas.microsoft.com/office/powerpoint/2010/main" val="9903046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D40A0-6A14-4DC2-B961-001C9513D68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E5AE87-C35F-4C2F-AD08-D73FD39F4F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E54DA23-FCAA-4679-8BE8-72E77C4B9273}"/>
              </a:ext>
            </a:extLst>
          </p:cNvPr>
          <p:cNvSpPr>
            <a:spLocks noGrp="1"/>
          </p:cNvSpPr>
          <p:nvPr>
            <p:ph type="dt" sz="half" idx="10"/>
          </p:nvPr>
        </p:nvSpPr>
        <p:spPr/>
        <p:txBody>
          <a:bodyPr/>
          <a:lstStyle/>
          <a:p>
            <a:fld id="{AA85F197-95CA-46B4-96F1-9B899C9886E9}" type="datetime1">
              <a:rPr lang="en-US" smtClean="0"/>
              <a:t>10/30/2025</a:t>
            </a:fld>
            <a:endParaRPr lang="en-US"/>
          </a:p>
        </p:txBody>
      </p:sp>
      <p:sp>
        <p:nvSpPr>
          <p:cNvPr id="5" name="Footer Placeholder 4">
            <a:extLst>
              <a:ext uri="{FF2B5EF4-FFF2-40B4-BE49-F238E27FC236}">
                <a16:creationId xmlns:a16="http://schemas.microsoft.com/office/drawing/2014/main" id="{CE04D9E2-7802-4FC8-9E2F-99849D1CB1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637A9C-41AF-4BB3-9283-86AC21096EFA}"/>
              </a:ext>
            </a:extLst>
          </p:cNvPr>
          <p:cNvSpPr>
            <a:spLocks noGrp="1"/>
          </p:cNvSpPr>
          <p:nvPr>
            <p:ph type="sldNum" sz="quarter" idx="12"/>
          </p:nvPr>
        </p:nvSpPr>
        <p:spPr/>
        <p:txBody>
          <a:bodyPr/>
          <a:lstStyle/>
          <a:p>
            <a:fld id="{BBC13368-87E2-45D4-94DC-4C7E2F69B6F2}" type="slidenum">
              <a:rPr lang="en-US" smtClean="0"/>
              <a:t>‹#›</a:t>
            </a:fld>
            <a:endParaRPr lang="en-US"/>
          </a:p>
        </p:txBody>
      </p:sp>
    </p:spTree>
    <p:extLst>
      <p:ext uri="{BB962C8B-B14F-4D97-AF65-F5344CB8AC3E}">
        <p14:creationId xmlns:p14="http://schemas.microsoft.com/office/powerpoint/2010/main" val="4400093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84211-EE05-4884-8F04-3696F8AFE06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10C8108-2612-4681-BB7E-D89D773F8F1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2207AD-E5B1-4F11-A56E-ACC7C46D9F4E}"/>
              </a:ext>
            </a:extLst>
          </p:cNvPr>
          <p:cNvSpPr>
            <a:spLocks noGrp="1"/>
          </p:cNvSpPr>
          <p:nvPr>
            <p:ph type="dt" sz="half" idx="10"/>
          </p:nvPr>
        </p:nvSpPr>
        <p:spPr/>
        <p:txBody>
          <a:bodyPr/>
          <a:lstStyle/>
          <a:p>
            <a:fld id="{F25201B1-3964-4F67-B4A4-12F373F4AEC9}" type="datetime1">
              <a:rPr lang="en-US" smtClean="0"/>
              <a:t>10/30/2025</a:t>
            </a:fld>
            <a:endParaRPr lang="en-US"/>
          </a:p>
        </p:txBody>
      </p:sp>
      <p:sp>
        <p:nvSpPr>
          <p:cNvPr id="5" name="Footer Placeholder 4">
            <a:extLst>
              <a:ext uri="{FF2B5EF4-FFF2-40B4-BE49-F238E27FC236}">
                <a16:creationId xmlns:a16="http://schemas.microsoft.com/office/drawing/2014/main" id="{629415C8-EEA9-4C2A-9F3B-EB13A68988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AAD01F-3955-4196-BCEA-AD68EC5CED9C}"/>
              </a:ext>
            </a:extLst>
          </p:cNvPr>
          <p:cNvSpPr>
            <a:spLocks noGrp="1"/>
          </p:cNvSpPr>
          <p:nvPr>
            <p:ph type="sldNum" sz="quarter" idx="12"/>
          </p:nvPr>
        </p:nvSpPr>
        <p:spPr/>
        <p:txBody>
          <a:bodyPr/>
          <a:lstStyle/>
          <a:p>
            <a:fld id="{BBC13368-87E2-45D4-94DC-4C7E2F69B6F2}" type="slidenum">
              <a:rPr lang="en-US" smtClean="0"/>
              <a:t>‹#›</a:t>
            </a:fld>
            <a:endParaRPr lang="en-US"/>
          </a:p>
        </p:txBody>
      </p:sp>
    </p:spTree>
    <p:extLst>
      <p:ext uri="{BB962C8B-B14F-4D97-AF65-F5344CB8AC3E}">
        <p14:creationId xmlns:p14="http://schemas.microsoft.com/office/powerpoint/2010/main" val="3242474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95135-D581-4F98-B725-6486F7DA8D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B5886B-9E4C-4CFA-9699-4CE1ACAE6C2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D61DD5-0CA6-433F-8FD6-005987972957}"/>
              </a:ext>
            </a:extLst>
          </p:cNvPr>
          <p:cNvSpPr>
            <a:spLocks noGrp="1"/>
          </p:cNvSpPr>
          <p:nvPr>
            <p:ph type="dt" sz="half" idx="10"/>
          </p:nvPr>
        </p:nvSpPr>
        <p:spPr/>
        <p:txBody>
          <a:bodyPr/>
          <a:lstStyle/>
          <a:p>
            <a:fld id="{69AC5753-71B0-4087-BDBC-F67FE4160E69}" type="datetime1">
              <a:rPr lang="en-US" smtClean="0"/>
              <a:t>10/30/2025</a:t>
            </a:fld>
            <a:endParaRPr lang="en-US"/>
          </a:p>
        </p:txBody>
      </p:sp>
      <p:sp>
        <p:nvSpPr>
          <p:cNvPr id="5" name="Footer Placeholder 4">
            <a:extLst>
              <a:ext uri="{FF2B5EF4-FFF2-40B4-BE49-F238E27FC236}">
                <a16:creationId xmlns:a16="http://schemas.microsoft.com/office/drawing/2014/main" id="{67009AFE-1821-4DB9-959E-4047114A9D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28D4C6-A231-4C79-99D2-94494FD7A048}"/>
              </a:ext>
            </a:extLst>
          </p:cNvPr>
          <p:cNvSpPr>
            <a:spLocks noGrp="1"/>
          </p:cNvSpPr>
          <p:nvPr>
            <p:ph type="sldNum" sz="quarter" idx="12"/>
          </p:nvPr>
        </p:nvSpPr>
        <p:spPr/>
        <p:txBody>
          <a:bodyPr/>
          <a:lstStyle/>
          <a:p>
            <a:fld id="{BBC13368-87E2-45D4-94DC-4C7E2F69B6F2}" type="slidenum">
              <a:rPr lang="en-US" smtClean="0"/>
              <a:t>‹#›</a:t>
            </a:fld>
            <a:endParaRPr lang="en-US"/>
          </a:p>
        </p:txBody>
      </p:sp>
    </p:spTree>
    <p:extLst>
      <p:ext uri="{BB962C8B-B14F-4D97-AF65-F5344CB8AC3E}">
        <p14:creationId xmlns:p14="http://schemas.microsoft.com/office/powerpoint/2010/main" val="33270121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1339C-BFC2-4467-8529-46F6D8D11D6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544D8C6-5534-4698-A273-DB05F6B5F39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2ED41C-C070-4A39-927E-23EA8264FA7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66E58C5-9AFF-4213-A596-09C174777781}"/>
              </a:ext>
            </a:extLst>
          </p:cNvPr>
          <p:cNvSpPr>
            <a:spLocks noGrp="1"/>
          </p:cNvSpPr>
          <p:nvPr>
            <p:ph type="dt" sz="half" idx="10"/>
          </p:nvPr>
        </p:nvSpPr>
        <p:spPr/>
        <p:txBody>
          <a:bodyPr/>
          <a:lstStyle/>
          <a:p>
            <a:fld id="{BD9D796D-A51C-40BE-A693-ED8F132A0ED9}" type="datetime1">
              <a:rPr lang="en-US" smtClean="0"/>
              <a:t>10/30/2025</a:t>
            </a:fld>
            <a:endParaRPr lang="en-US"/>
          </a:p>
        </p:txBody>
      </p:sp>
      <p:sp>
        <p:nvSpPr>
          <p:cNvPr id="6" name="Footer Placeholder 5">
            <a:extLst>
              <a:ext uri="{FF2B5EF4-FFF2-40B4-BE49-F238E27FC236}">
                <a16:creationId xmlns:a16="http://schemas.microsoft.com/office/drawing/2014/main" id="{776C3A5D-24C7-4E53-8C38-7437EBB232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907114-156D-4F22-BB75-A0617F2A9AC9}"/>
              </a:ext>
            </a:extLst>
          </p:cNvPr>
          <p:cNvSpPr>
            <a:spLocks noGrp="1"/>
          </p:cNvSpPr>
          <p:nvPr>
            <p:ph type="sldNum" sz="quarter" idx="12"/>
          </p:nvPr>
        </p:nvSpPr>
        <p:spPr/>
        <p:txBody>
          <a:bodyPr/>
          <a:lstStyle/>
          <a:p>
            <a:fld id="{BBC13368-87E2-45D4-94DC-4C7E2F69B6F2}" type="slidenum">
              <a:rPr lang="en-US" smtClean="0"/>
              <a:t>‹#›</a:t>
            </a:fld>
            <a:endParaRPr lang="en-US"/>
          </a:p>
        </p:txBody>
      </p:sp>
    </p:spTree>
    <p:extLst>
      <p:ext uri="{BB962C8B-B14F-4D97-AF65-F5344CB8AC3E}">
        <p14:creationId xmlns:p14="http://schemas.microsoft.com/office/powerpoint/2010/main" val="41023793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208B6-C176-4AFC-8DEF-1EBA687EC9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CDCFFD0-248E-43D5-BE02-997D11FDF63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0E0CC39-67F6-4AB4-884A-0D3C5A4A44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42CEE79-6218-42B6-9666-71ED58B419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E99EB86-6CD3-494E-9652-49CE5040F50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0199B6-AB7A-46B0-9CFC-C64A616E1A3C}"/>
              </a:ext>
            </a:extLst>
          </p:cNvPr>
          <p:cNvSpPr>
            <a:spLocks noGrp="1"/>
          </p:cNvSpPr>
          <p:nvPr>
            <p:ph type="dt" sz="half" idx="10"/>
          </p:nvPr>
        </p:nvSpPr>
        <p:spPr/>
        <p:txBody>
          <a:bodyPr/>
          <a:lstStyle/>
          <a:p>
            <a:fld id="{445710C2-82C0-473E-89F0-A32248413CFD}" type="datetime1">
              <a:rPr lang="en-US" smtClean="0"/>
              <a:t>10/30/2025</a:t>
            </a:fld>
            <a:endParaRPr lang="en-US"/>
          </a:p>
        </p:txBody>
      </p:sp>
      <p:sp>
        <p:nvSpPr>
          <p:cNvPr id="8" name="Footer Placeholder 7">
            <a:extLst>
              <a:ext uri="{FF2B5EF4-FFF2-40B4-BE49-F238E27FC236}">
                <a16:creationId xmlns:a16="http://schemas.microsoft.com/office/drawing/2014/main" id="{8349821B-8F08-46B8-B491-DFB2980BB5C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E505734-24AF-474D-AACE-825F1AA45BBC}"/>
              </a:ext>
            </a:extLst>
          </p:cNvPr>
          <p:cNvSpPr>
            <a:spLocks noGrp="1"/>
          </p:cNvSpPr>
          <p:nvPr>
            <p:ph type="sldNum" sz="quarter" idx="12"/>
          </p:nvPr>
        </p:nvSpPr>
        <p:spPr/>
        <p:txBody>
          <a:bodyPr/>
          <a:lstStyle/>
          <a:p>
            <a:fld id="{BBC13368-87E2-45D4-94DC-4C7E2F69B6F2}" type="slidenum">
              <a:rPr lang="en-US" smtClean="0"/>
              <a:t>‹#›</a:t>
            </a:fld>
            <a:endParaRPr lang="en-US"/>
          </a:p>
        </p:txBody>
      </p:sp>
    </p:spTree>
    <p:extLst>
      <p:ext uri="{BB962C8B-B14F-4D97-AF65-F5344CB8AC3E}">
        <p14:creationId xmlns:p14="http://schemas.microsoft.com/office/powerpoint/2010/main" val="352114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DFAB6-9E45-44E1-8AAD-3756C932A3F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B8DE234-3308-4ADE-8121-52BEAB1D1657}"/>
              </a:ext>
            </a:extLst>
          </p:cNvPr>
          <p:cNvSpPr>
            <a:spLocks noGrp="1"/>
          </p:cNvSpPr>
          <p:nvPr>
            <p:ph type="dt" sz="half" idx="10"/>
          </p:nvPr>
        </p:nvSpPr>
        <p:spPr/>
        <p:txBody>
          <a:bodyPr/>
          <a:lstStyle/>
          <a:p>
            <a:fld id="{2C046F5A-FE93-47F5-BE74-DC0436316DFC}" type="datetime1">
              <a:rPr lang="en-US" smtClean="0"/>
              <a:t>10/30/2025</a:t>
            </a:fld>
            <a:endParaRPr lang="en-US"/>
          </a:p>
        </p:txBody>
      </p:sp>
      <p:sp>
        <p:nvSpPr>
          <p:cNvPr id="4" name="Footer Placeholder 3">
            <a:extLst>
              <a:ext uri="{FF2B5EF4-FFF2-40B4-BE49-F238E27FC236}">
                <a16:creationId xmlns:a16="http://schemas.microsoft.com/office/drawing/2014/main" id="{6A89F5AF-DD67-467C-80C0-F2580A68F5E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EB8A2DD-C06D-4773-9287-09DCA3310068}"/>
              </a:ext>
            </a:extLst>
          </p:cNvPr>
          <p:cNvSpPr>
            <a:spLocks noGrp="1"/>
          </p:cNvSpPr>
          <p:nvPr>
            <p:ph type="sldNum" sz="quarter" idx="12"/>
          </p:nvPr>
        </p:nvSpPr>
        <p:spPr/>
        <p:txBody>
          <a:bodyPr/>
          <a:lstStyle/>
          <a:p>
            <a:fld id="{BBC13368-87E2-45D4-94DC-4C7E2F69B6F2}" type="slidenum">
              <a:rPr lang="en-US" smtClean="0"/>
              <a:t>‹#›</a:t>
            </a:fld>
            <a:endParaRPr lang="en-US"/>
          </a:p>
        </p:txBody>
      </p:sp>
    </p:spTree>
    <p:extLst>
      <p:ext uri="{BB962C8B-B14F-4D97-AF65-F5344CB8AC3E}">
        <p14:creationId xmlns:p14="http://schemas.microsoft.com/office/powerpoint/2010/main" val="32139053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F3992C-1008-48FB-B94E-F8DBBDC4CD4B}"/>
              </a:ext>
            </a:extLst>
          </p:cNvPr>
          <p:cNvSpPr>
            <a:spLocks noGrp="1"/>
          </p:cNvSpPr>
          <p:nvPr>
            <p:ph type="dt" sz="half" idx="10"/>
          </p:nvPr>
        </p:nvSpPr>
        <p:spPr/>
        <p:txBody>
          <a:bodyPr/>
          <a:lstStyle/>
          <a:p>
            <a:fld id="{D84F1168-0950-47D7-B701-BF99E0ABFB96}" type="datetime1">
              <a:rPr lang="en-US" smtClean="0"/>
              <a:t>10/30/2025</a:t>
            </a:fld>
            <a:endParaRPr lang="en-US"/>
          </a:p>
        </p:txBody>
      </p:sp>
      <p:sp>
        <p:nvSpPr>
          <p:cNvPr id="3" name="Footer Placeholder 2">
            <a:extLst>
              <a:ext uri="{FF2B5EF4-FFF2-40B4-BE49-F238E27FC236}">
                <a16:creationId xmlns:a16="http://schemas.microsoft.com/office/drawing/2014/main" id="{39517C32-0889-480B-BA86-811E002E83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5FE60F9-5553-463E-95E3-2ED60866CE99}"/>
              </a:ext>
            </a:extLst>
          </p:cNvPr>
          <p:cNvSpPr>
            <a:spLocks noGrp="1"/>
          </p:cNvSpPr>
          <p:nvPr>
            <p:ph type="sldNum" sz="quarter" idx="12"/>
          </p:nvPr>
        </p:nvSpPr>
        <p:spPr/>
        <p:txBody>
          <a:bodyPr/>
          <a:lstStyle/>
          <a:p>
            <a:fld id="{BBC13368-87E2-45D4-94DC-4C7E2F69B6F2}" type="slidenum">
              <a:rPr lang="en-US" smtClean="0"/>
              <a:t>‹#›</a:t>
            </a:fld>
            <a:endParaRPr lang="en-US"/>
          </a:p>
        </p:txBody>
      </p:sp>
    </p:spTree>
    <p:extLst>
      <p:ext uri="{BB962C8B-B14F-4D97-AF65-F5344CB8AC3E}">
        <p14:creationId xmlns:p14="http://schemas.microsoft.com/office/powerpoint/2010/main" val="3267819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3A2A1-3525-4965-AB1C-AE11E854BD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99992DF-6D87-4418-BD64-ECA26A003B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83C9F12-751B-428D-8A71-6A09DCA7E6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8B4E92-9E43-4720-8E55-A0D279EBBB0A}"/>
              </a:ext>
            </a:extLst>
          </p:cNvPr>
          <p:cNvSpPr>
            <a:spLocks noGrp="1"/>
          </p:cNvSpPr>
          <p:nvPr>
            <p:ph type="dt" sz="half" idx="10"/>
          </p:nvPr>
        </p:nvSpPr>
        <p:spPr/>
        <p:txBody>
          <a:bodyPr/>
          <a:lstStyle/>
          <a:p>
            <a:fld id="{CB1E66DA-BD37-4027-9F56-52AA6A68F076}" type="datetime1">
              <a:rPr lang="en-US" smtClean="0"/>
              <a:t>10/30/2025</a:t>
            </a:fld>
            <a:endParaRPr lang="en-US"/>
          </a:p>
        </p:txBody>
      </p:sp>
      <p:sp>
        <p:nvSpPr>
          <p:cNvPr id="6" name="Footer Placeholder 5">
            <a:extLst>
              <a:ext uri="{FF2B5EF4-FFF2-40B4-BE49-F238E27FC236}">
                <a16:creationId xmlns:a16="http://schemas.microsoft.com/office/drawing/2014/main" id="{12DCA06E-7C01-4259-A560-D4DE0FE696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43108F-C22A-4665-AFC7-3B361DBA00CC}"/>
              </a:ext>
            </a:extLst>
          </p:cNvPr>
          <p:cNvSpPr>
            <a:spLocks noGrp="1"/>
          </p:cNvSpPr>
          <p:nvPr>
            <p:ph type="sldNum" sz="quarter" idx="12"/>
          </p:nvPr>
        </p:nvSpPr>
        <p:spPr/>
        <p:txBody>
          <a:bodyPr/>
          <a:lstStyle/>
          <a:p>
            <a:fld id="{BBC13368-87E2-45D4-94DC-4C7E2F69B6F2}" type="slidenum">
              <a:rPr lang="en-US" smtClean="0"/>
              <a:t>‹#›</a:t>
            </a:fld>
            <a:endParaRPr lang="en-US"/>
          </a:p>
        </p:txBody>
      </p:sp>
    </p:spTree>
    <p:extLst>
      <p:ext uri="{BB962C8B-B14F-4D97-AF65-F5344CB8AC3E}">
        <p14:creationId xmlns:p14="http://schemas.microsoft.com/office/powerpoint/2010/main" val="1453186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E2D93-277D-45AD-8CC9-1A254ACA84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23FBEC7-6A3F-404A-BF0E-75CBCA6397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B4BFBCF-2423-4852-B930-D8F0D126C3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C7F99F-EF58-4759-AD06-EFC2B27BB50C}"/>
              </a:ext>
            </a:extLst>
          </p:cNvPr>
          <p:cNvSpPr>
            <a:spLocks noGrp="1"/>
          </p:cNvSpPr>
          <p:nvPr>
            <p:ph type="dt" sz="half" idx="10"/>
          </p:nvPr>
        </p:nvSpPr>
        <p:spPr/>
        <p:txBody>
          <a:bodyPr/>
          <a:lstStyle/>
          <a:p>
            <a:fld id="{8F8A33A8-CBEA-4B30-A299-4E1B1F92A5D3}" type="datetime1">
              <a:rPr lang="en-US" smtClean="0"/>
              <a:t>10/30/2025</a:t>
            </a:fld>
            <a:endParaRPr lang="en-US"/>
          </a:p>
        </p:txBody>
      </p:sp>
      <p:sp>
        <p:nvSpPr>
          <p:cNvPr id="6" name="Footer Placeholder 5">
            <a:extLst>
              <a:ext uri="{FF2B5EF4-FFF2-40B4-BE49-F238E27FC236}">
                <a16:creationId xmlns:a16="http://schemas.microsoft.com/office/drawing/2014/main" id="{78476BE7-3C01-4501-A5B0-1099B474CB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7F5465-21A3-4983-A70A-A40EED10D632}"/>
              </a:ext>
            </a:extLst>
          </p:cNvPr>
          <p:cNvSpPr>
            <a:spLocks noGrp="1"/>
          </p:cNvSpPr>
          <p:nvPr>
            <p:ph type="sldNum" sz="quarter" idx="12"/>
          </p:nvPr>
        </p:nvSpPr>
        <p:spPr/>
        <p:txBody>
          <a:bodyPr/>
          <a:lstStyle/>
          <a:p>
            <a:fld id="{BBC13368-87E2-45D4-94DC-4C7E2F69B6F2}" type="slidenum">
              <a:rPr lang="en-US" smtClean="0"/>
              <a:t>‹#›</a:t>
            </a:fld>
            <a:endParaRPr lang="en-US"/>
          </a:p>
        </p:txBody>
      </p:sp>
    </p:spTree>
    <p:extLst>
      <p:ext uri="{BB962C8B-B14F-4D97-AF65-F5344CB8AC3E}">
        <p14:creationId xmlns:p14="http://schemas.microsoft.com/office/powerpoint/2010/main" val="10152864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61900-43FD-44F2-BAF4-27E1B9B18D3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FD86F4-46EF-4729-8819-60FFA52BD48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F61F1B-EE0D-4A98-A59C-FE24BE0AEB85}"/>
              </a:ext>
            </a:extLst>
          </p:cNvPr>
          <p:cNvSpPr>
            <a:spLocks noGrp="1"/>
          </p:cNvSpPr>
          <p:nvPr>
            <p:ph type="dt" sz="half" idx="10"/>
          </p:nvPr>
        </p:nvSpPr>
        <p:spPr/>
        <p:txBody>
          <a:bodyPr/>
          <a:lstStyle/>
          <a:p>
            <a:fld id="{D5B79937-3C2B-41FC-8AE6-B905110FAD54}" type="datetime1">
              <a:rPr lang="en-US" smtClean="0"/>
              <a:t>10/30/2025</a:t>
            </a:fld>
            <a:endParaRPr lang="en-US"/>
          </a:p>
        </p:txBody>
      </p:sp>
      <p:sp>
        <p:nvSpPr>
          <p:cNvPr id="5" name="Footer Placeholder 4">
            <a:extLst>
              <a:ext uri="{FF2B5EF4-FFF2-40B4-BE49-F238E27FC236}">
                <a16:creationId xmlns:a16="http://schemas.microsoft.com/office/drawing/2014/main" id="{C630A5F8-CE66-436C-A014-C3A03BABD6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75B76E-B615-4A07-883D-1CE0F38BF122}"/>
              </a:ext>
            </a:extLst>
          </p:cNvPr>
          <p:cNvSpPr>
            <a:spLocks noGrp="1"/>
          </p:cNvSpPr>
          <p:nvPr>
            <p:ph type="sldNum" sz="quarter" idx="12"/>
          </p:nvPr>
        </p:nvSpPr>
        <p:spPr/>
        <p:txBody>
          <a:bodyPr/>
          <a:lstStyle/>
          <a:p>
            <a:fld id="{BBC13368-87E2-45D4-94DC-4C7E2F69B6F2}" type="slidenum">
              <a:rPr lang="en-US" smtClean="0"/>
              <a:t>‹#›</a:t>
            </a:fld>
            <a:endParaRPr lang="en-US"/>
          </a:p>
        </p:txBody>
      </p:sp>
    </p:spTree>
    <p:extLst>
      <p:ext uri="{BB962C8B-B14F-4D97-AF65-F5344CB8AC3E}">
        <p14:creationId xmlns:p14="http://schemas.microsoft.com/office/powerpoint/2010/main" val="2928242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951FBB-507E-4F4C-8D1E-C0F83724C2B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6F44820-4BD1-4780-B0B9-2AACEFDCD3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3A1BF3-B713-4AFF-9CB0-E8179E1C5B33}"/>
              </a:ext>
            </a:extLst>
          </p:cNvPr>
          <p:cNvSpPr>
            <a:spLocks noGrp="1"/>
          </p:cNvSpPr>
          <p:nvPr>
            <p:ph type="dt" sz="half" idx="10"/>
          </p:nvPr>
        </p:nvSpPr>
        <p:spPr/>
        <p:txBody>
          <a:bodyPr/>
          <a:lstStyle/>
          <a:p>
            <a:fld id="{33531A41-7557-4639-82C5-8ADC75AA5B3B}" type="datetime1">
              <a:rPr lang="en-US" smtClean="0"/>
              <a:t>10/30/2025</a:t>
            </a:fld>
            <a:endParaRPr lang="en-US"/>
          </a:p>
        </p:txBody>
      </p:sp>
      <p:sp>
        <p:nvSpPr>
          <p:cNvPr id="5" name="Footer Placeholder 4">
            <a:extLst>
              <a:ext uri="{FF2B5EF4-FFF2-40B4-BE49-F238E27FC236}">
                <a16:creationId xmlns:a16="http://schemas.microsoft.com/office/drawing/2014/main" id="{C8E4064E-D194-4BC4-9AB5-88AF14A70D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986F4D-1D58-4ED5-981D-99B82124E01E}"/>
              </a:ext>
            </a:extLst>
          </p:cNvPr>
          <p:cNvSpPr>
            <a:spLocks noGrp="1"/>
          </p:cNvSpPr>
          <p:nvPr>
            <p:ph type="sldNum" sz="quarter" idx="12"/>
          </p:nvPr>
        </p:nvSpPr>
        <p:spPr/>
        <p:txBody>
          <a:bodyPr/>
          <a:lstStyle/>
          <a:p>
            <a:fld id="{BBC13368-87E2-45D4-94DC-4C7E2F69B6F2}" type="slidenum">
              <a:rPr lang="en-US" smtClean="0"/>
              <a:t>‹#›</a:t>
            </a:fld>
            <a:endParaRPr lang="en-US"/>
          </a:p>
        </p:txBody>
      </p:sp>
    </p:spTree>
    <p:extLst>
      <p:ext uri="{BB962C8B-B14F-4D97-AF65-F5344CB8AC3E}">
        <p14:creationId xmlns:p14="http://schemas.microsoft.com/office/powerpoint/2010/main" val="25244007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69B0B8B-81DC-4FC7-A26D-A9DAA0B36F29}" type="datetime1">
              <a:rPr lang="en-US" smtClean="0"/>
              <a:t>10/30/2025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529A1F-6900-4D36-92AC-B7647C1D9DDB}" type="slidenum">
              <a:rPr lang="en-US" smtClean="0"/>
              <a:t>‹#›</a:t>
            </a:fld>
            <a:endParaRPr lang="en-US"/>
          </a:p>
        </p:txBody>
      </p:sp>
    </p:spTree>
    <p:extLst>
      <p:ext uri="{BB962C8B-B14F-4D97-AF65-F5344CB8AC3E}">
        <p14:creationId xmlns:p14="http://schemas.microsoft.com/office/powerpoint/2010/main" val="23231976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D8C70D-D64B-4C37-AB2E-062D1498514C}" type="datetime1">
              <a:rPr lang="en-US" smtClean="0"/>
              <a:t>10/30/2025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529A1F-6900-4D36-92AC-B7647C1D9DDB}" type="slidenum">
              <a:rPr lang="en-US" smtClean="0"/>
              <a:t>‹#›</a:t>
            </a:fld>
            <a:endParaRPr lang="en-US"/>
          </a:p>
        </p:txBody>
      </p:sp>
    </p:spTree>
    <p:extLst>
      <p:ext uri="{BB962C8B-B14F-4D97-AF65-F5344CB8AC3E}">
        <p14:creationId xmlns:p14="http://schemas.microsoft.com/office/powerpoint/2010/main" val="39331110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A68D70A-E077-46F4-830F-D1E8844E8FDF}" type="datetime1">
              <a:rPr lang="en-US" smtClean="0"/>
              <a:t>10/30/2025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529A1F-6900-4D36-92AC-B7647C1D9DDB}" type="slidenum">
              <a:rPr lang="en-US" smtClean="0"/>
              <a:t>‹#›</a:t>
            </a:fld>
            <a:endParaRPr lang="en-US"/>
          </a:p>
        </p:txBody>
      </p:sp>
    </p:spTree>
    <p:extLst>
      <p:ext uri="{BB962C8B-B14F-4D97-AF65-F5344CB8AC3E}">
        <p14:creationId xmlns:p14="http://schemas.microsoft.com/office/powerpoint/2010/main" val="26889130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406DBA8-3544-4083-91F9-9F52356363BA}" type="datetime1">
              <a:rPr lang="en-US" smtClean="0"/>
              <a:t>10/30/2025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529A1F-6900-4D36-92AC-B7647C1D9DDB}" type="slidenum">
              <a:rPr lang="en-US" smtClean="0"/>
              <a:t>‹#›</a:t>
            </a:fld>
            <a:endParaRPr lang="en-US"/>
          </a:p>
        </p:txBody>
      </p:sp>
    </p:spTree>
    <p:extLst>
      <p:ext uri="{BB962C8B-B14F-4D97-AF65-F5344CB8AC3E}">
        <p14:creationId xmlns:p14="http://schemas.microsoft.com/office/powerpoint/2010/main" val="19650526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EC64468-67CC-4131-940F-0BB95B30E4BB}" type="datetime1">
              <a:rPr lang="en-US" smtClean="0"/>
              <a:t>10/30/2025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C529A1F-6900-4D36-92AC-B7647C1D9DDB}" type="slidenum">
              <a:rPr lang="en-US" smtClean="0"/>
              <a:t>‹#›</a:t>
            </a:fld>
            <a:endParaRPr lang="en-US"/>
          </a:p>
        </p:txBody>
      </p:sp>
    </p:spTree>
    <p:extLst>
      <p:ext uri="{BB962C8B-B14F-4D97-AF65-F5344CB8AC3E}">
        <p14:creationId xmlns:p14="http://schemas.microsoft.com/office/powerpoint/2010/main" val="28856876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0255176-4251-4BC6-9F5C-77AE742AA81E}" type="datetime1">
              <a:rPr lang="en-US" smtClean="0"/>
              <a:t>10/30/2025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C529A1F-6900-4D36-92AC-B7647C1D9DDB}" type="slidenum">
              <a:rPr lang="en-US" smtClean="0"/>
              <a:t>‹#›</a:t>
            </a:fld>
            <a:endParaRPr lang="en-US"/>
          </a:p>
        </p:txBody>
      </p:sp>
    </p:spTree>
    <p:extLst>
      <p:ext uri="{BB962C8B-B14F-4D97-AF65-F5344CB8AC3E}">
        <p14:creationId xmlns:p14="http://schemas.microsoft.com/office/powerpoint/2010/main" val="16590488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A63C91-7E31-45BA-A560-45CFC057ADB8}" type="datetime1">
              <a:rPr lang="en-US" smtClean="0"/>
              <a:t>10/30/2025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C529A1F-6900-4D36-92AC-B7647C1D9DDB}" type="slidenum">
              <a:rPr lang="en-US" smtClean="0"/>
              <a:t>‹#›</a:t>
            </a:fld>
            <a:endParaRPr lang="en-US"/>
          </a:p>
        </p:txBody>
      </p:sp>
    </p:spTree>
    <p:extLst>
      <p:ext uri="{BB962C8B-B14F-4D97-AF65-F5344CB8AC3E}">
        <p14:creationId xmlns:p14="http://schemas.microsoft.com/office/powerpoint/2010/main" val="30645032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74F5087-D9CB-45F6-951E-397F321F223A}" type="datetime1">
              <a:rPr lang="en-US" smtClean="0"/>
              <a:t>10/30/2025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529A1F-6900-4D36-92AC-B7647C1D9DDB}" type="slidenum">
              <a:rPr lang="en-US" smtClean="0"/>
              <a:t>‹#›</a:t>
            </a:fld>
            <a:endParaRPr lang="en-US"/>
          </a:p>
        </p:txBody>
      </p:sp>
    </p:spTree>
    <p:extLst>
      <p:ext uri="{BB962C8B-B14F-4D97-AF65-F5344CB8AC3E}">
        <p14:creationId xmlns:p14="http://schemas.microsoft.com/office/powerpoint/2010/main" val="25989966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96AF34A-E5F0-474B-83AC-5BD3BED6D761}" type="datetime1">
              <a:rPr lang="en-US" smtClean="0"/>
              <a:t>10/30/2025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529A1F-6900-4D36-92AC-B7647C1D9DDB}" type="slidenum">
              <a:rPr lang="en-US" smtClean="0"/>
              <a:t>‹#›</a:t>
            </a:fld>
            <a:endParaRPr lang="en-US"/>
          </a:p>
        </p:txBody>
      </p:sp>
    </p:spTree>
    <p:extLst>
      <p:ext uri="{BB962C8B-B14F-4D97-AF65-F5344CB8AC3E}">
        <p14:creationId xmlns:p14="http://schemas.microsoft.com/office/powerpoint/2010/main" val="5939910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ED50C1-BE7B-4B29-9B5F-D06B3C290356}" type="datetime1">
              <a:rPr lang="en-US" smtClean="0"/>
              <a:t>10/30/2025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529A1F-6900-4D36-92AC-B7647C1D9DDB}" type="slidenum">
              <a:rPr lang="en-US" smtClean="0"/>
              <a:t>‹#›</a:t>
            </a:fld>
            <a:endParaRPr lang="en-US"/>
          </a:p>
        </p:txBody>
      </p:sp>
    </p:spTree>
    <p:extLst>
      <p:ext uri="{BB962C8B-B14F-4D97-AF65-F5344CB8AC3E}">
        <p14:creationId xmlns:p14="http://schemas.microsoft.com/office/powerpoint/2010/main" val="1672763917"/>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ED50C1-BE7B-4B29-9B5F-D06B3C290356}" type="datetime1">
              <a:rPr lang="en-US" smtClean="0"/>
              <a:t>10/30/2025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529A1F-6900-4D36-92AC-B7647C1D9DDB}"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67147520"/>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ED50C1-BE7B-4B29-9B5F-D06B3C290356}" type="datetime1">
              <a:rPr lang="en-US" smtClean="0"/>
              <a:t>10/30/2025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529A1F-6900-4D36-92AC-B7647C1D9DDB}" type="slidenum">
              <a:rPr lang="en-US" smtClean="0"/>
              <a:t>‹#›</a:t>
            </a:fld>
            <a:endParaRPr lang="en-US"/>
          </a:p>
        </p:txBody>
      </p:sp>
    </p:spTree>
    <p:extLst>
      <p:ext uri="{BB962C8B-B14F-4D97-AF65-F5344CB8AC3E}">
        <p14:creationId xmlns:p14="http://schemas.microsoft.com/office/powerpoint/2010/main" val="555338009"/>
      </p:ext>
    </p:extLst>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ED50C1-BE7B-4B29-9B5F-D06B3C290356}" type="datetime1">
              <a:rPr lang="en-US" smtClean="0"/>
              <a:t>10/30/2025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529A1F-6900-4D36-92AC-B7647C1D9DDB}"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630766313"/>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ED50C1-BE7B-4B29-9B5F-D06B3C290356}" type="datetime1">
              <a:rPr lang="en-US" smtClean="0"/>
              <a:t>10/30/2025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529A1F-6900-4D36-92AC-B7647C1D9DDB}" type="slidenum">
              <a:rPr lang="en-US" smtClean="0"/>
              <a:t>‹#›</a:t>
            </a:fld>
            <a:endParaRPr lang="en-US"/>
          </a:p>
        </p:txBody>
      </p:sp>
    </p:spTree>
    <p:extLst>
      <p:ext uri="{BB962C8B-B14F-4D97-AF65-F5344CB8AC3E}">
        <p14:creationId xmlns:p14="http://schemas.microsoft.com/office/powerpoint/2010/main" val="2979787714"/>
      </p:ext>
    </p:extLst>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8E711B-57F6-4535-B099-9C9E95709484}" type="datetime1">
              <a:rPr lang="en-US" smtClean="0"/>
              <a:t>10/30/2025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529A1F-6900-4D36-92AC-B7647C1D9DDB}" type="slidenum">
              <a:rPr lang="en-US" smtClean="0"/>
              <a:t>‹#›</a:t>
            </a:fld>
            <a:endParaRPr lang="en-US"/>
          </a:p>
        </p:txBody>
      </p:sp>
    </p:spTree>
    <p:extLst>
      <p:ext uri="{BB962C8B-B14F-4D97-AF65-F5344CB8AC3E}">
        <p14:creationId xmlns:p14="http://schemas.microsoft.com/office/powerpoint/2010/main" val="23907596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1496ED-C82C-4AC4-B022-640852E90AEA}" type="datetime1">
              <a:rPr lang="en-US" smtClean="0"/>
              <a:t>10/30/2025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529A1F-6900-4D36-92AC-B7647C1D9DDB}" type="slidenum">
              <a:rPr lang="en-US" smtClean="0"/>
              <a:t>‹#›</a:t>
            </a:fld>
            <a:endParaRPr lang="en-US"/>
          </a:p>
        </p:txBody>
      </p:sp>
    </p:spTree>
    <p:extLst>
      <p:ext uri="{BB962C8B-B14F-4D97-AF65-F5344CB8AC3E}">
        <p14:creationId xmlns:p14="http://schemas.microsoft.com/office/powerpoint/2010/main" val="34375427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AA1018-6A69-4704-B20A-8CF82212C77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BB7DABA-4B41-4D66-B028-8FDC949C8A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274EF3-AC51-413E-97E4-8416CE649D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625E35-F23F-4604-A3DB-1E2E490A81C2}" type="datetime1">
              <a:rPr lang="en-US" smtClean="0"/>
              <a:t>10/30/2025</a:t>
            </a:fld>
            <a:endParaRPr lang="en-US"/>
          </a:p>
        </p:txBody>
      </p:sp>
      <p:sp>
        <p:nvSpPr>
          <p:cNvPr id="5" name="Footer Placeholder 4">
            <a:extLst>
              <a:ext uri="{FF2B5EF4-FFF2-40B4-BE49-F238E27FC236}">
                <a16:creationId xmlns:a16="http://schemas.microsoft.com/office/drawing/2014/main" id="{E8DFAE2E-B5E1-4BA7-85D2-CC6A7E982B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1181916-F929-469B-ADED-E173BBF2F1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C13368-87E2-45D4-94DC-4C7E2F69B6F2}" type="slidenum">
              <a:rPr lang="en-US" smtClean="0"/>
              <a:t>‹#›</a:t>
            </a:fld>
            <a:endParaRPr lang="en-US" dirty="0"/>
          </a:p>
        </p:txBody>
      </p:sp>
    </p:spTree>
    <p:extLst>
      <p:ext uri="{BB962C8B-B14F-4D97-AF65-F5344CB8AC3E}">
        <p14:creationId xmlns:p14="http://schemas.microsoft.com/office/powerpoint/2010/main" val="1096462183"/>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8ED50C1-BE7B-4B29-9B5F-D06B3C290356}" type="datetime1">
              <a:rPr lang="en-US" smtClean="0"/>
              <a:t>10/30/2025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C529A1F-6900-4D36-92AC-B7647C1D9DDB}" type="slidenum">
              <a:rPr lang="en-US" smtClean="0"/>
              <a:t>‹#›</a:t>
            </a:fld>
            <a:endParaRPr lang="en-US"/>
          </a:p>
        </p:txBody>
      </p:sp>
    </p:spTree>
    <p:extLst>
      <p:ext uri="{BB962C8B-B14F-4D97-AF65-F5344CB8AC3E}">
        <p14:creationId xmlns:p14="http://schemas.microsoft.com/office/powerpoint/2010/main" val="2631679533"/>
      </p:ext>
    </p:extLst>
  </p:cSld>
  <p:clrMap bg1="lt1" tx1="dk1" bg2="lt2" tx2="dk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 id="2147483778" r:id="rId12"/>
    <p:sldLayoutId id="2147483779" r:id="rId13"/>
    <p:sldLayoutId id="2147483780" r:id="rId14"/>
    <p:sldLayoutId id="2147483781" r:id="rId15"/>
    <p:sldLayoutId id="2147483782" r:id="rId16"/>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hyperlink" Target="https://builtin.com/data-science/confidence-intervals-explained" TargetMode="External"/><Relationship Id="rId2" Type="http://schemas.openxmlformats.org/officeDocument/2006/relationships/image" Target="../media/image22.jpeg"/><Relationship Id="rId1" Type="http://schemas.openxmlformats.org/officeDocument/2006/relationships/slideLayout" Target="../slideLayouts/slideLayout13.xml"/><Relationship Id="rId4" Type="http://schemas.openxmlformats.org/officeDocument/2006/relationships/image" Target="../media/image23.png"/></Relationships>
</file>

<file path=ppt/slides/_rels/slide43.xml.rels><?xml version="1.0" encoding="UTF-8" standalone="yes"?>
<Relationships xmlns="http://schemas.openxmlformats.org/package/2006/relationships"><Relationship Id="rId2" Type="http://schemas.openxmlformats.org/officeDocument/2006/relationships/image" Target="../media/image24.tmp"/><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hyperlink" Target="https://www.youtube.com/watch?v=okjYjClSjOg" TargetMode="External"/><Relationship Id="rId2" Type="http://schemas.openxmlformats.org/officeDocument/2006/relationships/hyperlink" Target="https://www.statisticshowto.com/q-q-plots/" TargetMode="External"/><Relationship Id="rId1" Type="http://schemas.openxmlformats.org/officeDocument/2006/relationships/slideLayout" Target="../slideLayouts/slideLayout13.xml"/><Relationship Id="rId4" Type="http://schemas.openxmlformats.org/officeDocument/2006/relationships/image" Target="../media/image29.png"/></Relationships>
</file>

<file path=ppt/slides/_rels/slide5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hyperlink" Target="https://www.youtube.com/watch?v=Uv6nGIgZMVw" TargetMode="External"/><Relationship Id="rId2" Type="http://schemas.openxmlformats.org/officeDocument/2006/relationships/hyperlink" Target="https://www.w3schools.com/statistics/statistics_t_table.php" TargetMode="External"/><Relationship Id="rId1" Type="http://schemas.openxmlformats.org/officeDocument/2006/relationships/slideLayout" Target="../slideLayouts/slideLayout13.xml"/><Relationship Id="rId4" Type="http://schemas.openxmlformats.org/officeDocument/2006/relationships/image" Target="../media/image37.png"/></Relationships>
</file>

<file path=ppt/slides/_rels/slide6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3.xml"/><Relationship Id="rId4" Type="http://schemas.openxmlformats.org/officeDocument/2006/relationships/image" Target="../media/image43.png"/></Relationships>
</file>

<file path=ppt/slides/_rels/slide6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5.png"/><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8.xml"/></Relationships>
</file>

<file path=ppt/slides/_rels/slide6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8AFFFA3-D2FC-4485-ABF8-56ECFCC3BE5A}"/>
              </a:ext>
            </a:extLst>
          </p:cNvPr>
          <p:cNvSpPr txBox="1">
            <a:spLocks/>
          </p:cNvSpPr>
          <p:nvPr/>
        </p:nvSpPr>
        <p:spPr>
          <a:xfrm>
            <a:off x="1659467" y="2556934"/>
            <a:ext cx="7766936" cy="1646302"/>
          </a:xfrm>
          <a:prstGeom prst="rect">
            <a:avLst/>
          </a:prstGeom>
        </p:spPr>
        <p:txBody>
          <a:bodyPr vert="horz" lIns="91440" tIns="45720" rIns="91440" bIns="45720" rtlCol="0" anchor="b">
            <a:normAutofit fontScale="90000" lnSpcReduction="20000"/>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spcBef>
                <a:spcPts val="4800"/>
              </a:spcBef>
            </a:pPr>
            <a:r>
              <a:rPr lang="en-US" sz="4900" dirty="0">
                <a:solidFill>
                  <a:srgbClr val="90C226"/>
                </a:solidFill>
              </a:rPr>
              <a:t>Data &amp; Sampling Distribution</a:t>
            </a:r>
            <a:br>
              <a:rPr lang="en-US" sz="4900" dirty="0">
                <a:solidFill>
                  <a:srgbClr val="90C226"/>
                </a:solidFill>
              </a:rPr>
            </a:br>
            <a:r>
              <a:rPr lang="en-US" sz="2700" dirty="0">
                <a:solidFill>
                  <a:srgbClr val="90C226"/>
                </a:solidFill>
              </a:rPr>
              <a:t>Unit 02 Lecture 04</a:t>
            </a:r>
            <a:br>
              <a:rPr lang="en-US" dirty="0">
                <a:solidFill>
                  <a:srgbClr val="90C226"/>
                </a:solidFill>
              </a:rPr>
            </a:br>
            <a:endParaRPr lang="en-US" dirty="0">
              <a:solidFill>
                <a:srgbClr val="90C226"/>
              </a:solidFill>
            </a:endParaRPr>
          </a:p>
        </p:txBody>
      </p:sp>
      <p:sp>
        <p:nvSpPr>
          <p:cNvPr id="7" name="Subtitle 2">
            <a:extLst>
              <a:ext uri="{FF2B5EF4-FFF2-40B4-BE49-F238E27FC236}">
                <a16:creationId xmlns:a16="http://schemas.microsoft.com/office/drawing/2014/main" id="{E0C3BD14-3D28-4B9E-A32C-59118B1FBF1E}"/>
              </a:ext>
            </a:extLst>
          </p:cNvPr>
          <p:cNvSpPr txBox="1">
            <a:spLocks/>
          </p:cNvSpPr>
          <p:nvPr/>
        </p:nvSpPr>
        <p:spPr>
          <a:xfrm>
            <a:off x="1659467" y="4203233"/>
            <a:ext cx="7766936" cy="1096899"/>
          </a:xfrm>
          <a:prstGeom prst="rect">
            <a:avLst/>
          </a:prstGeom>
        </p:spPr>
        <p:txBody>
          <a:bodyPr vert="horz" lIns="91440" tIns="45720" rIns="91440" bIns="45720" rtlCol="0" anchor="t">
            <a:normAutofit/>
          </a:bodyPr>
          <a:lstStyle>
            <a:lvl1pPr marL="0" indent="0" algn="r" defTabSz="457200"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a:buClr>
                <a:srgbClr val="90C226"/>
              </a:buClr>
            </a:pPr>
            <a:r>
              <a:rPr lang="en-US" dirty="0">
                <a:solidFill>
                  <a:prstClr val="black">
                    <a:lumMod val="50000"/>
                    <a:lumOff val="50000"/>
                  </a:prstClr>
                </a:solidFill>
              </a:rPr>
              <a:t>Dr Muhammad Ismail Mangrio</a:t>
            </a:r>
          </a:p>
        </p:txBody>
      </p:sp>
    </p:spTree>
    <p:extLst>
      <p:ext uri="{BB962C8B-B14F-4D97-AF65-F5344CB8AC3E}">
        <p14:creationId xmlns:p14="http://schemas.microsoft.com/office/powerpoint/2010/main" val="15326489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F7380-475E-4EC8-BCF1-FF3771C6DA48}"/>
              </a:ext>
            </a:extLst>
          </p:cNvPr>
          <p:cNvSpPr>
            <a:spLocks noGrp="1"/>
          </p:cNvSpPr>
          <p:nvPr>
            <p:ph type="title"/>
          </p:nvPr>
        </p:nvSpPr>
        <p:spPr>
          <a:xfrm>
            <a:off x="779075" y="293567"/>
            <a:ext cx="9875520" cy="1356360"/>
          </a:xfrm>
        </p:spPr>
        <p:txBody>
          <a:bodyPr/>
          <a:lstStyle/>
          <a:p>
            <a:r>
              <a:rPr lang="en-US" sz="4400" b="0" i="0" dirty="0">
                <a:solidFill>
                  <a:schemeClr val="accent2"/>
                </a:solidFill>
                <a:effectLst/>
                <a:latin typeface="FranklinGothic-DemiItal"/>
              </a:rPr>
              <a:t>Contents</a:t>
            </a:r>
            <a:endParaRPr lang="en-US" dirty="0">
              <a:solidFill>
                <a:schemeClr val="accent2"/>
              </a:solidFill>
            </a:endParaRPr>
          </a:p>
        </p:txBody>
      </p:sp>
      <p:sp>
        <p:nvSpPr>
          <p:cNvPr id="3" name="Content Placeholder 2">
            <a:extLst>
              <a:ext uri="{FF2B5EF4-FFF2-40B4-BE49-F238E27FC236}">
                <a16:creationId xmlns:a16="http://schemas.microsoft.com/office/drawing/2014/main" id="{5F4391AE-0FD7-4CD8-B503-7346B38F122D}"/>
              </a:ext>
            </a:extLst>
          </p:cNvPr>
          <p:cNvSpPr>
            <a:spLocks noGrp="1"/>
          </p:cNvSpPr>
          <p:nvPr>
            <p:ph idx="1"/>
          </p:nvPr>
        </p:nvSpPr>
        <p:spPr>
          <a:xfrm>
            <a:off x="307819" y="932507"/>
            <a:ext cx="11884182" cy="5867304"/>
          </a:xfrm>
        </p:spPr>
        <p:txBody>
          <a:bodyPr>
            <a:noAutofit/>
          </a:bodyPr>
          <a:lstStyle/>
          <a:p>
            <a:pPr>
              <a:spcBef>
                <a:spcPts val="300"/>
              </a:spcBef>
              <a:buFont typeface="Wingdings" panose="05000000000000000000" pitchFamily="2" charset="2"/>
              <a:buChar char="Ø"/>
            </a:pPr>
            <a:r>
              <a:rPr lang="en-GB" sz="1250" dirty="0">
                <a:solidFill>
                  <a:schemeClr val="tx1"/>
                </a:solidFill>
                <a:latin typeface="Times New Roman" panose="02020603050405020304" pitchFamily="18" charset="0"/>
                <a:cs typeface="Times New Roman" panose="02020603050405020304" pitchFamily="18" charset="0"/>
              </a:rPr>
              <a:t>Random Sampling and Sample Bias</a:t>
            </a:r>
          </a:p>
          <a:p>
            <a:pPr lvl="1">
              <a:spcBef>
                <a:spcPts val="300"/>
              </a:spcBef>
              <a:buFont typeface="Wingdings" panose="05000000000000000000" pitchFamily="2" charset="2"/>
              <a:buChar char="Ø"/>
            </a:pPr>
            <a:r>
              <a:rPr lang="en-GB" sz="1250" dirty="0">
                <a:solidFill>
                  <a:schemeClr val="tx1"/>
                </a:solidFill>
                <a:latin typeface="Times New Roman" panose="02020603050405020304" pitchFamily="18" charset="0"/>
                <a:cs typeface="Times New Roman" panose="02020603050405020304" pitchFamily="18" charset="0"/>
              </a:rPr>
              <a:t>Bias </a:t>
            </a:r>
          </a:p>
          <a:p>
            <a:pPr lvl="1">
              <a:spcBef>
                <a:spcPts val="300"/>
              </a:spcBef>
              <a:buFont typeface="Wingdings" panose="05000000000000000000" pitchFamily="2" charset="2"/>
              <a:buChar char="Ø"/>
            </a:pPr>
            <a:r>
              <a:rPr lang="en-GB" sz="1250" dirty="0">
                <a:solidFill>
                  <a:schemeClr val="tx1"/>
                </a:solidFill>
                <a:latin typeface="Times New Roman" panose="02020603050405020304" pitchFamily="18" charset="0"/>
                <a:cs typeface="Times New Roman" panose="02020603050405020304" pitchFamily="18" charset="0"/>
              </a:rPr>
              <a:t>Random Selection</a:t>
            </a:r>
          </a:p>
          <a:p>
            <a:pPr lvl="1">
              <a:spcBef>
                <a:spcPts val="300"/>
              </a:spcBef>
              <a:buFont typeface="Wingdings" panose="05000000000000000000" pitchFamily="2" charset="2"/>
              <a:buChar char="Ø"/>
            </a:pPr>
            <a:r>
              <a:rPr lang="en-GB" sz="1250" dirty="0">
                <a:solidFill>
                  <a:schemeClr val="tx1"/>
                </a:solidFill>
                <a:latin typeface="Times New Roman" panose="02020603050405020304" pitchFamily="18" charset="0"/>
                <a:cs typeface="Times New Roman" panose="02020603050405020304" pitchFamily="18" charset="0"/>
              </a:rPr>
              <a:t>Size Versus Quality: When Does Size Matter? </a:t>
            </a:r>
          </a:p>
          <a:p>
            <a:pPr lvl="1">
              <a:spcBef>
                <a:spcPts val="300"/>
              </a:spcBef>
              <a:buFont typeface="Wingdings" panose="05000000000000000000" pitchFamily="2" charset="2"/>
              <a:buChar char="Ø"/>
            </a:pPr>
            <a:r>
              <a:rPr lang="en-GB" sz="1250" dirty="0">
                <a:solidFill>
                  <a:schemeClr val="tx1"/>
                </a:solidFill>
                <a:latin typeface="Times New Roman" panose="02020603050405020304" pitchFamily="18" charset="0"/>
                <a:cs typeface="Times New Roman" panose="02020603050405020304" pitchFamily="18" charset="0"/>
              </a:rPr>
              <a:t>Sample Mean Versus Population Mean </a:t>
            </a:r>
          </a:p>
          <a:p>
            <a:pPr>
              <a:spcBef>
                <a:spcPts val="300"/>
              </a:spcBef>
              <a:buFont typeface="Wingdings" panose="05000000000000000000" pitchFamily="2" charset="2"/>
              <a:buChar char="Ø"/>
            </a:pPr>
            <a:r>
              <a:rPr lang="en-GB" sz="1250" dirty="0">
                <a:solidFill>
                  <a:schemeClr val="tx1"/>
                </a:solidFill>
                <a:latin typeface="Times New Roman" panose="02020603050405020304" pitchFamily="18" charset="0"/>
                <a:cs typeface="Times New Roman" panose="02020603050405020304" pitchFamily="18" charset="0"/>
              </a:rPr>
              <a:t>Selection Bias </a:t>
            </a:r>
          </a:p>
          <a:p>
            <a:pPr lvl="1">
              <a:spcBef>
                <a:spcPts val="300"/>
              </a:spcBef>
              <a:buFont typeface="Wingdings" panose="05000000000000000000" pitchFamily="2" charset="2"/>
              <a:buChar char="Ø"/>
            </a:pPr>
            <a:r>
              <a:rPr lang="en-GB" sz="1250" dirty="0">
                <a:solidFill>
                  <a:schemeClr val="tx1"/>
                </a:solidFill>
                <a:latin typeface="Times New Roman" panose="02020603050405020304" pitchFamily="18" charset="0"/>
                <a:cs typeface="Times New Roman" panose="02020603050405020304" pitchFamily="18" charset="0"/>
              </a:rPr>
              <a:t>Regression to the Mean</a:t>
            </a:r>
          </a:p>
          <a:p>
            <a:pPr>
              <a:spcBef>
                <a:spcPts val="300"/>
              </a:spcBef>
              <a:buFont typeface="Wingdings" panose="05000000000000000000" pitchFamily="2" charset="2"/>
              <a:buChar char="Ø"/>
            </a:pPr>
            <a:r>
              <a:rPr lang="en-GB" sz="1250" dirty="0">
                <a:solidFill>
                  <a:schemeClr val="tx1"/>
                </a:solidFill>
                <a:latin typeface="Times New Roman" panose="02020603050405020304" pitchFamily="18" charset="0"/>
                <a:cs typeface="Times New Roman" panose="02020603050405020304" pitchFamily="18" charset="0"/>
              </a:rPr>
              <a:t>Sampling Distribution of a Statistic </a:t>
            </a:r>
          </a:p>
          <a:p>
            <a:pPr lvl="1">
              <a:spcBef>
                <a:spcPts val="300"/>
              </a:spcBef>
              <a:buFont typeface="Wingdings" panose="05000000000000000000" pitchFamily="2" charset="2"/>
              <a:buChar char="Ø"/>
            </a:pPr>
            <a:r>
              <a:rPr lang="en-GB" sz="1250" dirty="0">
                <a:solidFill>
                  <a:schemeClr val="tx1"/>
                </a:solidFill>
                <a:latin typeface="Times New Roman" panose="02020603050405020304" pitchFamily="18" charset="0"/>
                <a:cs typeface="Times New Roman" panose="02020603050405020304" pitchFamily="18" charset="0"/>
              </a:rPr>
              <a:t>Central Limit Theorem </a:t>
            </a:r>
          </a:p>
          <a:p>
            <a:pPr lvl="1">
              <a:spcBef>
                <a:spcPts val="300"/>
              </a:spcBef>
              <a:buFont typeface="Wingdings" panose="05000000000000000000" pitchFamily="2" charset="2"/>
              <a:buChar char="Ø"/>
            </a:pPr>
            <a:r>
              <a:rPr lang="en-GB" sz="1250" dirty="0">
                <a:solidFill>
                  <a:schemeClr val="tx1"/>
                </a:solidFill>
                <a:latin typeface="Times New Roman" panose="02020603050405020304" pitchFamily="18" charset="0"/>
                <a:cs typeface="Times New Roman" panose="02020603050405020304" pitchFamily="18" charset="0"/>
              </a:rPr>
              <a:t>Standard Error </a:t>
            </a:r>
          </a:p>
          <a:p>
            <a:pPr>
              <a:spcBef>
                <a:spcPts val="300"/>
              </a:spcBef>
              <a:buFont typeface="Wingdings" panose="05000000000000000000" pitchFamily="2" charset="2"/>
              <a:buChar char="Ø"/>
            </a:pPr>
            <a:r>
              <a:rPr lang="en-GB" sz="1250" dirty="0">
                <a:solidFill>
                  <a:schemeClr val="tx1"/>
                </a:solidFill>
                <a:latin typeface="Times New Roman" panose="02020603050405020304" pitchFamily="18" charset="0"/>
                <a:cs typeface="Times New Roman" panose="02020603050405020304" pitchFamily="18" charset="0"/>
              </a:rPr>
              <a:t>The Bootstrap </a:t>
            </a:r>
          </a:p>
          <a:p>
            <a:pPr lvl="1">
              <a:spcBef>
                <a:spcPts val="300"/>
              </a:spcBef>
              <a:buFont typeface="Wingdings" panose="05000000000000000000" pitchFamily="2" charset="2"/>
              <a:buChar char="Ø"/>
            </a:pPr>
            <a:r>
              <a:rPr lang="en-GB" sz="1250" dirty="0">
                <a:solidFill>
                  <a:schemeClr val="tx1"/>
                </a:solidFill>
                <a:latin typeface="Times New Roman" panose="02020603050405020304" pitchFamily="18" charset="0"/>
                <a:cs typeface="Times New Roman" panose="02020603050405020304" pitchFamily="18" charset="0"/>
              </a:rPr>
              <a:t>Resampling Versus Bootstrapping</a:t>
            </a:r>
          </a:p>
          <a:p>
            <a:pPr>
              <a:spcBef>
                <a:spcPts val="300"/>
              </a:spcBef>
              <a:buFont typeface="Wingdings" panose="05000000000000000000" pitchFamily="2" charset="2"/>
              <a:buChar char="Ø"/>
            </a:pPr>
            <a:r>
              <a:rPr lang="en-GB" sz="1250" dirty="0">
                <a:solidFill>
                  <a:schemeClr val="tx1"/>
                </a:solidFill>
                <a:latin typeface="Times New Roman" panose="02020603050405020304" pitchFamily="18" charset="0"/>
                <a:cs typeface="Times New Roman" panose="02020603050405020304" pitchFamily="18" charset="0"/>
              </a:rPr>
              <a:t>Confidence Intervals </a:t>
            </a:r>
          </a:p>
          <a:p>
            <a:pPr>
              <a:spcBef>
                <a:spcPts val="300"/>
              </a:spcBef>
              <a:buFont typeface="Wingdings" panose="05000000000000000000" pitchFamily="2" charset="2"/>
              <a:buChar char="Ø"/>
            </a:pPr>
            <a:r>
              <a:rPr lang="en-GB" sz="1250" dirty="0">
                <a:solidFill>
                  <a:schemeClr val="tx1"/>
                </a:solidFill>
                <a:latin typeface="Times New Roman" panose="02020603050405020304" pitchFamily="18" charset="0"/>
                <a:cs typeface="Times New Roman" panose="02020603050405020304" pitchFamily="18" charset="0"/>
              </a:rPr>
              <a:t>Normal Distribution </a:t>
            </a:r>
          </a:p>
          <a:p>
            <a:pPr lvl="1">
              <a:spcBef>
                <a:spcPts val="300"/>
              </a:spcBef>
              <a:buFont typeface="Wingdings" panose="05000000000000000000" pitchFamily="2" charset="2"/>
              <a:buChar char="Ø"/>
            </a:pPr>
            <a:r>
              <a:rPr lang="en-GB" sz="1250" dirty="0">
                <a:solidFill>
                  <a:schemeClr val="tx1"/>
                </a:solidFill>
                <a:latin typeface="Times New Roman" panose="02020603050405020304" pitchFamily="18" charset="0"/>
                <a:cs typeface="Times New Roman" panose="02020603050405020304" pitchFamily="18" charset="0"/>
              </a:rPr>
              <a:t>Standard Normal and QQ-Plots </a:t>
            </a:r>
          </a:p>
          <a:p>
            <a:pPr>
              <a:spcBef>
                <a:spcPts val="300"/>
              </a:spcBef>
              <a:buFont typeface="Wingdings" panose="05000000000000000000" pitchFamily="2" charset="2"/>
              <a:buChar char="Ø"/>
            </a:pPr>
            <a:r>
              <a:rPr lang="en-GB" sz="1250" dirty="0">
                <a:solidFill>
                  <a:schemeClr val="tx1"/>
                </a:solidFill>
                <a:latin typeface="Times New Roman" panose="02020603050405020304" pitchFamily="18" charset="0"/>
                <a:cs typeface="Times New Roman" panose="02020603050405020304" pitchFamily="18" charset="0"/>
              </a:rPr>
              <a:t>Long-Tailed Distributions </a:t>
            </a:r>
          </a:p>
          <a:p>
            <a:pPr>
              <a:spcBef>
                <a:spcPts val="300"/>
              </a:spcBef>
              <a:buFont typeface="Wingdings" panose="05000000000000000000" pitchFamily="2" charset="2"/>
              <a:buChar char="Ø"/>
            </a:pPr>
            <a:r>
              <a:rPr lang="en-GB" sz="1250" dirty="0">
                <a:solidFill>
                  <a:schemeClr val="tx1"/>
                </a:solidFill>
                <a:latin typeface="Times New Roman" panose="02020603050405020304" pitchFamily="18" charset="0"/>
                <a:cs typeface="Times New Roman" panose="02020603050405020304" pitchFamily="18" charset="0"/>
              </a:rPr>
              <a:t>Student’s t-Distribution </a:t>
            </a:r>
          </a:p>
          <a:p>
            <a:pPr>
              <a:spcBef>
                <a:spcPts val="300"/>
              </a:spcBef>
              <a:buFont typeface="Wingdings" panose="05000000000000000000" pitchFamily="2" charset="2"/>
              <a:buChar char="Ø"/>
            </a:pPr>
            <a:r>
              <a:rPr lang="en-GB" sz="1250" dirty="0">
                <a:solidFill>
                  <a:schemeClr val="tx1"/>
                </a:solidFill>
                <a:latin typeface="Times New Roman" panose="02020603050405020304" pitchFamily="18" charset="0"/>
                <a:cs typeface="Times New Roman" panose="02020603050405020304" pitchFamily="18" charset="0"/>
              </a:rPr>
              <a:t>Binomial Distribution</a:t>
            </a:r>
          </a:p>
          <a:p>
            <a:pPr>
              <a:spcBef>
                <a:spcPts val="300"/>
              </a:spcBef>
              <a:buFont typeface="Wingdings" panose="05000000000000000000" pitchFamily="2" charset="2"/>
              <a:buChar char="Ø"/>
            </a:pPr>
            <a:r>
              <a:rPr lang="en-GB" sz="1250" dirty="0">
                <a:solidFill>
                  <a:schemeClr val="tx1"/>
                </a:solidFill>
                <a:latin typeface="Times New Roman" panose="02020603050405020304" pitchFamily="18" charset="0"/>
                <a:cs typeface="Times New Roman" panose="02020603050405020304" pitchFamily="18" charset="0"/>
              </a:rPr>
              <a:t>Chi-Square Distribution</a:t>
            </a:r>
          </a:p>
          <a:p>
            <a:pPr>
              <a:spcBef>
                <a:spcPts val="300"/>
              </a:spcBef>
              <a:buFont typeface="Wingdings" panose="05000000000000000000" pitchFamily="2" charset="2"/>
              <a:buChar char="Ø"/>
            </a:pPr>
            <a:r>
              <a:rPr lang="en-GB" sz="1250" dirty="0">
                <a:solidFill>
                  <a:schemeClr val="tx1"/>
                </a:solidFill>
                <a:latin typeface="Times New Roman" panose="02020603050405020304" pitchFamily="18" charset="0"/>
                <a:cs typeface="Times New Roman" panose="02020603050405020304" pitchFamily="18" charset="0"/>
              </a:rPr>
              <a:t>F-Distribution</a:t>
            </a:r>
          </a:p>
          <a:p>
            <a:pPr>
              <a:spcBef>
                <a:spcPts val="300"/>
              </a:spcBef>
              <a:buFont typeface="Wingdings" panose="05000000000000000000" pitchFamily="2" charset="2"/>
              <a:buChar char="Ø"/>
            </a:pPr>
            <a:r>
              <a:rPr lang="en-GB" sz="1250" dirty="0">
                <a:solidFill>
                  <a:schemeClr val="tx1"/>
                </a:solidFill>
                <a:latin typeface="Times New Roman" panose="02020603050405020304" pitchFamily="18" charset="0"/>
                <a:cs typeface="Times New Roman" panose="02020603050405020304" pitchFamily="18" charset="0"/>
              </a:rPr>
              <a:t>Poisson and Related Distributions </a:t>
            </a:r>
          </a:p>
          <a:p>
            <a:pPr lvl="1">
              <a:spcBef>
                <a:spcPts val="300"/>
              </a:spcBef>
              <a:buFont typeface="Wingdings" panose="05000000000000000000" pitchFamily="2" charset="2"/>
              <a:buChar char="Ø"/>
            </a:pPr>
            <a:r>
              <a:rPr lang="en-GB" sz="1250" dirty="0">
                <a:solidFill>
                  <a:schemeClr val="tx1"/>
                </a:solidFill>
                <a:latin typeface="Times New Roman" panose="02020603050405020304" pitchFamily="18" charset="0"/>
                <a:cs typeface="Times New Roman" panose="02020603050405020304" pitchFamily="18" charset="0"/>
              </a:rPr>
              <a:t>Poisson Distributions </a:t>
            </a:r>
          </a:p>
          <a:p>
            <a:pPr lvl="1">
              <a:spcBef>
                <a:spcPts val="300"/>
              </a:spcBef>
              <a:buFont typeface="Wingdings" panose="05000000000000000000" pitchFamily="2" charset="2"/>
              <a:buChar char="Ø"/>
            </a:pPr>
            <a:r>
              <a:rPr lang="en-GB" sz="1250" dirty="0">
                <a:solidFill>
                  <a:schemeClr val="tx1"/>
                </a:solidFill>
                <a:latin typeface="Times New Roman" panose="02020603050405020304" pitchFamily="18" charset="0"/>
                <a:cs typeface="Times New Roman" panose="02020603050405020304" pitchFamily="18" charset="0"/>
              </a:rPr>
              <a:t>Exponential Distribution </a:t>
            </a:r>
          </a:p>
          <a:p>
            <a:pPr lvl="1">
              <a:spcBef>
                <a:spcPts val="300"/>
              </a:spcBef>
              <a:buFont typeface="Wingdings" panose="05000000000000000000" pitchFamily="2" charset="2"/>
              <a:buChar char="Ø"/>
            </a:pPr>
            <a:r>
              <a:rPr lang="en-GB" sz="1250" dirty="0">
                <a:solidFill>
                  <a:schemeClr val="tx1"/>
                </a:solidFill>
                <a:latin typeface="Times New Roman" panose="02020603050405020304" pitchFamily="18" charset="0"/>
                <a:cs typeface="Times New Roman" panose="02020603050405020304" pitchFamily="18" charset="0"/>
              </a:rPr>
              <a:t>Estimating the Failure Rate </a:t>
            </a:r>
          </a:p>
          <a:p>
            <a:pPr lvl="1">
              <a:spcBef>
                <a:spcPts val="300"/>
              </a:spcBef>
              <a:buFont typeface="Wingdings" panose="05000000000000000000" pitchFamily="2" charset="2"/>
              <a:buChar char="Ø"/>
            </a:pPr>
            <a:r>
              <a:rPr lang="en-GB" sz="1250" dirty="0" err="1">
                <a:solidFill>
                  <a:schemeClr val="tx1"/>
                </a:solidFill>
                <a:latin typeface="Times New Roman" panose="02020603050405020304" pitchFamily="18" charset="0"/>
                <a:cs typeface="Times New Roman" panose="02020603050405020304" pitchFamily="18" charset="0"/>
              </a:rPr>
              <a:t>Weibull</a:t>
            </a:r>
            <a:r>
              <a:rPr lang="en-GB" sz="1250" dirty="0">
                <a:solidFill>
                  <a:schemeClr val="tx1"/>
                </a:solidFill>
                <a:latin typeface="Times New Roman" panose="02020603050405020304" pitchFamily="18" charset="0"/>
                <a:cs typeface="Times New Roman" panose="02020603050405020304" pitchFamily="18" charset="0"/>
              </a:rPr>
              <a:t> Distribution</a:t>
            </a:r>
            <a:endParaRPr lang="en-US" sz="1250" dirty="0">
              <a:solidFill>
                <a:schemeClr val="tx1"/>
              </a:solidFill>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30691FBE-E94D-4354-8F19-B8A3DE404EF1}"/>
              </a:ext>
            </a:extLst>
          </p:cNvPr>
          <p:cNvSpPr>
            <a:spLocks noGrp="1"/>
          </p:cNvSpPr>
          <p:nvPr>
            <p:ph type="sldNum" sz="quarter" idx="12"/>
          </p:nvPr>
        </p:nvSpPr>
        <p:spPr/>
        <p:txBody>
          <a:bodyPr/>
          <a:lstStyle/>
          <a:p>
            <a:fld id="{CC529A1F-6900-4D36-92AC-B7647C1D9DDB}" type="slidenum">
              <a:rPr lang="en-US" smtClean="0">
                <a:solidFill>
                  <a:srgbClr val="90C226"/>
                </a:solidFill>
              </a:rPr>
              <a:pPr/>
              <a:t>2</a:t>
            </a:fld>
            <a:endParaRPr lang="en-US">
              <a:solidFill>
                <a:srgbClr val="90C226"/>
              </a:solidFill>
            </a:endParaRPr>
          </a:p>
        </p:txBody>
      </p:sp>
    </p:spTree>
    <p:extLst>
      <p:ext uri="{BB962C8B-B14F-4D97-AF65-F5344CB8AC3E}">
        <p14:creationId xmlns:p14="http://schemas.microsoft.com/office/powerpoint/2010/main" val="21104861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1057973" y="272673"/>
            <a:ext cx="9875520" cy="757057"/>
          </a:xfrm>
        </p:spPr>
        <p:txBody>
          <a:bodyPr>
            <a:normAutofit/>
          </a:bodyPr>
          <a:lstStyle/>
          <a:p>
            <a:r>
              <a:rPr lang="en-US" dirty="0"/>
              <a:t>Population and Samples</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547816" y="1128585"/>
            <a:ext cx="7228703" cy="5456742"/>
          </a:xfrm>
        </p:spPr>
        <p:txBody>
          <a:bodyPr>
            <a:normAutofit fontScale="92500"/>
          </a:bodyPr>
          <a:lstStyle/>
          <a:p>
            <a:pPr algn="just">
              <a:buFont typeface="Wingdings" panose="05000000000000000000" pitchFamily="2" charset="2"/>
              <a:buChar char="Ø"/>
            </a:pPr>
            <a:r>
              <a:rPr lang="en-GB" sz="2200" b="1" dirty="0">
                <a:solidFill>
                  <a:srgbClr val="000000"/>
                </a:solidFill>
                <a:latin typeface="Calibri" panose="020F0502020204030204" pitchFamily="34" charset="0"/>
                <a:cs typeface="Calibri" panose="020F0502020204030204" pitchFamily="34" charset="0"/>
              </a:rPr>
              <a:t>Population</a:t>
            </a:r>
            <a:r>
              <a:rPr lang="en-GB" sz="2200" dirty="0">
                <a:solidFill>
                  <a:srgbClr val="000000"/>
                </a:solidFill>
                <a:latin typeface="Calibri" panose="020F0502020204030204" pitchFamily="34" charset="0"/>
                <a:cs typeface="Calibri" panose="020F0502020204030204" pitchFamily="34" charset="0"/>
              </a:rPr>
              <a:t>: Everything in the group that we want to learn about.</a:t>
            </a:r>
          </a:p>
          <a:p>
            <a:pPr algn="just">
              <a:buFont typeface="Wingdings" panose="05000000000000000000" pitchFamily="2" charset="2"/>
              <a:buChar char="Ø"/>
            </a:pPr>
            <a:r>
              <a:rPr lang="en-GB" sz="2200" b="1" dirty="0">
                <a:solidFill>
                  <a:srgbClr val="000000"/>
                </a:solidFill>
                <a:latin typeface="Calibri" panose="020F0502020204030204" pitchFamily="34" charset="0"/>
                <a:cs typeface="Calibri" panose="020F0502020204030204" pitchFamily="34" charset="0"/>
              </a:rPr>
              <a:t>Sample</a:t>
            </a:r>
            <a:r>
              <a:rPr lang="en-GB" sz="2200" dirty="0">
                <a:solidFill>
                  <a:srgbClr val="000000"/>
                </a:solidFill>
                <a:latin typeface="Calibri" panose="020F0502020204030204" pitchFamily="34" charset="0"/>
                <a:cs typeface="Calibri" panose="020F0502020204030204" pitchFamily="34" charset="0"/>
              </a:rPr>
              <a:t>: A part of the population.</a:t>
            </a:r>
          </a:p>
          <a:p>
            <a:pPr algn="just">
              <a:buFont typeface="Wingdings" panose="05000000000000000000" pitchFamily="2" charset="2"/>
              <a:buChar char="Ø"/>
            </a:pPr>
            <a:endParaRPr lang="en-GB" sz="2200" dirty="0">
              <a:solidFill>
                <a:srgbClr val="000000"/>
              </a:solidFill>
              <a:latin typeface="NewBaskerville-Roman"/>
            </a:endParaRPr>
          </a:p>
          <a:p>
            <a:pPr algn="just">
              <a:buFont typeface="Wingdings" panose="05000000000000000000" pitchFamily="2" charset="2"/>
              <a:buChar char="Ø"/>
            </a:pPr>
            <a:endParaRPr lang="en-GB" sz="2200" dirty="0">
              <a:solidFill>
                <a:srgbClr val="000000"/>
              </a:solidFill>
              <a:latin typeface="NewBaskerville-Roman"/>
            </a:endParaRPr>
          </a:p>
          <a:p>
            <a:pPr algn="just">
              <a:buFont typeface="Wingdings" panose="05000000000000000000" pitchFamily="2" charset="2"/>
              <a:buChar char="Ø"/>
            </a:pPr>
            <a:endParaRPr lang="en-GB" sz="2200" dirty="0">
              <a:solidFill>
                <a:srgbClr val="000000"/>
              </a:solidFill>
              <a:latin typeface="NewBaskerville-Roman"/>
            </a:endParaRPr>
          </a:p>
          <a:p>
            <a:pPr algn="just">
              <a:buFont typeface="Wingdings" panose="05000000000000000000" pitchFamily="2" charset="2"/>
              <a:buChar char="Ø"/>
            </a:pPr>
            <a:endParaRPr lang="en-GB" sz="2200" dirty="0">
              <a:solidFill>
                <a:srgbClr val="000000"/>
              </a:solidFill>
              <a:latin typeface="NewBaskerville-Roman"/>
            </a:endParaRPr>
          </a:p>
          <a:p>
            <a:pPr algn="just">
              <a:buFont typeface="Wingdings" panose="05000000000000000000" pitchFamily="2" charset="2"/>
              <a:buChar char="Ø"/>
            </a:pPr>
            <a:endParaRPr lang="en-GB" sz="2200" dirty="0">
              <a:solidFill>
                <a:srgbClr val="000000"/>
              </a:solidFill>
              <a:latin typeface="NewBaskerville-Roman"/>
            </a:endParaRPr>
          </a:p>
          <a:p>
            <a:pPr algn="just">
              <a:buFont typeface="Wingdings" panose="05000000000000000000" pitchFamily="2" charset="2"/>
              <a:buChar char="Ø"/>
            </a:pPr>
            <a:r>
              <a:rPr lang="en-GB" sz="2200" dirty="0">
                <a:solidFill>
                  <a:srgbClr val="000000"/>
                </a:solidFill>
                <a:latin typeface="Calibri" panose="020F0502020204030204" pitchFamily="34" charset="0"/>
                <a:cs typeface="Calibri" panose="020F0502020204030204" pitchFamily="34" charset="0"/>
              </a:rPr>
              <a:t>For good statistical analysis, the sample needs to be as "</a:t>
            </a:r>
            <a:r>
              <a:rPr lang="en-GB" sz="2200" b="1" dirty="0">
                <a:solidFill>
                  <a:srgbClr val="000000"/>
                </a:solidFill>
                <a:latin typeface="Calibri" panose="020F0502020204030204" pitchFamily="34" charset="0"/>
                <a:cs typeface="Calibri" panose="020F0502020204030204" pitchFamily="34" charset="0"/>
              </a:rPr>
              <a:t>similar</a:t>
            </a:r>
            <a:r>
              <a:rPr lang="en-GB" sz="2200" dirty="0">
                <a:solidFill>
                  <a:srgbClr val="000000"/>
                </a:solidFill>
                <a:latin typeface="Calibri" panose="020F0502020204030204" pitchFamily="34" charset="0"/>
                <a:cs typeface="Calibri" panose="020F0502020204030204" pitchFamily="34" charset="0"/>
              </a:rPr>
              <a:t>" as possible to the population. If they are similar enough, we say that the sample is </a:t>
            </a:r>
            <a:r>
              <a:rPr lang="en-GB" sz="2200" b="1" dirty="0">
                <a:solidFill>
                  <a:srgbClr val="000000"/>
                </a:solidFill>
                <a:latin typeface="Calibri" panose="020F0502020204030204" pitchFamily="34" charset="0"/>
                <a:cs typeface="Calibri" panose="020F0502020204030204" pitchFamily="34" charset="0"/>
              </a:rPr>
              <a:t>representative</a:t>
            </a:r>
            <a:r>
              <a:rPr lang="en-GB" sz="2200" dirty="0">
                <a:solidFill>
                  <a:srgbClr val="000000"/>
                </a:solidFill>
                <a:latin typeface="Calibri" panose="020F0502020204030204" pitchFamily="34" charset="0"/>
                <a:cs typeface="Calibri" panose="020F0502020204030204" pitchFamily="34" charset="0"/>
              </a:rPr>
              <a:t> of the population.</a:t>
            </a:r>
          </a:p>
          <a:p>
            <a:pPr algn="just">
              <a:buFont typeface="Wingdings" panose="05000000000000000000" pitchFamily="2" charset="2"/>
              <a:buChar char="Ø"/>
            </a:pPr>
            <a:r>
              <a:rPr lang="en-GB" sz="2200" dirty="0">
                <a:solidFill>
                  <a:srgbClr val="000000"/>
                </a:solidFill>
                <a:latin typeface="Calibri" panose="020F0502020204030204" pitchFamily="34" charset="0"/>
                <a:cs typeface="Calibri" panose="020F0502020204030204" pitchFamily="34" charset="0"/>
              </a:rPr>
              <a:t>The sample is used to make </a:t>
            </a:r>
            <a:r>
              <a:rPr lang="en-GB" sz="2200" b="1" dirty="0">
                <a:solidFill>
                  <a:srgbClr val="000000"/>
                </a:solidFill>
                <a:latin typeface="Calibri" panose="020F0502020204030204" pitchFamily="34" charset="0"/>
                <a:cs typeface="Calibri" panose="020F0502020204030204" pitchFamily="34" charset="0"/>
              </a:rPr>
              <a:t>conclusions about the whole population</a:t>
            </a:r>
            <a:r>
              <a:rPr lang="en-GB" sz="2200" dirty="0">
                <a:solidFill>
                  <a:srgbClr val="000000"/>
                </a:solidFill>
                <a:latin typeface="Calibri" panose="020F0502020204030204" pitchFamily="34" charset="0"/>
                <a:cs typeface="Calibri" panose="020F0502020204030204" pitchFamily="34" charset="0"/>
              </a:rPr>
              <a:t>. If the sample is not similar enough to the whole population, the </a:t>
            </a:r>
            <a:r>
              <a:rPr lang="en-GB" sz="2200" b="1" dirty="0">
                <a:solidFill>
                  <a:srgbClr val="000000"/>
                </a:solidFill>
                <a:latin typeface="Calibri" panose="020F0502020204030204" pitchFamily="34" charset="0"/>
                <a:cs typeface="Calibri" panose="020F0502020204030204" pitchFamily="34" charset="0"/>
              </a:rPr>
              <a:t>conclusions could be useless</a:t>
            </a:r>
            <a:r>
              <a:rPr lang="en-GB" sz="2200" dirty="0">
                <a:solidFill>
                  <a:srgbClr val="000000"/>
                </a:solidFill>
                <a:latin typeface="Calibri" panose="020F0502020204030204" pitchFamily="34" charset="0"/>
                <a:cs typeface="Calibri" panose="020F0502020204030204" pitchFamily="34" charset="0"/>
              </a:rPr>
              <a:t>.</a:t>
            </a:r>
            <a:endParaRPr lang="en-US" sz="2200" b="0" i="0" dirty="0">
              <a:solidFill>
                <a:srgbClr val="000000"/>
              </a:solidFill>
              <a:effectLst/>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3</a:t>
            </a:fld>
            <a:endParaRPr lang="en-US">
              <a:solidFill>
                <a:srgbClr val="90C226"/>
              </a:solidFill>
            </a:endParaRPr>
          </a:p>
        </p:txBody>
      </p:sp>
      <p:pic>
        <p:nvPicPr>
          <p:cNvPr id="6" name="Picture 5">
            <a:extLst>
              <a:ext uri="{FF2B5EF4-FFF2-40B4-BE49-F238E27FC236}">
                <a16:creationId xmlns:a16="http://schemas.microsoft.com/office/drawing/2014/main" id="{8A9B554C-DB3C-4CED-9616-28320F4EC2E0}"/>
              </a:ext>
            </a:extLst>
          </p:cNvPr>
          <p:cNvPicPr>
            <a:picLocks noChangeAspect="1"/>
          </p:cNvPicPr>
          <p:nvPr/>
        </p:nvPicPr>
        <p:blipFill>
          <a:blip r:embed="rId2"/>
          <a:stretch>
            <a:fillRect/>
          </a:stretch>
        </p:blipFill>
        <p:spPr>
          <a:xfrm>
            <a:off x="7695446" y="1128585"/>
            <a:ext cx="4496554" cy="3241381"/>
          </a:xfrm>
          <a:prstGeom prst="rect">
            <a:avLst/>
          </a:prstGeom>
          <a:ln>
            <a:solidFill>
              <a:schemeClr val="tx1"/>
            </a:solidFill>
          </a:ln>
        </p:spPr>
      </p:pic>
      <p:graphicFrame>
        <p:nvGraphicFramePr>
          <p:cNvPr id="4" name="Table 3"/>
          <p:cNvGraphicFramePr>
            <a:graphicFrameLocks noGrp="1"/>
          </p:cNvGraphicFramePr>
          <p:nvPr/>
        </p:nvGraphicFramePr>
        <p:xfrm>
          <a:off x="719249" y="2399167"/>
          <a:ext cx="6767968" cy="1320800"/>
        </p:xfrm>
        <a:graphic>
          <a:graphicData uri="http://schemas.openxmlformats.org/drawingml/2006/table">
            <a:tbl>
              <a:tblPr firstRow="1" bandRow="1">
                <a:tableStyleId>{5C22544A-7EE6-4342-B048-85BDC9FD1C3A}</a:tableStyleId>
              </a:tblPr>
              <a:tblGrid>
                <a:gridCol w="3383984">
                  <a:extLst>
                    <a:ext uri="{9D8B030D-6E8A-4147-A177-3AD203B41FA5}">
                      <a16:colId xmlns:a16="http://schemas.microsoft.com/office/drawing/2014/main" val="20000"/>
                    </a:ext>
                  </a:extLst>
                </a:gridCol>
                <a:gridCol w="3383984">
                  <a:extLst>
                    <a:ext uri="{9D8B030D-6E8A-4147-A177-3AD203B41FA5}">
                      <a16:colId xmlns:a16="http://schemas.microsoft.com/office/drawing/2014/main" val="20001"/>
                    </a:ext>
                  </a:extLst>
                </a:gridCol>
              </a:tblGrid>
              <a:tr h="289336">
                <a:tc>
                  <a:txBody>
                    <a:bodyPr/>
                    <a:lstStyle/>
                    <a:p>
                      <a:pPr algn="l" fontAlgn="t"/>
                      <a:r>
                        <a:rPr lang="en-GB" dirty="0">
                          <a:effectLst/>
                        </a:rPr>
                        <a:t>Population</a:t>
                      </a:r>
                    </a:p>
                  </a:txBody>
                  <a:tcPr marL="101600" marR="50800" marT="50800" marB="50800"/>
                </a:tc>
                <a:tc>
                  <a:txBody>
                    <a:bodyPr/>
                    <a:lstStyle/>
                    <a:p>
                      <a:pPr algn="l" fontAlgn="t"/>
                      <a:r>
                        <a:rPr lang="en-GB">
                          <a:effectLst/>
                        </a:rPr>
                        <a:t>Sample</a:t>
                      </a:r>
                    </a:p>
                  </a:txBody>
                  <a:tcPr marL="50800" marR="50800" marT="50800" marB="50800"/>
                </a:tc>
                <a:extLst>
                  <a:ext uri="{0D108BD9-81ED-4DB2-BD59-A6C34878D82A}">
                    <a16:rowId xmlns:a16="http://schemas.microsoft.com/office/drawing/2014/main" val="10000"/>
                  </a:ext>
                </a:extLst>
              </a:tr>
              <a:tr h="289336">
                <a:tc>
                  <a:txBody>
                    <a:bodyPr/>
                    <a:lstStyle/>
                    <a:p>
                      <a:pPr algn="l" fontAlgn="t"/>
                      <a:r>
                        <a:rPr lang="en-GB" sz="1400" dirty="0">
                          <a:effectLst/>
                        </a:rPr>
                        <a:t>All of the people in Germany</a:t>
                      </a:r>
                    </a:p>
                  </a:txBody>
                  <a:tcPr marL="101600" marR="50800" marT="50800" marB="50800"/>
                </a:tc>
                <a:tc>
                  <a:txBody>
                    <a:bodyPr/>
                    <a:lstStyle/>
                    <a:p>
                      <a:pPr algn="l" fontAlgn="t"/>
                      <a:r>
                        <a:rPr lang="en-GB" sz="1400">
                          <a:effectLst/>
                        </a:rPr>
                        <a:t>500 Germans</a:t>
                      </a:r>
                    </a:p>
                  </a:txBody>
                  <a:tcPr marL="50800" marR="50800" marT="50800" marB="50800"/>
                </a:tc>
                <a:extLst>
                  <a:ext uri="{0D108BD9-81ED-4DB2-BD59-A6C34878D82A}">
                    <a16:rowId xmlns:a16="http://schemas.microsoft.com/office/drawing/2014/main" val="10001"/>
                  </a:ext>
                </a:extLst>
              </a:tr>
              <a:tr h="289336">
                <a:tc>
                  <a:txBody>
                    <a:bodyPr/>
                    <a:lstStyle/>
                    <a:p>
                      <a:pPr algn="l" fontAlgn="t"/>
                      <a:r>
                        <a:rPr lang="en-GB" sz="1400" dirty="0">
                          <a:effectLst/>
                        </a:rPr>
                        <a:t>All of the customers of Netflix</a:t>
                      </a:r>
                    </a:p>
                  </a:txBody>
                  <a:tcPr marL="101600" marR="50800" marT="50800" marB="50800"/>
                </a:tc>
                <a:tc>
                  <a:txBody>
                    <a:bodyPr/>
                    <a:lstStyle/>
                    <a:p>
                      <a:pPr algn="l" fontAlgn="t"/>
                      <a:r>
                        <a:rPr lang="en-GB" sz="1400">
                          <a:effectLst/>
                        </a:rPr>
                        <a:t>300 Netflix customers</a:t>
                      </a:r>
                    </a:p>
                  </a:txBody>
                  <a:tcPr marL="50800" marR="50800" marT="50800" marB="50800"/>
                </a:tc>
                <a:extLst>
                  <a:ext uri="{0D108BD9-81ED-4DB2-BD59-A6C34878D82A}">
                    <a16:rowId xmlns:a16="http://schemas.microsoft.com/office/drawing/2014/main" val="10002"/>
                  </a:ext>
                </a:extLst>
              </a:tr>
              <a:tr h="289336">
                <a:tc>
                  <a:txBody>
                    <a:bodyPr/>
                    <a:lstStyle/>
                    <a:p>
                      <a:pPr algn="l" fontAlgn="t"/>
                      <a:r>
                        <a:rPr lang="en-GB" sz="1400" dirty="0">
                          <a:effectLst/>
                        </a:rPr>
                        <a:t>Every car manufacturer</a:t>
                      </a:r>
                    </a:p>
                  </a:txBody>
                  <a:tcPr marL="101600" marR="50800" marT="50800" marB="50800"/>
                </a:tc>
                <a:tc>
                  <a:txBody>
                    <a:bodyPr/>
                    <a:lstStyle/>
                    <a:p>
                      <a:pPr algn="l" fontAlgn="t"/>
                      <a:r>
                        <a:rPr lang="en-GB" sz="1400" dirty="0">
                          <a:effectLst/>
                        </a:rPr>
                        <a:t>Tesla, Toyota, BMW, Ford</a:t>
                      </a:r>
                    </a:p>
                  </a:txBody>
                  <a:tcPr marL="50800" marR="50800" marT="50800" marB="5080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98779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1057973" y="272673"/>
            <a:ext cx="9875520" cy="757057"/>
          </a:xfrm>
        </p:spPr>
        <p:txBody>
          <a:bodyPr>
            <a:normAutofit/>
          </a:bodyPr>
          <a:lstStyle/>
          <a:p>
            <a:r>
              <a:rPr lang="en-US" dirty="0"/>
              <a:t>Data and sampling distributions</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547816" y="1128585"/>
            <a:ext cx="7374062" cy="5456742"/>
          </a:xfrm>
        </p:spPr>
        <p:txBody>
          <a:bodyPr>
            <a:normAutofit fontScale="92500" lnSpcReduction="10000"/>
          </a:bodyPr>
          <a:lstStyle/>
          <a:p>
            <a:pPr algn="just">
              <a:buFont typeface="Wingdings" panose="05000000000000000000" pitchFamily="2" charset="2"/>
              <a:buChar char="Ø"/>
            </a:pPr>
            <a:r>
              <a:rPr lang="en-US" sz="2200" b="0" i="0" dirty="0">
                <a:solidFill>
                  <a:srgbClr val="000000"/>
                </a:solidFill>
                <a:effectLst/>
                <a:latin typeface="Calibri" panose="020F0502020204030204" pitchFamily="34" charset="0"/>
                <a:cs typeface="Calibri" panose="020F0502020204030204" pitchFamily="34" charset="0"/>
              </a:rPr>
              <a:t>The lefthand side represents a </a:t>
            </a:r>
            <a:r>
              <a:rPr lang="en-US" sz="2200" b="1" i="0" dirty="0">
                <a:solidFill>
                  <a:srgbClr val="000000"/>
                </a:solidFill>
                <a:effectLst/>
                <a:latin typeface="Calibri" panose="020F0502020204030204" pitchFamily="34" charset="0"/>
                <a:cs typeface="Calibri" panose="020F0502020204030204" pitchFamily="34" charset="0"/>
              </a:rPr>
              <a:t>population</a:t>
            </a:r>
            <a:r>
              <a:rPr lang="en-US" sz="2200" b="0" i="0" dirty="0">
                <a:solidFill>
                  <a:srgbClr val="000000"/>
                </a:solidFill>
                <a:effectLst/>
                <a:latin typeface="Calibri" panose="020F0502020204030204" pitchFamily="34" charset="0"/>
                <a:cs typeface="Calibri" panose="020F0502020204030204" pitchFamily="34" charset="0"/>
              </a:rPr>
              <a:t> that, in statistics, is assumed to follow an underlying/core but </a:t>
            </a:r>
            <a:r>
              <a:rPr lang="en-US" sz="2200" b="0" i="1" dirty="0">
                <a:solidFill>
                  <a:srgbClr val="000000"/>
                </a:solidFill>
                <a:effectLst/>
                <a:latin typeface="Calibri" panose="020F0502020204030204" pitchFamily="34" charset="0"/>
                <a:cs typeface="Calibri" panose="020F0502020204030204" pitchFamily="34" charset="0"/>
              </a:rPr>
              <a:t>unknown</a:t>
            </a:r>
            <a:r>
              <a:rPr lang="en-US" sz="2200" b="0" i="0" dirty="0">
                <a:solidFill>
                  <a:srgbClr val="000000"/>
                </a:solidFill>
                <a:effectLst/>
                <a:latin typeface="Calibri" panose="020F0502020204030204" pitchFamily="34" charset="0"/>
                <a:cs typeface="Calibri" panose="020F0502020204030204" pitchFamily="34" charset="0"/>
              </a:rPr>
              <a:t> distribution. </a:t>
            </a:r>
          </a:p>
          <a:p>
            <a:pPr algn="just">
              <a:buFont typeface="Wingdings" panose="05000000000000000000" pitchFamily="2" charset="2"/>
              <a:buChar char="Ø"/>
            </a:pPr>
            <a:r>
              <a:rPr lang="en-US" sz="2200" b="0" i="0" dirty="0">
                <a:solidFill>
                  <a:srgbClr val="000000"/>
                </a:solidFill>
                <a:effectLst/>
                <a:latin typeface="Calibri" panose="020F0502020204030204" pitchFamily="34" charset="0"/>
                <a:cs typeface="Calibri" panose="020F0502020204030204" pitchFamily="34" charset="0"/>
              </a:rPr>
              <a:t>All that is available is the </a:t>
            </a:r>
            <a:r>
              <a:rPr lang="en-US" sz="2200" b="1" i="0" dirty="0">
                <a:solidFill>
                  <a:srgbClr val="000000"/>
                </a:solidFill>
                <a:effectLst/>
                <a:latin typeface="Calibri" panose="020F0502020204030204" pitchFamily="34" charset="0"/>
                <a:cs typeface="Calibri" panose="020F0502020204030204" pitchFamily="34" charset="0"/>
              </a:rPr>
              <a:t>sample</a:t>
            </a:r>
            <a:r>
              <a:rPr lang="en-US" sz="2200" b="0" i="0" dirty="0">
                <a:solidFill>
                  <a:srgbClr val="000000"/>
                </a:solidFill>
                <a:effectLst/>
                <a:latin typeface="Calibri" panose="020F0502020204030204" pitchFamily="34" charset="0"/>
                <a:cs typeface="Calibri" panose="020F0502020204030204" pitchFamily="34" charset="0"/>
              </a:rPr>
              <a:t> data and its empirical/observed distribution, shown on the righthand side. </a:t>
            </a:r>
          </a:p>
          <a:p>
            <a:pPr algn="just">
              <a:buFont typeface="Wingdings" panose="05000000000000000000" pitchFamily="2" charset="2"/>
              <a:buChar char="Ø"/>
            </a:pPr>
            <a:r>
              <a:rPr lang="en-US" sz="2200" b="0" i="0" dirty="0">
                <a:solidFill>
                  <a:srgbClr val="000000"/>
                </a:solidFill>
                <a:effectLst/>
                <a:latin typeface="Calibri" panose="020F0502020204030204" pitchFamily="34" charset="0"/>
                <a:cs typeface="Calibri" panose="020F0502020204030204" pitchFamily="34" charset="0"/>
              </a:rPr>
              <a:t>Aa sampling procedure is used to get sample from population. </a:t>
            </a:r>
          </a:p>
          <a:p>
            <a:pPr algn="just">
              <a:buFont typeface="Wingdings" panose="05000000000000000000" pitchFamily="2" charset="2"/>
              <a:buChar char="Ø"/>
            </a:pPr>
            <a:r>
              <a:rPr lang="en-US" sz="2200" b="1" i="0" dirty="0">
                <a:solidFill>
                  <a:srgbClr val="000000"/>
                </a:solidFill>
                <a:effectLst/>
                <a:latin typeface="Calibri" panose="020F0502020204030204" pitchFamily="34" charset="0"/>
                <a:cs typeface="Calibri" panose="020F0502020204030204" pitchFamily="34" charset="0"/>
              </a:rPr>
              <a:t>Traditional</a:t>
            </a:r>
            <a:r>
              <a:rPr lang="en-US" sz="2200" b="0" i="0" dirty="0">
                <a:solidFill>
                  <a:srgbClr val="000000"/>
                </a:solidFill>
                <a:effectLst/>
                <a:latin typeface="Calibri" panose="020F0502020204030204" pitchFamily="34" charset="0"/>
                <a:cs typeface="Calibri" panose="020F0502020204030204" pitchFamily="34" charset="0"/>
              </a:rPr>
              <a:t> statistics focused very much on the population, using theory based on strong assumptions about the population. </a:t>
            </a:r>
          </a:p>
          <a:p>
            <a:pPr algn="just">
              <a:buFont typeface="Wingdings" panose="05000000000000000000" pitchFamily="2" charset="2"/>
              <a:buChar char="Ø"/>
            </a:pPr>
            <a:r>
              <a:rPr lang="en-US" sz="2200" b="1" i="0" dirty="0">
                <a:solidFill>
                  <a:srgbClr val="000000"/>
                </a:solidFill>
                <a:effectLst/>
                <a:latin typeface="Calibri" panose="020F0502020204030204" pitchFamily="34" charset="0"/>
                <a:cs typeface="Calibri" panose="020F0502020204030204" pitchFamily="34" charset="0"/>
              </a:rPr>
              <a:t>Modern</a:t>
            </a:r>
            <a:r>
              <a:rPr lang="en-US" sz="2200" b="0" i="0" dirty="0">
                <a:solidFill>
                  <a:srgbClr val="000000"/>
                </a:solidFill>
                <a:effectLst/>
                <a:latin typeface="Calibri" panose="020F0502020204030204" pitchFamily="34" charset="0"/>
                <a:cs typeface="Calibri" panose="020F0502020204030204" pitchFamily="34" charset="0"/>
              </a:rPr>
              <a:t> statistics has moved to the </a:t>
            </a:r>
            <a:r>
              <a:rPr lang="en-US" sz="2200" b="1" i="0" dirty="0">
                <a:solidFill>
                  <a:srgbClr val="000000"/>
                </a:solidFill>
                <a:effectLst/>
                <a:latin typeface="Calibri" panose="020F0502020204030204" pitchFamily="34" charset="0"/>
                <a:cs typeface="Calibri" panose="020F0502020204030204" pitchFamily="34" charset="0"/>
              </a:rPr>
              <a:t>sampling</a:t>
            </a:r>
            <a:r>
              <a:rPr lang="en-US" sz="2200" b="0" i="0" dirty="0">
                <a:solidFill>
                  <a:srgbClr val="000000"/>
                </a:solidFill>
                <a:effectLst/>
                <a:latin typeface="Calibri" panose="020F0502020204030204" pitchFamily="34" charset="0"/>
                <a:cs typeface="Calibri" panose="020F0502020204030204" pitchFamily="34" charset="0"/>
              </a:rPr>
              <a:t>, where such assumptions are not needed.</a:t>
            </a:r>
          </a:p>
          <a:p>
            <a:pPr algn="just">
              <a:buFont typeface="Wingdings" panose="05000000000000000000" pitchFamily="2" charset="2"/>
              <a:buChar char="Ø"/>
            </a:pPr>
            <a:r>
              <a:rPr lang="en-US" sz="2200" b="0" i="0" dirty="0">
                <a:solidFill>
                  <a:srgbClr val="000000"/>
                </a:solidFill>
                <a:effectLst/>
                <a:latin typeface="Calibri" panose="020F0502020204030204" pitchFamily="34" charset="0"/>
                <a:cs typeface="Calibri" panose="020F0502020204030204" pitchFamily="34" charset="0"/>
              </a:rPr>
              <a:t>In general, data scientists need not worry about the theoretical nature of the population but focus on the sampling procedures.</a:t>
            </a:r>
          </a:p>
          <a:p>
            <a:pPr lvl="1" algn="just">
              <a:buFont typeface="Wingdings" panose="05000000000000000000" pitchFamily="2" charset="2"/>
              <a:buChar char="Ø"/>
            </a:pPr>
            <a:r>
              <a:rPr lang="en-US" b="0" i="0" dirty="0">
                <a:solidFill>
                  <a:srgbClr val="000000"/>
                </a:solidFill>
                <a:effectLst/>
                <a:latin typeface="Calibri" panose="020F0502020204030204" pitchFamily="34" charset="0"/>
                <a:cs typeface="Calibri" panose="020F0502020204030204" pitchFamily="34" charset="0"/>
              </a:rPr>
              <a:t>Like in any real-life </a:t>
            </a:r>
            <a:r>
              <a:rPr lang="en-US" b="0" i="0" dirty="0">
                <a:solidFill>
                  <a:srgbClr val="FF0000"/>
                </a:solidFill>
                <a:effectLst/>
                <a:latin typeface="Calibri" panose="020F0502020204030204" pitchFamily="34" charset="0"/>
                <a:cs typeface="Calibri" panose="020F0502020204030204" pitchFamily="34" charset="0"/>
              </a:rPr>
              <a:t>binomial</a:t>
            </a:r>
            <a:r>
              <a:rPr lang="en-US" b="0" i="0" dirty="0">
                <a:solidFill>
                  <a:srgbClr val="000000"/>
                </a:solidFill>
                <a:effectLst/>
                <a:latin typeface="Calibri" panose="020F0502020204030204" pitchFamily="34" charset="0"/>
                <a:cs typeface="Calibri" panose="020F0502020204030204" pitchFamily="34" charset="0"/>
              </a:rPr>
              <a:t> situation (buy or don’t buy, </a:t>
            </a:r>
            <a:r>
              <a:rPr lang="en-US" b="1" i="0" dirty="0">
                <a:solidFill>
                  <a:srgbClr val="FF0000"/>
                </a:solidFill>
                <a:effectLst/>
                <a:latin typeface="Calibri" panose="020F0502020204030204" pitchFamily="34" charset="0"/>
                <a:cs typeface="Calibri" panose="020F0502020204030204" pitchFamily="34" charset="0"/>
              </a:rPr>
              <a:t>fraud</a:t>
            </a:r>
            <a:r>
              <a:rPr lang="en-US" b="0" i="0" dirty="0">
                <a:solidFill>
                  <a:srgbClr val="000000"/>
                </a:solidFill>
                <a:effectLst/>
                <a:latin typeface="Calibri" panose="020F0502020204030204" pitchFamily="34" charset="0"/>
                <a:cs typeface="Calibri" panose="020F0502020204030204" pitchFamily="34" charset="0"/>
              </a:rPr>
              <a:t> or </a:t>
            </a:r>
            <a:r>
              <a:rPr lang="en-US" sz="2100" b="1" dirty="0">
                <a:solidFill>
                  <a:srgbClr val="FF0000"/>
                </a:solidFill>
                <a:latin typeface="Calibri" panose="020F0502020204030204" pitchFamily="34" charset="0"/>
                <a:cs typeface="Calibri" panose="020F0502020204030204" pitchFamily="34" charset="0"/>
              </a:rPr>
              <a:t>no</a:t>
            </a:r>
            <a:r>
              <a:rPr lang="en-US" b="0" i="0" dirty="0">
                <a:solidFill>
                  <a:srgbClr val="000000"/>
                </a:solidFill>
                <a:effectLst/>
                <a:latin typeface="Calibri" panose="020F0502020204030204" pitchFamily="34" charset="0"/>
                <a:cs typeface="Calibri" panose="020F0502020204030204" pitchFamily="34" charset="0"/>
              </a:rPr>
              <a:t> </a:t>
            </a:r>
            <a:r>
              <a:rPr lang="en-US" sz="2100" b="1" dirty="0">
                <a:solidFill>
                  <a:srgbClr val="FF0000"/>
                </a:solidFill>
                <a:latin typeface="Calibri" panose="020F0502020204030204" pitchFamily="34" charset="0"/>
                <a:cs typeface="Calibri" panose="020F0502020204030204" pitchFamily="34" charset="0"/>
              </a:rPr>
              <a:t>fraud</a:t>
            </a:r>
            <a:r>
              <a:rPr lang="en-US" b="0" i="0" dirty="0">
                <a:solidFill>
                  <a:srgbClr val="000000"/>
                </a:solidFill>
                <a:effectLst/>
                <a:latin typeface="Calibri" panose="020F0502020204030204" pitchFamily="34" charset="0"/>
                <a:cs typeface="Calibri" panose="020F0502020204030204" pitchFamily="34" charset="0"/>
              </a:rPr>
              <a:t>, click or don’t click) can be modeled effectively by a coin with modified probability of landing. </a:t>
            </a:r>
          </a:p>
          <a:p>
            <a:pPr algn="just">
              <a:buFont typeface="Wingdings" panose="05000000000000000000" pitchFamily="2" charset="2"/>
              <a:buChar char="Ø"/>
            </a:pPr>
            <a:r>
              <a:rPr lang="en-US" sz="2200" b="0" i="0" dirty="0">
                <a:solidFill>
                  <a:srgbClr val="000000"/>
                </a:solidFill>
                <a:effectLst/>
                <a:latin typeface="Calibri" panose="020F0502020204030204" pitchFamily="34" charset="0"/>
                <a:cs typeface="Calibri" panose="020F0502020204030204" pitchFamily="34" charset="0"/>
              </a:rPr>
              <a:t>In these cases, we can gain additional insight by using our understanding of the population</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4</a:t>
            </a:fld>
            <a:endParaRPr lang="en-US">
              <a:solidFill>
                <a:srgbClr val="90C226"/>
              </a:solidFill>
            </a:endParaRPr>
          </a:p>
        </p:txBody>
      </p:sp>
      <p:pic>
        <p:nvPicPr>
          <p:cNvPr id="6" name="Picture 5">
            <a:extLst>
              <a:ext uri="{FF2B5EF4-FFF2-40B4-BE49-F238E27FC236}">
                <a16:creationId xmlns:a16="http://schemas.microsoft.com/office/drawing/2014/main" id="{8A9B554C-DB3C-4CED-9616-28320F4EC2E0}"/>
              </a:ext>
            </a:extLst>
          </p:cNvPr>
          <p:cNvPicPr>
            <a:picLocks noChangeAspect="1"/>
          </p:cNvPicPr>
          <p:nvPr/>
        </p:nvPicPr>
        <p:blipFill>
          <a:blip r:embed="rId2"/>
          <a:stretch>
            <a:fillRect/>
          </a:stretch>
        </p:blipFill>
        <p:spPr>
          <a:xfrm>
            <a:off x="7921878" y="1124959"/>
            <a:ext cx="4270122" cy="3078155"/>
          </a:xfrm>
          <a:prstGeom prst="rect">
            <a:avLst/>
          </a:prstGeom>
          <a:ln>
            <a:solidFill>
              <a:schemeClr val="tx1"/>
            </a:solidFill>
          </a:ln>
        </p:spPr>
      </p:pic>
    </p:spTree>
    <p:extLst>
      <p:ext uri="{BB962C8B-B14F-4D97-AF65-F5344CB8AC3E}">
        <p14:creationId xmlns:p14="http://schemas.microsoft.com/office/powerpoint/2010/main" val="7670662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1057973" y="272673"/>
            <a:ext cx="9875520" cy="757057"/>
          </a:xfrm>
        </p:spPr>
        <p:txBody>
          <a:bodyPr>
            <a:normAutofit/>
          </a:bodyPr>
          <a:lstStyle/>
          <a:p>
            <a:r>
              <a:rPr lang="en-US" dirty="0"/>
              <a:t>Random Sampling and Sample Bias</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547817" y="1128585"/>
            <a:ext cx="9103178" cy="5165123"/>
          </a:xfrm>
        </p:spPr>
        <p:txBody>
          <a:bodyPr>
            <a:normAutofit lnSpcReduction="10000"/>
          </a:bodyPr>
          <a:lstStyle/>
          <a:p>
            <a:pPr algn="just">
              <a:buFont typeface="Wingdings" panose="05000000000000000000" pitchFamily="2" charset="2"/>
              <a:buChar char="Ø"/>
            </a:pPr>
            <a:r>
              <a:rPr lang="en-US" sz="2200" b="1" i="0" dirty="0">
                <a:solidFill>
                  <a:schemeClr val="tx1"/>
                </a:solidFill>
                <a:effectLst/>
                <a:latin typeface="Calibri" panose="020F0502020204030204" pitchFamily="34" charset="0"/>
                <a:cs typeface="Calibri" panose="020F0502020204030204" pitchFamily="34" charset="0"/>
              </a:rPr>
              <a:t>Random</a:t>
            </a:r>
            <a:r>
              <a:rPr lang="en-US" sz="2200" b="0" i="0" dirty="0">
                <a:solidFill>
                  <a:schemeClr val="tx1"/>
                </a:solidFill>
                <a:effectLst/>
                <a:latin typeface="Calibri" panose="020F0502020204030204" pitchFamily="34" charset="0"/>
                <a:cs typeface="Calibri" panose="020F0502020204030204" pitchFamily="34" charset="0"/>
              </a:rPr>
              <a:t> </a:t>
            </a:r>
            <a:r>
              <a:rPr lang="en-US" sz="2200" b="1" i="0" dirty="0">
                <a:solidFill>
                  <a:schemeClr val="tx1"/>
                </a:solidFill>
                <a:effectLst/>
                <a:latin typeface="Calibri" panose="020F0502020204030204" pitchFamily="34" charset="0"/>
                <a:cs typeface="Calibri" panose="020F0502020204030204" pitchFamily="34" charset="0"/>
              </a:rPr>
              <a:t>sampling</a:t>
            </a:r>
            <a:r>
              <a:rPr lang="en-US" sz="2200" b="0" i="0" dirty="0">
                <a:solidFill>
                  <a:schemeClr val="tx1"/>
                </a:solidFill>
                <a:effectLst/>
                <a:latin typeface="Calibri" panose="020F0502020204030204" pitchFamily="34" charset="0"/>
                <a:cs typeface="Calibri" panose="020F0502020204030204" pitchFamily="34" charset="0"/>
              </a:rPr>
              <a:t> is a process in which each available member of the population being sampled has an equal chance of being chosen for the sample at each draw. </a:t>
            </a:r>
          </a:p>
          <a:p>
            <a:pPr algn="just">
              <a:buFont typeface="Wingdings" panose="05000000000000000000" pitchFamily="2" charset="2"/>
              <a:buChar char="Ø"/>
            </a:pPr>
            <a:r>
              <a:rPr lang="en-US" sz="2200" b="0" i="0" dirty="0">
                <a:solidFill>
                  <a:schemeClr val="tx1"/>
                </a:solidFill>
                <a:effectLst/>
                <a:latin typeface="Calibri" panose="020F0502020204030204" pitchFamily="34" charset="0"/>
                <a:cs typeface="Calibri" panose="020F0502020204030204" pitchFamily="34" charset="0"/>
              </a:rPr>
              <a:t>The sample that results is called a </a:t>
            </a:r>
            <a:r>
              <a:rPr lang="en-US" sz="2200" b="1" i="0" dirty="0">
                <a:solidFill>
                  <a:schemeClr val="tx1"/>
                </a:solidFill>
                <a:effectLst/>
                <a:latin typeface="Calibri" panose="020F0502020204030204" pitchFamily="34" charset="0"/>
                <a:cs typeface="Calibri" panose="020F0502020204030204" pitchFamily="34" charset="0"/>
              </a:rPr>
              <a:t>simple</a:t>
            </a:r>
            <a:r>
              <a:rPr lang="en-US" sz="2200" b="0" i="0" dirty="0">
                <a:solidFill>
                  <a:schemeClr val="tx1"/>
                </a:solidFill>
                <a:effectLst/>
                <a:latin typeface="Calibri" panose="020F0502020204030204" pitchFamily="34" charset="0"/>
                <a:cs typeface="Calibri" panose="020F0502020204030204" pitchFamily="34" charset="0"/>
              </a:rPr>
              <a:t> </a:t>
            </a:r>
            <a:r>
              <a:rPr lang="en-US" sz="2200" b="1" i="0" dirty="0">
                <a:solidFill>
                  <a:schemeClr val="tx1"/>
                </a:solidFill>
                <a:effectLst/>
                <a:latin typeface="Calibri" panose="020F0502020204030204" pitchFamily="34" charset="0"/>
                <a:cs typeface="Calibri" panose="020F0502020204030204" pitchFamily="34" charset="0"/>
              </a:rPr>
              <a:t>random</a:t>
            </a:r>
            <a:r>
              <a:rPr lang="en-US" sz="2200" b="0" i="0" dirty="0">
                <a:solidFill>
                  <a:schemeClr val="tx1"/>
                </a:solidFill>
                <a:effectLst/>
                <a:latin typeface="Calibri" panose="020F0502020204030204" pitchFamily="34" charset="0"/>
                <a:cs typeface="Calibri" panose="020F0502020204030204" pitchFamily="34" charset="0"/>
              </a:rPr>
              <a:t> </a:t>
            </a:r>
            <a:r>
              <a:rPr lang="en-US" sz="2200" b="1" i="0" dirty="0">
                <a:solidFill>
                  <a:schemeClr val="tx1"/>
                </a:solidFill>
                <a:effectLst/>
                <a:latin typeface="Calibri" panose="020F0502020204030204" pitchFamily="34" charset="0"/>
                <a:cs typeface="Calibri" panose="020F0502020204030204" pitchFamily="34" charset="0"/>
              </a:rPr>
              <a:t>sample</a:t>
            </a:r>
            <a:r>
              <a:rPr lang="en-US" sz="2200" b="0" i="0" dirty="0">
                <a:solidFill>
                  <a:schemeClr val="tx1"/>
                </a:solidFill>
                <a:effectLst/>
                <a:latin typeface="Calibri" panose="020F0502020204030204" pitchFamily="34" charset="0"/>
                <a:cs typeface="Calibri" panose="020F0502020204030204" pitchFamily="34" charset="0"/>
              </a:rPr>
              <a:t>. </a:t>
            </a:r>
          </a:p>
          <a:p>
            <a:pPr lvl="1" algn="just">
              <a:buFont typeface="Wingdings" panose="05000000000000000000" pitchFamily="2" charset="2"/>
              <a:buChar char="Ø"/>
            </a:pPr>
            <a:r>
              <a:rPr lang="en-US" b="0" i="0" dirty="0">
                <a:solidFill>
                  <a:schemeClr val="tx1"/>
                </a:solidFill>
                <a:effectLst/>
                <a:latin typeface="Calibri" panose="020F0502020204030204" pitchFamily="34" charset="0"/>
                <a:cs typeface="Calibri" panose="020F0502020204030204" pitchFamily="34" charset="0"/>
              </a:rPr>
              <a:t>Sampling can be done </a:t>
            </a:r>
            <a:r>
              <a:rPr lang="en-US" b="1" i="0" dirty="0">
                <a:solidFill>
                  <a:schemeClr val="tx1"/>
                </a:solidFill>
                <a:effectLst/>
                <a:latin typeface="Calibri" panose="020F0502020204030204" pitchFamily="34" charset="0"/>
                <a:cs typeface="Calibri" panose="020F0502020204030204" pitchFamily="34" charset="0"/>
              </a:rPr>
              <a:t>with replacement</a:t>
            </a:r>
            <a:r>
              <a:rPr lang="en-US" b="0" i="0" dirty="0">
                <a:solidFill>
                  <a:schemeClr val="tx1"/>
                </a:solidFill>
                <a:effectLst/>
                <a:latin typeface="Calibri" panose="020F0502020204030204" pitchFamily="34" charset="0"/>
                <a:cs typeface="Calibri" panose="020F0502020204030204" pitchFamily="34" charset="0"/>
              </a:rPr>
              <a:t>, in which observations are put back in the population after each draw for possible future reselection. </a:t>
            </a:r>
          </a:p>
          <a:p>
            <a:pPr lvl="1" algn="just">
              <a:buFont typeface="Wingdings" panose="05000000000000000000" pitchFamily="2" charset="2"/>
              <a:buChar char="Ø"/>
            </a:pPr>
            <a:r>
              <a:rPr lang="en-US" b="0" i="0" dirty="0">
                <a:solidFill>
                  <a:schemeClr val="tx1"/>
                </a:solidFill>
                <a:effectLst/>
                <a:latin typeface="Calibri" panose="020F0502020204030204" pitchFamily="34" charset="0"/>
                <a:cs typeface="Calibri" panose="020F0502020204030204" pitchFamily="34" charset="0"/>
              </a:rPr>
              <a:t>Or it can be done </a:t>
            </a:r>
            <a:r>
              <a:rPr lang="en-US" sz="1800" b="1" dirty="0">
                <a:solidFill>
                  <a:schemeClr val="tx1"/>
                </a:solidFill>
                <a:latin typeface="Calibri" panose="020F0502020204030204" pitchFamily="34" charset="0"/>
                <a:cs typeface="Calibri" panose="020F0502020204030204" pitchFamily="34" charset="0"/>
              </a:rPr>
              <a:t>without replacement</a:t>
            </a:r>
            <a:r>
              <a:rPr lang="en-US" b="0" i="0" dirty="0">
                <a:solidFill>
                  <a:schemeClr val="tx1"/>
                </a:solidFill>
                <a:effectLst/>
                <a:latin typeface="Calibri" panose="020F0502020204030204" pitchFamily="34" charset="0"/>
                <a:cs typeface="Calibri" panose="020F0502020204030204" pitchFamily="34" charset="0"/>
              </a:rPr>
              <a:t>, in which case observations, once selected, are unavailable for future draws.</a:t>
            </a:r>
          </a:p>
          <a:p>
            <a:pPr algn="just">
              <a:buFont typeface="Wingdings" panose="05000000000000000000" pitchFamily="2" charset="2"/>
              <a:buChar char="Ø"/>
            </a:pPr>
            <a:r>
              <a:rPr lang="en-US" sz="2200" b="0" i="0" dirty="0">
                <a:solidFill>
                  <a:schemeClr val="tx1"/>
                </a:solidFill>
                <a:effectLst/>
                <a:latin typeface="Calibri" panose="020F0502020204030204" pitchFamily="34" charset="0"/>
                <a:cs typeface="Calibri" panose="020F0502020204030204" pitchFamily="34" charset="0"/>
              </a:rPr>
              <a:t>Data quality often matters more than data quantity when making an estimate or a model based on a sample. </a:t>
            </a:r>
          </a:p>
          <a:p>
            <a:pPr lvl="1" algn="just">
              <a:buFont typeface="Wingdings" panose="05000000000000000000" pitchFamily="2" charset="2"/>
              <a:buChar char="Ø"/>
            </a:pPr>
            <a:r>
              <a:rPr lang="en-US" b="1" i="0" dirty="0">
                <a:solidFill>
                  <a:schemeClr val="tx1"/>
                </a:solidFill>
                <a:effectLst/>
                <a:latin typeface="Calibri" panose="020F0502020204030204" pitchFamily="34" charset="0"/>
                <a:cs typeface="Calibri" panose="020F0502020204030204" pitchFamily="34" charset="0"/>
              </a:rPr>
              <a:t>Data quality</a:t>
            </a:r>
            <a:r>
              <a:rPr lang="en-US" b="0" i="0" dirty="0">
                <a:solidFill>
                  <a:schemeClr val="tx1"/>
                </a:solidFill>
                <a:effectLst/>
                <a:latin typeface="Calibri" panose="020F0502020204030204" pitchFamily="34" charset="0"/>
                <a:cs typeface="Calibri" panose="020F0502020204030204" pitchFamily="34" charset="0"/>
              </a:rPr>
              <a:t> in data science involves </a:t>
            </a:r>
            <a:r>
              <a:rPr lang="en-US" b="1" i="0" dirty="0">
                <a:solidFill>
                  <a:schemeClr val="tx1"/>
                </a:solidFill>
                <a:effectLst/>
                <a:latin typeface="Calibri" panose="020F0502020204030204" pitchFamily="34" charset="0"/>
                <a:cs typeface="Calibri" panose="020F0502020204030204" pitchFamily="34" charset="0"/>
              </a:rPr>
              <a:t>completeness</a:t>
            </a:r>
            <a:r>
              <a:rPr lang="en-US" b="0" i="0" dirty="0">
                <a:solidFill>
                  <a:schemeClr val="tx1"/>
                </a:solidFill>
                <a:effectLst/>
                <a:latin typeface="Calibri" panose="020F0502020204030204" pitchFamily="34" charset="0"/>
                <a:cs typeface="Calibri" panose="020F0502020204030204" pitchFamily="34" charset="0"/>
              </a:rPr>
              <a:t>, </a:t>
            </a:r>
            <a:r>
              <a:rPr lang="en-US" b="1" i="0" dirty="0">
                <a:solidFill>
                  <a:schemeClr val="tx1"/>
                </a:solidFill>
                <a:effectLst/>
                <a:latin typeface="Calibri" panose="020F0502020204030204" pitchFamily="34" charset="0"/>
                <a:cs typeface="Calibri" panose="020F0502020204030204" pitchFamily="34" charset="0"/>
              </a:rPr>
              <a:t>consistency</a:t>
            </a:r>
            <a:r>
              <a:rPr lang="en-US" b="0" i="0" dirty="0">
                <a:solidFill>
                  <a:schemeClr val="tx1"/>
                </a:solidFill>
                <a:effectLst/>
                <a:latin typeface="Calibri" panose="020F0502020204030204" pitchFamily="34" charset="0"/>
                <a:cs typeface="Calibri" panose="020F0502020204030204" pitchFamily="34" charset="0"/>
              </a:rPr>
              <a:t> of </a:t>
            </a:r>
            <a:r>
              <a:rPr lang="en-US" b="1" i="0" dirty="0">
                <a:solidFill>
                  <a:schemeClr val="tx1"/>
                </a:solidFill>
                <a:effectLst/>
                <a:latin typeface="Calibri" panose="020F0502020204030204" pitchFamily="34" charset="0"/>
                <a:cs typeface="Calibri" panose="020F0502020204030204" pitchFamily="34" charset="0"/>
              </a:rPr>
              <a:t>format</a:t>
            </a:r>
            <a:r>
              <a:rPr lang="en-US" b="0" i="0" dirty="0">
                <a:solidFill>
                  <a:schemeClr val="tx1"/>
                </a:solidFill>
                <a:effectLst/>
                <a:latin typeface="Calibri" panose="020F0502020204030204" pitchFamily="34" charset="0"/>
                <a:cs typeface="Calibri" panose="020F0502020204030204" pitchFamily="34" charset="0"/>
              </a:rPr>
              <a:t>, </a:t>
            </a:r>
            <a:r>
              <a:rPr lang="en-US" b="1" i="0" dirty="0">
                <a:solidFill>
                  <a:schemeClr val="tx1"/>
                </a:solidFill>
                <a:effectLst/>
                <a:latin typeface="Calibri" panose="020F0502020204030204" pitchFamily="34" charset="0"/>
                <a:cs typeface="Calibri" panose="020F0502020204030204" pitchFamily="34" charset="0"/>
              </a:rPr>
              <a:t>cleanliness</a:t>
            </a:r>
            <a:r>
              <a:rPr lang="en-US" b="0" i="0" dirty="0">
                <a:solidFill>
                  <a:schemeClr val="tx1"/>
                </a:solidFill>
                <a:effectLst/>
                <a:latin typeface="Calibri" panose="020F0502020204030204" pitchFamily="34" charset="0"/>
                <a:cs typeface="Calibri" panose="020F0502020204030204" pitchFamily="34" charset="0"/>
              </a:rPr>
              <a:t>, and </a:t>
            </a:r>
            <a:r>
              <a:rPr lang="en-US" b="1" i="0" dirty="0">
                <a:solidFill>
                  <a:schemeClr val="tx1"/>
                </a:solidFill>
                <a:effectLst/>
                <a:latin typeface="Calibri" panose="020F0502020204030204" pitchFamily="34" charset="0"/>
                <a:cs typeface="Calibri" panose="020F0502020204030204" pitchFamily="34" charset="0"/>
              </a:rPr>
              <a:t>accuracy</a:t>
            </a:r>
            <a:r>
              <a:rPr lang="en-US" b="0" i="0" dirty="0">
                <a:solidFill>
                  <a:schemeClr val="tx1"/>
                </a:solidFill>
                <a:effectLst/>
                <a:latin typeface="Calibri" panose="020F0502020204030204" pitchFamily="34" charset="0"/>
                <a:cs typeface="Calibri" panose="020F0502020204030204" pitchFamily="34" charset="0"/>
              </a:rPr>
              <a:t> of individual data points. </a:t>
            </a:r>
          </a:p>
          <a:p>
            <a:pPr algn="just">
              <a:buFont typeface="Wingdings" panose="05000000000000000000" pitchFamily="2" charset="2"/>
              <a:buChar char="Ø"/>
            </a:pPr>
            <a:r>
              <a:rPr lang="en-US" sz="2200" b="0" i="0" dirty="0">
                <a:solidFill>
                  <a:schemeClr val="tx1"/>
                </a:solidFill>
                <a:effectLst/>
                <a:latin typeface="Calibri" panose="020F0502020204030204" pitchFamily="34" charset="0"/>
                <a:cs typeface="Calibri" panose="020F0502020204030204" pitchFamily="34" charset="0"/>
              </a:rPr>
              <a:t>Example of sampling: </a:t>
            </a:r>
            <a:r>
              <a:rPr lang="en-US" sz="2200" b="1" i="0" dirty="0">
                <a:solidFill>
                  <a:schemeClr val="tx1"/>
                </a:solidFill>
                <a:effectLst/>
                <a:latin typeface="Calibri" panose="020F0502020204030204" pitchFamily="34" charset="0"/>
                <a:cs typeface="Calibri" panose="020F0502020204030204" pitchFamily="34" charset="0"/>
              </a:rPr>
              <a:t>Literacy Digest poll </a:t>
            </a:r>
            <a:r>
              <a:rPr lang="en-US" sz="2200" b="0" i="0" dirty="0">
                <a:solidFill>
                  <a:schemeClr val="tx1"/>
                </a:solidFill>
                <a:effectLst/>
                <a:latin typeface="Calibri" panose="020F0502020204030204" pitchFamily="34" charset="0"/>
                <a:cs typeface="Calibri" panose="020F0502020204030204" pitchFamily="34" charset="0"/>
              </a:rPr>
              <a:t>of 1936 used 10 million people to predict victory of </a:t>
            </a:r>
            <a:r>
              <a:rPr lang="en-US" sz="2200" b="1" i="0" dirty="0">
                <a:solidFill>
                  <a:schemeClr val="tx1"/>
                </a:solidFill>
                <a:effectLst/>
                <a:latin typeface="Calibri" panose="020F0502020204030204" pitchFamily="34" charset="0"/>
                <a:cs typeface="Calibri" panose="020F0502020204030204" pitchFamily="34" charset="0"/>
              </a:rPr>
              <a:t>Alf Landon </a:t>
            </a:r>
            <a:r>
              <a:rPr lang="en-US" sz="2200" i="0" dirty="0">
                <a:solidFill>
                  <a:schemeClr val="tx1"/>
                </a:solidFill>
                <a:effectLst/>
                <a:latin typeface="Calibri" panose="020F0502020204030204" pitchFamily="34" charset="0"/>
                <a:cs typeface="Calibri" panose="020F0502020204030204" pitchFamily="34" charset="0"/>
              </a:rPr>
              <a:t>over</a:t>
            </a:r>
            <a:r>
              <a:rPr lang="en-US" sz="2200" b="1" i="0" dirty="0">
                <a:solidFill>
                  <a:schemeClr val="tx1"/>
                </a:solidFill>
                <a:effectLst/>
                <a:latin typeface="Calibri" panose="020F0502020204030204" pitchFamily="34" charset="0"/>
                <a:cs typeface="Calibri" panose="020F0502020204030204" pitchFamily="34" charset="0"/>
              </a:rPr>
              <a:t> Franklin Roosevelt</a:t>
            </a:r>
            <a:r>
              <a:rPr lang="en-US" sz="2200" b="0" i="0" dirty="0">
                <a:solidFill>
                  <a:schemeClr val="tx1"/>
                </a:solidFill>
                <a:effectLst/>
                <a:latin typeface="Calibri" panose="020F0502020204030204" pitchFamily="34" charset="0"/>
                <a:cs typeface="Calibri" panose="020F0502020204030204" pitchFamily="34" charset="0"/>
              </a:rPr>
              <a:t>. </a:t>
            </a:r>
            <a:r>
              <a:rPr lang="en-US" sz="2200" b="1" i="0" dirty="0">
                <a:solidFill>
                  <a:schemeClr val="tx1"/>
                </a:solidFill>
                <a:effectLst/>
                <a:latin typeface="Calibri" panose="020F0502020204030204" pitchFamily="34" charset="0"/>
                <a:cs typeface="Calibri" panose="020F0502020204030204" pitchFamily="34" charset="0"/>
              </a:rPr>
              <a:t>George Gallup </a:t>
            </a:r>
            <a:r>
              <a:rPr lang="en-US" sz="2200" b="0" i="0" dirty="0">
                <a:solidFill>
                  <a:schemeClr val="tx1"/>
                </a:solidFill>
                <a:effectLst/>
                <a:latin typeface="Calibri" panose="020F0502020204030204" pitchFamily="34" charset="0"/>
                <a:cs typeface="Calibri" panose="020F0502020204030204" pitchFamily="34" charset="0"/>
              </a:rPr>
              <a:t>just used sample of 2000 people and made prediction </a:t>
            </a:r>
            <a:r>
              <a:rPr lang="en-US" sz="2200" dirty="0">
                <a:solidFill>
                  <a:schemeClr val="tx1"/>
                </a:solidFill>
                <a:latin typeface="Calibri" panose="020F0502020204030204" pitchFamily="34" charset="0"/>
                <a:cs typeface="Calibri" panose="020F0502020204030204" pitchFamily="34" charset="0"/>
              </a:rPr>
              <a:t>for Franklin.</a:t>
            </a:r>
            <a:endParaRPr lang="en-US" sz="2200" b="0" i="0" dirty="0">
              <a:solidFill>
                <a:schemeClr val="tx1"/>
              </a:solidFill>
              <a:effectLst/>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5</a:t>
            </a:fld>
            <a:endParaRPr lang="en-US">
              <a:solidFill>
                <a:srgbClr val="90C226"/>
              </a:solidFill>
            </a:endParaRPr>
          </a:p>
        </p:txBody>
      </p:sp>
    </p:spTree>
    <p:extLst>
      <p:ext uri="{BB962C8B-B14F-4D97-AF65-F5344CB8AC3E}">
        <p14:creationId xmlns:p14="http://schemas.microsoft.com/office/powerpoint/2010/main" val="224124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1057973" y="272673"/>
            <a:ext cx="9875520" cy="757057"/>
          </a:xfrm>
        </p:spPr>
        <p:txBody>
          <a:bodyPr>
            <a:normAutofit/>
          </a:bodyPr>
          <a:lstStyle/>
          <a:p>
            <a:r>
              <a:rPr lang="en-US" dirty="0"/>
              <a:t>Bias</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235390" y="1029730"/>
            <a:ext cx="8653237" cy="5263979"/>
          </a:xfrm>
        </p:spPr>
        <p:txBody>
          <a:bodyPr>
            <a:normAutofit fontScale="92500" lnSpcReduction="20000"/>
          </a:bodyPr>
          <a:lstStyle/>
          <a:p>
            <a:pPr algn="just">
              <a:buFont typeface="Wingdings" panose="05000000000000000000" pitchFamily="2" charset="2"/>
              <a:buChar char="Ø"/>
            </a:pPr>
            <a:r>
              <a:rPr lang="en-US" sz="2000" dirty="0">
                <a:solidFill>
                  <a:schemeClr val="tx1"/>
                </a:solidFill>
                <a:latin typeface="Calibri" panose="020F0502020204030204" pitchFamily="34" charset="0"/>
                <a:cs typeface="Calibri" panose="020F0502020204030204" pitchFamily="34" charset="0"/>
              </a:rPr>
              <a:t>Statistical bias refers to </a:t>
            </a:r>
            <a:r>
              <a:rPr lang="en-US" sz="2000" b="1" dirty="0">
                <a:solidFill>
                  <a:schemeClr val="tx1"/>
                </a:solidFill>
                <a:latin typeface="Calibri" panose="020F0502020204030204" pitchFamily="34" charset="0"/>
                <a:cs typeface="Calibri" panose="020F0502020204030204" pitchFamily="34" charset="0"/>
              </a:rPr>
              <a:t>measurement or sampling errors </a:t>
            </a:r>
            <a:r>
              <a:rPr lang="en-US" sz="2000" dirty="0">
                <a:solidFill>
                  <a:schemeClr val="tx1"/>
                </a:solidFill>
                <a:latin typeface="Calibri" panose="020F0502020204030204" pitchFamily="34" charset="0"/>
                <a:cs typeface="Calibri" panose="020F0502020204030204" pitchFamily="34" charset="0"/>
              </a:rPr>
              <a:t>that are </a:t>
            </a:r>
            <a:r>
              <a:rPr lang="en-US" sz="2000" b="1" dirty="0">
                <a:solidFill>
                  <a:schemeClr val="tx1"/>
                </a:solidFill>
                <a:latin typeface="Calibri" panose="020F0502020204030204" pitchFamily="34" charset="0"/>
                <a:cs typeface="Calibri" panose="020F0502020204030204" pitchFamily="34" charset="0"/>
              </a:rPr>
              <a:t>systematic</a:t>
            </a:r>
            <a:r>
              <a:rPr lang="en-US" sz="2000" dirty="0">
                <a:solidFill>
                  <a:schemeClr val="tx1"/>
                </a:solidFill>
                <a:latin typeface="Calibri" panose="020F0502020204030204" pitchFamily="34" charset="0"/>
                <a:cs typeface="Calibri" panose="020F0502020204030204" pitchFamily="34" charset="0"/>
              </a:rPr>
              <a:t> and </a:t>
            </a:r>
            <a:r>
              <a:rPr lang="en-US" sz="2000" b="1" dirty="0">
                <a:solidFill>
                  <a:schemeClr val="tx1"/>
                </a:solidFill>
                <a:latin typeface="Calibri" panose="020F0502020204030204" pitchFamily="34" charset="0"/>
                <a:cs typeface="Calibri" panose="020F0502020204030204" pitchFamily="34" charset="0"/>
              </a:rPr>
              <a:t>produced by the measurement or sampling process</a:t>
            </a:r>
            <a:r>
              <a:rPr lang="en-US" sz="2000" dirty="0">
                <a:solidFill>
                  <a:schemeClr val="tx1"/>
                </a:solidFill>
                <a:latin typeface="Calibri" panose="020F0502020204030204" pitchFamily="34" charset="0"/>
                <a:cs typeface="Calibri" panose="020F0502020204030204" pitchFamily="34" charset="0"/>
              </a:rPr>
              <a:t>. </a:t>
            </a:r>
          </a:p>
          <a:p>
            <a:pPr algn="just">
              <a:buFont typeface="Wingdings" panose="05000000000000000000" pitchFamily="2" charset="2"/>
              <a:buChar char="Ø"/>
            </a:pPr>
            <a:r>
              <a:rPr lang="en-US" sz="2200" b="0" i="0" dirty="0">
                <a:solidFill>
                  <a:srgbClr val="000000"/>
                </a:solidFill>
                <a:effectLst/>
                <a:latin typeface="Calibri" panose="020F0502020204030204" pitchFamily="34" charset="0"/>
                <a:cs typeface="Calibri" panose="020F0502020204030204" pitchFamily="34" charset="0"/>
              </a:rPr>
              <a:t>Consider the physical process of a gun shooting at a target. </a:t>
            </a:r>
          </a:p>
          <a:p>
            <a:pPr lvl="1" algn="just">
              <a:buFont typeface="Wingdings" panose="05000000000000000000" pitchFamily="2" charset="2"/>
              <a:buChar char="Ø"/>
            </a:pPr>
            <a:r>
              <a:rPr lang="en-US" b="0" i="0" dirty="0">
                <a:solidFill>
                  <a:srgbClr val="000000"/>
                </a:solidFill>
                <a:effectLst/>
                <a:latin typeface="Calibri" panose="020F0502020204030204" pitchFamily="34" charset="0"/>
                <a:cs typeface="Calibri" panose="020F0502020204030204" pitchFamily="34" charset="0"/>
              </a:rPr>
              <a:t>It will not hit the absolute center of the target every time, or even much at all. </a:t>
            </a:r>
          </a:p>
          <a:p>
            <a:pPr lvl="1" algn="just">
              <a:buFont typeface="Wingdings" panose="05000000000000000000" pitchFamily="2" charset="2"/>
              <a:buChar char="Ø"/>
            </a:pPr>
            <a:r>
              <a:rPr lang="en-US" b="0" i="0" dirty="0">
                <a:solidFill>
                  <a:srgbClr val="000000"/>
                </a:solidFill>
                <a:effectLst/>
                <a:latin typeface="Calibri" panose="020F0502020204030204" pitchFamily="34" charset="0"/>
                <a:cs typeface="Calibri" panose="020F0502020204030204" pitchFamily="34" charset="0"/>
              </a:rPr>
              <a:t>An unbiased process will produce error, but it is random and does not tend strongly in any direction (see Figure 2-2). </a:t>
            </a:r>
          </a:p>
          <a:p>
            <a:pPr lvl="1" algn="just">
              <a:buFont typeface="Wingdings" panose="05000000000000000000" pitchFamily="2" charset="2"/>
              <a:buChar char="Ø"/>
            </a:pPr>
            <a:r>
              <a:rPr lang="en-US" b="0" i="0" dirty="0">
                <a:solidFill>
                  <a:srgbClr val="000000"/>
                </a:solidFill>
                <a:effectLst/>
                <a:latin typeface="Calibri" panose="020F0502020204030204" pitchFamily="34" charset="0"/>
                <a:cs typeface="Calibri" panose="020F0502020204030204" pitchFamily="34" charset="0"/>
              </a:rPr>
              <a:t>The results </a:t>
            </a:r>
            <a:r>
              <a:rPr lang="en-US" sz="2200" b="0" i="0" dirty="0">
                <a:solidFill>
                  <a:srgbClr val="000000"/>
                </a:solidFill>
                <a:effectLst/>
                <a:latin typeface="Calibri" panose="020F0502020204030204" pitchFamily="34" charset="0"/>
                <a:cs typeface="Calibri" panose="020F0502020204030204" pitchFamily="34" charset="0"/>
              </a:rPr>
              <a:t>shown in Figure 2-3 show a biased process—there is still random error in both the x and y direction, but there is also a </a:t>
            </a:r>
            <a:r>
              <a:rPr lang="en-US" sz="2200" b="1" i="0" dirty="0">
                <a:solidFill>
                  <a:schemeClr val="tx1"/>
                </a:solidFill>
                <a:effectLst/>
                <a:latin typeface="Calibri" panose="020F0502020204030204" pitchFamily="34" charset="0"/>
                <a:cs typeface="Calibri" panose="020F0502020204030204" pitchFamily="34" charset="0"/>
              </a:rPr>
              <a:t>bias</a:t>
            </a:r>
            <a:r>
              <a:rPr lang="en-US" sz="2200" b="0" i="0" dirty="0">
                <a:solidFill>
                  <a:srgbClr val="000000"/>
                </a:solidFill>
                <a:effectLst/>
                <a:latin typeface="Calibri" panose="020F0502020204030204" pitchFamily="34" charset="0"/>
                <a:cs typeface="Calibri" panose="020F0502020204030204" pitchFamily="34" charset="0"/>
              </a:rPr>
              <a:t>. </a:t>
            </a:r>
          </a:p>
          <a:p>
            <a:pPr lvl="1" algn="just">
              <a:buFont typeface="Wingdings" panose="05000000000000000000" pitchFamily="2" charset="2"/>
              <a:buChar char="Ø"/>
            </a:pPr>
            <a:r>
              <a:rPr lang="en-US" sz="2200" b="0" i="0" dirty="0">
                <a:solidFill>
                  <a:srgbClr val="000000"/>
                </a:solidFill>
                <a:effectLst/>
                <a:latin typeface="Calibri" panose="020F0502020204030204" pitchFamily="34" charset="0"/>
                <a:cs typeface="Calibri" panose="020F0502020204030204" pitchFamily="34" charset="0"/>
              </a:rPr>
              <a:t>Shots tend to fall in the upper-right quadrant.</a:t>
            </a:r>
          </a:p>
          <a:p>
            <a:pPr algn="just">
              <a:buFont typeface="Wingdings" panose="05000000000000000000" pitchFamily="2" charset="2"/>
              <a:buChar char="Ø"/>
            </a:pPr>
            <a:r>
              <a:rPr lang="en-US" sz="2400" b="0" i="0" dirty="0">
                <a:solidFill>
                  <a:srgbClr val="000000"/>
                </a:solidFill>
                <a:effectLst/>
                <a:latin typeface="Calibri" panose="020F0502020204030204" pitchFamily="34" charset="0"/>
                <a:cs typeface="Calibri" panose="020F0502020204030204" pitchFamily="34" charset="0"/>
              </a:rPr>
              <a:t>Bias comes in different forms, and may be </a:t>
            </a:r>
            <a:r>
              <a:rPr lang="en-US" sz="2400" b="1" i="0" dirty="0">
                <a:solidFill>
                  <a:srgbClr val="000000"/>
                </a:solidFill>
                <a:effectLst/>
                <a:latin typeface="Calibri" panose="020F0502020204030204" pitchFamily="34" charset="0"/>
                <a:cs typeface="Calibri" panose="020F0502020204030204" pitchFamily="34" charset="0"/>
              </a:rPr>
              <a:t>observable</a:t>
            </a:r>
            <a:r>
              <a:rPr lang="en-US" sz="2400" b="0" i="0" dirty="0">
                <a:solidFill>
                  <a:srgbClr val="000000"/>
                </a:solidFill>
                <a:effectLst/>
                <a:latin typeface="Calibri" panose="020F0502020204030204" pitchFamily="34" charset="0"/>
                <a:cs typeface="Calibri" panose="020F0502020204030204" pitchFamily="34" charset="0"/>
              </a:rPr>
              <a:t> or </a:t>
            </a:r>
            <a:r>
              <a:rPr lang="en-US" sz="2400" b="1" i="0" dirty="0">
                <a:solidFill>
                  <a:srgbClr val="000000"/>
                </a:solidFill>
                <a:effectLst/>
                <a:latin typeface="Calibri" panose="020F0502020204030204" pitchFamily="34" charset="0"/>
                <a:cs typeface="Calibri" panose="020F0502020204030204" pitchFamily="34" charset="0"/>
              </a:rPr>
              <a:t>invisible</a:t>
            </a:r>
            <a:r>
              <a:rPr lang="en-US" sz="2400" b="0" i="0" dirty="0">
                <a:solidFill>
                  <a:srgbClr val="000000"/>
                </a:solidFill>
                <a:effectLst/>
                <a:latin typeface="Calibri" panose="020F0502020204030204" pitchFamily="34" charset="0"/>
                <a:cs typeface="Calibri" panose="020F0502020204030204" pitchFamily="34" charset="0"/>
              </a:rPr>
              <a:t>. </a:t>
            </a:r>
          </a:p>
          <a:p>
            <a:pPr algn="just">
              <a:buFont typeface="Wingdings" panose="05000000000000000000" pitchFamily="2" charset="2"/>
              <a:buChar char="Ø"/>
            </a:pPr>
            <a:r>
              <a:rPr lang="en-US" sz="2400" b="0" i="0" dirty="0">
                <a:solidFill>
                  <a:srgbClr val="000000"/>
                </a:solidFill>
                <a:effectLst/>
                <a:latin typeface="Calibri" panose="020F0502020204030204" pitchFamily="34" charset="0"/>
                <a:cs typeface="Calibri" panose="020F0502020204030204" pitchFamily="34" charset="0"/>
              </a:rPr>
              <a:t>When a result does suggest bias (e.g., by reference to a benchmark or actual values), it is often an indicator that a statistical or machine learning model has been </a:t>
            </a:r>
            <a:r>
              <a:rPr lang="en-US" sz="2400" b="1" i="0" dirty="0">
                <a:solidFill>
                  <a:schemeClr val="tx1"/>
                </a:solidFill>
                <a:effectLst/>
                <a:latin typeface="Calibri" panose="020F0502020204030204" pitchFamily="34" charset="0"/>
                <a:cs typeface="Calibri" panose="020F0502020204030204" pitchFamily="34" charset="0"/>
              </a:rPr>
              <a:t>mis-specified</a:t>
            </a:r>
            <a:r>
              <a:rPr lang="en-US" sz="2400" b="0" i="0" dirty="0">
                <a:solidFill>
                  <a:srgbClr val="000000"/>
                </a:solidFill>
                <a:effectLst/>
                <a:latin typeface="Calibri" panose="020F0502020204030204" pitchFamily="34" charset="0"/>
                <a:cs typeface="Calibri" panose="020F0502020204030204" pitchFamily="34" charset="0"/>
              </a:rPr>
              <a:t>, </a:t>
            </a:r>
            <a:r>
              <a:rPr lang="en-US" sz="2400" b="0" i="0" dirty="0">
                <a:solidFill>
                  <a:schemeClr val="tx1"/>
                </a:solidFill>
                <a:effectLst/>
                <a:latin typeface="Calibri" panose="020F0502020204030204" pitchFamily="34" charset="0"/>
                <a:cs typeface="Calibri" panose="020F0502020204030204" pitchFamily="34" charset="0"/>
              </a:rPr>
              <a:t>or an </a:t>
            </a:r>
            <a:r>
              <a:rPr lang="en-US" sz="2400" b="1" i="0" dirty="0">
                <a:solidFill>
                  <a:schemeClr val="tx1"/>
                </a:solidFill>
                <a:effectLst/>
                <a:latin typeface="Calibri" panose="020F0502020204030204" pitchFamily="34" charset="0"/>
                <a:cs typeface="Calibri" panose="020F0502020204030204" pitchFamily="34" charset="0"/>
              </a:rPr>
              <a:t>important variable left out</a:t>
            </a:r>
            <a:r>
              <a:rPr lang="en-US" sz="2400" b="0" i="0" dirty="0">
                <a:solidFill>
                  <a:srgbClr val="000000"/>
                </a:solidFill>
                <a:effectLst/>
                <a:latin typeface="Calibri" panose="020F0502020204030204" pitchFamily="34" charset="0"/>
                <a:cs typeface="Calibri" panose="020F0502020204030204" pitchFamily="34" charset="0"/>
              </a:rPr>
              <a:t>.</a:t>
            </a:r>
          </a:p>
          <a:p>
            <a:pPr algn="just">
              <a:buFont typeface="Wingdings" panose="05000000000000000000" pitchFamily="2" charset="2"/>
              <a:buChar char="Ø"/>
            </a:pPr>
            <a:r>
              <a:rPr lang="en-US" sz="2400" b="0" i="0" dirty="0">
                <a:solidFill>
                  <a:schemeClr val="tx1"/>
                </a:solidFill>
                <a:effectLst/>
                <a:latin typeface="Calibri" panose="020F0502020204030204" pitchFamily="34" charset="0"/>
                <a:cs typeface="Calibri" panose="020F0502020204030204" pitchFamily="34" charset="0"/>
              </a:rPr>
              <a:t>An important distinction should be made between errors due to random chance and errors due to bias. </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6</a:t>
            </a:fld>
            <a:endParaRPr lang="en-US">
              <a:solidFill>
                <a:srgbClr val="90C226"/>
              </a:solidFill>
            </a:endParaRPr>
          </a:p>
        </p:txBody>
      </p:sp>
      <p:pic>
        <p:nvPicPr>
          <p:cNvPr id="8" name="Picture 7">
            <a:extLst>
              <a:ext uri="{FF2B5EF4-FFF2-40B4-BE49-F238E27FC236}">
                <a16:creationId xmlns:a16="http://schemas.microsoft.com/office/drawing/2014/main" id="{947E0D98-E5F6-4F65-85B4-9E62AD7F053B}"/>
              </a:ext>
            </a:extLst>
          </p:cNvPr>
          <p:cNvPicPr>
            <a:picLocks noChangeAspect="1"/>
          </p:cNvPicPr>
          <p:nvPr/>
        </p:nvPicPr>
        <p:blipFill>
          <a:blip r:embed="rId2"/>
          <a:stretch>
            <a:fillRect/>
          </a:stretch>
        </p:blipFill>
        <p:spPr>
          <a:xfrm>
            <a:off x="8888627" y="372658"/>
            <a:ext cx="3303373" cy="3161293"/>
          </a:xfrm>
          <a:prstGeom prst="rect">
            <a:avLst/>
          </a:prstGeom>
          <a:ln>
            <a:solidFill>
              <a:schemeClr val="tx1"/>
            </a:solidFill>
          </a:ln>
        </p:spPr>
      </p:pic>
      <p:pic>
        <p:nvPicPr>
          <p:cNvPr id="10" name="Picture 9">
            <a:extLst>
              <a:ext uri="{FF2B5EF4-FFF2-40B4-BE49-F238E27FC236}">
                <a16:creationId xmlns:a16="http://schemas.microsoft.com/office/drawing/2014/main" id="{0C3B681E-B047-4990-BD99-E47CA0D7B3CE}"/>
              </a:ext>
            </a:extLst>
          </p:cNvPr>
          <p:cNvPicPr>
            <a:picLocks noChangeAspect="1"/>
          </p:cNvPicPr>
          <p:nvPr/>
        </p:nvPicPr>
        <p:blipFill>
          <a:blip r:embed="rId3"/>
          <a:stretch>
            <a:fillRect/>
          </a:stretch>
        </p:blipFill>
        <p:spPr>
          <a:xfrm>
            <a:off x="8888627" y="3633936"/>
            <a:ext cx="3303373" cy="3054583"/>
          </a:xfrm>
          <a:prstGeom prst="rect">
            <a:avLst/>
          </a:prstGeom>
          <a:ln>
            <a:solidFill>
              <a:schemeClr val="tx1"/>
            </a:solidFill>
          </a:ln>
        </p:spPr>
      </p:pic>
    </p:spTree>
    <p:extLst>
      <p:ext uri="{BB962C8B-B14F-4D97-AF65-F5344CB8AC3E}">
        <p14:creationId xmlns:p14="http://schemas.microsoft.com/office/powerpoint/2010/main" val="1252528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1057973" y="272673"/>
            <a:ext cx="9875520" cy="757057"/>
          </a:xfrm>
        </p:spPr>
        <p:txBody>
          <a:bodyPr>
            <a:normAutofit/>
          </a:bodyPr>
          <a:lstStyle/>
          <a:p>
            <a:r>
              <a:rPr lang="en-US" dirty="0"/>
              <a:t>Random Selection</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547817" y="1029731"/>
            <a:ext cx="7567484" cy="5263978"/>
          </a:xfrm>
        </p:spPr>
        <p:txBody>
          <a:bodyPr>
            <a:normAutofit lnSpcReduction="10000"/>
          </a:bodyPr>
          <a:lstStyle/>
          <a:p>
            <a:pPr algn="just">
              <a:buFont typeface="Wingdings" panose="05000000000000000000" pitchFamily="2" charset="2"/>
              <a:buChar char="Ø"/>
            </a:pPr>
            <a:r>
              <a:rPr lang="en-US" sz="2400" b="0" i="0" dirty="0">
                <a:solidFill>
                  <a:schemeClr val="tx1"/>
                </a:solidFill>
                <a:effectLst/>
                <a:latin typeface="Calibri" panose="020F0502020204030204" pitchFamily="34" charset="0"/>
                <a:cs typeface="Calibri" panose="020F0502020204030204" pitchFamily="34" charset="0"/>
              </a:rPr>
              <a:t>To avoid the problem of </a:t>
            </a:r>
            <a:r>
              <a:rPr lang="en-US" sz="2400" b="1" i="0" dirty="0">
                <a:solidFill>
                  <a:schemeClr val="tx1"/>
                </a:solidFill>
                <a:effectLst/>
                <a:latin typeface="Calibri" panose="020F0502020204030204" pitchFamily="34" charset="0"/>
                <a:cs typeface="Calibri" panose="020F0502020204030204" pitchFamily="34" charset="0"/>
              </a:rPr>
              <a:t>sample </a:t>
            </a:r>
            <a:r>
              <a:rPr lang="en-US" sz="2400" b="1" dirty="0">
                <a:solidFill>
                  <a:schemeClr val="tx1"/>
                </a:solidFill>
                <a:latin typeface="Calibri" panose="020F0502020204030204" pitchFamily="34" charset="0"/>
                <a:cs typeface="Calibri" panose="020F0502020204030204" pitchFamily="34" charset="0"/>
              </a:rPr>
              <a:t>bias</a:t>
            </a:r>
            <a:r>
              <a:rPr lang="en-US" sz="2400" b="1" i="0" dirty="0">
                <a:solidFill>
                  <a:schemeClr val="tx1"/>
                </a:solidFill>
                <a:effectLst/>
                <a:latin typeface="Calibri" panose="020F0502020204030204" pitchFamily="34" charset="0"/>
                <a:cs typeface="Calibri" panose="020F0502020204030204" pitchFamily="34" charset="0"/>
              </a:rPr>
              <a:t> </a:t>
            </a:r>
            <a:r>
              <a:rPr lang="en-US" sz="2400" b="0" i="0" dirty="0">
                <a:solidFill>
                  <a:schemeClr val="tx1"/>
                </a:solidFill>
                <a:effectLst/>
                <a:latin typeface="Calibri" panose="020F0502020204030204" pitchFamily="34" charset="0"/>
                <a:cs typeface="Calibri" panose="020F0502020204030204" pitchFamily="34" charset="0"/>
              </a:rPr>
              <a:t>a variety of methods to achieve </a:t>
            </a:r>
            <a:r>
              <a:rPr lang="en-US" sz="2400" b="1" i="0" dirty="0">
                <a:solidFill>
                  <a:schemeClr val="tx1"/>
                </a:solidFill>
                <a:effectLst/>
                <a:latin typeface="Calibri" panose="020F0502020204030204" pitchFamily="34" charset="0"/>
                <a:cs typeface="Calibri" panose="020F0502020204030204" pitchFamily="34" charset="0"/>
              </a:rPr>
              <a:t>representativeness</a:t>
            </a:r>
            <a:r>
              <a:rPr lang="en-US" sz="2400" b="0" i="0" dirty="0">
                <a:solidFill>
                  <a:schemeClr val="tx1"/>
                </a:solidFill>
                <a:effectLst/>
                <a:latin typeface="Calibri" panose="020F0502020204030204" pitchFamily="34" charset="0"/>
                <a:cs typeface="Calibri" panose="020F0502020204030204" pitchFamily="34" charset="0"/>
              </a:rPr>
              <a:t>, but at the heart of all of them lies random sampling.</a:t>
            </a:r>
          </a:p>
          <a:p>
            <a:pPr algn="just">
              <a:buFont typeface="Wingdings" panose="05000000000000000000" pitchFamily="2" charset="2"/>
              <a:buChar char="Ø"/>
            </a:pPr>
            <a:r>
              <a:rPr lang="en-US" sz="2400" b="0" i="0" dirty="0">
                <a:solidFill>
                  <a:schemeClr val="tx1"/>
                </a:solidFill>
                <a:effectLst/>
                <a:latin typeface="Calibri" panose="020F0502020204030204" pitchFamily="34" charset="0"/>
                <a:cs typeface="Calibri" panose="020F0502020204030204" pitchFamily="34" charset="0"/>
              </a:rPr>
              <a:t>In </a:t>
            </a:r>
            <a:r>
              <a:rPr lang="en-US" sz="2400" b="1" i="0" dirty="0">
                <a:solidFill>
                  <a:schemeClr val="tx1"/>
                </a:solidFill>
                <a:effectLst/>
                <a:latin typeface="Calibri" panose="020F0502020204030204" pitchFamily="34" charset="0"/>
                <a:cs typeface="Calibri" panose="020F0502020204030204" pitchFamily="34" charset="0"/>
              </a:rPr>
              <a:t>stratified</a:t>
            </a:r>
            <a:r>
              <a:rPr lang="en-US" sz="2400" b="0" i="0" dirty="0">
                <a:solidFill>
                  <a:schemeClr val="tx1"/>
                </a:solidFill>
                <a:effectLst/>
                <a:latin typeface="Calibri" panose="020F0502020204030204" pitchFamily="34" charset="0"/>
                <a:cs typeface="Calibri" panose="020F0502020204030204" pitchFamily="34" charset="0"/>
              </a:rPr>
              <a:t> </a:t>
            </a:r>
            <a:r>
              <a:rPr lang="en-US" sz="2400" b="1" i="0" dirty="0">
                <a:solidFill>
                  <a:schemeClr val="tx1"/>
                </a:solidFill>
                <a:effectLst/>
                <a:latin typeface="Calibri" panose="020F0502020204030204" pitchFamily="34" charset="0"/>
                <a:cs typeface="Calibri" panose="020F0502020204030204" pitchFamily="34" charset="0"/>
              </a:rPr>
              <a:t>sampling</a:t>
            </a:r>
            <a:r>
              <a:rPr lang="en-US" sz="2400" b="0" i="0" dirty="0">
                <a:solidFill>
                  <a:schemeClr val="tx1"/>
                </a:solidFill>
                <a:effectLst/>
                <a:latin typeface="Calibri" panose="020F0502020204030204" pitchFamily="34" charset="0"/>
                <a:cs typeface="Calibri" panose="020F0502020204030204" pitchFamily="34" charset="0"/>
              </a:rPr>
              <a:t>, the population is divided up into </a:t>
            </a:r>
            <a:r>
              <a:rPr lang="en-US" sz="2400" b="1" i="0" dirty="0">
                <a:solidFill>
                  <a:schemeClr val="tx1"/>
                </a:solidFill>
                <a:effectLst/>
                <a:latin typeface="Calibri" panose="020F0502020204030204" pitchFamily="34" charset="0"/>
                <a:cs typeface="Calibri" panose="020F0502020204030204" pitchFamily="34" charset="0"/>
              </a:rPr>
              <a:t>strata</a:t>
            </a:r>
            <a:r>
              <a:rPr lang="en-US" sz="2400" b="0" i="0" dirty="0">
                <a:solidFill>
                  <a:schemeClr val="tx1"/>
                </a:solidFill>
                <a:effectLst/>
                <a:latin typeface="Calibri" panose="020F0502020204030204" pitchFamily="34" charset="0"/>
                <a:cs typeface="Calibri" panose="020F0502020204030204" pitchFamily="34" charset="0"/>
              </a:rPr>
              <a:t> (smaller sub-groups), and random samples are taken from each </a:t>
            </a:r>
            <a:r>
              <a:rPr lang="en-US" sz="2400" b="1" i="0" dirty="0">
                <a:solidFill>
                  <a:schemeClr val="tx1"/>
                </a:solidFill>
                <a:effectLst/>
                <a:latin typeface="Calibri" panose="020F0502020204030204" pitchFamily="34" charset="0"/>
                <a:cs typeface="Calibri" panose="020F0502020204030204" pitchFamily="34" charset="0"/>
              </a:rPr>
              <a:t>stratum</a:t>
            </a:r>
            <a:r>
              <a:rPr lang="en-US" sz="2400" b="0" i="0" dirty="0">
                <a:solidFill>
                  <a:schemeClr val="tx1"/>
                </a:solidFill>
                <a:effectLst/>
                <a:latin typeface="Calibri" panose="020F0502020204030204" pitchFamily="34" charset="0"/>
                <a:cs typeface="Calibri" panose="020F0502020204030204" pitchFamily="34" charset="0"/>
              </a:rPr>
              <a:t>. </a:t>
            </a:r>
          </a:p>
          <a:p>
            <a:pPr algn="just">
              <a:buFont typeface="Wingdings" panose="05000000000000000000" pitchFamily="2" charset="2"/>
              <a:buChar char="Ø"/>
            </a:pPr>
            <a:r>
              <a:rPr lang="en-US" sz="2400" b="0" i="0" dirty="0">
                <a:solidFill>
                  <a:schemeClr val="tx1"/>
                </a:solidFill>
                <a:effectLst/>
                <a:latin typeface="Calibri" panose="020F0502020204030204" pitchFamily="34" charset="0"/>
                <a:cs typeface="Calibri" panose="020F0502020204030204" pitchFamily="34" charset="0"/>
              </a:rPr>
              <a:t>Political researchers might seek to learn the electoral preferences of whites, blacks, and Hispanics (Spanish Americans). </a:t>
            </a:r>
          </a:p>
          <a:p>
            <a:pPr algn="just">
              <a:buFont typeface="Wingdings" panose="05000000000000000000" pitchFamily="2" charset="2"/>
              <a:buChar char="Ø"/>
            </a:pPr>
            <a:r>
              <a:rPr lang="en-US" sz="2400" b="0" i="0" dirty="0">
                <a:solidFill>
                  <a:schemeClr val="tx1"/>
                </a:solidFill>
                <a:effectLst/>
                <a:latin typeface="Calibri" panose="020F0502020204030204" pitchFamily="34" charset="0"/>
                <a:cs typeface="Calibri" panose="020F0502020204030204" pitchFamily="34" charset="0"/>
              </a:rPr>
              <a:t>A simple random sample taken from the population would yield too few blacks and Hispanics, </a:t>
            </a:r>
          </a:p>
          <a:p>
            <a:pPr algn="just">
              <a:buFont typeface="Wingdings" panose="05000000000000000000" pitchFamily="2" charset="2"/>
              <a:buChar char="Ø"/>
            </a:pPr>
            <a:r>
              <a:rPr lang="en-US" sz="2400" b="0" i="0" dirty="0">
                <a:solidFill>
                  <a:schemeClr val="tx1"/>
                </a:solidFill>
                <a:effectLst/>
                <a:latin typeface="Calibri" panose="020F0502020204030204" pitchFamily="34" charset="0"/>
                <a:cs typeface="Calibri" panose="020F0502020204030204" pitchFamily="34" charset="0"/>
              </a:rPr>
              <a:t>so those strata could be over-weighted in stratified sampling to yield equivalent sample sizes.</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7</a:t>
            </a:fld>
            <a:endParaRPr lang="en-US">
              <a:solidFill>
                <a:srgbClr val="90C226"/>
              </a:solidFill>
            </a:endParaRPr>
          </a:p>
        </p:txBody>
      </p:sp>
      <p:pic>
        <p:nvPicPr>
          <p:cNvPr id="2052" name="Picture 4" descr="Stratified Random Sampling - Bioscience Notes">
            <a:extLst>
              <a:ext uri="{FF2B5EF4-FFF2-40B4-BE49-F238E27FC236}">
                <a16:creationId xmlns:a16="http://schemas.microsoft.com/office/drawing/2014/main" id="{F097B247-D5EE-44A0-882D-547D68A4627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75774" y="2035664"/>
            <a:ext cx="3471042" cy="225962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6802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1057973" y="272673"/>
            <a:ext cx="9875520" cy="757057"/>
          </a:xfrm>
        </p:spPr>
        <p:txBody>
          <a:bodyPr>
            <a:normAutofit/>
          </a:bodyPr>
          <a:lstStyle/>
          <a:p>
            <a:endParaRPr lang="en-US" dirty="0"/>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547816" y="1128585"/>
            <a:ext cx="11191103" cy="5165123"/>
          </a:xfrm>
        </p:spPr>
        <p:txBody>
          <a:bodyPr>
            <a:normAutofit/>
          </a:bodyPr>
          <a:lstStyle/>
          <a:p>
            <a:pPr algn="just"/>
            <a:endParaRPr lang="en-US" sz="2200" b="0" i="0" dirty="0">
              <a:solidFill>
                <a:srgbClr val="000000"/>
              </a:solidFill>
              <a:effectLst/>
              <a:latin typeface="NewBaskerville-Roman"/>
            </a:endParaRP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8</a:t>
            </a:fld>
            <a:endParaRPr lang="en-US">
              <a:solidFill>
                <a:srgbClr val="90C226"/>
              </a:solidFill>
            </a:endParaRPr>
          </a:p>
        </p:txBody>
      </p:sp>
      <p:pic>
        <p:nvPicPr>
          <p:cNvPr id="6" name="Picture 5">
            <a:extLst>
              <a:ext uri="{FF2B5EF4-FFF2-40B4-BE49-F238E27FC236}">
                <a16:creationId xmlns:a16="http://schemas.microsoft.com/office/drawing/2014/main" id="{43C281DD-37AE-43A5-9AF8-D794309EE4CC}"/>
              </a:ext>
            </a:extLst>
          </p:cNvPr>
          <p:cNvPicPr>
            <a:picLocks noChangeAspect="1"/>
          </p:cNvPicPr>
          <p:nvPr/>
        </p:nvPicPr>
        <p:blipFill>
          <a:blip r:embed="rId2"/>
          <a:stretch>
            <a:fillRect/>
          </a:stretch>
        </p:blipFill>
        <p:spPr>
          <a:xfrm>
            <a:off x="2073524" y="42160"/>
            <a:ext cx="7494339" cy="6815840"/>
          </a:xfrm>
          <a:prstGeom prst="rect">
            <a:avLst/>
          </a:prstGeom>
        </p:spPr>
      </p:pic>
    </p:spTree>
    <p:extLst>
      <p:ext uri="{BB962C8B-B14F-4D97-AF65-F5344CB8AC3E}">
        <p14:creationId xmlns:p14="http://schemas.microsoft.com/office/powerpoint/2010/main" val="33269076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1057973" y="272673"/>
            <a:ext cx="9875520" cy="757057"/>
          </a:xfrm>
        </p:spPr>
        <p:txBody>
          <a:bodyPr>
            <a:normAutofit/>
          </a:bodyPr>
          <a:lstStyle/>
          <a:p>
            <a:r>
              <a:rPr lang="en-US" dirty="0"/>
              <a:t>Size Versus Quality: When Does Size Matter?</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547817" y="1128583"/>
            <a:ext cx="9238979" cy="5165125"/>
          </a:xfrm>
        </p:spPr>
        <p:txBody>
          <a:bodyPr>
            <a:normAutofit fontScale="85000" lnSpcReduction="10000"/>
          </a:bodyPr>
          <a:lstStyle/>
          <a:p>
            <a:pPr algn="just">
              <a:buFont typeface="Wingdings" panose="05000000000000000000" pitchFamily="2" charset="2"/>
              <a:buChar char="Ø"/>
            </a:pPr>
            <a:r>
              <a:rPr lang="en-US" sz="3200" b="0" i="0" dirty="0">
                <a:solidFill>
                  <a:schemeClr val="tx1"/>
                </a:solidFill>
                <a:effectLst/>
                <a:latin typeface="Calibri" panose="020F0502020204030204" pitchFamily="34" charset="0"/>
                <a:cs typeface="Calibri" panose="020F0502020204030204" pitchFamily="34" charset="0"/>
              </a:rPr>
              <a:t>In the era of big data, it is sometimes surprising that </a:t>
            </a:r>
            <a:r>
              <a:rPr lang="en-US" sz="3200" b="1" i="0" dirty="0">
                <a:solidFill>
                  <a:schemeClr val="tx1"/>
                </a:solidFill>
                <a:effectLst/>
                <a:latin typeface="Calibri" panose="020F0502020204030204" pitchFamily="34" charset="0"/>
                <a:cs typeface="Calibri" panose="020F0502020204030204" pitchFamily="34" charset="0"/>
              </a:rPr>
              <a:t>smaller is better</a:t>
            </a:r>
            <a:r>
              <a:rPr lang="en-US" sz="3200" b="0" i="0" dirty="0">
                <a:solidFill>
                  <a:schemeClr val="tx1"/>
                </a:solidFill>
                <a:effectLst/>
                <a:latin typeface="Calibri" panose="020F0502020204030204" pitchFamily="34" charset="0"/>
                <a:cs typeface="Calibri" panose="020F0502020204030204" pitchFamily="34" charset="0"/>
              </a:rPr>
              <a:t>. </a:t>
            </a:r>
          </a:p>
          <a:p>
            <a:pPr algn="just">
              <a:buFont typeface="Wingdings" panose="05000000000000000000" pitchFamily="2" charset="2"/>
              <a:buChar char="Ø"/>
            </a:pPr>
            <a:r>
              <a:rPr lang="en-US" sz="3200" b="0" i="0" dirty="0">
                <a:solidFill>
                  <a:schemeClr val="tx1"/>
                </a:solidFill>
                <a:effectLst/>
                <a:latin typeface="Calibri" panose="020F0502020204030204" pitchFamily="34" charset="0"/>
                <a:cs typeface="Calibri" panose="020F0502020204030204" pitchFamily="34" charset="0"/>
              </a:rPr>
              <a:t>Time and effort spent on random sampling not only </a:t>
            </a:r>
            <a:r>
              <a:rPr lang="en-US" sz="3200" b="1" i="0" dirty="0">
                <a:solidFill>
                  <a:schemeClr val="tx1"/>
                </a:solidFill>
                <a:effectLst/>
                <a:latin typeface="Calibri" panose="020F0502020204030204" pitchFamily="34" charset="0"/>
                <a:cs typeface="Calibri" panose="020F0502020204030204" pitchFamily="34" charset="0"/>
              </a:rPr>
              <a:t>reduces bias </a:t>
            </a:r>
            <a:r>
              <a:rPr lang="en-US" sz="3200" b="0" i="0" dirty="0">
                <a:solidFill>
                  <a:schemeClr val="tx1"/>
                </a:solidFill>
                <a:effectLst/>
                <a:latin typeface="Calibri" panose="020F0502020204030204" pitchFamily="34" charset="0"/>
                <a:cs typeface="Calibri" panose="020F0502020204030204" pitchFamily="34" charset="0"/>
              </a:rPr>
              <a:t>but also allows greater attention to </a:t>
            </a:r>
            <a:r>
              <a:rPr lang="en-US" sz="3200" b="1" i="0" dirty="0">
                <a:solidFill>
                  <a:schemeClr val="tx1"/>
                </a:solidFill>
                <a:effectLst/>
                <a:latin typeface="Calibri" panose="020F0502020204030204" pitchFamily="34" charset="0"/>
                <a:cs typeface="Calibri" panose="020F0502020204030204" pitchFamily="34" charset="0"/>
              </a:rPr>
              <a:t>data exploration </a:t>
            </a:r>
            <a:r>
              <a:rPr lang="en-US" sz="3200" b="0" i="0" dirty="0">
                <a:solidFill>
                  <a:schemeClr val="tx1"/>
                </a:solidFill>
                <a:effectLst/>
                <a:latin typeface="Calibri" panose="020F0502020204030204" pitchFamily="34" charset="0"/>
                <a:cs typeface="Calibri" panose="020F0502020204030204" pitchFamily="34" charset="0"/>
              </a:rPr>
              <a:t>and </a:t>
            </a:r>
            <a:r>
              <a:rPr lang="en-US" sz="3200" b="1" i="0" dirty="0">
                <a:solidFill>
                  <a:schemeClr val="tx1"/>
                </a:solidFill>
                <a:effectLst/>
                <a:latin typeface="Calibri" panose="020F0502020204030204" pitchFamily="34" charset="0"/>
                <a:cs typeface="Calibri" panose="020F0502020204030204" pitchFamily="34" charset="0"/>
              </a:rPr>
              <a:t>data quality</a:t>
            </a:r>
            <a:r>
              <a:rPr lang="en-US" sz="3200" b="0" i="0" dirty="0">
                <a:solidFill>
                  <a:schemeClr val="tx1"/>
                </a:solidFill>
                <a:effectLst/>
                <a:latin typeface="Calibri" panose="020F0502020204030204" pitchFamily="34" charset="0"/>
                <a:cs typeface="Calibri" panose="020F0502020204030204" pitchFamily="34" charset="0"/>
              </a:rPr>
              <a:t>. </a:t>
            </a:r>
          </a:p>
          <a:p>
            <a:pPr algn="just">
              <a:buFont typeface="Wingdings" panose="05000000000000000000" pitchFamily="2" charset="2"/>
              <a:buChar char="Ø"/>
            </a:pPr>
            <a:r>
              <a:rPr lang="en-US" sz="3200" b="0" i="0" dirty="0">
                <a:solidFill>
                  <a:schemeClr val="tx1"/>
                </a:solidFill>
                <a:effectLst/>
                <a:latin typeface="Calibri" panose="020F0502020204030204" pitchFamily="34" charset="0"/>
                <a:cs typeface="Calibri" panose="020F0502020204030204" pitchFamily="34" charset="0"/>
              </a:rPr>
              <a:t>For example, </a:t>
            </a:r>
            <a:r>
              <a:rPr lang="en-US" sz="3200" b="1" i="0" dirty="0">
                <a:solidFill>
                  <a:schemeClr val="tx1"/>
                </a:solidFill>
                <a:effectLst/>
                <a:latin typeface="Calibri" panose="020F0502020204030204" pitchFamily="34" charset="0"/>
                <a:cs typeface="Calibri" panose="020F0502020204030204" pitchFamily="34" charset="0"/>
              </a:rPr>
              <a:t>missing</a:t>
            </a:r>
            <a:r>
              <a:rPr lang="en-US" sz="3200" b="0" i="0" dirty="0">
                <a:solidFill>
                  <a:schemeClr val="tx1"/>
                </a:solidFill>
                <a:effectLst/>
                <a:latin typeface="Calibri" panose="020F0502020204030204" pitchFamily="34" charset="0"/>
                <a:cs typeface="Calibri" panose="020F0502020204030204" pitchFamily="34" charset="0"/>
              </a:rPr>
              <a:t> data and </a:t>
            </a:r>
            <a:r>
              <a:rPr lang="en-US" sz="3200" b="1" i="0" dirty="0">
                <a:solidFill>
                  <a:schemeClr val="tx1"/>
                </a:solidFill>
                <a:effectLst/>
                <a:latin typeface="Calibri" panose="020F0502020204030204" pitchFamily="34" charset="0"/>
                <a:cs typeface="Calibri" panose="020F0502020204030204" pitchFamily="34" charset="0"/>
              </a:rPr>
              <a:t>outliers</a:t>
            </a:r>
            <a:r>
              <a:rPr lang="en-US" sz="3200" b="0" i="0" dirty="0">
                <a:solidFill>
                  <a:schemeClr val="tx1"/>
                </a:solidFill>
                <a:effectLst/>
                <a:latin typeface="Calibri" panose="020F0502020204030204" pitchFamily="34" charset="0"/>
                <a:cs typeface="Calibri" panose="020F0502020204030204" pitchFamily="34" charset="0"/>
              </a:rPr>
              <a:t> may contain useful information. </a:t>
            </a:r>
          </a:p>
          <a:p>
            <a:pPr algn="just">
              <a:buFont typeface="Wingdings" panose="05000000000000000000" pitchFamily="2" charset="2"/>
              <a:buChar char="Ø"/>
            </a:pPr>
            <a:r>
              <a:rPr lang="en-US" sz="3200" b="0" i="0" dirty="0">
                <a:solidFill>
                  <a:schemeClr val="tx1"/>
                </a:solidFill>
                <a:effectLst/>
                <a:latin typeface="Calibri" panose="020F0502020204030204" pitchFamily="34" charset="0"/>
                <a:cs typeface="Calibri" panose="020F0502020204030204" pitchFamily="34" charset="0"/>
              </a:rPr>
              <a:t>It might be too expensive to track down </a:t>
            </a:r>
            <a:r>
              <a:rPr lang="en-US" sz="3200" b="1" i="0" dirty="0">
                <a:solidFill>
                  <a:schemeClr val="tx1"/>
                </a:solidFill>
                <a:effectLst/>
                <a:latin typeface="Calibri" panose="020F0502020204030204" pitchFamily="34" charset="0"/>
                <a:cs typeface="Calibri" panose="020F0502020204030204" pitchFamily="34" charset="0"/>
              </a:rPr>
              <a:t>missing values </a:t>
            </a:r>
            <a:r>
              <a:rPr lang="en-US" sz="3200" b="0" i="0" dirty="0">
                <a:solidFill>
                  <a:schemeClr val="tx1"/>
                </a:solidFill>
                <a:effectLst/>
                <a:latin typeface="Calibri" panose="020F0502020204030204" pitchFamily="34" charset="0"/>
                <a:cs typeface="Calibri" panose="020F0502020204030204" pitchFamily="34" charset="0"/>
              </a:rPr>
              <a:t>or evaluate </a:t>
            </a:r>
            <a:r>
              <a:rPr lang="en-US" sz="3200" b="1" i="0" dirty="0">
                <a:solidFill>
                  <a:schemeClr val="tx1"/>
                </a:solidFill>
                <a:effectLst/>
                <a:latin typeface="Calibri" panose="020F0502020204030204" pitchFamily="34" charset="0"/>
                <a:cs typeface="Calibri" panose="020F0502020204030204" pitchFamily="34" charset="0"/>
              </a:rPr>
              <a:t>outliers</a:t>
            </a:r>
            <a:r>
              <a:rPr lang="en-US" sz="3200" b="0" i="0" dirty="0">
                <a:solidFill>
                  <a:schemeClr val="tx1"/>
                </a:solidFill>
                <a:effectLst/>
                <a:latin typeface="Calibri" panose="020F0502020204030204" pitchFamily="34" charset="0"/>
                <a:cs typeface="Calibri" panose="020F0502020204030204" pitchFamily="34" charset="0"/>
              </a:rPr>
              <a:t> in millions of records, but doing so in a </a:t>
            </a:r>
            <a:r>
              <a:rPr lang="en-US" sz="3200" b="1" i="0" dirty="0">
                <a:solidFill>
                  <a:schemeClr val="tx1"/>
                </a:solidFill>
                <a:effectLst/>
                <a:latin typeface="Calibri" panose="020F0502020204030204" pitchFamily="34" charset="0"/>
                <a:cs typeface="Calibri" panose="020F0502020204030204" pitchFamily="34" charset="0"/>
              </a:rPr>
              <a:t>sample</a:t>
            </a:r>
            <a:r>
              <a:rPr lang="en-US" sz="3200" b="0" i="0" dirty="0">
                <a:solidFill>
                  <a:schemeClr val="tx1"/>
                </a:solidFill>
                <a:effectLst/>
                <a:latin typeface="Calibri" panose="020F0502020204030204" pitchFamily="34" charset="0"/>
                <a:cs typeface="Calibri" panose="020F0502020204030204" pitchFamily="34" charset="0"/>
              </a:rPr>
              <a:t> of several thousand records may be </a:t>
            </a:r>
            <a:r>
              <a:rPr lang="en-US" sz="3200" i="0" dirty="0">
                <a:solidFill>
                  <a:schemeClr val="tx1"/>
                </a:solidFill>
                <a:effectLst/>
                <a:latin typeface="Calibri" panose="020F0502020204030204" pitchFamily="34" charset="0"/>
                <a:cs typeface="Calibri" panose="020F0502020204030204" pitchFamily="34" charset="0"/>
              </a:rPr>
              <a:t>feasible</a:t>
            </a:r>
            <a:r>
              <a:rPr lang="en-US" sz="3200" b="0" i="0" dirty="0">
                <a:solidFill>
                  <a:schemeClr val="tx1"/>
                </a:solidFill>
                <a:effectLst/>
                <a:latin typeface="Calibri" panose="020F0502020204030204" pitchFamily="34" charset="0"/>
                <a:cs typeface="Calibri" panose="020F0502020204030204" pitchFamily="34" charset="0"/>
              </a:rPr>
              <a:t>. </a:t>
            </a:r>
          </a:p>
          <a:p>
            <a:pPr algn="just">
              <a:buFont typeface="Wingdings" panose="05000000000000000000" pitchFamily="2" charset="2"/>
              <a:buChar char="Ø"/>
            </a:pPr>
            <a:r>
              <a:rPr lang="en-US" sz="3200" b="0" i="0" dirty="0">
                <a:solidFill>
                  <a:schemeClr val="tx1"/>
                </a:solidFill>
                <a:effectLst/>
                <a:latin typeface="Calibri" panose="020F0502020204030204" pitchFamily="34" charset="0"/>
                <a:cs typeface="Calibri" panose="020F0502020204030204" pitchFamily="34" charset="0"/>
              </a:rPr>
              <a:t>Data plotting and manual inspection bog down if there is too much data.</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9</a:t>
            </a:fld>
            <a:endParaRPr lang="en-US">
              <a:solidFill>
                <a:srgbClr val="90C226"/>
              </a:solidFill>
            </a:endParaRPr>
          </a:p>
        </p:txBody>
      </p:sp>
    </p:spTree>
    <p:extLst>
      <p:ext uri="{BB962C8B-B14F-4D97-AF65-F5344CB8AC3E}">
        <p14:creationId xmlns:p14="http://schemas.microsoft.com/office/powerpoint/2010/main" val="1938280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1057973" y="272673"/>
            <a:ext cx="9875520" cy="757057"/>
          </a:xfrm>
        </p:spPr>
        <p:txBody>
          <a:bodyPr>
            <a:normAutofit/>
          </a:bodyPr>
          <a:lstStyle/>
          <a:p>
            <a:r>
              <a:rPr lang="en-US" dirty="0"/>
              <a:t>Sample Mean Versus Population Mean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547817" y="1128583"/>
                <a:ext cx="9202765" cy="5165125"/>
              </a:xfrm>
            </p:spPr>
            <p:txBody>
              <a:bodyPr>
                <a:normAutofit/>
              </a:bodyPr>
              <a:lstStyle/>
              <a:p>
                <a:pPr algn="just">
                  <a:buFont typeface="Wingdings" panose="05000000000000000000" pitchFamily="2" charset="2"/>
                  <a:buChar char="Ø"/>
                </a:pPr>
                <a:r>
                  <a:rPr lang="en-US" sz="3200" b="0" i="0" dirty="0">
                    <a:solidFill>
                      <a:schemeClr val="tx1"/>
                    </a:solidFill>
                    <a:effectLst/>
                    <a:latin typeface="Calibri" panose="020F0502020204030204" pitchFamily="34" charset="0"/>
                    <a:cs typeface="Calibri" panose="020F0502020204030204" pitchFamily="34" charset="0"/>
                  </a:rPr>
                  <a:t>The symbol </a:t>
                </a:r>
                <a14:m>
                  <m:oMath xmlns:m="http://schemas.openxmlformats.org/officeDocument/2006/math">
                    <m:acc>
                      <m:accPr>
                        <m:chr m:val="̅"/>
                        <m:ctrlPr>
                          <a:rPr lang="en-US" sz="3200" b="0" i="1" smtClean="0">
                            <a:solidFill>
                              <a:schemeClr val="tx1"/>
                            </a:solidFill>
                            <a:effectLst/>
                            <a:latin typeface="Cambria Math" panose="02040503050406030204" pitchFamily="18" charset="0"/>
                          </a:rPr>
                        </m:ctrlPr>
                      </m:accPr>
                      <m:e>
                        <m:r>
                          <a:rPr lang="en-US" sz="3200" b="1" i="1" smtClean="0">
                            <a:solidFill>
                              <a:schemeClr val="tx1"/>
                            </a:solidFill>
                            <a:effectLst/>
                            <a:latin typeface="Cambria Math" panose="02040503050406030204" pitchFamily="18" charset="0"/>
                          </a:rPr>
                          <m:t>𝒙</m:t>
                        </m:r>
                      </m:e>
                    </m:acc>
                  </m:oMath>
                </a14:m>
                <a:r>
                  <a:rPr lang="en-US" sz="3200" b="0" i="0" dirty="0">
                    <a:solidFill>
                      <a:schemeClr val="tx1"/>
                    </a:solidFill>
                    <a:effectLst/>
                    <a:latin typeface="Calibri" panose="020F0502020204030204" pitchFamily="34" charset="0"/>
                    <a:cs typeface="Calibri" panose="020F0502020204030204" pitchFamily="34" charset="0"/>
                  </a:rPr>
                  <a:t> is used to represent the </a:t>
                </a:r>
                <a:r>
                  <a:rPr lang="en-US" sz="3200" b="1" i="0" dirty="0">
                    <a:solidFill>
                      <a:schemeClr val="tx1"/>
                    </a:solidFill>
                    <a:effectLst/>
                    <a:latin typeface="Calibri" panose="020F0502020204030204" pitchFamily="34" charset="0"/>
                    <a:cs typeface="Calibri" panose="020F0502020204030204" pitchFamily="34" charset="0"/>
                  </a:rPr>
                  <a:t>mean</a:t>
                </a:r>
                <a:r>
                  <a:rPr lang="en-US" sz="3200" b="0" i="0" dirty="0">
                    <a:solidFill>
                      <a:schemeClr val="tx1"/>
                    </a:solidFill>
                    <a:effectLst/>
                    <a:latin typeface="Calibri" panose="020F0502020204030204" pitchFamily="34" charset="0"/>
                    <a:cs typeface="Calibri" panose="020F0502020204030204" pitchFamily="34" charset="0"/>
                  </a:rPr>
                  <a:t> of a </a:t>
                </a:r>
                <a:r>
                  <a:rPr lang="en-US" sz="3200" b="1" i="0" dirty="0">
                    <a:solidFill>
                      <a:schemeClr val="tx1"/>
                    </a:solidFill>
                    <a:effectLst/>
                    <a:latin typeface="Calibri" panose="020F0502020204030204" pitchFamily="34" charset="0"/>
                    <a:cs typeface="Calibri" panose="020F0502020204030204" pitchFamily="34" charset="0"/>
                  </a:rPr>
                  <a:t>sample</a:t>
                </a:r>
                <a:r>
                  <a:rPr lang="en-US" sz="3200" b="0" i="0" dirty="0">
                    <a:solidFill>
                      <a:schemeClr val="tx1"/>
                    </a:solidFill>
                    <a:effectLst/>
                    <a:latin typeface="Calibri" panose="020F0502020204030204" pitchFamily="34" charset="0"/>
                    <a:cs typeface="Calibri" panose="020F0502020204030204" pitchFamily="34" charset="0"/>
                  </a:rPr>
                  <a:t> from a population, </a:t>
                </a:r>
              </a:p>
              <a:p>
                <a:pPr algn="just">
                  <a:buFont typeface="Wingdings" panose="05000000000000000000" pitchFamily="2" charset="2"/>
                  <a:buChar char="Ø"/>
                </a:pPr>
                <a:r>
                  <a:rPr lang="en-US" sz="3200" b="0" i="0" dirty="0">
                    <a:solidFill>
                      <a:schemeClr val="tx1"/>
                    </a:solidFill>
                    <a:effectLst/>
                    <a:latin typeface="Calibri" panose="020F0502020204030204" pitchFamily="34" charset="0"/>
                    <a:cs typeface="Calibri" panose="020F0502020204030204" pitchFamily="34" charset="0"/>
                  </a:rPr>
                  <a:t>whereas </a:t>
                </a:r>
                <a:r>
                  <a:rPr lang="en-US" sz="3200" b="1" i="0" dirty="0">
                    <a:solidFill>
                      <a:schemeClr val="tx1"/>
                    </a:solidFill>
                    <a:effectLst/>
                    <a:latin typeface="Calibri" panose="020F0502020204030204" pitchFamily="34" charset="0"/>
                    <a:cs typeface="Calibri" panose="020F0502020204030204" pitchFamily="34" charset="0"/>
                  </a:rPr>
                  <a:t>μ</a:t>
                </a:r>
                <a:r>
                  <a:rPr lang="en-US" sz="3200" b="0" i="0" dirty="0">
                    <a:solidFill>
                      <a:schemeClr val="tx1"/>
                    </a:solidFill>
                    <a:effectLst/>
                    <a:latin typeface="Calibri" panose="020F0502020204030204" pitchFamily="34" charset="0"/>
                    <a:cs typeface="Calibri" panose="020F0502020204030204" pitchFamily="34" charset="0"/>
                  </a:rPr>
                  <a:t> is used to represent the </a:t>
                </a:r>
                <a:r>
                  <a:rPr lang="en-US" sz="3200" b="1" i="0" dirty="0">
                    <a:solidFill>
                      <a:schemeClr val="tx1"/>
                    </a:solidFill>
                    <a:effectLst/>
                    <a:latin typeface="Calibri" panose="020F0502020204030204" pitchFamily="34" charset="0"/>
                    <a:cs typeface="Calibri" panose="020F0502020204030204" pitchFamily="34" charset="0"/>
                  </a:rPr>
                  <a:t>mean</a:t>
                </a:r>
                <a:r>
                  <a:rPr lang="en-US" sz="3200" b="0" i="0" dirty="0">
                    <a:solidFill>
                      <a:schemeClr val="tx1"/>
                    </a:solidFill>
                    <a:effectLst/>
                    <a:latin typeface="Calibri" panose="020F0502020204030204" pitchFamily="34" charset="0"/>
                    <a:cs typeface="Calibri" panose="020F0502020204030204" pitchFamily="34" charset="0"/>
                  </a:rPr>
                  <a:t> of a </a:t>
                </a:r>
                <a:r>
                  <a:rPr lang="en-US" sz="3200" b="1" i="0" dirty="0">
                    <a:solidFill>
                      <a:schemeClr val="tx1"/>
                    </a:solidFill>
                    <a:effectLst/>
                    <a:latin typeface="Calibri" panose="020F0502020204030204" pitchFamily="34" charset="0"/>
                    <a:cs typeface="Calibri" panose="020F0502020204030204" pitchFamily="34" charset="0"/>
                  </a:rPr>
                  <a:t>population</a:t>
                </a:r>
                <a:r>
                  <a:rPr lang="en-US" sz="3200" b="0" i="0" dirty="0">
                    <a:solidFill>
                      <a:schemeClr val="tx1"/>
                    </a:solidFill>
                    <a:effectLst/>
                    <a:latin typeface="Calibri" panose="020F0502020204030204" pitchFamily="34" charset="0"/>
                    <a:cs typeface="Calibri" panose="020F0502020204030204" pitchFamily="34" charset="0"/>
                  </a:rPr>
                  <a:t>. </a:t>
                </a:r>
              </a:p>
              <a:p>
                <a:pPr algn="just">
                  <a:buFont typeface="Wingdings" panose="05000000000000000000" pitchFamily="2" charset="2"/>
                  <a:buChar char="Ø"/>
                </a:pPr>
                <a:r>
                  <a:rPr lang="en-US" sz="3200" b="0" i="0" dirty="0">
                    <a:solidFill>
                      <a:schemeClr val="tx1"/>
                    </a:solidFill>
                    <a:effectLst/>
                    <a:latin typeface="Calibri" panose="020F0502020204030204" pitchFamily="34" charset="0"/>
                    <a:cs typeface="Calibri" panose="020F0502020204030204" pitchFamily="34" charset="0"/>
                  </a:rPr>
                  <a:t>Why make the distinction? </a:t>
                </a:r>
              </a:p>
              <a:p>
                <a:pPr lvl="1" algn="just">
                  <a:buFont typeface="Wingdings" panose="05000000000000000000" pitchFamily="2" charset="2"/>
                  <a:buChar char="Ø"/>
                </a:pPr>
                <a:r>
                  <a:rPr lang="en-US" sz="3000" b="0" i="0" dirty="0">
                    <a:solidFill>
                      <a:schemeClr val="tx1"/>
                    </a:solidFill>
                    <a:effectLst/>
                    <a:latin typeface="Calibri" panose="020F0502020204030204" pitchFamily="34" charset="0"/>
                    <a:cs typeface="Calibri" panose="020F0502020204030204" pitchFamily="34" charset="0"/>
                  </a:rPr>
                  <a:t>Information about samples is </a:t>
                </a:r>
                <a:r>
                  <a:rPr lang="en-US" sz="3000" b="1" i="0" dirty="0">
                    <a:solidFill>
                      <a:schemeClr val="tx1"/>
                    </a:solidFill>
                    <a:effectLst/>
                    <a:latin typeface="Calibri" panose="020F0502020204030204" pitchFamily="34" charset="0"/>
                    <a:cs typeface="Calibri" panose="020F0502020204030204" pitchFamily="34" charset="0"/>
                  </a:rPr>
                  <a:t>observed</a:t>
                </a:r>
                <a:r>
                  <a:rPr lang="en-US" sz="3000" b="0" i="0" dirty="0">
                    <a:solidFill>
                      <a:schemeClr val="tx1"/>
                    </a:solidFill>
                    <a:effectLst/>
                    <a:latin typeface="Calibri" panose="020F0502020204030204" pitchFamily="34" charset="0"/>
                    <a:cs typeface="Calibri" panose="020F0502020204030204" pitchFamily="34" charset="0"/>
                  </a:rPr>
                  <a:t>, and </a:t>
                </a:r>
              </a:p>
              <a:p>
                <a:pPr lvl="1" algn="just">
                  <a:buFont typeface="Wingdings" panose="05000000000000000000" pitchFamily="2" charset="2"/>
                  <a:buChar char="Ø"/>
                </a:pPr>
                <a:r>
                  <a:rPr lang="en-US" sz="3000" b="0" i="0" dirty="0">
                    <a:solidFill>
                      <a:schemeClr val="tx1"/>
                    </a:solidFill>
                    <a:effectLst/>
                    <a:latin typeface="Calibri" panose="020F0502020204030204" pitchFamily="34" charset="0"/>
                    <a:cs typeface="Calibri" panose="020F0502020204030204" pitchFamily="34" charset="0"/>
                  </a:rPr>
                  <a:t>information about large populations is often </a:t>
                </a:r>
                <a:r>
                  <a:rPr lang="en-US" sz="3000" b="1" i="0" dirty="0">
                    <a:solidFill>
                      <a:schemeClr val="tx1"/>
                    </a:solidFill>
                    <a:effectLst/>
                    <a:latin typeface="Calibri" panose="020F0502020204030204" pitchFamily="34" charset="0"/>
                    <a:cs typeface="Calibri" panose="020F0502020204030204" pitchFamily="34" charset="0"/>
                  </a:rPr>
                  <a:t>inferred</a:t>
                </a:r>
                <a:r>
                  <a:rPr lang="en-US" sz="3000" b="0" i="0" dirty="0">
                    <a:solidFill>
                      <a:schemeClr val="tx1"/>
                    </a:solidFill>
                    <a:effectLst/>
                    <a:latin typeface="Calibri" panose="020F0502020204030204" pitchFamily="34" charset="0"/>
                    <a:cs typeface="Calibri" panose="020F0502020204030204" pitchFamily="34" charset="0"/>
                  </a:rPr>
                  <a:t> from smaller samples. </a:t>
                </a:r>
              </a:p>
            </p:txBody>
          </p:sp>
        </mc:Choice>
        <mc:Fallback xmlns="">
          <p:sp>
            <p:nvSpPr>
              <p:cNvPr id="3" name="Content Placeholder 2">
                <a:extLst>
                  <a:ext uri="{FF2B5EF4-FFF2-40B4-BE49-F238E27FC236}">
                    <a16:creationId xmlns="" xmlns:a16="http://schemas.microsoft.com/office/drawing/2014/main" xmlns:a14="http://schemas.microsoft.com/office/drawing/2010/main" id="{7B8584DC-3BE1-439B-A244-0F2BBE92DF23}"/>
                  </a:ext>
                </a:extLst>
              </p:cNvPr>
              <p:cNvSpPr>
                <a:spLocks noGrp="1" noRot="1" noChangeAspect="1" noMove="1" noResize="1" noEditPoints="1" noAdjustHandles="1" noChangeArrowheads="1" noChangeShapeType="1" noTextEdit="1"/>
              </p:cNvSpPr>
              <p:nvPr>
                <p:ph idx="1"/>
              </p:nvPr>
            </p:nvSpPr>
            <p:spPr>
              <a:xfrm>
                <a:off x="547817" y="1128583"/>
                <a:ext cx="9202765" cy="5165125"/>
              </a:xfrm>
              <a:blipFill rotWithShape="0">
                <a:blip r:embed="rId2"/>
                <a:stretch>
                  <a:fillRect l="-993" t="-1417" r="-1589"/>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10</a:t>
            </a:fld>
            <a:endParaRPr lang="en-US">
              <a:solidFill>
                <a:srgbClr val="90C226"/>
              </a:solidFill>
            </a:endParaRPr>
          </a:p>
        </p:txBody>
      </p:sp>
    </p:spTree>
    <p:extLst>
      <p:ext uri="{BB962C8B-B14F-4D97-AF65-F5344CB8AC3E}">
        <p14:creationId xmlns:p14="http://schemas.microsoft.com/office/powerpoint/2010/main" val="8897517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91103" cy="757057"/>
          </a:xfrm>
        </p:spPr>
        <p:txBody>
          <a:bodyPr>
            <a:normAutofit/>
          </a:bodyPr>
          <a:lstStyle/>
          <a:p>
            <a:r>
              <a:rPr lang="en-US" dirty="0"/>
              <a:t>Key ideas</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11</a:t>
            </a:fld>
            <a:endParaRPr lang="en-US">
              <a:solidFill>
                <a:srgbClr val="90C226"/>
              </a:solidFill>
            </a:endParaRPr>
          </a:p>
        </p:txBody>
      </p:sp>
      <p:pic>
        <p:nvPicPr>
          <p:cNvPr id="7" name="Picture 6">
            <a:extLst>
              <a:ext uri="{FF2B5EF4-FFF2-40B4-BE49-F238E27FC236}">
                <a16:creationId xmlns:a16="http://schemas.microsoft.com/office/drawing/2014/main" id="{493351C4-A55C-414F-BDC6-7F98FA2C5456}"/>
              </a:ext>
            </a:extLst>
          </p:cNvPr>
          <p:cNvPicPr>
            <a:picLocks noChangeAspect="1"/>
          </p:cNvPicPr>
          <p:nvPr/>
        </p:nvPicPr>
        <p:blipFill>
          <a:blip r:embed="rId2"/>
          <a:stretch>
            <a:fillRect/>
          </a:stretch>
        </p:blipFill>
        <p:spPr>
          <a:xfrm>
            <a:off x="468868" y="1330859"/>
            <a:ext cx="11348998" cy="4029476"/>
          </a:xfrm>
          <a:prstGeom prst="rect">
            <a:avLst/>
          </a:prstGeom>
        </p:spPr>
      </p:pic>
    </p:spTree>
    <p:extLst>
      <p:ext uri="{BB962C8B-B14F-4D97-AF65-F5344CB8AC3E}">
        <p14:creationId xmlns:p14="http://schemas.microsoft.com/office/powerpoint/2010/main" val="23805375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Selection Bias</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62139" y="1128583"/>
            <a:ext cx="9297909" cy="5277904"/>
          </a:xfrm>
        </p:spPr>
        <p:txBody>
          <a:bodyPr>
            <a:normAutofit fontScale="62500" lnSpcReduction="20000"/>
          </a:bodyPr>
          <a:lstStyle/>
          <a:p>
            <a:pPr algn="just">
              <a:buFont typeface="Wingdings" panose="05000000000000000000" pitchFamily="2" charset="2"/>
              <a:buChar char="Ø"/>
            </a:pPr>
            <a:r>
              <a:rPr lang="en-US" sz="3200" b="0" i="0" dirty="0">
                <a:solidFill>
                  <a:schemeClr val="tx1"/>
                </a:solidFill>
                <a:effectLst/>
                <a:latin typeface="Calibri" panose="020F0502020204030204" pitchFamily="34" charset="0"/>
                <a:cs typeface="Calibri" panose="020F0502020204030204" pitchFamily="34" charset="0"/>
              </a:rPr>
              <a:t>Selection bias refers to the practice of selectively choosing data consciously or unconsciously in a way that leads to a conclusion that is </a:t>
            </a:r>
            <a:r>
              <a:rPr lang="en-US" sz="3200" b="1" i="0" dirty="0">
                <a:solidFill>
                  <a:schemeClr val="tx1"/>
                </a:solidFill>
                <a:effectLst/>
                <a:latin typeface="Calibri" panose="020F0502020204030204" pitchFamily="34" charset="0"/>
                <a:cs typeface="Calibri" panose="020F0502020204030204" pitchFamily="34" charset="0"/>
              </a:rPr>
              <a:t>misleading</a:t>
            </a:r>
            <a:r>
              <a:rPr lang="en-US" sz="3200" b="0" i="0" dirty="0">
                <a:solidFill>
                  <a:schemeClr val="tx1"/>
                </a:solidFill>
                <a:effectLst/>
                <a:latin typeface="Calibri" panose="020F0502020204030204" pitchFamily="34" charset="0"/>
                <a:cs typeface="Calibri" panose="020F0502020204030204" pitchFamily="34" charset="0"/>
              </a:rPr>
              <a:t> or </a:t>
            </a:r>
            <a:r>
              <a:rPr lang="en-US" sz="3200" b="1" i="0" dirty="0">
                <a:solidFill>
                  <a:schemeClr val="tx1"/>
                </a:solidFill>
                <a:effectLst/>
                <a:latin typeface="Calibri" panose="020F0502020204030204" pitchFamily="34" charset="0"/>
                <a:cs typeface="Calibri" panose="020F0502020204030204" pitchFamily="34" charset="0"/>
              </a:rPr>
              <a:t>ephemeral</a:t>
            </a:r>
            <a:r>
              <a:rPr lang="en-US" sz="3200" b="0" i="0" dirty="0">
                <a:solidFill>
                  <a:schemeClr val="tx1"/>
                </a:solidFill>
                <a:effectLst/>
                <a:latin typeface="Calibri" panose="020F0502020204030204" pitchFamily="34" charset="0"/>
                <a:cs typeface="Calibri" panose="020F0502020204030204" pitchFamily="34" charset="0"/>
              </a:rPr>
              <a:t>/temporary.</a:t>
            </a:r>
          </a:p>
          <a:p>
            <a:pPr algn="just">
              <a:buFont typeface="Wingdings" panose="05000000000000000000" pitchFamily="2" charset="2"/>
              <a:buChar char="Ø"/>
            </a:pPr>
            <a:r>
              <a:rPr lang="en-US" sz="3200" b="1" dirty="0">
                <a:solidFill>
                  <a:schemeClr val="tx1"/>
                </a:solidFill>
                <a:latin typeface="Calibri" panose="020F0502020204030204" pitchFamily="34" charset="0"/>
                <a:cs typeface="Calibri" panose="020F0502020204030204" pitchFamily="34" charset="0"/>
              </a:rPr>
              <a:t>Selection bias </a:t>
            </a:r>
            <a:r>
              <a:rPr lang="en-US" sz="3200" dirty="0">
                <a:solidFill>
                  <a:schemeClr val="tx1"/>
                </a:solidFill>
                <a:latin typeface="Calibri" panose="020F0502020204030204" pitchFamily="34" charset="0"/>
                <a:cs typeface="Calibri" panose="020F0502020204030204" pitchFamily="34" charset="0"/>
              </a:rPr>
              <a:t>is the bias introduced by the selection of individuals, groups, or data for analysis </a:t>
            </a:r>
            <a:r>
              <a:rPr lang="en-US" sz="3200" b="1" dirty="0">
                <a:solidFill>
                  <a:schemeClr val="tx1"/>
                </a:solidFill>
                <a:latin typeface="Calibri" panose="020F0502020204030204" pitchFamily="34" charset="0"/>
                <a:cs typeface="Calibri" panose="020F0502020204030204" pitchFamily="34" charset="0"/>
              </a:rPr>
              <a:t>in such a way that proper randomization is not achieved</a:t>
            </a:r>
            <a:r>
              <a:rPr lang="en-US" sz="3200" dirty="0">
                <a:solidFill>
                  <a:schemeClr val="tx1"/>
                </a:solidFill>
                <a:latin typeface="Calibri" panose="020F0502020204030204" pitchFamily="34" charset="0"/>
                <a:cs typeface="Calibri" panose="020F0502020204030204" pitchFamily="34" charset="0"/>
              </a:rPr>
              <a:t>, thereby </a:t>
            </a:r>
            <a:r>
              <a:rPr lang="en-US" sz="3200" b="1" dirty="0">
                <a:solidFill>
                  <a:schemeClr val="tx1"/>
                </a:solidFill>
                <a:latin typeface="Calibri" panose="020F0502020204030204" pitchFamily="34" charset="0"/>
                <a:cs typeface="Calibri" panose="020F0502020204030204" pitchFamily="34" charset="0"/>
              </a:rPr>
              <a:t>failing</a:t>
            </a:r>
            <a:r>
              <a:rPr lang="en-US" sz="3200" dirty="0">
                <a:solidFill>
                  <a:schemeClr val="tx1"/>
                </a:solidFill>
                <a:latin typeface="Calibri" panose="020F0502020204030204" pitchFamily="34" charset="0"/>
                <a:cs typeface="Calibri" panose="020F0502020204030204" pitchFamily="34" charset="0"/>
              </a:rPr>
              <a:t> to ensure that the sample obtained is </a:t>
            </a:r>
            <a:r>
              <a:rPr lang="en-US" sz="3200" b="1" dirty="0">
                <a:solidFill>
                  <a:schemeClr val="tx1"/>
                </a:solidFill>
                <a:latin typeface="Calibri" panose="020F0502020204030204" pitchFamily="34" charset="0"/>
                <a:cs typeface="Calibri" panose="020F0502020204030204" pitchFamily="34" charset="0"/>
              </a:rPr>
              <a:t>representative</a:t>
            </a:r>
            <a:r>
              <a:rPr lang="en-US" sz="3200" dirty="0">
                <a:solidFill>
                  <a:schemeClr val="tx1"/>
                </a:solidFill>
                <a:latin typeface="Calibri" panose="020F0502020204030204" pitchFamily="34" charset="0"/>
                <a:cs typeface="Calibri" panose="020F0502020204030204" pitchFamily="34" charset="0"/>
              </a:rPr>
              <a:t> </a:t>
            </a:r>
            <a:r>
              <a:rPr lang="en-US" sz="3200" b="1" dirty="0">
                <a:solidFill>
                  <a:schemeClr val="tx1"/>
                </a:solidFill>
                <a:latin typeface="Calibri" panose="020F0502020204030204" pitchFamily="34" charset="0"/>
                <a:cs typeface="Calibri" panose="020F0502020204030204" pitchFamily="34" charset="0"/>
              </a:rPr>
              <a:t>of the population</a:t>
            </a:r>
            <a:r>
              <a:rPr lang="en-US" sz="3200" dirty="0">
                <a:solidFill>
                  <a:schemeClr val="tx1"/>
                </a:solidFill>
                <a:latin typeface="Calibri" panose="020F0502020204030204" pitchFamily="34" charset="0"/>
                <a:cs typeface="Calibri" panose="020F0502020204030204" pitchFamily="34" charset="0"/>
              </a:rPr>
              <a:t> intended to be analyzed.</a:t>
            </a:r>
          </a:p>
          <a:p>
            <a:pPr algn="just">
              <a:buFont typeface="Wingdings" panose="05000000000000000000" pitchFamily="2" charset="2"/>
              <a:buChar char="Ø"/>
            </a:pPr>
            <a:r>
              <a:rPr lang="en-US" sz="3200" b="1" dirty="0">
                <a:solidFill>
                  <a:schemeClr val="tx1"/>
                </a:solidFill>
                <a:latin typeface="Calibri" panose="020F0502020204030204" pitchFamily="34" charset="0"/>
                <a:cs typeface="Calibri" panose="020F0502020204030204" pitchFamily="34" charset="0"/>
              </a:rPr>
              <a:t>Data snooping</a:t>
            </a:r>
            <a:endParaRPr lang="en-US" sz="3200" b="0" i="0" dirty="0">
              <a:solidFill>
                <a:schemeClr val="tx1"/>
              </a:solidFill>
              <a:effectLst/>
              <a:latin typeface="Calibri" panose="020F0502020204030204" pitchFamily="34" charset="0"/>
              <a:cs typeface="Calibri" panose="020F0502020204030204" pitchFamily="34" charset="0"/>
            </a:endParaRPr>
          </a:p>
          <a:p>
            <a:pPr lvl="1" algn="just">
              <a:buFont typeface="Wingdings" panose="05000000000000000000" pitchFamily="2" charset="2"/>
              <a:buChar char="Ø"/>
            </a:pPr>
            <a:r>
              <a:rPr lang="en-US" sz="3000" b="0" i="0" dirty="0">
                <a:solidFill>
                  <a:schemeClr val="tx1"/>
                </a:solidFill>
                <a:effectLst/>
                <a:latin typeface="Calibri" panose="020F0502020204030204" pitchFamily="34" charset="0"/>
                <a:cs typeface="Calibri" panose="020F0502020204030204" pitchFamily="34" charset="0"/>
              </a:rPr>
              <a:t>If you specify a hypothesis and conduct a well-designed experiment to test it, you can have high confidence in the conclusion. </a:t>
            </a:r>
            <a:r>
              <a:rPr lang="en-US" sz="3200" b="0" i="0" dirty="0">
                <a:solidFill>
                  <a:schemeClr val="tx1"/>
                </a:solidFill>
                <a:effectLst/>
                <a:latin typeface="Calibri" panose="020F0502020204030204" pitchFamily="34" charset="0"/>
                <a:cs typeface="Calibri" panose="020F0502020204030204" pitchFamily="34" charset="0"/>
              </a:rPr>
              <a:t>This is frequently not what occurs, however. Often, one looks at available data and tries to </a:t>
            </a:r>
            <a:r>
              <a:rPr lang="en-US" sz="3200" dirty="0">
                <a:solidFill>
                  <a:schemeClr val="tx1"/>
                </a:solidFill>
                <a:latin typeface="Calibri" panose="020F0502020204030204" pitchFamily="34" charset="0"/>
                <a:cs typeface="Calibri" panose="020F0502020204030204" pitchFamily="34" charset="0"/>
              </a:rPr>
              <a:t>perceive</a:t>
            </a:r>
            <a:r>
              <a:rPr lang="en-US" sz="3200" b="0" i="0" dirty="0">
                <a:solidFill>
                  <a:schemeClr val="tx1"/>
                </a:solidFill>
                <a:effectLst/>
                <a:latin typeface="Calibri" panose="020F0502020204030204" pitchFamily="34" charset="0"/>
                <a:cs typeface="Calibri" panose="020F0502020204030204" pitchFamily="34" charset="0"/>
              </a:rPr>
              <a:t> patterns. </a:t>
            </a:r>
          </a:p>
          <a:p>
            <a:pPr lvl="2" algn="just">
              <a:buFont typeface="Wingdings" panose="05000000000000000000" pitchFamily="2" charset="2"/>
              <a:buChar char="Ø"/>
            </a:pPr>
            <a:r>
              <a:rPr lang="en-US" sz="2800" b="0" i="0" dirty="0">
                <a:solidFill>
                  <a:schemeClr val="tx1"/>
                </a:solidFill>
                <a:effectLst/>
                <a:latin typeface="Calibri" panose="020F0502020204030204" pitchFamily="34" charset="0"/>
                <a:cs typeface="Calibri" panose="020F0502020204030204" pitchFamily="34" charset="0"/>
              </a:rPr>
              <a:t>But are the patterns </a:t>
            </a:r>
            <a:r>
              <a:rPr lang="en-US" sz="2800" b="1" i="0" dirty="0">
                <a:solidFill>
                  <a:schemeClr val="tx1"/>
                </a:solidFill>
                <a:effectLst/>
                <a:latin typeface="Calibri" panose="020F0502020204030204" pitchFamily="34" charset="0"/>
                <a:cs typeface="Calibri" panose="020F0502020204030204" pitchFamily="34" charset="0"/>
              </a:rPr>
              <a:t>real</a:t>
            </a:r>
            <a:r>
              <a:rPr lang="en-US" sz="2800" b="0" i="0" dirty="0">
                <a:solidFill>
                  <a:schemeClr val="tx1"/>
                </a:solidFill>
                <a:effectLst/>
                <a:latin typeface="Calibri" panose="020F0502020204030204" pitchFamily="34" charset="0"/>
                <a:cs typeface="Calibri" panose="020F0502020204030204" pitchFamily="34" charset="0"/>
              </a:rPr>
              <a:t>? Or </a:t>
            </a:r>
          </a:p>
          <a:p>
            <a:pPr lvl="2" algn="just">
              <a:buFont typeface="Wingdings" panose="05000000000000000000" pitchFamily="2" charset="2"/>
              <a:buChar char="Ø"/>
            </a:pPr>
            <a:r>
              <a:rPr lang="en-US" sz="2800" b="0" i="0" dirty="0">
                <a:solidFill>
                  <a:schemeClr val="tx1"/>
                </a:solidFill>
                <a:effectLst/>
                <a:latin typeface="Calibri" panose="020F0502020204030204" pitchFamily="34" charset="0"/>
                <a:cs typeface="Calibri" panose="020F0502020204030204" pitchFamily="34" charset="0"/>
              </a:rPr>
              <a:t>are they just the product of </a:t>
            </a:r>
            <a:r>
              <a:rPr lang="en-US" sz="2800" b="1" i="0" dirty="0">
                <a:solidFill>
                  <a:schemeClr val="tx1"/>
                </a:solidFill>
                <a:effectLst/>
                <a:latin typeface="Calibri" panose="020F0502020204030204" pitchFamily="34" charset="0"/>
                <a:cs typeface="Calibri" panose="020F0502020204030204" pitchFamily="34" charset="0"/>
              </a:rPr>
              <a:t>data snooping</a:t>
            </a:r>
            <a:r>
              <a:rPr lang="en-US" sz="2800" b="0" i="0" dirty="0">
                <a:solidFill>
                  <a:schemeClr val="tx1"/>
                </a:solidFill>
                <a:effectLst/>
                <a:latin typeface="Calibri" panose="020F0502020204030204" pitchFamily="34" charset="0"/>
                <a:cs typeface="Calibri" panose="020F0502020204030204" pitchFamily="34" charset="0"/>
              </a:rPr>
              <a:t> (that is, extensive hunting through the data until something interesting emerges)? </a:t>
            </a:r>
          </a:p>
          <a:p>
            <a:pPr lvl="1" algn="just">
              <a:buFont typeface="Wingdings" panose="05000000000000000000" pitchFamily="2" charset="2"/>
              <a:buChar char="Ø"/>
            </a:pPr>
            <a:r>
              <a:rPr lang="en-US" sz="3000" b="0" i="0" dirty="0">
                <a:solidFill>
                  <a:schemeClr val="tx1"/>
                </a:solidFill>
                <a:effectLst/>
                <a:latin typeface="Calibri" panose="020F0502020204030204" pitchFamily="34" charset="0"/>
                <a:cs typeface="Calibri" panose="020F0502020204030204" pitchFamily="34" charset="0"/>
              </a:rPr>
              <a:t>There is a saying among statisticians: “If you torture the data long enough, sooner or later it will confess/admit.”</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12</a:t>
            </a:fld>
            <a:endParaRPr lang="en-US">
              <a:solidFill>
                <a:srgbClr val="90C226"/>
              </a:solidFill>
            </a:endParaRPr>
          </a:p>
        </p:txBody>
      </p:sp>
    </p:spTree>
    <p:extLst>
      <p:ext uri="{BB962C8B-B14F-4D97-AF65-F5344CB8AC3E}">
        <p14:creationId xmlns:p14="http://schemas.microsoft.com/office/powerpoint/2010/main" val="17054765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Selection Bias (optional reading)</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62139" y="1128583"/>
            <a:ext cx="9297909" cy="5277904"/>
          </a:xfrm>
        </p:spPr>
        <p:txBody>
          <a:bodyPr>
            <a:normAutofit/>
          </a:bodyPr>
          <a:lstStyle/>
          <a:p>
            <a:pPr algn="just">
              <a:buFont typeface="Wingdings" panose="05000000000000000000" pitchFamily="2" charset="2"/>
              <a:buChar char="Ø"/>
            </a:pPr>
            <a:r>
              <a:rPr lang="en-GB" sz="2400" dirty="0">
                <a:solidFill>
                  <a:schemeClr val="tx1"/>
                </a:solidFill>
                <a:latin typeface="Calibri" panose="020F0502020204030204" pitchFamily="34" charset="0"/>
                <a:cs typeface="Calibri" panose="020F0502020204030204" pitchFamily="34" charset="0"/>
              </a:rPr>
              <a:t>Selection bias is a sort of bias that develops when the </a:t>
            </a:r>
            <a:r>
              <a:rPr lang="en-GB" sz="2400" b="1" dirty="0">
                <a:solidFill>
                  <a:schemeClr val="tx1"/>
                </a:solidFill>
                <a:latin typeface="Calibri" panose="020F0502020204030204" pitchFamily="34" charset="0"/>
                <a:cs typeface="Calibri" panose="020F0502020204030204" pitchFamily="34" charset="0"/>
              </a:rPr>
              <a:t>population of interest is not adequately represented </a:t>
            </a:r>
            <a:r>
              <a:rPr lang="en-GB" sz="2400" dirty="0">
                <a:solidFill>
                  <a:schemeClr val="tx1"/>
                </a:solidFill>
                <a:latin typeface="Calibri" panose="020F0502020204030204" pitchFamily="34" charset="0"/>
                <a:cs typeface="Calibri" panose="020F0502020204030204" pitchFamily="34" charset="0"/>
              </a:rPr>
              <a:t>in the sample of people or observations being researched. </a:t>
            </a:r>
          </a:p>
          <a:p>
            <a:pPr algn="just">
              <a:buFont typeface="Wingdings" panose="05000000000000000000" pitchFamily="2" charset="2"/>
              <a:buChar char="Ø"/>
            </a:pPr>
            <a:r>
              <a:rPr lang="en-GB" sz="2400" dirty="0">
                <a:solidFill>
                  <a:schemeClr val="tx1"/>
                </a:solidFill>
                <a:latin typeface="Calibri" panose="020F0502020204030204" pitchFamily="34" charset="0"/>
                <a:cs typeface="Calibri" panose="020F0502020204030204" pitchFamily="34" charset="0"/>
              </a:rPr>
              <a:t>Selection bias can </a:t>
            </a:r>
            <a:r>
              <a:rPr lang="en-GB" sz="2400" b="1" dirty="0">
                <a:solidFill>
                  <a:schemeClr val="tx1"/>
                </a:solidFill>
                <a:latin typeface="Calibri" panose="020F0502020204030204" pitchFamily="34" charset="0"/>
                <a:cs typeface="Calibri" panose="020F0502020204030204" pitchFamily="34" charset="0"/>
              </a:rPr>
              <a:t>alter the generalizability of the findings </a:t>
            </a:r>
            <a:r>
              <a:rPr lang="en-GB" sz="2400" dirty="0">
                <a:solidFill>
                  <a:schemeClr val="tx1"/>
                </a:solidFill>
                <a:latin typeface="Calibri" panose="020F0502020204030204" pitchFamily="34" charset="0"/>
                <a:cs typeface="Calibri" panose="020F0502020204030204" pitchFamily="34" charset="0"/>
              </a:rPr>
              <a:t>and result in </a:t>
            </a:r>
            <a:r>
              <a:rPr lang="en-GB" sz="2400" b="1" dirty="0">
                <a:solidFill>
                  <a:schemeClr val="tx1"/>
                </a:solidFill>
                <a:latin typeface="Calibri" panose="020F0502020204030204" pitchFamily="34" charset="0"/>
                <a:cs typeface="Calibri" panose="020F0502020204030204" pitchFamily="34" charset="0"/>
              </a:rPr>
              <a:t>erroneous or misleading estimations </a:t>
            </a:r>
            <a:r>
              <a:rPr lang="en-GB" sz="2400" dirty="0">
                <a:solidFill>
                  <a:schemeClr val="tx1"/>
                </a:solidFill>
                <a:latin typeface="Calibri" panose="020F0502020204030204" pitchFamily="34" charset="0"/>
                <a:cs typeface="Calibri" panose="020F0502020204030204" pitchFamily="34" charset="0"/>
              </a:rPr>
              <a:t>of demographic characteristics. </a:t>
            </a:r>
          </a:p>
          <a:p>
            <a:pPr algn="just">
              <a:buFont typeface="Wingdings" panose="05000000000000000000" pitchFamily="2" charset="2"/>
              <a:buChar char="Ø"/>
            </a:pPr>
            <a:r>
              <a:rPr lang="en-GB" sz="2400" dirty="0">
                <a:solidFill>
                  <a:schemeClr val="tx1"/>
                </a:solidFill>
                <a:latin typeface="Calibri" panose="020F0502020204030204" pitchFamily="34" charset="0"/>
                <a:cs typeface="Calibri" panose="020F0502020204030204" pitchFamily="34" charset="0"/>
              </a:rPr>
              <a:t>For instance, if research only includes individuals who satisfy specific requirements, the findings could not apply to the entire community. It can also happen if a sample contains groups that are either overrepresented or underrepresented, which might result in findings that are not representative of the population as a whole.</a:t>
            </a:r>
            <a:endParaRPr lang="en-US" sz="2000" b="0" i="0" dirty="0">
              <a:solidFill>
                <a:schemeClr val="tx1"/>
              </a:solidFill>
              <a:effectLst/>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13</a:t>
            </a:fld>
            <a:endParaRPr lang="en-US">
              <a:solidFill>
                <a:srgbClr val="90C226"/>
              </a:solidFill>
            </a:endParaRPr>
          </a:p>
        </p:txBody>
      </p:sp>
    </p:spTree>
    <p:extLst>
      <p:ext uri="{BB962C8B-B14F-4D97-AF65-F5344CB8AC3E}">
        <p14:creationId xmlns:p14="http://schemas.microsoft.com/office/powerpoint/2010/main" val="19116191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Selection Bias: Example: Luck or talent</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547817" y="1128583"/>
            <a:ext cx="8985482" cy="5165125"/>
          </a:xfrm>
        </p:spPr>
        <p:txBody>
          <a:bodyPr>
            <a:normAutofit fontScale="77500" lnSpcReduction="20000"/>
          </a:bodyPr>
          <a:lstStyle/>
          <a:p>
            <a:pPr algn="just">
              <a:buFont typeface="Wingdings" panose="05000000000000000000" pitchFamily="2" charset="2"/>
              <a:buChar char="Ø"/>
            </a:pPr>
            <a:r>
              <a:rPr lang="en-US" sz="3200" b="0" i="0" dirty="0">
                <a:solidFill>
                  <a:schemeClr val="tx1"/>
                </a:solidFill>
                <a:effectLst/>
                <a:latin typeface="NewBaskerville-Roman"/>
              </a:rPr>
              <a:t>Imagine that someone tells you they can flip a coin and have it land heads on the next 10 tosses. </a:t>
            </a:r>
          </a:p>
          <a:p>
            <a:pPr lvl="1" algn="just">
              <a:buFont typeface="Wingdings" panose="05000000000000000000" pitchFamily="2" charset="2"/>
              <a:buChar char="Ø"/>
            </a:pPr>
            <a:r>
              <a:rPr lang="en-US" sz="3000" b="0" i="0" dirty="0">
                <a:solidFill>
                  <a:schemeClr val="tx1"/>
                </a:solidFill>
                <a:effectLst/>
                <a:latin typeface="NewBaskerville-Roman"/>
              </a:rPr>
              <a:t>You challenge them (the equivalent of an experiment), and they proceed to toss the coin 10 times, with all flips landing heads. </a:t>
            </a:r>
          </a:p>
          <a:p>
            <a:pPr lvl="1" algn="just">
              <a:buFont typeface="Wingdings" panose="05000000000000000000" pitchFamily="2" charset="2"/>
              <a:buChar char="Ø"/>
            </a:pPr>
            <a:r>
              <a:rPr lang="en-US" sz="3000" b="0" i="0" dirty="0">
                <a:solidFill>
                  <a:schemeClr val="tx1"/>
                </a:solidFill>
                <a:effectLst/>
                <a:latin typeface="NewBaskerville-Roman"/>
              </a:rPr>
              <a:t>Clearly you ascribe some special </a:t>
            </a:r>
            <a:r>
              <a:rPr lang="en-US" sz="3000" b="1" i="0" dirty="0">
                <a:solidFill>
                  <a:srgbClr val="FF0000"/>
                </a:solidFill>
                <a:effectLst/>
                <a:latin typeface="NewBaskerville-Roman"/>
              </a:rPr>
              <a:t>talent</a:t>
            </a:r>
            <a:r>
              <a:rPr lang="en-US" sz="3000" b="0" i="0" dirty="0">
                <a:solidFill>
                  <a:schemeClr val="tx1"/>
                </a:solidFill>
                <a:effectLst/>
                <a:latin typeface="NewBaskerville-Roman"/>
              </a:rPr>
              <a:t> to this person—the probability that 10 coin tosses will land heads just by chance is 1 in 1,000.</a:t>
            </a:r>
          </a:p>
          <a:p>
            <a:pPr algn="just">
              <a:buFont typeface="Wingdings" panose="05000000000000000000" pitchFamily="2" charset="2"/>
              <a:buChar char="Ø"/>
            </a:pPr>
            <a:r>
              <a:rPr lang="en-US" sz="3200" b="0" i="0" dirty="0">
                <a:solidFill>
                  <a:schemeClr val="tx1"/>
                </a:solidFill>
                <a:effectLst/>
                <a:latin typeface="NewBaskerville-Roman"/>
              </a:rPr>
              <a:t>Now imagine that the announcer at a sports stadium asks the 20,000 people in attendance each to toss a coin 10 times, and to report to an attendant if they get 10 heads in a row. </a:t>
            </a:r>
          </a:p>
          <a:p>
            <a:pPr lvl="1" algn="just">
              <a:buFont typeface="Wingdings" panose="05000000000000000000" pitchFamily="2" charset="2"/>
              <a:buChar char="Ø"/>
            </a:pPr>
            <a:r>
              <a:rPr lang="en-US" sz="3000" b="0" i="0" dirty="0">
                <a:solidFill>
                  <a:schemeClr val="tx1"/>
                </a:solidFill>
                <a:effectLst/>
                <a:latin typeface="NewBaskerville-Roman"/>
              </a:rPr>
              <a:t>The chance that somebody in the stadium will get 10 heads is extremely high (more than 99%—it’s 1 minus the probability that nobody gets 10 heads). </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14</a:t>
            </a:fld>
            <a:endParaRPr lang="en-US">
              <a:solidFill>
                <a:srgbClr val="90C226"/>
              </a:solidFill>
            </a:endParaRPr>
          </a:p>
        </p:txBody>
      </p:sp>
    </p:spTree>
    <p:extLst>
      <p:ext uri="{BB962C8B-B14F-4D97-AF65-F5344CB8AC3E}">
        <p14:creationId xmlns:p14="http://schemas.microsoft.com/office/powerpoint/2010/main" val="30555612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Selection Bias</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401709" y="876237"/>
            <a:ext cx="8904001" cy="5165125"/>
          </a:xfrm>
        </p:spPr>
        <p:txBody>
          <a:bodyPr>
            <a:normAutofit fontScale="70000" lnSpcReduction="20000"/>
          </a:bodyPr>
          <a:lstStyle/>
          <a:p>
            <a:pPr algn="just">
              <a:buFont typeface="Wingdings" panose="05000000000000000000" pitchFamily="2" charset="2"/>
              <a:buChar char="Ø"/>
            </a:pPr>
            <a:r>
              <a:rPr lang="en-US" sz="3200" b="0" i="0" dirty="0">
                <a:solidFill>
                  <a:schemeClr val="tx1"/>
                </a:solidFill>
                <a:effectLst/>
                <a:latin typeface="Calibri" panose="020F0502020204030204" pitchFamily="34" charset="0"/>
                <a:cs typeface="Calibri" panose="020F0502020204030204" pitchFamily="34" charset="0"/>
              </a:rPr>
              <a:t>Since repeated review of large data sets is a key value proposition in data science, selection bias is something to worry about. </a:t>
            </a:r>
          </a:p>
          <a:p>
            <a:pPr algn="just">
              <a:buFont typeface="Wingdings" panose="05000000000000000000" pitchFamily="2" charset="2"/>
              <a:buChar char="Ø"/>
            </a:pPr>
            <a:r>
              <a:rPr lang="en-US" sz="3200" b="0" i="0" dirty="0">
                <a:solidFill>
                  <a:schemeClr val="tx1"/>
                </a:solidFill>
                <a:effectLst/>
                <a:latin typeface="Calibri" panose="020F0502020204030204" pitchFamily="34" charset="0"/>
                <a:cs typeface="Calibri" panose="020F0502020204030204" pitchFamily="34" charset="0"/>
              </a:rPr>
              <a:t>A form of selection bias of particular concern to data scientists is what John Elder (founder of Elder Research, a respected data mining consultancy) calls the </a:t>
            </a:r>
            <a:r>
              <a:rPr lang="en-US" sz="3200" b="1" i="0" dirty="0">
                <a:solidFill>
                  <a:schemeClr val="tx1"/>
                </a:solidFill>
                <a:effectLst/>
                <a:latin typeface="Calibri" panose="020F0502020204030204" pitchFamily="34" charset="0"/>
                <a:cs typeface="Calibri" panose="020F0502020204030204" pitchFamily="34" charset="0"/>
              </a:rPr>
              <a:t>vast search effect</a:t>
            </a:r>
            <a:r>
              <a:rPr lang="en-US" sz="3200" b="0" i="0" dirty="0">
                <a:solidFill>
                  <a:schemeClr val="tx1"/>
                </a:solidFill>
                <a:effectLst/>
                <a:latin typeface="Calibri" panose="020F0502020204030204" pitchFamily="34" charset="0"/>
                <a:cs typeface="Calibri" panose="020F0502020204030204" pitchFamily="34" charset="0"/>
              </a:rPr>
              <a:t>. </a:t>
            </a:r>
          </a:p>
          <a:p>
            <a:pPr algn="just">
              <a:buFont typeface="Wingdings" panose="05000000000000000000" pitchFamily="2" charset="2"/>
              <a:buChar char="Ø"/>
            </a:pPr>
            <a:r>
              <a:rPr lang="en-US" sz="3200" b="1" dirty="0">
                <a:solidFill>
                  <a:schemeClr val="tx1"/>
                </a:solidFill>
                <a:latin typeface="Calibri" panose="020F0502020204030204" pitchFamily="34" charset="0"/>
                <a:cs typeface="Calibri" panose="020F0502020204030204" pitchFamily="34" charset="0"/>
              </a:rPr>
              <a:t>Vast search effect:</a:t>
            </a:r>
            <a:endParaRPr lang="en-US" sz="3200" b="0" i="0" dirty="0">
              <a:solidFill>
                <a:schemeClr val="tx1"/>
              </a:solidFill>
              <a:effectLst/>
              <a:latin typeface="Calibri" panose="020F0502020204030204" pitchFamily="34" charset="0"/>
              <a:cs typeface="Calibri" panose="020F0502020204030204" pitchFamily="34" charset="0"/>
            </a:endParaRPr>
          </a:p>
          <a:p>
            <a:pPr lvl="1" algn="just">
              <a:buFont typeface="Wingdings" panose="05000000000000000000" pitchFamily="2" charset="2"/>
              <a:buChar char="Ø"/>
            </a:pPr>
            <a:r>
              <a:rPr lang="en-US" sz="3000" b="0" i="0" dirty="0">
                <a:solidFill>
                  <a:schemeClr val="tx1"/>
                </a:solidFill>
                <a:effectLst/>
                <a:latin typeface="Calibri" panose="020F0502020204030204" pitchFamily="34" charset="0"/>
                <a:cs typeface="Calibri" panose="020F0502020204030204" pitchFamily="34" charset="0"/>
              </a:rPr>
              <a:t>If you </a:t>
            </a:r>
            <a:r>
              <a:rPr lang="en-US" sz="3000" b="1" i="0" dirty="0">
                <a:solidFill>
                  <a:schemeClr val="tx1"/>
                </a:solidFill>
                <a:effectLst/>
                <a:latin typeface="Calibri" panose="020F0502020204030204" pitchFamily="34" charset="0"/>
                <a:cs typeface="Calibri" panose="020F0502020204030204" pitchFamily="34" charset="0"/>
              </a:rPr>
              <a:t>repeatedly run different models </a:t>
            </a:r>
            <a:r>
              <a:rPr lang="en-US" sz="3000" b="0" i="0" dirty="0">
                <a:solidFill>
                  <a:schemeClr val="tx1"/>
                </a:solidFill>
                <a:effectLst/>
                <a:latin typeface="Calibri" panose="020F0502020204030204" pitchFamily="34" charset="0"/>
                <a:cs typeface="Calibri" panose="020F0502020204030204" pitchFamily="34" charset="0"/>
              </a:rPr>
              <a:t>and ask different questions with a large data set, you are bound to find something interesting. </a:t>
            </a:r>
          </a:p>
          <a:p>
            <a:pPr lvl="1" algn="just">
              <a:buFont typeface="Wingdings" panose="05000000000000000000" pitchFamily="2" charset="2"/>
              <a:buChar char="Ø"/>
            </a:pPr>
            <a:r>
              <a:rPr lang="en-US" sz="3000" b="0" i="0" dirty="0">
                <a:solidFill>
                  <a:schemeClr val="tx1"/>
                </a:solidFill>
                <a:effectLst/>
                <a:latin typeface="Calibri" panose="020F0502020204030204" pitchFamily="34" charset="0"/>
                <a:cs typeface="Calibri" panose="020F0502020204030204" pitchFamily="34" charset="0"/>
              </a:rPr>
              <a:t>But is the result you found </a:t>
            </a:r>
            <a:r>
              <a:rPr lang="en-US" sz="3000" b="1" i="0" dirty="0">
                <a:solidFill>
                  <a:schemeClr val="tx1"/>
                </a:solidFill>
                <a:effectLst/>
                <a:latin typeface="Calibri" panose="020F0502020204030204" pitchFamily="34" charset="0"/>
                <a:cs typeface="Calibri" panose="020F0502020204030204" pitchFamily="34" charset="0"/>
              </a:rPr>
              <a:t>truly</a:t>
            </a:r>
            <a:r>
              <a:rPr lang="en-US" sz="3000" b="0" i="0" dirty="0">
                <a:solidFill>
                  <a:schemeClr val="tx1"/>
                </a:solidFill>
                <a:effectLst/>
                <a:latin typeface="Calibri" panose="020F0502020204030204" pitchFamily="34" charset="0"/>
                <a:cs typeface="Calibri" panose="020F0502020204030204" pitchFamily="34" charset="0"/>
              </a:rPr>
              <a:t> something interesting, or is it the chance </a:t>
            </a:r>
            <a:r>
              <a:rPr lang="en-US" sz="3000" b="1" i="0" dirty="0">
                <a:solidFill>
                  <a:schemeClr val="tx1"/>
                </a:solidFill>
                <a:effectLst/>
                <a:latin typeface="Calibri" panose="020F0502020204030204" pitchFamily="34" charset="0"/>
                <a:cs typeface="Calibri" panose="020F0502020204030204" pitchFamily="34" charset="0"/>
              </a:rPr>
              <a:t>outlier</a:t>
            </a:r>
            <a:r>
              <a:rPr lang="en-US" sz="3000" b="0" i="0" dirty="0">
                <a:solidFill>
                  <a:schemeClr val="tx1"/>
                </a:solidFill>
                <a:effectLst/>
                <a:latin typeface="Calibri" panose="020F0502020204030204" pitchFamily="34" charset="0"/>
                <a:cs typeface="Calibri" panose="020F0502020204030204" pitchFamily="34" charset="0"/>
              </a:rPr>
              <a:t>?</a:t>
            </a:r>
          </a:p>
          <a:p>
            <a:pPr algn="just">
              <a:buFont typeface="Wingdings" panose="05000000000000000000" pitchFamily="2" charset="2"/>
              <a:buChar char="Ø"/>
            </a:pPr>
            <a:r>
              <a:rPr lang="en-US" sz="3200" b="0" i="0" dirty="0">
                <a:solidFill>
                  <a:schemeClr val="tx1"/>
                </a:solidFill>
                <a:effectLst/>
                <a:latin typeface="Calibri" panose="020F0502020204030204" pitchFamily="34" charset="0"/>
                <a:cs typeface="Calibri" panose="020F0502020204030204" pitchFamily="34" charset="0"/>
              </a:rPr>
              <a:t>We can guard against this by using a </a:t>
            </a:r>
            <a:r>
              <a:rPr lang="en-US" sz="3200" b="1" i="0" dirty="0">
                <a:solidFill>
                  <a:schemeClr val="tx1"/>
                </a:solidFill>
                <a:effectLst/>
                <a:latin typeface="Calibri" panose="020F0502020204030204" pitchFamily="34" charset="0"/>
                <a:cs typeface="Calibri" panose="020F0502020204030204" pitchFamily="34" charset="0"/>
              </a:rPr>
              <a:t>holdout</a:t>
            </a:r>
            <a:r>
              <a:rPr lang="en-US" sz="3200" b="0" i="0" dirty="0">
                <a:solidFill>
                  <a:schemeClr val="tx1"/>
                </a:solidFill>
                <a:effectLst/>
                <a:latin typeface="Calibri" panose="020F0502020204030204" pitchFamily="34" charset="0"/>
                <a:cs typeface="Calibri" panose="020F0502020204030204" pitchFamily="34" charset="0"/>
              </a:rPr>
              <a:t> </a:t>
            </a:r>
            <a:r>
              <a:rPr lang="en-US" sz="3200" b="1" i="0" dirty="0">
                <a:solidFill>
                  <a:schemeClr val="tx1"/>
                </a:solidFill>
                <a:effectLst/>
                <a:latin typeface="Calibri" panose="020F0502020204030204" pitchFamily="34" charset="0"/>
                <a:cs typeface="Calibri" panose="020F0502020204030204" pitchFamily="34" charset="0"/>
              </a:rPr>
              <a:t>set</a:t>
            </a:r>
            <a:r>
              <a:rPr lang="en-US" sz="3200" b="0" i="0" dirty="0">
                <a:solidFill>
                  <a:schemeClr val="tx1"/>
                </a:solidFill>
                <a:effectLst/>
                <a:latin typeface="Calibri" panose="020F0502020204030204" pitchFamily="34" charset="0"/>
                <a:cs typeface="Calibri" panose="020F0502020204030204" pitchFamily="34" charset="0"/>
              </a:rPr>
              <a:t>, and sometimes more than one holdout set, against which to validate performance. </a:t>
            </a:r>
          </a:p>
          <a:p>
            <a:pPr algn="just">
              <a:buFont typeface="Wingdings" panose="05000000000000000000" pitchFamily="2" charset="2"/>
              <a:buChar char="Ø"/>
            </a:pPr>
            <a:r>
              <a:rPr lang="en-US" sz="3200" b="0" i="0" dirty="0">
                <a:solidFill>
                  <a:schemeClr val="tx1"/>
                </a:solidFill>
                <a:effectLst/>
                <a:latin typeface="Calibri" panose="020F0502020204030204" pitchFamily="34" charset="0"/>
                <a:cs typeface="Calibri" panose="020F0502020204030204" pitchFamily="34" charset="0"/>
              </a:rPr>
              <a:t>Typical forms of selection bias in statistics, in addition to the vast search effect, include nonrandom sampling</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15</a:t>
            </a:fld>
            <a:endParaRPr lang="en-US">
              <a:solidFill>
                <a:srgbClr val="90C226"/>
              </a:solidFill>
            </a:endParaRPr>
          </a:p>
        </p:txBody>
      </p:sp>
      <p:pic>
        <p:nvPicPr>
          <p:cNvPr id="1028" name="Picture 4" descr="Hold-out vs. Cross-validation in Machine Learning | by Eijaz Allibhai |  Medium">
            <a:extLst>
              <a:ext uri="{FF2B5EF4-FFF2-40B4-BE49-F238E27FC236}">
                <a16:creationId xmlns:a16="http://schemas.microsoft.com/office/drawing/2014/main" id="{8F951E0A-B644-4AC0-B612-43AADC3825A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19421" y="5067106"/>
            <a:ext cx="5772579" cy="180994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0576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 calcmode="lin" valueType="num">
                                      <p:cBhvr additive="base">
                                        <p:cTn id="7" dur="500" fill="hold"/>
                                        <p:tgtEl>
                                          <p:spTgt spid="1028"/>
                                        </p:tgtEl>
                                        <p:attrNameLst>
                                          <p:attrName>ppt_x</p:attrName>
                                        </p:attrNameLst>
                                      </p:cBhvr>
                                      <p:tavLst>
                                        <p:tav tm="0">
                                          <p:val>
                                            <p:strVal val="#ppt_x"/>
                                          </p:val>
                                        </p:tav>
                                        <p:tav tm="100000">
                                          <p:val>
                                            <p:strVal val="#ppt_x"/>
                                          </p:val>
                                        </p:tav>
                                      </p:tavLst>
                                    </p:anim>
                                    <p:anim calcmode="lin" valueType="num">
                                      <p:cBhvr additive="base">
                                        <p:cTn id="8" dur="500" fill="hold"/>
                                        <p:tgtEl>
                                          <p:spTgt spid="10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Selection Bias</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16</a:t>
            </a:fld>
            <a:endParaRPr lang="en-US">
              <a:solidFill>
                <a:srgbClr val="90C226"/>
              </a:solidFill>
            </a:endParaRPr>
          </a:p>
        </p:txBody>
      </p:sp>
      <p:pic>
        <p:nvPicPr>
          <p:cNvPr id="6" name="Picture 5">
            <a:extLst>
              <a:ext uri="{FF2B5EF4-FFF2-40B4-BE49-F238E27FC236}">
                <a16:creationId xmlns:a16="http://schemas.microsoft.com/office/drawing/2014/main" id="{CAB31CB3-6A05-4A05-8257-954A666E12EC}"/>
              </a:ext>
            </a:extLst>
          </p:cNvPr>
          <p:cNvPicPr>
            <a:picLocks noChangeAspect="1"/>
          </p:cNvPicPr>
          <p:nvPr/>
        </p:nvPicPr>
        <p:blipFill>
          <a:blip r:embed="rId2"/>
          <a:stretch>
            <a:fillRect/>
          </a:stretch>
        </p:blipFill>
        <p:spPr>
          <a:xfrm>
            <a:off x="645897" y="1398243"/>
            <a:ext cx="10953750" cy="4391025"/>
          </a:xfrm>
          <a:prstGeom prst="rect">
            <a:avLst/>
          </a:prstGeom>
        </p:spPr>
      </p:pic>
    </p:spTree>
    <p:extLst>
      <p:ext uri="{BB962C8B-B14F-4D97-AF65-F5344CB8AC3E}">
        <p14:creationId xmlns:p14="http://schemas.microsoft.com/office/powerpoint/2010/main" val="25971908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Regression to the Mean</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547817" y="1128583"/>
            <a:ext cx="8849680" cy="5165125"/>
          </a:xfrm>
        </p:spPr>
        <p:txBody>
          <a:bodyPr>
            <a:normAutofit fontScale="77500" lnSpcReduction="20000"/>
          </a:bodyPr>
          <a:lstStyle/>
          <a:p>
            <a:pPr algn="just">
              <a:buFont typeface="Wingdings" panose="05000000000000000000" pitchFamily="2" charset="2"/>
              <a:buChar char="Ø"/>
            </a:pPr>
            <a:r>
              <a:rPr lang="en-US" sz="3200" b="1" i="0" dirty="0">
                <a:solidFill>
                  <a:schemeClr val="tx1"/>
                </a:solidFill>
                <a:effectLst/>
                <a:latin typeface="Calibri" panose="020F0502020204030204" pitchFamily="34" charset="0"/>
                <a:cs typeface="Calibri" panose="020F0502020204030204" pitchFamily="34" charset="0"/>
              </a:rPr>
              <a:t>Regression to the mean </a:t>
            </a:r>
            <a:r>
              <a:rPr lang="en-US" sz="3200" b="0" i="0" dirty="0">
                <a:solidFill>
                  <a:schemeClr val="tx1"/>
                </a:solidFill>
                <a:effectLst/>
                <a:latin typeface="Calibri" panose="020F0502020204030204" pitchFamily="34" charset="0"/>
                <a:cs typeface="Calibri" panose="020F0502020204030204" pitchFamily="34" charset="0"/>
              </a:rPr>
              <a:t>refers to a phenomenon involving successive measurements on a given variable: extreme observations tend to be followed by more central ones.</a:t>
            </a:r>
          </a:p>
          <a:p>
            <a:pPr algn="just">
              <a:buFont typeface="Wingdings" panose="05000000000000000000" pitchFamily="2" charset="2"/>
              <a:buChar char="Ø"/>
            </a:pPr>
            <a:r>
              <a:rPr lang="en-US" sz="3200" b="0" i="0" dirty="0">
                <a:solidFill>
                  <a:schemeClr val="tx1"/>
                </a:solidFill>
                <a:effectLst/>
                <a:latin typeface="Calibri" panose="020F0502020204030204" pitchFamily="34" charset="0"/>
                <a:cs typeface="Calibri" panose="020F0502020204030204" pitchFamily="34" charset="0"/>
              </a:rPr>
              <a:t> </a:t>
            </a:r>
            <a:r>
              <a:rPr lang="en-GB" sz="3200" dirty="0">
                <a:solidFill>
                  <a:schemeClr val="tx1"/>
                </a:solidFill>
                <a:latin typeface="Calibri" panose="020F0502020204030204" pitchFamily="34" charset="0"/>
                <a:cs typeface="Calibri" panose="020F0502020204030204" pitchFamily="34" charset="0"/>
              </a:rPr>
              <a:t>Regression to the mean (</a:t>
            </a:r>
            <a:r>
              <a:rPr lang="en-GB" sz="3200" b="1" dirty="0">
                <a:solidFill>
                  <a:schemeClr val="tx1"/>
                </a:solidFill>
                <a:latin typeface="Calibri" panose="020F0502020204030204" pitchFamily="34" charset="0"/>
                <a:cs typeface="Calibri" panose="020F0502020204030204" pitchFamily="34" charset="0"/>
              </a:rPr>
              <a:t>RTM</a:t>
            </a:r>
            <a:r>
              <a:rPr lang="en-GB" sz="3200" dirty="0">
                <a:solidFill>
                  <a:schemeClr val="tx1"/>
                </a:solidFill>
                <a:latin typeface="Calibri" panose="020F0502020204030204" pitchFamily="34" charset="0"/>
                <a:cs typeface="Calibri" panose="020F0502020204030204" pitchFamily="34" charset="0"/>
              </a:rPr>
              <a:t>) is a statistical phenomenon describing how variables much higher or lower than the mean are often much closer to the mean when measured a second time.</a:t>
            </a:r>
            <a:endParaRPr lang="en-US" sz="3200" b="0" i="0" dirty="0">
              <a:solidFill>
                <a:schemeClr val="tx1"/>
              </a:solidFill>
              <a:effectLst/>
              <a:latin typeface="Calibri" panose="020F0502020204030204" pitchFamily="34" charset="0"/>
              <a:cs typeface="Calibri" panose="020F0502020204030204" pitchFamily="34" charset="0"/>
            </a:endParaRPr>
          </a:p>
          <a:p>
            <a:pPr algn="just">
              <a:buFont typeface="Wingdings" panose="05000000000000000000" pitchFamily="2" charset="2"/>
              <a:buChar char="Ø"/>
            </a:pPr>
            <a:r>
              <a:rPr lang="en-US" sz="3200" b="0" i="0" dirty="0">
                <a:solidFill>
                  <a:schemeClr val="tx1"/>
                </a:solidFill>
                <a:effectLst/>
                <a:latin typeface="Calibri" panose="020F0502020204030204" pitchFamily="34" charset="0"/>
                <a:cs typeface="Calibri" panose="020F0502020204030204" pitchFamily="34" charset="0"/>
              </a:rPr>
              <a:t>Attaching special focus and meaning to the extreme value can lead to a form of selection bias.</a:t>
            </a:r>
          </a:p>
          <a:p>
            <a:pPr algn="just">
              <a:buFont typeface="Wingdings" panose="05000000000000000000" pitchFamily="2" charset="2"/>
              <a:buChar char="Ø"/>
            </a:pPr>
            <a:r>
              <a:rPr lang="en-US" sz="3200" b="0" i="0" dirty="0">
                <a:solidFill>
                  <a:schemeClr val="tx1"/>
                </a:solidFill>
                <a:effectLst/>
                <a:latin typeface="Calibri" panose="020F0502020204030204" pitchFamily="34" charset="0"/>
                <a:cs typeface="Calibri" panose="020F0502020204030204" pitchFamily="34" charset="0"/>
              </a:rPr>
              <a:t>The phenomenon was first identified by </a:t>
            </a:r>
            <a:r>
              <a:rPr lang="en-US" sz="3200" b="1" i="0" dirty="0">
                <a:solidFill>
                  <a:schemeClr val="tx1"/>
                </a:solidFill>
                <a:effectLst/>
                <a:latin typeface="Calibri" panose="020F0502020204030204" pitchFamily="34" charset="0"/>
                <a:cs typeface="Calibri" panose="020F0502020204030204" pitchFamily="34" charset="0"/>
              </a:rPr>
              <a:t>Francis Galton </a:t>
            </a:r>
            <a:r>
              <a:rPr lang="en-US" sz="3200" b="0" i="0" dirty="0">
                <a:solidFill>
                  <a:schemeClr val="tx1"/>
                </a:solidFill>
                <a:effectLst/>
                <a:latin typeface="Calibri" panose="020F0502020204030204" pitchFamily="34" charset="0"/>
                <a:cs typeface="Calibri" panose="020F0502020204030204" pitchFamily="34" charset="0"/>
              </a:rPr>
              <a:t>in 1886 [Galton-1886], who wrote of it in connection with genetic tendencies; </a:t>
            </a:r>
          </a:p>
          <a:p>
            <a:pPr lvl="1" algn="just">
              <a:buFont typeface="Wingdings" panose="05000000000000000000" pitchFamily="2" charset="2"/>
              <a:buChar char="Ø"/>
            </a:pPr>
            <a:r>
              <a:rPr lang="en-US" sz="3000" b="0" i="0" dirty="0">
                <a:solidFill>
                  <a:schemeClr val="tx1"/>
                </a:solidFill>
                <a:effectLst/>
                <a:latin typeface="Calibri" panose="020F0502020204030204" pitchFamily="34" charset="0"/>
                <a:cs typeface="Calibri" panose="020F0502020204030204" pitchFamily="34" charset="0"/>
              </a:rPr>
              <a:t>for example, the children of extremely tall men tend not to be as tall as their father</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17</a:t>
            </a:fld>
            <a:endParaRPr lang="en-US">
              <a:solidFill>
                <a:srgbClr val="90C226"/>
              </a:solidFill>
            </a:endParaRPr>
          </a:p>
        </p:txBody>
      </p:sp>
    </p:spTree>
    <p:extLst>
      <p:ext uri="{BB962C8B-B14F-4D97-AF65-F5344CB8AC3E}">
        <p14:creationId xmlns:p14="http://schemas.microsoft.com/office/powerpoint/2010/main" val="25357537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Regression to the Mean</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547817" y="1128583"/>
            <a:ext cx="5473193" cy="5165125"/>
          </a:xfrm>
        </p:spPr>
        <p:txBody>
          <a:bodyPr>
            <a:normAutofit fontScale="62500" lnSpcReduction="20000"/>
          </a:bodyPr>
          <a:lstStyle/>
          <a:p>
            <a:pPr algn="just">
              <a:buFont typeface="Wingdings" panose="05000000000000000000" pitchFamily="2" charset="2"/>
              <a:buChar char="Ø"/>
            </a:pPr>
            <a:r>
              <a:rPr lang="en-GB" sz="3200" dirty="0">
                <a:solidFill>
                  <a:schemeClr val="tx1"/>
                </a:solidFill>
                <a:latin typeface="Calibri" panose="020F0502020204030204" pitchFamily="34" charset="0"/>
                <a:cs typeface="Calibri" panose="020F0502020204030204" pitchFamily="34" charset="0"/>
              </a:rPr>
              <a:t>In more recent studies RTM has been reported in birth weights, blood pressure, and cholesterol. Nevertheless it continues to be missed by some public health researchers; for example, part of the 90% drop in cases of meningitis C in the UK after the introduction of an immunization programme could be due to a very bad year being likely to be followed by a better year.</a:t>
            </a:r>
          </a:p>
          <a:p>
            <a:pPr algn="just">
              <a:buFont typeface="Wingdings" panose="05000000000000000000" pitchFamily="2" charset="2"/>
              <a:buChar char="Ø"/>
            </a:pPr>
            <a:r>
              <a:rPr lang="en-GB" sz="3200" dirty="0">
                <a:solidFill>
                  <a:schemeClr val="tx1"/>
                </a:solidFill>
                <a:latin typeface="Calibri" panose="020F0502020204030204" pitchFamily="34" charset="0"/>
                <a:cs typeface="Calibri" panose="020F0502020204030204" pitchFamily="34" charset="0"/>
              </a:rPr>
              <a:t> Players or teams featured on the cover of SI have earned their place by performing exceptionally well. But athletic success is a mix of </a:t>
            </a:r>
            <a:r>
              <a:rPr lang="en-GB" sz="3200" b="1" dirty="0">
                <a:solidFill>
                  <a:schemeClr val="tx1"/>
                </a:solidFill>
                <a:latin typeface="Calibri" panose="020F0502020204030204" pitchFamily="34" charset="0"/>
                <a:cs typeface="Calibri" panose="020F0502020204030204" pitchFamily="34" charset="0"/>
              </a:rPr>
              <a:t>skill</a:t>
            </a:r>
            <a:r>
              <a:rPr lang="en-GB" sz="3200" dirty="0">
                <a:solidFill>
                  <a:schemeClr val="tx1"/>
                </a:solidFill>
                <a:latin typeface="Calibri" panose="020F0502020204030204" pitchFamily="34" charset="0"/>
                <a:cs typeface="Calibri" panose="020F0502020204030204" pitchFamily="34" charset="0"/>
              </a:rPr>
              <a:t> and </a:t>
            </a:r>
            <a:r>
              <a:rPr lang="en-GB" sz="3200" b="1" dirty="0">
                <a:solidFill>
                  <a:schemeClr val="tx1"/>
                </a:solidFill>
                <a:latin typeface="Calibri" panose="020F0502020204030204" pitchFamily="34" charset="0"/>
                <a:cs typeface="Calibri" panose="020F0502020204030204" pitchFamily="34" charset="0"/>
              </a:rPr>
              <a:t>luck</a:t>
            </a:r>
            <a:r>
              <a:rPr lang="en-GB" sz="3200" dirty="0">
                <a:solidFill>
                  <a:schemeClr val="tx1"/>
                </a:solidFill>
                <a:latin typeface="Calibri" panose="020F0502020204030204" pitchFamily="34" charset="0"/>
                <a:cs typeface="Calibri" panose="020F0502020204030204" pitchFamily="34" charset="0"/>
              </a:rPr>
              <a:t>, and even the best players don’t always win.</a:t>
            </a:r>
          </a:p>
          <a:p>
            <a:pPr algn="just">
              <a:buFont typeface="Wingdings" panose="05000000000000000000" pitchFamily="2" charset="2"/>
              <a:buChar char="Ø"/>
            </a:pPr>
            <a:r>
              <a:rPr lang="en-GB" sz="3200" dirty="0">
                <a:solidFill>
                  <a:schemeClr val="tx1"/>
                </a:solidFill>
                <a:latin typeface="Calibri" panose="020F0502020204030204" pitchFamily="34" charset="0"/>
                <a:cs typeface="Calibri" panose="020F0502020204030204" pitchFamily="34" charset="0"/>
              </a:rPr>
              <a:t>Chances are that good luck will not continue indefinitely, and neither can exceptional success.</a:t>
            </a:r>
            <a:endParaRPr lang="en-US" sz="3200" b="0" i="0" dirty="0">
              <a:solidFill>
                <a:schemeClr val="tx1"/>
              </a:solidFill>
              <a:effectLst/>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18</a:t>
            </a:fld>
            <a:endParaRPr lang="en-US">
              <a:solidFill>
                <a:srgbClr val="90C226"/>
              </a:solidFill>
            </a:endParaRPr>
          </a:p>
        </p:txBody>
      </p:sp>
      <p:pic>
        <p:nvPicPr>
          <p:cNvPr id="2050" name="Picture 2" descr="soci209 - module 1">
            <a:extLst>
              <a:ext uri="{FF2B5EF4-FFF2-40B4-BE49-F238E27FC236}">
                <a16:creationId xmlns:a16="http://schemas.microsoft.com/office/drawing/2014/main" id="{28A5C6F0-EC6E-4DFF-A242-62548CBCD0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21010" y="272673"/>
            <a:ext cx="6149149" cy="66046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83459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290863" y="1388987"/>
            <a:ext cx="5901137" cy="4003110"/>
          </a:xfrm>
          <a:prstGeom prst="rect">
            <a:avLst/>
          </a:prstGeom>
        </p:spPr>
      </p:pic>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Regression to the Mean</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190123" y="1128583"/>
            <a:ext cx="6100740" cy="5643409"/>
          </a:xfrm>
        </p:spPr>
        <p:txBody>
          <a:bodyPr>
            <a:normAutofit fontScale="70000" lnSpcReduction="20000"/>
          </a:bodyPr>
          <a:lstStyle/>
          <a:p>
            <a:pPr algn="just">
              <a:buFont typeface="Wingdings" panose="05000000000000000000" pitchFamily="2" charset="2"/>
              <a:buChar char="Ø"/>
            </a:pPr>
            <a:r>
              <a:rPr lang="en-GB" sz="3200" b="1" dirty="0">
                <a:solidFill>
                  <a:schemeClr val="tx1"/>
                </a:solidFill>
                <a:latin typeface="Calibri" panose="020F0502020204030204" pitchFamily="34" charset="0"/>
                <a:cs typeface="Calibri" panose="020F0502020204030204" pitchFamily="34" charset="0"/>
              </a:rPr>
              <a:t>Regression to the mean can prove problematic </a:t>
            </a:r>
            <a:r>
              <a:rPr lang="en-GB" sz="3200" dirty="0">
                <a:solidFill>
                  <a:schemeClr val="tx1"/>
                </a:solidFill>
                <a:latin typeface="Calibri" panose="020F0502020204030204" pitchFamily="34" charset="0"/>
                <a:cs typeface="Calibri" panose="020F0502020204030204" pitchFamily="34" charset="0"/>
              </a:rPr>
              <a:t>particularly in research studies that measure the effectiveness of an intervention, program, or policy.</a:t>
            </a:r>
          </a:p>
          <a:p>
            <a:pPr algn="just">
              <a:buFont typeface="Wingdings" panose="05000000000000000000" pitchFamily="2" charset="2"/>
              <a:buChar char="Ø"/>
            </a:pPr>
            <a:r>
              <a:rPr lang="en-GB" sz="3200" dirty="0">
                <a:solidFill>
                  <a:schemeClr val="tx1"/>
                </a:solidFill>
                <a:latin typeface="Calibri" panose="020F0502020204030204" pitchFamily="34" charset="0"/>
                <a:cs typeface="Calibri" panose="020F0502020204030204" pitchFamily="34" charset="0"/>
              </a:rPr>
              <a:t>It can </a:t>
            </a:r>
            <a:r>
              <a:rPr lang="en-GB" sz="3200" b="1" dirty="0">
                <a:solidFill>
                  <a:schemeClr val="tx1"/>
                </a:solidFill>
                <a:latin typeface="Calibri" panose="020F0502020204030204" pitchFamily="34" charset="0"/>
                <a:cs typeface="Calibri" panose="020F0502020204030204" pitchFamily="34" charset="0"/>
              </a:rPr>
              <a:t>mislead researchers </a:t>
            </a:r>
            <a:r>
              <a:rPr lang="en-GB" sz="3200" dirty="0">
                <a:solidFill>
                  <a:schemeClr val="tx1"/>
                </a:solidFill>
                <a:latin typeface="Calibri" panose="020F0502020204030204" pitchFamily="34" charset="0"/>
                <a:cs typeface="Calibri" panose="020F0502020204030204" pitchFamily="34" charset="0"/>
              </a:rPr>
              <a:t>to believe that an intervention is the cause of an observed change, when in reality it is due to chance. </a:t>
            </a:r>
          </a:p>
          <a:p>
            <a:pPr algn="just">
              <a:buFont typeface="Wingdings" panose="05000000000000000000" pitchFamily="2" charset="2"/>
              <a:buChar char="Ø"/>
            </a:pPr>
            <a:r>
              <a:rPr lang="en-GB" sz="3200" dirty="0">
                <a:solidFill>
                  <a:schemeClr val="tx1"/>
                </a:solidFill>
                <a:latin typeface="Calibri" panose="020F0502020204030204" pitchFamily="34" charset="0"/>
                <a:cs typeface="Calibri" panose="020F0502020204030204" pitchFamily="34" charset="0"/>
              </a:rPr>
              <a:t>This is particularly evident when researchers focus on measurements of people, cases, or organizations at the extremes, such as the worst-performing, the best-educated, or the unhealthiest.</a:t>
            </a:r>
          </a:p>
          <a:p>
            <a:pPr algn="just">
              <a:buFont typeface="Wingdings" panose="05000000000000000000" pitchFamily="2" charset="2"/>
              <a:buChar char="Ø"/>
            </a:pPr>
            <a:r>
              <a:rPr lang="en-GB" sz="3200" dirty="0">
                <a:solidFill>
                  <a:schemeClr val="tx1"/>
                </a:solidFill>
                <a:latin typeface="Calibri" panose="020F0502020204030204" pitchFamily="34" charset="0"/>
                <a:cs typeface="Calibri" panose="020F0502020204030204" pitchFamily="34" charset="0"/>
              </a:rPr>
              <a:t>RTM shows us that, statistically, the lowest cases are likely to </a:t>
            </a:r>
            <a:r>
              <a:rPr lang="en-GB" sz="3200" b="1" dirty="0">
                <a:solidFill>
                  <a:schemeClr val="tx1"/>
                </a:solidFill>
                <a:latin typeface="Calibri" panose="020F0502020204030204" pitchFamily="34" charset="0"/>
                <a:cs typeface="Calibri" panose="020F0502020204030204" pitchFamily="34" charset="0"/>
              </a:rPr>
              <a:t>improve the second time</a:t>
            </a:r>
            <a:r>
              <a:rPr lang="en-GB" sz="3200" dirty="0">
                <a:solidFill>
                  <a:schemeClr val="tx1"/>
                </a:solidFill>
                <a:latin typeface="Calibri" panose="020F0502020204030204" pitchFamily="34" charset="0"/>
                <a:cs typeface="Calibri" panose="020F0502020204030204" pitchFamily="34" charset="0"/>
              </a:rPr>
              <a:t>, while those at their peak will likely </a:t>
            </a:r>
            <a:r>
              <a:rPr lang="en-GB" sz="3200" b="1" dirty="0">
                <a:solidFill>
                  <a:schemeClr val="tx1"/>
                </a:solidFill>
                <a:latin typeface="Calibri" panose="020F0502020204030204" pitchFamily="34" charset="0"/>
                <a:cs typeface="Calibri" panose="020F0502020204030204" pitchFamily="34" charset="0"/>
              </a:rPr>
              <a:t>perform worse even without the intervention</a:t>
            </a:r>
            <a:r>
              <a:rPr lang="en-GB" sz="3200" dirty="0">
                <a:solidFill>
                  <a:schemeClr val="tx1"/>
                </a:solidFill>
                <a:latin typeface="Calibri" panose="020F0502020204030204" pitchFamily="34" charset="0"/>
                <a:cs typeface="Calibri" panose="020F0502020204030204" pitchFamily="34" charset="0"/>
              </a:rPr>
              <a:t>. Because it can distort results, you need to take regression to the mean into account when designing your research as well as when analysing your findings.</a:t>
            </a:r>
            <a:endParaRPr lang="en-US" sz="3200" b="0" i="0" dirty="0">
              <a:solidFill>
                <a:schemeClr val="tx1"/>
              </a:solidFill>
              <a:effectLst/>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19</a:t>
            </a:fld>
            <a:endParaRPr lang="en-US">
              <a:solidFill>
                <a:srgbClr val="90C226"/>
              </a:solidFill>
            </a:endParaRPr>
          </a:p>
        </p:txBody>
      </p:sp>
    </p:spTree>
    <p:extLst>
      <p:ext uri="{BB962C8B-B14F-4D97-AF65-F5344CB8AC3E}">
        <p14:creationId xmlns:p14="http://schemas.microsoft.com/office/powerpoint/2010/main" val="33345272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20</a:t>
            </a:fld>
            <a:endParaRPr lang="en-US">
              <a:solidFill>
                <a:srgbClr val="90C226"/>
              </a:solidFill>
            </a:endParaRPr>
          </a:p>
        </p:txBody>
      </p:sp>
      <p:pic>
        <p:nvPicPr>
          <p:cNvPr id="6" name="Picture 5">
            <a:extLst>
              <a:ext uri="{FF2B5EF4-FFF2-40B4-BE49-F238E27FC236}">
                <a16:creationId xmlns:a16="http://schemas.microsoft.com/office/drawing/2014/main" id="{ED303529-F7CF-4B1B-B8BE-13BBBB6B5F2F}"/>
              </a:ext>
            </a:extLst>
          </p:cNvPr>
          <p:cNvPicPr>
            <a:picLocks noChangeAspect="1"/>
          </p:cNvPicPr>
          <p:nvPr/>
        </p:nvPicPr>
        <p:blipFill>
          <a:blip r:embed="rId2"/>
          <a:stretch>
            <a:fillRect/>
          </a:stretch>
        </p:blipFill>
        <p:spPr>
          <a:xfrm>
            <a:off x="932806" y="1743589"/>
            <a:ext cx="10487009" cy="3405059"/>
          </a:xfrm>
          <a:prstGeom prst="rect">
            <a:avLst/>
          </a:prstGeom>
        </p:spPr>
      </p:pic>
    </p:spTree>
    <p:extLst>
      <p:ext uri="{BB962C8B-B14F-4D97-AF65-F5344CB8AC3E}">
        <p14:creationId xmlns:p14="http://schemas.microsoft.com/office/powerpoint/2010/main" val="10363888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Sampling Distribution of a Statistic/Fact</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547817" y="1128583"/>
            <a:ext cx="8849680" cy="5165125"/>
          </a:xfrm>
        </p:spPr>
        <p:txBody>
          <a:bodyPr>
            <a:normAutofit/>
          </a:bodyPr>
          <a:lstStyle/>
          <a:p>
            <a:pPr algn="just">
              <a:buFont typeface="Wingdings" panose="05000000000000000000" pitchFamily="2" charset="2"/>
              <a:buChar char="Ø"/>
            </a:pPr>
            <a:r>
              <a:rPr lang="en-US" sz="3200" b="0" i="0" dirty="0">
                <a:solidFill>
                  <a:schemeClr val="tx1"/>
                </a:solidFill>
                <a:effectLst/>
                <a:latin typeface="Calibri" panose="020F0502020204030204" pitchFamily="34" charset="0"/>
                <a:cs typeface="Calibri" panose="020F0502020204030204" pitchFamily="34" charset="0"/>
              </a:rPr>
              <a:t>The term </a:t>
            </a:r>
            <a:r>
              <a:rPr lang="en-US" sz="3200" b="1" i="0" dirty="0">
                <a:solidFill>
                  <a:schemeClr val="tx1"/>
                </a:solidFill>
                <a:effectLst/>
                <a:latin typeface="Calibri" panose="020F0502020204030204" pitchFamily="34" charset="0"/>
                <a:cs typeface="Calibri" panose="020F0502020204030204" pitchFamily="34" charset="0"/>
              </a:rPr>
              <a:t>sampling distribution </a:t>
            </a:r>
            <a:r>
              <a:rPr lang="en-US" sz="3200" b="0" i="0" dirty="0">
                <a:solidFill>
                  <a:schemeClr val="tx1"/>
                </a:solidFill>
                <a:effectLst/>
                <a:latin typeface="Calibri" panose="020F0502020204030204" pitchFamily="34" charset="0"/>
                <a:cs typeface="Calibri" panose="020F0502020204030204" pitchFamily="34" charset="0"/>
              </a:rPr>
              <a:t>of a statistic refers to the distribution of some sample statistic over many samples drawn from the same population.</a:t>
            </a:r>
          </a:p>
          <a:p>
            <a:pPr algn="just">
              <a:buFont typeface="Wingdings" panose="05000000000000000000" pitchFamily="2" charset="2"/>
              <a:buChar char="Ø"/>
            </a:pPr>
            <a:r>
              <a:rPr lang="en-GB" sz="3200" dirty="0">
                <a:solidFill>
                  <a:schemeClr val="tx1"/>
                </a:solidFill>
                <a:latin typeface="Calibri" panose="020F0502020204030204" pitchFamily="34" charset="0"/>
                <a:cs typeface="Calibri" panose="020F0502020204030204" pitchFamily="34" charset="0"/>
              </a:rPr>
              <a:t>A sampling distribution is a </a:t>
            </a:r>
            <a:r>
              <a:rPr lang="en-GB" sz="3200" b="1" dirty="0">
                <a:solidFill>
                  <a:schemeClr val="tx1"/>
                </a:solidFill>
                <a:latin typeface="Calibri" panose="020F0502020204030204" pitchFamily="34" charset="0"/>
                <a:cs typeface="Calibri" panose="020F0502020204030204" pitchFamily="34" charset="0"/>
              </a:rPr>
              <a:t>probability distribution of a statistic</a:t>
            </a:r>
            <a:r>
              <a:rPr lang="en-GB" sz="3200" dirty="0">
                <a:solidFill>
                  <a:schemeClr val="tx1"/>
                </a:solidFill>
                <a:latin typeface="Calibri" panose="020F0502020204030204" pitchFamily="34" charset="0"/>
                <a:cs typeface="Calibri" panose="020F0502020204030204" pitchFamily="34" charset="0"/>
              </a:rPr>
              <a:t> that is obtained through </a:t>
            </a:r>
            <a:r>
              <a:rPr lang="en-GB" sz="3200" b="1" dirty="0">
                <a:solidFill>
                  <a:schemeClr val="tx1"/>
                </a:solidFill>
                <a:latin typeface="Calibri" panose="020F0502020204030204" pitchFamily="34" charset="0"/>
                <a:cs typeface="Calibri" panose="020F0502020204030204" pitchFamily="34" charset="0"/>
              </a:rPr>
              <a:t>repeated sampling of a specific population.</a:t>
            </a:r>
            <a:endParaRPr lang="en-US" sz="3200" b="1" i="0" dirty="0">
              <a:solidFill>
                <a:schemeClr val="tx1"/>
              </a:solidFill>
              <a:effectLst/>
              <a:latin typeface="Calibri" panose="020F0502020204030204" pitchFamily="34" charset="0"/>
              <a:cs typeface="Calibri" panose="020F0502020204030204" pitchFamily="34" charset="0"/>
            </a:endParaRPr>
          </a:p>
          <a:p>
            <a:pPr algn="just">
              <a:buFont typeface="Wingdings" panose="05000000000000000000" pitchFamily="2" charset="2"/>
              <a:buChar char="Ø"/>
            </a:pPr>
            <a:r>
              <a:rPr lang="en-US" sz="3200" b="0" i="0" dirty="0">
                <a:solidFill>
                  <a:schemeClr val="tx1"/>
                </a:solidFill>
                <a:effectLst/>
                <a:latin typeface="Calibri" panose="020F0502020204030204" pitchFamily="34" charset="0"/>
                <a:cs typeface="Calibri" panose="020F0502020204030204" pitchFamily="34" charset="0"/>
              </a:rPr>
              <a:t>Much of classical statistics is concerned with making inferences from (small) samples to (very large) populations.</a:t>
            </a:r>
          </a:p>
          <a:p>
            <a:pPr algn="just">
              <a:buFont typeface="Wingdings" panose="05000000000000000000" pitchFamily="2" charset="2"/>
              <a:buChar char="Ø"/>
            </a:pPr>
            <a:endParaRPr lang="en-US" sz="3200" b="0" i="0" dirty="0">
              <a:solidFill>
                <a:schemeClr val="tx1"/>
              </a:solidFill>
              <a:effectLst/>
              <a:latin typeface="NewBaskerville-Roman"/>
            </a:endParaRP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21</a:t>
            </a:fld>
            <a:endParaRPr lang="en-US">
              <a:solidFill>
                <a:srgbClr val="90C226"/>
              </a:solidFill>
            </a:endParaRPr>
          </a:p>
        </p:txBody>
      </p:sp>
    </p:spTree>
    <p:extLst>
      <p:ext uri="{BB962C8B-B14F-4D97-AF65-F5344CB8AC3E}">
        <p14:creationId xmlns:p14="http://schemas.microsoft.com/office/powerpoint/2010/main" val="35552982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03464-3752-B204-CE02-2D5F1A8B0E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F62538-3EAE-746E-B1F4-FEAABECAC763}"/>
              </a:ext>
            </a:extLst>
          </p:cNvPr>
          <p:cNvSpPr>
            <a:spLocks noGrp="1"/>
          </p:cNvSpPr>
          <p:nvPr>
            <p:ph type="title"/>
          </p:nvPr>
        </p:nvSpPr>
        <p:spPr>
          <a:xfrm>
            <a:off x="547816" y="272673"/>
            <a:ext cx="11149913" cy="757057"/>
          </a:xfrm>
        </p:spPr>
        <p:txBody>
          <a:bodyPr>
            <a:normAutofit/>
          </a:bodyPr>
          <a:lstStyle/>
          <a:p>
            <a:r>
              <a:rPr lang="en-US" dirty="0"/>
              <a:t>Sampling Distribution of a Statistic/Fact</a:t>
            </a:r>
          </a:p>
        </p:txBody>
      </p:sp>
      <p:sp>
        <p:nvSpPr>
          <p:cNvPr id="3" name="Content Placeholder 2">
            <a:extLst>
              <a:ext uri="{FF2B5EF4-FFF2-40B4-BE49-F238E27FC236}">
                <a16:creationId xmlns:a16="http://schemas.microsoft.com/office/drawing/2014/main" id="{1BFD38C9-2A1C-347C-3F4F-2AB03BDD2553}"/>
              </a:ext>
            </a:extLst>
          </p:cNvPr>
          <p:cNvSpPr>
            <a:spLocks noGrp="1"/>
          </p:cNvSpPr>
          <p:nvPr>
            <p:ph idx="1"/>
          </p:nvPr>
        </p:nvSpPr>
        <p:spPr>
          <a:xfrm>
            <a:off x="547817" y="1128583"/>
            <a:ext cx="8849680" cy="5165125"/>
          </a:xfrm>
        </p:spPr>
        <p:txBody>
          <a:bodyPr>
            <a:normAutofit/>
          </a:bodyPr>
          <a:lstStyle/>
          <a:p>
            <a:pPr>
              <a:buFont typeface="Wingdings" panose="05000000000000000000" pitchFamily="2" charset="2"/>
              <a:buChar char="Ø"/>
            </a:pPr>
            <a:r>
              <a:rPr lang="en-US" sz="2800" dirty="0"/>
              <a:t>Imagine you have </a:t>
            </a:r>
            <a:r>
              <a:rPr lang="en-US" sz="2800" b="1" dirty="0"/>
              <a:t>10,000 marbles</a:t>
            </a:r>
            <a:r>
              <a:rPr lang="en-US" sz="2800" dirty="0"/>
              <a:t> in a jar — their weights vary around 70g.</a:t>
            </a:r>
          </a:p>
          <a:p>
            <a:pPr>
              <a:buFont typeface="Wingdings" panose="05000000000000000000" pitchFamily="2" charset="2"/>
              <a:buChar char="Ø"/>
            </a:pPr>
            <a:r>
              <a:rPr lang="en-US" sz="2800" dirty="0"/>
              <a:t>You randomly pick </a:t>
            </a:r>
            <a:r>
              <a:rPr lang="en-US" sz="2800" b="1" dirty="0"/>
              <a:t>30 marbles</a:t>
            </a:r>
            <a:r>
              <a:rPr lang="en-US" sz="2800" dirty="0"/>
              <a:t>, weigh them, and find the </a:t>
            </a:r>
            <a:r>
              <a:rPr lang="en-US" sz="2800" b="1" dirty="0"/>
              <a:t>average weight</a:t>
            </a:r>
            <a:r>
              <a:rPr lang="en-US" sz="2800" dirty="0"/>
              <a:t>.</a:t>
            </a:r>
          </a:p>
          <a:p>
            <a:pPr>
              <a:buFont typeface="Wingdings" panose="05000000000000000000" pitchFamily="2" charset="2"/>
              <a:buChar char="Ø"/>
            </a:pPr>
            <a:r>
              <a:rPr lang="en-US" sz="2800" dirty="0"/>
              <a:t>Then you repeat this </a:t>
            </a:r>
            <a:r>
              <a:rPr lang="en-US" sz="2800" b="1" dirty="0"/>
              <a:t>1000 times</a:t>
            </a:r>
            <a:r>
              <a:rPr lang="en-US" sz="2800" dirty="0"/>
              <a:t>.</a:t>
            </a:r>
          </a:p>
          <a:p>
            <a:pPr>
              <a:buFont typeface="Wingdings" panose="05000000000000000000" pitchFamily="2" charset="2"/>
              <a:buChar char="Ø"/>
            </a:pPr>
            <a:r>
              <a:rPr lang="en-US" sz="2800" dirty="0"/>
              <a:t>Each time, your average is a bit different.</a:t>
            </a:r>
          </a:p>
          <a:p>
            <a:pPr>
              <a:buFont typeface="Wingdings" panose="05000000000000000000" pitchFamily="2" charset="2"/>
              <a:buChar char="Ø"/>
            </a:pPr>
            <a:r>
              <a:rPr lang="en-US" sz="2800" dirty="0"/>
              <a:t>The histogram of all those averages = </a:t>
            </a:r>
            <a:r>
              <a:rPr lang="en-US" sz="2800" b="1" dirty="0"/>
              <a:t>sampling distribution of the mean</a:t>
            </a:r>
            <a:r>
              <a:rPr lang="en-US" sz="2800" dirty="0"/>
              <a:t>.</a:t>
            </a:r>
          </a:p>
          <a:p>
            <a:pPr>
              <a:buFont typeface="Wingdings" panose="05000000000000000000" pitchFamily="2" charset="2"/>
              <a:buChar char="Ø"/>
            </a:pPr>
            <a:endParaRPr lang="en-US" sz="2800" b="0" i="0" dirty="0">
              <a:solidFill>
                <a:schemeClr val="tx1"/>
              </a:solidFill>
              <a:effectLst/>
              <a:latin typeface="NewBaskerville-Roman"/>
            </a:endParaRPr>
          </a:p>
        </p:txBody>
      </p:sp>
      <p:sp>
        <p:nvSpPr>
          <p:cNvPr id="5" name="Slide Number Placeholder 4">
            <a:extLst>
              <a:ext uri="{FF2B5EF4-FFF2-40B4-BE49-F238E27FC236}">
                <a16:creationId xmlns:a16="http://schemas.microsoft.com/office/drawing/2014/main" id="{DA4DC041-D621-D67D-11B5-F6A5A2F236F7}"/>
              </a:ext>
            </a:extLst>
          </p:cNvPr>
          <p:cNvSpPr>
            <a:spLocks noGrp="1"/>
          </p:cNvSpPr>
          <p:nvPr>
            <p:ph type="sldNum" sz="quarter" idx="12"/>
          </p:nvPr>
        </p:nvSpPr>
        <p:spPr/>
        <p:txBody>
          <a:bodyPr/>
          <a:lstStyle/>
          <a:p>
            <a:fld id="{CC529A1F-6900-4D36-92AC-B7647C1D9DDB}" type="slidenum">
              <a:rPr lang="en-US" smtClean="0">
                <a:solidFill>
                  <a:srgbClr val="90C226"/>
                </a:solidFill>
              </a:rPr>
              <a:pPr/>
              <a:t>22</a:t>
            </a:fld>
            <a:endParaRPr lang="en-US">
              <a:solidFill>
                <a:srgbClr val="90C226"/>
              </a:solidFill>
            </a:endParaRPr>
          </a:p>
        </p:txBody>
      </p:sp>
      <p:sp>
        <p:nvSpPr>
          <p:cNvPr id="6" name="TextBox 5">
            <a:extLst>
              <a:ext uri="{FF2B5EF4-FFF2-40B4-BE49-F238E27FC236}">
                <a16:creationId xmlns:a16="http://schemas.microsoft.com/office/drawing/2014/main" id="{7336C5FC-8CEF-EE6B-57A5-AE0C48B659A3}"/>
              </a:ext>
            </a:extLst>
          </p:cNvPr>
          <p:cNvSpPr txBox="1"/>
          <p:nvPr/>
        </p:nvSpPr>
        <p:spPr>
          <a:xfrm>
            <a:off x="1176944" y="5267752"/>
            <a:ext cx="7354107" cy="1015663"/>
          </a:xfrm>
          <a:prstGeom prst="rect">
            <a:avLst/>
          </a:prstGeom>
          <a:noFill/>
        </p:spPr>
        <p:txBody>
          <a:bodyPr wrap="square">
            <a:spAutoFit/>
          </a:bodyPr>
          <a:lstStyle/>
          <a:p>
            <a:r>
              <a:rPr lang="en-US" sz="2000" dirty="0"/>
              <a:t>A single sample gives you an estimate.</a:t>
            </a:r>
            <a:br>
              <a:rPr lang="en-US" sz="2000" dirty="0"/>
            </a:br>
            <a:r>
              <a:rPr lang="en-US" sz="2000" dirty="0"/>
              <a:t>The sampling distribution tells you </a:t>
            </a:r>
            <a:r>
              <a:rPr lang="en-US" sz="2000" b="1" dirty="0"/>
              <a:t>how trustworthy</a:t>
            </a:r>
            <a:r>
              <a:rPr lang="en-US" sz="2000" dirty="0"/>
              <a:t> that estimate is.</a:t>
            </a:r>
            <a:endParaRPr lang="en-GB" sz="2000" dirty="0"/>
          </a:p>
        </p:txBody>
      </p:sp>
    </p:spTree>
    <p:extLst>
      <p:ext uri="{BB962C8B-B14F-4D97-AF65-F5344CB8AC3E}">
        <p14:creationId xmlns:p14="http://schemas.microsoft.com/office/powerpoint/2010/main" val="24458529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fontScale="90000"/>
          </a:bodyPr>
          <a:lstStyle/>
          <a:p>
            <a:r>
              <a:rPr lang="en-US" dirty="0"/>
              <a:t>Sampling Distribution of a Statistic (additional reading)</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192345" y="768172"/>
            <a:ext cx="9244905" cy="5165125"/>
          </a:xfrm>
        </p:spPr>
        <p:txBody>
          <a:bodyPr>
            <a:noAutofit/>
          </a:bodyPr>
          <a:lstStyle/>
          <a:p>
            <a:pPr algn="just">
              <a:buFont typeface="Wingdings" panose="05000000000000000000" pitchFamily="2" charset="2"/>
              <a:buChar char="Ø"/>
            </a:pPr>
            <a:r>
              <a:rPr lang="en-GB" sz="1550" dirty="0">
                <a:solidFill>
                  <a:schemeClr val="tx1"/>
                </a:solidFill>
                <a:latin typeface="NewBaskerville-Roman"/>
              </a:rPr>
              <a:t>What is Sampling Distribution?</a:t>
            </a:r>
          </a:p>
          <a:p>
            <a:pPr lvl="1" algn="just">
              <a:buFont typeface="Wingdings" panose="05000000000000000000" pitchFamily="2" charset="2"/>
              <a:buChar char="Ø"/>
            </a:pPr>
            <a:r>
              <a:rPr lang="en-GB" sz="1550" dirty="0">
                <a:solidFill>
                  <a:schemeClr val="tx1"/>
                </a:solidFill>
                <a:latin typeface="NewBaskerville-Roman"/>
              </a:rPr>
              <a:t>Statistics employs various methods when it comes to sampling. The main aim of the sampling distribution is to decide something about the chosen population. We know that the size of the population is very large. Therefore, to study the population, we pick a subset of that population. We decide the size of the population, and it is selected randomly to eliminate bias in sampling. A statistical sample is, therefore, of size n. The probability distribution of a particular statistic procured from several samples is called a "sampling distribution." It could also be understood in terms of the distribution of frequencies of different statistical outcomes that could probably come from a population's statistics (such as the mean, median, or mode).</a:t>
            </a:r>
          </a:p>
          <a:p>
            <a:pPr algn="just">
              <a:buFont typeface="Wingdings" panose="05000000000000000000" pitchFamily="2" charset="2"/>
              <a:buChar char="Ø"/>
            </a:pPr>
            <a:r>
              <a:rPr lang="en-GB" sz="1550" dirty="0">
                <a:solidFill>
                  <a:schemeClr val="tx1"/>
                </a:solidFill>
                <a:latin typeface="NewBaskerville-Roman"/>
              </a:rPr>
              <a:t>How did Sampling Distribution Originate?</a:t>
            </a:r>
          </a:p>
          <a:p>
            <a:pPr lvl="1" algn="just">
              <a:buFont typeface="Wingdings" panose="05000000000000000000" pitchFamily="2" charset="2"/>
              <a:buChar char="Ø"/>
            </a:pPr>
            <a:r>
              <a:rPr lang="en-GB" sz="1550" dirty="0">
                <a:solidFill>
                  <a:schemeClr val="tx1"/>
                </a:solidFill>
                <a:latin typeface="NewBaskerville-Roman"/>
              </a:rPr>
              <a:t>A sampling distribution occurs when a researcher gathers more than one random sample of a similar size from the desired population. The researcher makes sure that these samples are independent of each other. So if a particular individual is part of one sample, then it is optional that he cannot be part of the next sample drawn, and they have the same likelihood of appearing in the next sample.</a:t>
            </a:r>
          </a:p>
          <a:p>
            <a:pPr lvl="1" algn="just">
              <a:buFont typeface="Wingdings" panose="05000000000000000000" pitchFamily="2" charset="2"/>
              <a:buChar char="Ø"/>
            </a:pPr>
            <a:r>
              <a:rPr lang="en-GB" sz="1550" dirty="0">
                <a:solidFill>
                  <a:schemeClr val="tx1"/>
                </a:solidFill>
                <a:latin typeface="NewBaskerville-Roman"/>
              </a:rPr>
              <a:t>The researcher calculates a statistic for each sample. For instance, if the researcher wants to find out the weight of bananas, he will pick five samples of 10 bananas each. He will calculate each group's mean (statistic) in the second step. Each sample will mostly produce a varying value or mean of bananas. The range that the researcher obtains is called the sampling distribution. In summary, a sampling distribution can be defined as a statistical distribution we get when we repeatedly draw samples from a larger population. In a larger population, sampling distribution gives us a range of likely outcomes for a particular statistic, such as the mean or median of a particular variable.</a:t>
            </a:r>
            <a:endParaRPr lang="en-US" sz="1550" b="0" i="0" dirty="0">
              <a:solidFill>
                <a:schemeClr val="tx1"/>
              </a:solidFill>
              <a:effectLst/>
              <a:latin typeface="NewBaskerville-Roman"/>
            </a:endParaRP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23</a:t>
            </a:fld>
            <a:endParaRPr lang="en-US">
              <a:solidFill>
                <a:srgbClr val="90C226"/>
              </a:solidFill>
            </a:endParaRPr>
          </a:p>
        </p:txBody>
      </p:sp>
    </p:spTree>
    <p:extLst>
      <p:ext uri="{BB962C8B-B14F-4D97-AF65-F5344CB8AC3E}">
        <p14:creationId xmlns:p14="http://schemas.microsoft.com/office/powerpoint/2010/main" val="25045071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Sampling Distribution of a Statistic</a:t>
            </a:r>
            <a:endParaRPr lang="en-US" b="1" dirty="0"/>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190123" y="1128583"/>
            <a:ext cx="9261695" cy="5165125"/>
          </a:xfrm>
        </p:spPr>
        <p:txBody>
          <a:bodyPr>
            <a:normAutofit fontScale="77500" lnSpcReduction="20000"/>
          </a:bodyPr>
          <a:lstStyle/>
          <a:p>
            <a:pPr algn="just">
              <a:buFont typeface="Wingdings" panose="05000000000000000000" pitchFamily="2" charset="2"/>
              <a:buChar char="Ø"/>
            </a:pPr>
            <a:r>
              <a:rPr lang="en-US" sz="3200" b="0" i="0" dirty="0">
                <a:solidFill>
                  <a:schemeClr val="tx1"/>
                </a:solidFill>
                <a:effectLst/>
                <a:latin typeface="Calibri" panose="020F0502020204030204" pitchFamily="34" charset="0"/>
                <a:cs typeface="Calibri" panose="020F0502020204030204" pitchFamily="34" charset="0"/>
              </a:rPr>
              <a:t>Typically, a sample is drawn with the goal of </a:t>
            </a:r>
          </a:p>
          <a:p>
            <a:pPr lvl="1" algn="just">
              <a:buFont typeface="Wingdings" panose="05000000000000000000" pitchFamily="2" charset="2"/>
              <a:buChar char="Ø"/>
            </a:pPr>
            <a:r>
              <a:rPr lang="en-US" sz="3000" b="1" dirty="0">
                <a:solidFill>
                  <a:schemeClr val="tx1"/>
                </a:solidFill>
                <a:latin typeface="Calibri" panose="020F0502020204030204" pitchFamily="34" charset="0"/>
                <a:cs typeface="Calibri" panose="020F0502020204030204" pitchFamily="34" charset="0"/>
              </a:rPr>
              <a:t>measuring</a:t>
            </a:r>
            <a:r>
              <a:rPr lang="en-US" sz="3000" b="0" i="0" dirty="0">
                <a:solidFill>
                  <a:schemeClr val="tx1"/>
                </a:solidFill>
                <a:effectLst/>
                <a:latin typeface="Calibri" panose="020F0502020204030204" pitchFamily="34" charset="0"/>
                <a:cs typeface="Calibri" panose="020F0502020204030204" pitchFamily="34" charset="0"/>
              </a:rPr>
              <a:t> something (with a sample statistic) or </a:t>
            </a:r>
          </a:p>
          <a:p>
            <a:pPr lvl="1" algn="just">
              <a:buFont typeface="Wingdings" panose="05000000000000000000" pitchFamily="2" charset="2"/>
              <a:buChar char="Ø"/>
            </a:pPr>
            <a:r>
              <a:rPr lang="en-US" sz="3000" b="1" i="0" dirty="0">
                <a:solidFill>
                  <a:schemeClr val="tx1"/>
                </a:solidFill>
                <a:effectLst/>
                <a:latin typeface="Calibri" panose="020F0502020204030204" pitchFamily="34" charset="0"/>
                <a:cs typeface="Calibri" panose="020F0502020204030204" pitchFamily="34" charset="0"/>
              </a:rPr>
              <a:t>modeling</a:t>
            </a:r>
            <a:r>
              <a:rPr lang="en-US" sz="3000" b="0" i="0" dirty="0">
                <a:solidFill>
                  <a:schemeClr val="tx1"/>
                </a:solidFill>
                <a:effectLst/>
                <a:latin typeface="Calibri" panose="020F0502020204030204" pitchFamily="34" charset="0"/>
                <a:cs typeface="Calibri" panose="020F0502020204030204" pitchFamily="34" charset="0"/>
              </a:rPr>
              <a:t> something (with a statistical or machine learning model). </a:t>
            </a:r>
          </a:p>
          <a:p>
            <a:pPr algn="just">
              <a:buFont typeface="Wingdings" panose="05000000000000000000" pitchFamily="2" charset="2"/>
              <a:buChar char="Ø"/>
            </a:pPr>
            <a:r>
              <a:rPr lang="en-US" sz="3200" b="0" i="0" dirty="0">
                <a:solidFill>
                  <a:schemeClr val="tx1"/>
                </a:solidFill>
                <a:effectLst/>
                <a:latin typeface="Calibri" panose="020F0502020204030204" pitchFamily="34" charset="0"/>
                <a:cs typeface="Calibri" panose="020F0502020204030204" pitchFamily="34" charset="0"/>
              </a:rPr>
              <a:t>Since our estimate or model is based on a sample, it might be in error; it might be different if we were to draw a different sample. </a:t>
            </a:r>
          </a:p>
          <a:p>
            <a:pPr algn="just">
              <a:buFont typeface="Wingdings" panose="05000000000000000000" pitchFamily="2" charset="2"/>
              <a:buChar char="Ø"/>
            </a:pPr>
            <a:r>
              <a:rPr lang="en-US" sz="3200" b="0" i="0" dirty="0">
                <a:solidFill>
                  <a:schemeClr val="tx1"/>
                </a:solidFill>
                <a:effectLst/>
                <a:latin typeface="Calibri" panose="020F0502020204030204" pitchFamily="34" charset="0"/>
                <a:cs typeface="Calibri" panose="020F0502020204030204" pitchFamily="34" charset="0"/>
              </a:rPr>
              <a:t>We are therefore interested in how different it might be</a:t>
            </a:r>
          </a:p>
          <a:p>
            <a:pPr lvl="1" algn="just">
              <a:buFont typeface="Wingdings" panose="05000000000000000000" pitchFamily="2" charset="2"/>
              <a:buChar char="Ø"/>
            </a:pPr>
            <a:r>
              <a:rPr lang="en-US" sz="3000" b="0" i="0" dirty="0">
                <a:solidFill>
                  <a:schemeClr val="tx1"/>
                </a:solidFill>
                <a:effectLst/>
                <a:latin typeface="Calibri" panose="020F0502020204030204" pitchFamily="34" charset="0"/>
                <a:cs typeface="Calibri" panose="020F0502020204030204" pitchFamily="34" charset="0"/>
              </a:rPr>
              <a:t>a key concern is sampling </a:t>
            </a:r>
            <a:r>
              <a:rPr lang="en-US" sz="3000" b="1" i="0" dirty="0">
                <a:solidFill>
                  <a:schemeClr val="tx1"/>
                </a:solidFill>
                <a:effectLst/>
                <a:latin typeface="Calibri" panose="020F0502020204030204" pitchFamily="34" charset="0"/>
                <a:cs typeface="Calibri" panose="020F0502020204030204" pitchFamily="34" charset="0"/>
              </a:rPr>
              <a:t>variability</a:t>
            </a:r>
            <a:r>
              <a:rPr lang="en-US" sz="3000" b="0" i="0" dirty="0">
                <a:solidFill>
                  <a:schemeClr val="tx1"/>
                </a:solidFill>
                <a:effectLst/>
                <a:latin typeface="Calibri" panose="020F0502020204030204" pitchFamily="34" charset="0"/>
                <a:cs typeface="Calibri" panose="020F0502020204030204" pitchFamily="34" charset="0"/>
              </a:rPr>
              <a:t>. </a:t>
            </a:r>
          </a:p>
          <a:p>
            <a:pPr algn="just">
              <a:buFont typeface="Wingdings" panose="05000000000000000000" pitchFamily="2" charset="2"/>
              <a:buChar char="Ø"/>
            </a:pPr>
            <a:r>
              <a:rPr lang="en-US" sz="3200" b="0" i="0" dirty="0">
                <a:solidFill>
                  <a:schemeClr val="tx1"/>
                </a:solidFill>
                <a:effectLst/>
                <a:latin typeface="Calibri" panose="020F0502020204030204" pitchFamily="34" charset="0"/>
                <a:cs typeface="Calibri" panose="020F0502020204030204" pitchFamily="34" charset="0"/>
              </a:rPr>
              <a:t>If we had lots of data, we could draw </a:t>
            </a:r>
            <a:r>
              <a:rPr lang="en-US" sz="3400" b="0" i="0" dirty="0">
                <a:solidFill>
                  <a:schemeClr val="tx1"/>
                </a:solidFill>
                <a:effectLst/>
                <a:latin typeface="Calibri" panose="020F0502020204030204" pitchFamily="34" charset="0"/>
                <a:cs typeface="Calibri" panose="020F0502020204030204" pitchFamily="34" charset="0"/>
              </a:rPr>
              <a:t>additional samples and observe the distribution of a sample statistic directly.</a:t>
            </a:r>
          </a:p>
          <a:p>
            <a:pPr algn="just">
              <a:buFont typeface="Wingdings" panose="05000000000000000000" pitchFamily="2" charset="2"/>
              <a:buChar char="Ø"/>
            </a:pPr>
            <a:r>
              <a:rPr lang="en-US" sz="3400" b="0" i="0" dirty="0">
                <a:solidFill>
                  <a:schemeClr val="tx1"/>
                </a:solidFill>
                <a:effectLst/>
                <a:latin typeface="Calibri" panose="020F0502020204030204" pitchFamily="34" charset="0"/>
                <a:cs typeface="Calibri" panose="020F0502020204030204" pitchFamily="34" charset="0"/>
              </a:rPr>
              <a:t>Typically, we will calculate our </a:t>
            </a:r>
            <a:r>
              <a:rPr lang="en-US" sz="3400" b="1" i="0" dirty="0">
                <a:solidFill>
                  <a:schemeClr val="tx1"/>
                </a:solidFill>
                <a:effectLst/>
                <a:latin typeface="Calibri" panose="020F0502020204030204" pitchFamily="34" charset="0"/>
                <a:cs typeface="Calibri" panose="020F0502020204030204" pitchFamily="34" charset="0"/>
              </a:rPr>
              <a:t>estimate</a:t>
            </a:r>
            <a:r>
              <a:rPr lang="en-US" sz="3400" b="0" i="0" dirty="0">
                <a:solidFill>
                  <a:schemeClr val="tx1"/>
                </a:solidFill>
                <a:effectLst/>
                <a:latin typeface="Calibri" panose="020F0502020204030204" pitchFamily="34" charset="0"/>
                <a:cs typeface="Calibri" panose="020F0502020204030204" pitchFamily="34" charset="0"/>
              </a:rPr>
              <a:t> or </a:t>
            </a:r>
            <a:r>
              <a:rPr lang="en-US" sz="3400" b="1" i="0" dirty="0">
                <a:solidFill>
                  <a:schemeClr val="tx1"/>
                </a:solidFill>
                <a:effectLst/>
                <a:latin typeface="Calibri" panose="020F0502020204030204" pitchFamily="34" charset="0"/>
                <a:cs typeface="Calibri" panose="020F0502020204030204" pitchFamily="34" charset="0"/>
              </a:rPr>
              <a:t>model</a:t>
            </a:r>
            <a:r>
              <a:rPr lang="en-US" sz="3400" b="0" i="0" dirty="0">
                <a:solidFill>
                  <a:schemeClr val="tx1"/>
                </a:solidFill>
                <a:effectLst/>
                <a:latin typeface="Calibri" panose="020F0502020204030204" pitchFamily="34" charset="0"/>
                <a:cs typeface="Calibri" panose="020F0502020204030204" pitchFamily="34" charset="0"/>
              </a:rPr>
              <a:t> using as much data as is easily available, for the maximum number of available samples from the population</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24</a:t>
            </a:fld>
            <a:endParaRPr lang="en-US">
              <a:solidFill>
                <a:srgbClr val="90C226"/>
              </a:solidFill>
            </a:endParaRPr>
          </a:p>
        </p:txBody>
      </p:sp>
    </p:spTree>
    <p:extLst>
      <p:ext uri="{BB962C8B-B14F-4D97-AF65-F5344CB8AC3E}">
        <p14:creationId xmlns:p14="http://schemas.microsoft.com/office/powerpoint/2010/main" val="20597965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Sampling Distribution of a Statistic</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547817" y="1128583"/>
            <a:ext cx="8940215" cy="5165125"/>
          </a:xfrm>
        </p:spPr>
        <p:txBody>
          <a:bodyPr>
            <a:normAutofit/>
          </a:bodyPr>
          <a:lstStyle/>
          <a:p>
            <a:pPr algn="just">
              <a:buFont typeface="Wingdings" panose="05000000000000000000" pitchFamily="2" charset="2"/>
              <a:buChar char="Ø"/>
            </a:pPr>
            <a:r>
              <a:rPr lang="en-US" sz="3200" b="0" i="0" dirty="0">
                <a:solidFill>
                  <a:schemeClr val="tx1"/>
                </a:solidFill>
                <a:effectLst/>
                <a:latin typeface="Calibri" panose="020F0502020204030204" pitchFamily="34" charset="0"/>
                <a:cs typeface="Calibri" panose="020F0502020204030204" pitchFamily="34" charset="0"/>
              </a:rPr>
              <a:t>The distribution of a </a:t>
            </a:r>
            <a:r>
              <a:rPr lang="en-US" sz="3200" b="1" i="0" dirty="0">
                <a:solidFill>
                  <a:schemeClr val="tx1"/>
                </a:solidFill>
                <a:effectLst/>
                <a:latin typeface="Calibri" panose="020F0502020204030204" pitchFamily="34" charset="0"/>
                <a:cs typeface="Calibri" panose="020F0502020204030204" pitchFamily="34" charset="0"/>
              </a:rPr>
              <a:t>sample statistic </a:t>
            </a:r>
            <a:r>
              <a:rPr lang="en-US" sz="3200" b="0" i="0" dirty="0">
                <a:solidFill>
                  <a:schemeClr val="tx1"/>
                </a:solidFill>
                <a:effectLst/>
                <a:latin typeface="Calibri" panose="020F0502020204030204" pitchFamily="34" charset="0"/>
                <a:cs typeface="Calibri" panose="020F0502020204030204" pitchFamily="34" charset="0"/>
              </a:rPr>
              <a:t>such as the </a:t>
            </a:r>
            <a:r>
              <a:rPr lang="en-US" sz="3200" b="1" i="0" dirty="0">
                <a:solidFill>
                  <a:schemeClr val="tx1"/>
                </a:solidFill>
                <a:effectLst/>
                <a:latin typeface="Calibri" panose="020F0502020204030204" pitchFamily="34" charset="0"/>
                <a:cs typeface="Calibri" panose="020F0502020204030204" pitchFamily="34" charset="0"/>
              </a:rPr>
              <a:t>mean</a:t>
            </a:r>
            <a:r>
              <a:rPr lang="en-US" sz="3200" b="0" i="0" dirty="0">
                <a:solidFill>
                  <a:schemeClr val="tx1"/>
                </a:solidFill>
                <a:effectLst/>
                <a:latin typeface="Calibri" panose="020F0502020204030204" pitchFamily="34" charset="0"/>
                <a:cs typeface="Calibri" panose="020F0502020204030204" pitchFamily="34" charset="0"/>
              </a:rPr>
              <a:t> is likely to be more regular and </a:t>
            </a:r>
            <a:r>
              <a:rPr lang="en-US" sz="3200" b="1" i="0" dirty="0">
                <a:solidFill>
                  <a:schemeClr val="tx1"/>
                </a:solidFill>
                <a:effectLst/>
                <a:latin typeface="Calibri" panose="020F0502020204030204" pitchFamily="34" charset="0"/>
                <a:cs typeface="Calibri" panose="020F0502020204030204" pitchFamily="34" charset="0"/>
              </a:rPr>
              <a:t>bell-shaped</a:t>
            </a:r>
            <a:r>
              <a:rPr lang="en-US" sz="3200" b="0" i="0" dirty="0">
                <a:solidFill>
                  <a:schemeClr val="tx1"/>
                </a:solidFill>
                <a:effectLst/>
                <a:latin typeface="Calibri" panose="020F0502020204030204" pitchFamily="34" charset="0"/>
                <a:cs typeface="Calibri" panose="020F0502020204030204" pitchFamily="34" charset="0"/>
              </a:rPr>
              <a:t> than the distribution of the data itself. </a:t>
            </a:r>
          </a:p>
          <a:p>
            <a:pPr algn="just">
              <a:buFont typeface="Wingdings" panose="05000000000000000000" pitchFamily="2" charset="2"/>
              <a:buChar char="Ø"/>
            </a:pPr>
            <a:r>
              <a:rPr lang="en-US" sz="3200" b="0" i="0" dirty="0">
                <a:solidFill>
                  <a:schemeClr val="tx1"/>
                </a:solidFill>
                <a:effectLst/>
                <a:latin typeface="Calibri" panose="020F0502020204030204" pitchFamily="34" charset="0"/>
                <a:cs typeface="Calibri" panose="020F0502020204030204" pitchFamily="34" charset="0"/>
              </a:rPr>
              <a:t>The </a:t>
            </a:r>
            <a:r>
              <a:rPr lang="en-US" sz="3200" b="1" i="0" dirty="0">
                <a:solidFill>
                  <a:schemeClr val="tx1"/>
                </a:solidFill>
                <a:effectLst/>
                <a:latin typeface="Calibri" panose="020F0502020204030204" pitchFamily="34" charset="0"/>
                <a:cs typeface="Calibri" panose="020F0502020204030204" pitchFamily="34" charset="0"/>
              </a:rPr>
              <a:t>larger the sample </a:t>
            </a:r>
            <a:r>
              <a:rPr lang="en-US" sz="3200" b="0" i="0" dirty="0">
                <a:solidFill>
                  <a:schemeClr val="tx1"/>
                </a:solidFill>
                <a:effectLst/>
                <a:latin typeface="Calibri" panose="020F0502020204030204" pitchFamily="34" charset="0"/>
                <a:cs typeface="Calibri" panose="020F0502020204030204" pitchFamily="34" charset="0"/>
              </a:rPr>
              <a:t>the statistic is based on, the more this is </a:t>
            </a:r>
            <a:r>
              <a:rPr lang="en-US" sz="3200" b="1" i="0" dirty="0">
                <a:solidFill>
                  <a:schemeClr val="tx1"/>
                </a:solidFill>
                <a:effectLst/>
                <a:latin typeface="Calibri" panose="020F0502020204030204" pitchFamily="34" charset="0"/>
                <a:cs typeface="Calibri" panose="020F0502020204030204" pitchFamily="34" charset="0"/>
              </a:rPr>
              <a:t>true (bell-shaped)</a:t>
            </a:r>
            <a:r>
              <a:rPr lang="en-US" sz="3200" b="0" i="0" dirty="0">
                <a:solidFill>
                  <a:schemeClr val="tx1"/>
                </a:solidFill>
                <a:effectLst/>
                <a:latin typeface="Calibri" panose="020F0502020204030204" pitchFamily="34" charset="0"/>
                <a:cs typeface="Calibri" panose="020F0502020204030204" pitchFamily="34" charset="0"/>
              </a:rPr>
              <a:t>. </a:t>
            </a:r>
          </a:p>
          <a:p>
            <a:pPr algn="just">
              <a:buFont typeface="Wingdings" panose="05000000000000000000" pitchFamily="2" charset="2"/>
              <a:buChar char="Ø"/>
            </a:pPr>
            <a:r>
              <a:rPr lang="en-US" sz="3200" b="0" i="0" dirty="0">
                <a:solidFill>
                  <a:schemeClr val="tx1"/>
                </a:solidFill>
                <a:effectLst/>
                <a:latin typeface="Calibri" panose="020F0502020204030204" pitchFamily="34" charset="0"/>
                <a:cs typeface="Calibri" panose="020F0502020204030204" pitchFamily="34" charset="0"/>
              </a:rPr>
              <a:t>Also, the larger the sample, the narrower the distribution of the sample statistic.</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25</a:t>
            </a:fld>
            <a:endParaRPr lang="en-US">
              <a:solidFill>
                <a:srgbClr val="90C226"/>
              </a:solidFill>
            </a:endParaRPr>
          </a:p>
        </p:txBody>
      </p:sp>
    </p:spTree>
    <p:extLst>
      <p:ext uri="{BB962C8B-B14F-4D97-AF65-F5344CB8AC3E}">
        <p14:creationId xmlns:p14="http://schemas.microsoft.com/office/powerpoint/2010/main" val="7631003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Example: Sampling Distribution of a Statistic</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547817" y="1128583"/>
            <a:ext cx="6794543" cy="5165125"/>
          </a:xfrm>
        </p:spPr>
        <p:txBody>
          <a:bodyPr>
            <a:normAutofit fontScale="85000" lnSpcReduction="20000"/>
          </a:bodyPr>
          <a:lstStyle/>
          <a:p>
            <a:pPr algn="just">
              <a:buFont typeface="Wingdings" panose="05000000000000000000" pitchFamily="2" charset="2"/>
              <a:buChar char="Ø"/>
            </a:pPr>
            <a:r>
              <a:rPr lang="en-US" sz="3200" b="0" i="0" dirty="0">
                <a:solidFill>
                  <a:schemeClr val="tx1"/>
                </a:solidFill>
                <a:effectLst/>
                <a:latin typeface="Calibri" panose="020F0502020204030204" pitchFamily="34" charset="0"/>
                <a:cs typeface="Calibri" panose="020F0502020204030204" pitchFamily="34" charset="0"/>
              </a:rPr>
              <a:t>An example using annual income for loan applicants to Lending Club. </a:t>
            </a:r>
          </a:p>
          <a:p>
            <a:pPr algn="just">
              <a:buFont typeface="Wingdings" panose="05000000000000000000" pitchFamily="2" charset="2"/>
              <a:buChar char="Ø"/>
            </a:pPr>
            <a:r>
              <a:rPr lang="en-US" sz="3200" b="0" i="0" dirty="0">
                <a:solidFill>
                  <a:schemeClr val="tx1"/>
                </a:solidFill>
                <a:effectLst/>
                <a:latin typeface="Calibri" panose="020F0502020204030204" pitchFamily="34" charset="0"/>
                <a:cs typeface="Calibri" panose="020F0502020204030204" pitchFamily="34" charset="0"/>
              </a:rPr>
              <a:t>Take three samples from this data: </a:t>
            </a:r>
          </a:p>
          <a:p>
            <a:pPr lvl="1" algn="just">
              <a:buFont typeface="Wingdings" panose="05000000000000000000" pitchFamily="2" charset="2"/>
              <a:buChar char="Ø"/>
            </a:pPr>
            <a:r>
              <a:rPr lang="en-US" sz="3000" b="0" i="0" dirty="0">
                <a:solidFill>
                  <a:schemeClr val="tx1"/>
                </a:solidFill>
                <a:effectLst/>
                <a:latin typeface="Calibri" panose="020F0502020204030204" pitchFamily="34" charset="0"/>
                <a:cs typeface="Calibri" panose="020F0502020204030204" pitchFamily="34" charset="0"/>
              </a:rPr>
              <a:t>a sample of 1,000 values, </a:t>
            </a:r>
          </a:p>
          <a:p>
            <a:pPr lvl="1" algn="just">
              <a:buFont typeface="Wingdings" panose="05000000000000000000" pitchFamily="2" charset="2"/>
              <a:buChar char="Ø"/>
            </a:pPr>
            <a:r>
              <a:rPr lang="en-US" sz="3000" b="0" i="0" dirty="0">
                <a:solidFill>
                  <a:schemeClr val="tx1"/>
                </a:solidFill>
                <a:effectLst/>
                <a:latin typeface="Calibri" panose="020F0502020204030204" pitchFamily="34" charset="0"/>
                <a:cs typeface="Calibri" panose="020F0502020204030204" pitchFamily="34" charset="0"/>
              </a:rPr>
              <a:t>a sample of 1,000 means of 5 values, and </a:t>
            </a:r>
          </a:p>
          <a:p>
            <a:pPr lvl="1" algn="just">
              <a:buFont typeface="Wingdings" panose="05000000000000000000" pitchFamily="2" charset="2"/>
              <a:buChar char="Ø"/>
            </a:pPr>
            <a:r>
              <a:rPr lang="en-US" sz="3000" b="0" i="0" dirty="0">
                <a:solidFill>
                  <a:schemeClr val="tx1"/>
                </a:solidFill>
                <a:effectLst/>
                <a:latin typeface="Calibri" panose="020F0502020204030204" pitchFamily="34" charset="0"/>
                <a:cs typeface="Calibri" panose="020F0502020204030204" pitchFamily="34" charset="0"/>
              </a:rPr>
              <a:t>a sample of 1,000 means of 20 values. </a:t>
            </a:r>
          </a:p>
          <a:p>
            <a:pPr algn="just">
              <a:buFont typeface="Wingdings" panose="05000000000000000000" pitchFamily="2" charset="2"/>
              <a:buChar char="Ø"/>
            </a:pPr>
            <a:r>
              <a:rPr lang="en-US" sz="3200" b="0" i="0" dirty="0">
                <a:solidFill>
                  <a:schemeClr val="tx1"/>
                </a:solidFill>
                <a:effectLst/>
                <a:latin typeface="Calibri" panose="020F0502020204030204" pitchFamily="34" charset="0"/>
                <a:cs typeface="Calibri" panose="020F0502020204030204" pitchFamily="34" charset="0"/>
              </a:rPr>
              <a:t>The histogram of the individual data values is </a:t>
            </a:r>
            <a:r>
              <a:rPr lang="en-US" sz="3200" b="1" i="0" dirty="0">
                <a:solidFill>
                  <a:schemeClr val="tx1"/>
                </a:solidFill>
                <a:effectLst/>
                <a:latin typeface="Calibri" panose="020F0502020204030204" pitchFamily="34" charset="0"/>
                <a:cs typeface="Calibri" panose="020F0502020204030204" pitchFamily="34" charset="0"/>
              </a:rPr>
              <a:t>broadly spread out</a:t>
            </a:r>
            <a:r>
              <a:rPr lang="en-US" sz="3200" b="0" i="0" dirty="0">
                <a:solidFill>
                  <a:schemeClr val="tx1"/>
                </a:solidFill>
                <a:effectLst/>
                <a:latin typeface="Calibri" panose="020F0502020204030204" pitchFamily="34" charset="0"/>
                <a:cs typeface="Calibri" panose="020F0502020204030204" pitchFamily="34" charset="0"/>
              </a:rPr>
              <a:t> and </a:t>
            </a:r>
            <a:r>
              <a:rPr lang="en-US" sz="3200" b="1" i="0" dirty="0">
                <a:solidFill>
                  <a:schemeClr val="tx1"/>
                </a:solidFill>
                <a:effectLst/>
                <a:latin typeface="Calibri" panose="020F0502020204030204" pitchFamily="34" charset="0"/>
                <a:cs typeface="Calibri" panose="020F0502020204030204" pitchFamily="34" charset="0"/>
              </a:rPr>
              <a:t>skewed</a:t>
            </a:r>
            <a:r>
              <a:rPr lang="en-US" sz="3200" b="0" i="0" dirty="0">
                <a:solidFill>
                  <a:schemeClr val="tx1"/>
                </a:solidFill>
                <a:effectLst/>
                <a:latin typeface="Calibri" panose="020F0502020204030204" pitchFamily="34" charset="0"/>
                <a:cs typeface="Calibri" panose="020F0502020204030204" pitchFamily="34" charset="0"/>
              </a:rPr>
              <a:t> toward higher values, as is to be expected with income data. </a:t>
            </a:r>
          </a:p>
          <a:p>
            <a:pPr algn="just">
              <a:buFont typeface="Wingdings" panose="05000000000000000000" pitchFamily="2" charset="2"/>
              <a:buChar char="Ø"/>
            </a:pPr>
            <a:r>
              <a:rPr lang="en-US" sz="3200" b="0" i="0" dirty="0">
                <a:solidFill>
                  <a:schemeClr val="tx1"/>
                </a:solidFill>
                <a:effectLst/>
                <a:latin typeface="Calibri" panose="020F0502020204030204" pitchFamily="34" charset="0"/>
                <a:cs typeface="Calibri" panose="020F0502020204030204" pitchFamily="34" charset="0"/>
              </a:rPr>
              <a:t>The histograms of the means of 5 and 20 are increasingly compact and more </a:t>
            </a:r>
            <a:r>
              <a:rPr lang="en-US" sz="3200" b="1" i="0" dirty="0">
                <a:solidFill>
                  <a:schemeClr val="tx1"/>
                </a:solidFill>
                <a:effectLst/>
                <a:latin typeface="Calibri" panose="020F0502020204030204" pitchFamily="34" charset="0"/>
                <a:cs typeface="Calibri" panose="020F0502020204030204" pitchFamily="34" charset="0"/>
              </a:rPr>
              <a:t>bell-shaped</a:t>
            </a:r>
            <a:r>
              <a:rPr lang="en-US" sz="3200" b="0" i="0" dirty="0">
                <a:solidFill>
                  <a:schemeClr val="tx1"/>
                </a:solidFill>
                <a:effectLst/>
                <a:latin typeface="Calibri" panose="020F0502020204030204" pitchFamily="34" charset="0"/>
                <a:cs typeface="Calibri" panose="020F0502020204030204" pitchFamily="34" charset="0"/>
              </a:rPr>
              <a:t>.</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26</a:t>
            </a:fld>
            <a:endParaRPr lang="en-US">
              <a:solidFill>
                <a:srgbClr val="90C226"/>
              </a:solidFill>
            </a:endParaRPr>
          </a:p>
        </p:txBody>
      </p:sp>
      <p:pic>
        <p:nvPicPr>
          <p:cNvPr id="6" name="Picture 5">
            <a:extLst>
              <a:ext uri="{FF2B5EF4-FFF2-40B4-BE49-F238E27FC236}">
                <a16:creationId xmlns:a16="http://schemas.microsoft.com/office/drawing/2014/main" id="{77974B8B-879D-42EB-9DE0-C71A7695B266}"/>
              </a:ext>
            </a:extLst>
          </p:cNvPr>
          <p:cNvPicPr>
            <a:picLocks noChangeAspect="1"/>
          </p:cNvPicPr>
          <p:nvPr/>
        </p:nvPicPr>
        <p:blipFill>
          <a:blip r:embed="rId2"/>
          <a:stretch>
            <a:fillRect/>
          </a:stretch>
        </p:blipFill>
        <p:spPr>
          <a:xfrm>
            <a:off x="7919726" y="1238762"/>
            <a:ext cx="4272274" cy="5619238"/>
          </a:xfrm>
          <a:prstGeom prst="rect">
            <a:avLst/>
          </a:prstGeom>
        </p:spPr>
      </p:pic>
    </p:spTree>
    <p:extLst>
      <p:ext uri="{BB962C8B-B14F-4D97-AF65-F5344CB8AC3E}">
        <p14:creationId xmlns:p14="http://schemas.microsoft.com/office/powerpoint/2010/main" val="12799147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000944" y="2327564"/>
            <a:ext cx="3191056" cy="4530436"/>
          </a:xfrm>
          <a:prstGeom prst="rect">
            <a:avLst/>
          </a:prstGeom>
        </p:spPr>
      </p:pic>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Central Limit Theorem</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547818" y="1038053"/>
            <a:ext cx="8380051" cy="5368434"/>
          </a:xfrm>
        </p:spPr>
        <p:txBody>
          <a:bodyPr>
            <a:normAutofit fontScale="77500" lnSpcReduction="20000"/>
          </a:bodyPr>
          <a:lstStyle/>
          <a:p>
            <a:pPr algn="just">
              <a:buFont typeface="Wingdings" panose="05000000000000000000" pitchFamily="2" charset="2"/>
              <a:buChar char="Ø"/>
            </a:pPr>
            <a:r>
              <a:rPr lang="en-US" sz="3200" b="0" i="0" dirty="0">
                <a:solidFill>
                  <a:schemeClr val="tx1"/>
                </a:solidFill>
                <a:effectLst/>
                <a:latin typeface="Calibri" panose="020F0502020204030204" pitchFamily="34" charset="0"/>
                <a:cs typeface="Calibri" panose="020F0502020204030204" pitchFamily="34" charset="0"/>
              </a:rPr>
              <a:t>The phenomenon we’ve just described (in previous </a:t>
            </a:r>
            <a:r>
              <a:rPr lang="en-US" sz="3200" dirty="0">
                <a:solidFill>
                  <a:schemeClr val="tx1"/>
                </a:solidFill>
                <a:latin typeface="Calibri" panose="020F0502020204030204" pitchFamily="34" charset="0"/>
                <a:cs typeface="Calibri" panose="020F0502020204030204" pitchFamily="34" charset="0"/>
              </a:rPr>
              <a:t>slides</a:t>
            </a:r>
            <a:r>
              <a:rPr lang="en-US" sz="3200" b="0" i="0" dirty="0">
                <a:solidFill>
                  <a:schemeClr val="tx1"/>
                </a:solidFill>
                <a:effectLst/>
                <a:latin typeface="Calibri" panose="020F0502020204030204" pitchFamily="34" charset="0"/>
                <a:cs typeface="Calibri" panose="020F0502020204030204" pitchFamily="34" charset="0"/>
              </a:rPr>
              <a:t>) is termed the central limit theorem.</a:t>
            </a:r>
          </a:p>
          <a:p>
            <a:pPr algn="just">
              <a:buFont typeface="Wingdings" panose="05000000000000000000" pitchFamily="2" charset="2"/>
              <a:buChar char="Ø"/>
            </a:pPr>
            <a:r>
              <a:rPr lang="en-US" sz="3200" dirty="0">
                <a:solidFill>
                  <a:schemeClr val="tx1"/>
                </a:solidFill>
                <a:latin typeface="Calibri" panose="020F0502020204030204" pitchFamily="34" charset="0"/>
                <a:cs typeface="Calibri" panose="020F0502020204030204" pitchFamily="34" charset="0"/>
              </a:rPr>
              <a:t>The </a:t>
            </a:r>
            <a:r>
              <a:rPr lang="en-US" sz="3200" b="1" dirty="0">
                <a:solidFill>
                  <a:schemeClr val="tx1"/>
                </a:solidFill>
                <a:latin typeface="Calibri" panose="020F0502020204030204" pitchFamily="34" charset="0"/>
                <a:cs typeface="Calibri" panose="020F0502020204030204" pitchFamily="34" charset="0"/>
              </a:rPr>
              <a:t>distribution of a mean </a:t>
            </a:r>
            <a:r>
              <a:rPr lang="en-US" sz="3200" dirty="0">
                <a:solidFill>
                  <a:schemeClr val="tx1"/>
                </a:solidFill>
                <a:latin typeface="Calibri" panose="020F0502020204030204" pitchFamily="34" charset="0"/>
                <a:cs typeface="Calibri" panose="020F0502020204030204" pitchFamily="34" charset="0"/>
              </a:rPr>
              <a:t>of sample values is approximately </a:t>
            </a:r>
            <a:r>
              <a:rPr lang="en-US" sz="3200" b="1" dirty="0">
                <a:solidFill>
                  <a:schemeClr val="tx1"/>
                </a:solidFill>
                <a:latin typeface="Calibri" panose="020F0502020204030204" pitchFamily="34" charset="0"/>
                <a:cs typeface="Calibri" panose="020F0502020204030204" pitchFamily="34" charset="0"/>
              </a:rPr>
              <a:t>normal</a:t>
            </a:r>
            <a:r>
              <a:rPr lang="en-US" sz="3200" dirty="0">
                <a:solidFill>
                  <a:schemeClr val="tx1"/>
                </a:solidFill>
                <a:latin typeface="Calibri" panose="020F0502020204030204" pitchFamily="34" charset="0"/>
                <a:cs typeface="Calibri" panose="020F0502020204030204" pitchFamily="34" charset="0"/>
              </a:rPr>
              <a:t>, whatever the distribution of the values used to calculate the mean, and </a:t>
            </a:r>
            <a:r>
              <a:rPr lang="en-US" sz="3200" b="1" dirty="0">
                <a:solidFill>
                  <a:schemeClr val="tx1"/>
                </a:solidFill>
                <a:latin typeface="Calibri" panose="020F0502020204030204" pitchFamily="34" charset="0"/>
                <a:cs typeface="Calibri" panose="020F0502020204030204" pitchFamily="34" charset="0"/>
              </a:rPr>
              <a:t>grows closer to normal </a:t>
            </a:r>
            <a:r>
              <a:rPr lang="en-US" sz="3200" dirty="0">
                <a:solidFill>
                  <a:schemeClr val="tx1"/>
                </a:solidFill>
                <a:latin typeface="Calibri" panose="020F0502020204030204" pitchFamily="34" charset="0"/>
                <a:cs typeface="Calibri" panose="020F0502020204030204" pitchFamily="34" charset="0"/>
              </a:rPr>
              <a:t>as the sample </a:t>
            </a:r>
            <a:r>
              <a:rPr lang="en-US" sz="3200" b="1" dirty="0">
                <a:solidFill>
                  <a:schemeClr val="tx1"/>
                </a:solidFill>
                <a:latin typeface="Calibri" panose="020F0502020204030204" pitchFamily="34" charset="0"/>
                <a:cs typeface="Calibri" panose="020F0502020204030204" pitchFamily="34" charset="0"/>
              </a:rPr>
              <a:t>size increases</a:t>
            </a:r>
            <a:r>
              <a:rPr lang="en-US" sz="3200" dirty="0">
                <a:solidFill>
                  <a:schemeClr val="tx1"/>
                </a:solidFill>
                <a:latin typeface="Calibri" panose="020F0502020204030204" pitchFamily="34" charset="0"/>
                <a:cs typeface="Calibri" panose="020F0502020204030204" pitchFamily="34" charset="0"/>
              </a:rPr>
              <a:t>.</a:t>
            </a:r>
            <a:endParaRPr lang="en-US" sz="3200" b="0" i="0" dirty="0">
              <a:solidFill>
                <a:schemeClr val="tx1"/>
              </a:solidFill>
              <a:effectLst/>
              <a:latin typeface="Calibri" panose="020F0502020204030204" pitchFamily="34" charset="0"/>
              <a:cs typeface="Calibri" panose="020F0502020204030204" pitchFamily="34" charset="0"/>
            </a:endParaRPr>
          </a:p>
          <a:p>
            <a:pPr algn="just">
              <a:buFont typeface="Wingdings" panose="05000000000000000000" pitchFamily="2" charset="2"/>
              <a:buChar char="Ø"/>
            </a:pPr>
            <a:r>
              <a:rPr lang="en-US" sz="3200" b="0" i="0" dirty="0">
                <a:solidFill>
                  <a:schemeClr val="tx1"/>
                </a:solidFill>
                <a:effectLst/>
                <a:latin typeface="Calibri" panose="020F0502020204030204" pitchFamily="34" charset="0"/>
                <a:cs typeface="Calibri" panose="020F0502020204030204" pitchFamily="34" charset="0"/>
              </a:rPr>
              <a:t> </a:t>
            </a:r>
            <a:r>
              <a:rPr lang="en-US" sz="3200" b="1" i="0" dirty="0">
                <a:solidFill>
                  <a:schemeClr val="tx1"/>
                </a:solidFill>
                <a:effectLst/>
                <a:latin typeface="Calibri" panose="020F0502020204030204" pitchFamily="34" charset="0"/>
                <a:cs typeface="Calibri" panose="020F0502020204030204" pitchFamily="34" charset="0"/>
              </a:rPr>
              <a:t>Larger the sample size</a:t>
            </a:r>
            <a:r>
              <a:rPr lang="en-US" sz="3200" b="0" i="0" dirty="0">
                <a:solidFill>
                  <a:schemeClr val="tx1"/>
                </a:solidFill>
                <a:effectLst/>
                <a:latin typeface="Calibri" panose="020F0502020204030204" pitchFamily="34" charset="0"/>
                <a:cs typeface="Calibri" panose="020F0502020204030204" pitchFamily="34" charset="0"/>
              </a:rPr>
              <a:t>, more near is </a:t>
            </a:r>
            <a:r>
              <a:rPr lang="en-US" sz="3200" dirty="0">
                <a:solidFill>
                  <a:schemeClr val="tx1"/>
                </a:solidFill>
                <a:latin typeface="Calibri" panose="020F0502020204030204" pitchFamily="34" charset="0"/>
                <a:cs typeface="Calibri" panose="020F0502020204030204" pitchFamily="34" charset="0"/>
              </a:rPr>
              <a:t>the </a:t>
            </a:r>
            <a:r>
              <a:rPr lang="en-US" sz="3200" b="0" i="0" dirty="0">
                <a:solidFill>
                  <a:schemeClr val="tx1"/>
                </a:solidFill>
                <a:effectLst/>
                <a:latin typeface="Calibri" panose="020F0502020204030204" pitchFamily="34" charset="0"/>
                <a:cs typeface="Calibri" panose="020F0502020204030204" pitchFamily="34" charset="0"/>
              </a:rPr>
              <a:t>distribution of mean near normal distribution.</a:t>
            </a:r>
          </a:p>
          <a:p>
            <a:pPr algn="just">
              <a:buFont typeface="Wingdings" panose="05000000000000000000" pitchFamily="2" charset="2"/>
              <a:buChar char="Ø"/>
            </a:pPr>
            <a:r>
              <a:rPr lang="en-US" sz="3200" b="0" i="0" dirty="0">
                <a:solidFill>
                  <a:schemeClr val="tx1"/>
                </a:solidFill>
                <a:effectLst/>
                <a:latin typeface="Calibri" panose="020F0502020204030204" pitchFamily="34" charset="0"/>
                <a:cs typeface="Calibri" panose="020F0502020204030204" pitchFamily="34" charset="0"/>
              </a:rPr>
              <a:t>It says that the means drawn from multiple samples will resemble the familiar bell-shaped normal curve, </a:t>
            </a:r>
          </a:p>
          <a:p>
            <a:pPr lvl="1" algn="just">
              <a:buFont typeface="Wingdings" panose="05000000000000000000" pitchFamily="2" charset="2"/>
              <a:buChar char="Ø"/>
            </a:pPr>
            <a:r>
              <a:rPr lang="en-US" sz="3000" b="0" i="0" dirty="0">
                <a:solidFill>
                  <a:schemeClr val="tx1"/>
                </a:solidFill>
                <a:effectLst/>
                <a:latin typeface="Calibri" panose="020F0502020204030204" pitchFamily="34" charset="0"/>
                <a:cs typeface="Calibri" panose="020F0502020204030204" pitchFamily="34" charset="0"/>
              </a:rPr>
              <a:t>even if the source </a:t>
            </a:r>
            <a:r>
              <a:rPr lang="en-US" sz="2900" dirty="0">
                <a:solidFill>
                  <a:schemeClr val="tx1"/>
                </a:solidFill>
                <a:latin typeface="Calibri" panose="020F0502020204030204" pitchFamily="34" charset="0"/>
                <a:cs typeface="Calibri" panose="020F0502020204030204" pitchFamily="34" charset="0"/>
              </a:rPr>
              <a:t>population is </a:t>
            </a:r>
            <a:r>
              <a:rPr lang="en-US" sz="2900" b="1" dirty="0">
                <a:solidFill>
                  <a:schemeClr val="tx1"/>
                </a:solidFill>
                <a:latin typeface="Calibri" panose="020F0502020204030204" pitchFamily="34" charset="0"/>
                <a:cs typeface="Calibri" panose="020F0502020204030204" pitchFamily="34" charset="0"/>
              </a:rPr>
              <a:t>not normally distributed</a:t>
            </a:r>
            <a:r>
              <a:rPr lang="en-US" sz="3000" b="0" i="0" dirty="0">
                <a:solidFill>
                  <a:schemeClr val="tx1"/>
                </a:solidFill>
                <a:effectLst/>
                <a:latin typeface="Calibri" panose="020F0502020204030204" pitchFamily="34" charset="0"/>
                <a:cs typeface="Calibri" panose="020F0502020204030204" pitchFamily="34" charset="0"/>
              </a:rPr>
              <a:t>, provided that the sample size is large enough and </a:t>
            </a:r>
          </a:p>
          <a:p>
            <a:pPr lvl="1" algn="just">
              <a:buFont typeface="Wingdings" panose="05000000000000000000" pitchFamily="2" charset="2"/>
              <a:buChar char="Ø"/>
            </a:pPr>
            <a:r>
              <a:rPr lang="en-US" sz="3000" b="0" i="0" dirty="0">
                <a:solidFill>
                  <a:schemeClr val="tx1"/>
                </a:solidFill>
                <a:effectLst/>
                <a:latin typeface="Calibri" panose="020F0502020204030204" pitchFamily="34" charset="0"/>
                <a:cs typeface="Calibri" panose="020F0502020204030204" pitchFamily="34" charset="0"/>
              </a:rPr>
              <a:t>the departure of the data from normality is not too great.</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27</a:t>
            </a:fld>
            <a:endParaRPr lang="en-US">
              <a:solidFill>
                <a:srgbClr val="90C226"/>
              </a:solidFill>
            </a:endParaRPr>
          </a:p>
        </p:txBody>
      </p:sp>
    </p:spTree>
    <p:extLst>
      <p:ext uri="{BB962C8B-B14F-4D97-AF65-F5344CB8AC3E}">
        <p14:creationId xmlns:p14="http://schemas.microsoft.com/office/powerpoint/2010/main" val="5080878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Standard Error</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420130" y="976326"/>
            <a:ext cx="8998189" cy="5881674"/>
          </a:xfrm>
        </p:spPr>
        <p:txBody>
          <a:bodyPr>
            <a:normAutofit fontScale="70000" lnSpcReduction="20000"/>
          </a:bodyPr>
          <a:lstStyle/>
          <a:p>
            <a:pPr algn="just">
              <a:buFont typeface="Wingdings" panose="05000000000000000000" pitchFamily="2" charset="2"/>
              <a:buChar char="Ø"/>
            </a:pPr>
            <a:r>
              <a:rPr lang="en-US" sz="3200" dirty="0">
                <a:solidFill>
                  <a:schemeClr val="tx1"/>
                </a:solidFill>
                <a:latin typeface="Calibri" panose="020F0502020204030204" pitchFamily="34" charset="0"/>
                <a:cs typeface="Calibri" panose="020F0502020204030204" pitchFamily="34" charset="0"/>
              </a:rPr>
              <a:t>A statistical term that </a:t>
            </a:r>
            <a:r>
              <a:rPr lang="en-US" sz="3200" b="1" dirty="0">
                <a:solidFill>
                  <a:schemeClr val="tx1"/>
                </a:solidFill>
                <a:latin typeface="Calibri" panose="020F0502020204030204" pitchFamily="34" charset="0"/>
                <a:cs typeface="Calibri" panose="020F0502020204030204" pitchFamily="34" charset="0"/>
              </a:rPr>
              <a:t>measures the accuracy with which a sample distribution represents a population</a:t>
            </a:r>
            <a:r>
              <a:rPr lang="en-US" sz="3200" dirty="0">
                <a:solidFill>
                  <a:schemeClr val="tx1"/>
                </a:solidFill>
                <a:latin typeface="Calibri" panose="020F0502020204030204" pitchFamily="34" charset="0"/>
                <a:cs typeface="Calibri" panose="020F0502020204030204" pitchFamily="34" charset="0"/>
              </a:rPr>
              <a:t> by using </a:t>
            </a:r>
            <a:r>
              <a:rPr lang="en-US" sz="3200" b="1" dirty="0">
                <a:solidFill>
                  <a:schemeClr val="tx1"/>
                </a:solidFill>
                <a:latin typeface="Calibri" panose="020F0502020204030204" pitchFamily="34" charset="0"/>
                <a:cs typeface="Calibri" panose="020F0502020204030204" pitchFamily="34" charset="0"/>
              </a:rPr>
              <a:t>standard deviation</a:t>
            </a:r>
            <a:r>
              <a:rPr lang="en-US" sz="3200" dirty="0">
                <a:solidFill>
                  <a:schemeClr val="tx1"/>
                </a:solidFill>
                <a:latin typeface="Calibri" panose="020F0502020204030204" pitchFamily="34" charset="0"/>
                <a:cs typeface="Calibri" panose="020F0502020204030204" pitchFamily="34" charset="0"/>
              </a:rPr>
              <a:t>. </a:t>
            </a:r>
          </a:p>
          <a:p>
            <a:pPr algn="just">
              <a:buFont typeface="Wingdings" panose="05000000000000000000" pitchFamily="2" charset="2"/>
              <a:buChar char="Ø"/>
            </a:pPr>
            <a:r>
              <a:rPr lang="en-US" sz="3200" dirty="0">
                <a:solidFill>
                  <a:schemeClr val="tx1"/>
                </a:solidFill>
                <a:latin typeface="Calibri" panose="020F0502020204030204" pitchFamily="34" charset="0"/>
                <a:cs typeface="Calibri" panose="020F0502020204030204" pitchFamily="34" charset="0"/>
              </a:rPr>
              <a:t>In statistics, a </a:t>
            </a:r>
            <a:r>
              <a:rPr lang="en-US" sz="3200" b="1" dirty="0">
                <a:solidFill>
                  <a:schemeClr val="tx1"/>
                </a:solidFill>
                <a:latin typeface="Calibri" panose="020F0502020204030204" pitchFamily="34" charset="0"/>
                <a:cs typeface="Calibri" panose="020F0502020204030204" pitchFamily="34" charset="0"/>
              </a:rPr>
              <a:t>sample mean deviates from the actual mean </a:t>
            </a:r>
            <a:r>
              <a:rPr lang="en-US" sz="3200" dirty="0">
                <a:solidFill>
                  <a:schemeClr val="tx1"/>
                </a:solidFill>
                <a:latin typeface="Calibri" panose="020F0502020204030204" pitchFamily="34" charset="0"/>
                <a:cs typeface="Calibri" panose="020F0502020204030204" pitchFamily="34" charset="0"/>
              </a:rPr>
              <a:t>of a population; this deviation is the standard error of the mean.</a:t>
            </a:r>
          </a:p>
          <a:p>
            <a:pPr algn="just">
              <a:buFont typeface="Wingdings" panose="05000000000000000000" pitchFamily="2" charset="2"/>
              <a:buChar char="Ø"/>
            </a:pPr>
            <a:r>
              <a:rPr lang="en-GB" sz="3200" dirty="0">
                <a:solidFill>
                  <a:schemeClr val="tx1"/>
                </a:solidFill>
                <a:latin typeface="Calibri" panose="020F0502020204030204" pitchFamily="34" charset="0"/>
                <a:cs typeface="Calibri" panose="020F0502020204030204" pitchFamily="34" charset="0"/>
              </a:rPr>
              <a:t>Standard error represents </a:t>
            </a:r>
            <a:r>
              <a:rPr lang="en-GB" sz="3200" b="1" dirty="0">
                <a:solidFill>
                  <a:schemeClr val="tx1"/>
                </a:solidFill>
                <a:latin typeface="Calibri" panose="020F0502020204030204" pitchFamily="34" charset="0"/>
                <a:cs typeface="Calibri" panose="020F0502020204030204" pitchFamily="34" charset="0"/>
              </a:rPr>
              <a:t>how well a given sample represents the population</a:t>
            </a:r>
            <a:r>
              <a:rPr lang="en-GB" sz="3200" dirty="0">
                <a:solidFill>
                  <a:schemeClr val="tx1"/>
                </a:solidFill>
                <a:latin typeface="Calibri" panose="020F0502020204030204" pitchFamily="34" charset="0"/>
                <a:cs typeface="Calibri" panose="020F0502020204030204" pitchFamily="34" charset="0"/>
              </a:rPr>
              <a:t>. The Standard Error indicates how well the sample mean predicts the real population mean.</a:t>
            </a:r>
            <a:endParaRPr lang="en-US" sz="3200" b="0" i="0" dirty="0">
              <a:solidFill>
                <a:schemeClr val="tx1"/>
              </a:solidFill>
              <a:effectLst/>
              <a:latin typeface="Calibri" panose="020F0502020204030204" pitchFamily="34" charset="0"/>
              <a:cs typeface="Calibri" panose="020F0502020204030204" pitchFamily="34" charset="0"/>
            </a:endParaRPr>
          </a:p>
          <a:p>
            <a:pPr algn="just">
              <a:buFont typeface="Wingdings" panose="05000000000000000000" pitchFamily="2" charset="2"/>
              <a:buChar char="Ø"/>
            </a:pPr>
            <a:r>
              <a:rPr lang="en-US" sz="3200" b="0" i="0" dirty="0">
                <a:solidFill>
                  <a:schemeClr val="tx1"/>
                </a:solidFill>
                <a:effectLst/>
                <a:latin typeface="Calibri" panose="020F0502020204030204" pitchFamily="34" charset="0"/>
                <a:cs typeface="Calibri" panose="020F0502020204030204" pitchFamily="34" charset="0"/>
              </a:rPr>
              <a:t>The standard error can be estimated using a statistic </a:t>
            </a:r>
            <a:r>
              <a:rPr lang="en-US" sz="3200" b="1" i="0" dirty="0">
                <a:solidFill>
                  <a:schemeClr val="tx1"/>
                </a:solidFill>
                <a:effectLst/>
                <a:latin typeface="Calibri" panose="020F0502020204030204" pitchFamily="34" charset="0"/>
                <a:cs typeface="Calibri" panose="020F0502020204030204" pitchFamily="34" charset="0"/>
              </a:rPr>
              <a:t>based on the standard deviation </a:t>
            </a:r>
            <a:r>
              <a:rPr lang="en-US" sz="3200" b="1" i="1" dirty="0">
                <a:solidFill>
                  <a:schemeClr val="tx1"/>
                </a:solidFill>
                <a:effectLst/>
                <a:latin typeface="Calibri" panose="020F0502020204030204" pitchFamily="34" charset="0"/>
                <a:cs typeface="Calibri" panose="020F0502020204030204" pitchFamily="34" charset="0"/>
              </a:rPr>
              <a:t>s</a:t>
            </a:r>
            <a:r>
              <a:rPr lang="en-US" sz="3200" b="1" i="0" dirty="0">
                <a:solidFill>
                  <a:schemeClr val="tx1"/>
                </a:solidFill>
                <a:effectLst/>
                <a:latin typeface="Calibri" panose="020F0502020204030204" pitchFamily="34" charset="0"/>
                <a:cs typeface="Calibri" panose="020F0502020204030204" pitchFamily="34" charset="0"/>
              </a:rPr>
              <a:t> </a:t>
            </a:r>
            <a:r>
              <a:rPr lang="en-US" sz="3200" b="0" i="0" dirty="0">
                <a:solidFill>
                  <a:schemeClr val="tx1"/>
                </a:solidFill>
                <a:effectLst/>
                <a:latin typeface="Calibri" panose="020F0502020204030204" pitchFamily="34" charset="0"/>
                <a:cs typeface="Calibri" panose="020F0502020204030204" pitchFamily="34" charset="0"/>
              </a:rPr>
              <a:t>of the sample values, and the sample </a:t>
            </a:r>
            <a:r>
              <a:rPr lang="en-US" sz="3200" b="1" i="0" dirty="0">
                <a:solidFill>
                  <a:schemeClr val="tx1"/>
                </a:solidFill>
                <a:effectLst/>
                <a:latin typeface="Calibri" panose="020F0502020204030204" pitchFamily="34" charset="0"/>
                <a:cs typeface="Calibri" panose="020F0502020204030204" pitchFamily="34" charset="0"/>
              </a:rPr>
              <a:t>size n</a:t>
            </a:r>
            <a:r>
              <a:rPr lang="en-US" sz="3200" b="0" i="0" dirty="0">
                <a:solidFill>
                  <a:schemeClr val="tx1"/>
                </a:solidFill>
                <a:effectLst/>
                <a:latin typeface="Calibri" panose="020F0502020204030204" pitchFamily="34" charset="0"/>
                <a:cs typeface="Calibri" panose="020F0502020204030204" pitchFamily="34" charset="0"/>
              </a:rPr>
              <a:t>:</a:t>
            </a:r>
          </a:p>
          <a:p>
            <a:pPr algn="just">
              <a:buFont typeface="Wingdings" panose="05000000000000000000" pitchFamily="2" charset="2"/>
              <a:buChar char="Ø"/>
            </a:pPr>
            <a:r>
              <a:rPr lang="en-US" sz="3200" b="0" i="0" dirty="0">
                <a:solidFill>
                  <a:schemeClr val="tx1"/>
                </a:solidFill>
                <a:effectLst/>
                <a:latin typeface="Calibri" panose="020F0502020204030204" pitchFamily="34" charset="0"/>
                <a:cs typeface="Calibri" panose="020F0502020204030204" pitchFamily="34" charset="0"/>
              </a:rPr>
              <a:t>Consider the following approach to measuring standard error:</a:t>
            </a:r>
          </a:p>
          <a:p>
            <a:pPr marL="1337310" lvl="3" indent="-514350" algn="just">
              <a:buFont typeface="Wingdings" panose="05000000000000000000" pitchFamily="2" charset="2"/>
              <a:buChar char="Ø"/>
            </a:pPr>
            <a:r>
              <a:rPr lang="en-US" sz="2600" b="0" i="0" dirty="0">
                <a:solidFill>
                  <a:schemeClr val="tx1"/>
                </a:solidFill>
                <a:effectLst/>
                <a:latin typeface="Calibri" panose="020F0502020204030204" pitchFamily="34" charset="0"/>
                <a:cs typeface="Calibri" panose="020F0502020204030204" pitchFamily="34" charset="0"/>
              </a:rPr>
              <a:t>Collect a number of brand-new samples from the population. </a:t>
            </a:r>
          </a:p>
          <a:p>
            <a:pPr marL="1337310" lvl="3" indent="-514350" algn="just">
              <a:buFont typeface="Wingdings" panose="05000000000000000000" pitchFamily="2" charset="2"/>
              <a:buChar char="Ø"/>
            </a:pPr>
            <a:r>
              <a:rPr lang="en-US" sz="2600" dirty="0">
                <a:solidFill>
                  <a:schemeClr val="tx1"/>
                </a:solidFill>
                <a:latin typeface="Calibri" panose="020F0502020204030204" pitchFamily="34" charset="0"/>
                <a:cs typeface="Calibri" panose="020F0502020204030204" pitchFamily="34" charset="0"/>
              </a:rPr>
              <a:t>For each new sample, calculate the statistic (e.g., median).</a:t>
            </a:r>
          </a:p>
          <a:p>
            <a:pPr marL="1337310" lvl="3" indent="-514350" algn="just">
              <a:buFont typeface="Wingdings" panose="05000000000000000000" pitchFamily="2" charset="2"/>
              <a:buChar char="Ø"/>
            </a:pPr>
            <a:r>
              <a:rPr lang="en-US" sz="2600" b="0" i="0" dirty="0">
                <a:solidFill>
                  <a:schemeClr val="tx1"/>
                </a:solidFill>
                <a:effectLst/>
                <a:latin typeface="Calibri" panose="020F0502020204030204" pitchFamily="34" charset="0"/>
                <a:cs typeface="Calibri" panose="020F0502020204030204" pitchFamily="34" charset="0"/>
              </a:rPr>
              <a:t>Calculate the standard deviation of the statistics</a:t>
            </a:r>
            <a:r>
              <a:rPr lang="en-US" sz="2600" dirty="0">
                <a:solidFill>
                  <a:schemeClr val="tx1"/>
                </a:solidFill>
                <a:latin typeface="Calibri" panose="020F0502020204030204" pitchFamily="34" charset="0"/>
                <a:cs typeface="Calibri" panose="020F0502020204030204" pitchFamily="34" charset="0"/>
              </a:rPr>
              <a:t> (e.g., median)</a:t>
            </a:r>
            <a:r>
              <a:rPr lang="en-US" sz="2600" b="0" i="0" dirty="0">
                <a:solidFill>
                  <a:schemeClr val="tx1"/>
                </a:solidFill>
                <a:effectLst/>
                <a:latin typeface="Calibri" panose="020F0502020204030204" pitchFamily="34" charset="0"/>
                <a:cs typeface="Calibri" panose="020F0502020204030204" pitchFamily="34" charset="0"/>
              </a:rPr>
              <a:t> computed in step 2; use this as your estimate of standard error.</a:t>
            </a:r>
          </a:p>
          <a:p>
            <a:pPr algn="just">
              <a:buFont typeface="Wingdings" panose="05000000000000000000" pitchFamily="2" charset="2"/>
              <a:buChar char="Ø"/>
            </a:pPr>
            <a:r>
              <a:rPr lang="en-US" sz="3200" b="0" i="0" dirty="0">
                <a:solidFill>
                  <a:schemeClr val="tx1"/>
                </a:solidFill>
                <a:effectLst/>
                <a:latin typeface="Calibri" panose="020F0502020204030204" pitchFamily="34" charset="0"/>
                <a:cs typeface="Calibri" panose="020F0502020204030204" pitchFamily="34" charset="0"/>
              </a:rPr>
              <a:t>In modern statistics, the bootstrap has become the standard way to estimate standard error. </a:t>
            </a:r>
          </a:p>
          <a:p>
            <a:pPr algn="just">
              <a:buFont typeface="Wingdings" panose="05000000000000000000" pitchFamily="2" charset="2"/>
              <a:buChar char="Ø"/>
            </a:pPr>
            <a:r>
              <a:rPr lang="en-US" sz="3200" b="0" i="0" dirty="0">
                <a:solidFill>
                  <a:schemeClr val="tx1"/>
                </a:solidFill>
                <a:effectLst/>
                <a:latin typeface="Calibri" panose="020F0502020204030204" pitchFamily="34" charset="0"/>
                <a:cs typeface="Calibri" panose="020F0502020204030204" pitchFamily="34" charset="0"/>
              </a:rPr>
              <a:t>It can be used for virtually any statistic and does not rely on the central limit theorem or other distributional assumptions.</a:t>
            </a:r>
            <a:endParaRPr lang="en-US" sz="2600" b="0" i="0" dirty="0">
              <a:solidFill>
                <a:schemeClr val="tx1"/>
              </a:solidFill>
              <a:effectLst/>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28</a:t>
            </a:fld>
            <a:endParaRPr lang="en-US">
              <a:solidFill>
                <a:srgbClr val="90C226"/>
              </a:solidFill>
            </a:endParaRPr>
          </a:p>
        </p:txBody>
      </p:sp>
      <p:pic>
        <p:nvPicPr>
          <p:cNvPr id="6" name="Picture 5">
            <a:extLst>
              <a:ext uri="{FF2B5EF4-FFF2-40B4-BE49-F238E27FC236}">
                <a16:creationId xmlns:a16="http://schemas.microsoft.com/office/drawing/2014/main" id="{0E0E80C0-5B5D-4AB1-92BC-B0D835C26DC9}"/>
              </a:ext>
            </a:extLst>
          </p:cNvPr>
          <p:cNvPicPr>
            <a:picLocks noChangeAspect="1"/>
          </p:cNvPicPr>
          <p:nvPr/>
        </p:nvPicPr>
        <p:blipFill>
          <a:blip r:embed="rId2"/>
          <a:stretch>
            <a:fillRect/>
          </a:stretch>
        </p:blipFill>
        <p:spPr>
          <a:xfrm>
            <a:off x="7918131" y="3917163"/>
            <a:ext cx="3000375" cy="733425"/>
          </a:xfrm>
          <a:prstGeom prst="rect">
            <a:avLst/>
          </a:prstGeom>
          <a:ln>
            <a:solidFill>
              <a:schemeClr val="tx1"/>
            </a:solidFill>
          </a:ln>
        </p:spPr>
      </p:pic>
    </p:spTree>
    <p:extLst>
      <p:ext uri="{BB962C8B-B14F-4D97-AF65-F5344CB8AC3E}">
        <p14:creationId xmlns:p14="http://schemas.microsoft.com/office/powerpoint/2010/main" val="7819752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233874" y="3868060"/>
            <a:ext cx="5534025" cy="790575"/>
          </a:xfrm>
          <a:prstGeom prst="rect">
            <a:avLst/>
          </a:prstGeom>
        </p:spPr>
      </p:pic>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Standard Error</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420131" y="976326"/>
            <a:ext cx="8092102" cy="5881674"/>
          </a:xfrm>
        </p:spPr>
        <p:txBody>
          <a:bodyPr>
            <a:normAutofit fontScale="77500" lnSpcReduction="20000"/>
          </a:bodyPr>
          <a:lstStyle/>
          <a:p>
            <a:pPr algn="just">
              <a:buFont typeface="Wingdings" panose="05000000000000000000" pitchFamily="2" charset="2"/>
              <a:buChar char="Ø"/>
            </a:pPr>
            <a:r>
              <a:rPr lang="en-US" sz="3200" dirty="0">
                <a:solidFill>
                  <a:schemeClr val="tx1"/>
                </a:solidFill>
                <a:latin typeface="Calibri" panose="020F0502020204030204" pitchFamily="34" charset="0"/>
                <a:cs typeface="Calibri" panose="020F0502020204030204" pitchFamily="34" charset="0"/>
              </a:rPr>
              <a:t>Calculate the standard error of the given data:</a:t>
            </a:r>
          </a:p>
          <a:p>
            <a:pPr algn="just">
              <a:buFont typeface="Wingdings" panose="05000000000000000000" pitchFamily="2" charset="2"/>
              <a:buChar char="Ø"/>
            </a:pPr>
            <a:r>
              <a:rPr lang="en-US" sz="3200" dirty="0">
                <a:solidFill>
                  <a:schemeClr val="tx1"/>
                </a:solidFill>
                <a:latin typeface="Calibri" panose="020F0502020204030204" pitchFamily="34" charset="0"/>
                <a:cs typeface="Calibri" panose="020F0502020204030204" pitchFamily="34" charset="0"/>
              </a:rPr>
              <a:t>y: 5, 10, 12, 15, 20</a:t>
            </a:r>
          </a:p>
          <a:p>
            <a:pPr algn="just">
              <a:buFont typeface="Wingdings" panose="05000000000000000000" pitchFamily="2" charset="2"/>
              <a:buChar char="Ø"/>
            </a:pPr>
            <a:r>
              <a:rPr lang="en-US" sz="3200" dirty="0">
                <a:solidFill>
                  <a:schemeClr val="tx1"/>
                </a:solidFill>
                <a:latin typeface="Calibri" panose="020F0502020204030204" pitchFamily="34" charset="0"/>
                <a:cs typeface="Calibri" panose="020F0502020204030204" pitchFamily="34" charset="0"/>
              </a:rPr>
              <a:t>Solution: First we have to find the mean of the given data;</a:t>
            </a:r>
          </a:p>
          <a:p>
            <a:pPr lvl="1" algn="just">
              <a:buFont typeface="Wingdings" panose="05000000000000000000" pitchFamily="2" charset="2"/>
              <a:buChar char="Ø"/>
            </a:pPr>
            <a:r>
              <a:rPr lang="en-US" sz="3000" dirty="0">
                <a:solidFill>
                  <a:schemeClr val="tx1"/>
                </a:solidFill>
                <a:latin typeface="Calibri" panose="020F0502020204030204" pitchFamily="34" charset="0"/>
                <a:cs typeface="Calibri" panose="020F0502020204030204" pitchFamily="34" charset="0"/>
              </a:rPr>
              <a:t>Mean = (5+10+12+15+20)/5 = 62/5 = 10.5</a:t>
            </a:r>
          </a:p>
          <a:p>
            <a:pPr lvl="1" algn="just">
              <a:buFont typeface="Wingdings" panose="05000000000000000000" pitchFamily="2" charset="2"/>
              <a:buChar char="Ø"/>
            </a:pPr>
            <a:r>
              <a:rPr lang="en-US" sz="3000" dirty="0">
                <a:solidFill>
                  <a:schemeClr val="tx1"/>
                </a:solidFill>
                <a:latin typeface="Calibri" panose="020F0502020204030204" pitchFamily="34" charset="0"/>
                <a:cs typeface="Calibri" panose="020F0502020204030204" pitchFamily="34" charset="0"/>
              </a:rPr>
              <a:t>Now, the standard deviation can be calculated as;</a:t>
            </a:r>
          </a:p>
          <a:p>
            <a:pPr lvl="1" algn="just">
              <a:buFont typeface="Wingdings" panose="05000000000000000000" pitchFamily="2" charset="2"/>
              <a:buChar char="Ø"/>
            </a:pPr>
            <a:r>
              <a:rPr lang="en-US" sz="3000" dirty="0">
                <a:solidFill>
                  <a:schemeClr val="tx1"/>
                </a:solidFill>
                <a:latin typeface="Calibri" panose="020F0502020204030204" pitchFamily="34" charset="0"/>
                <a:cs typeface="Calibri" panose="020F0502020204030204" pitchFamily="34" charset="0"/>
              </a:rPr>
              <a:t>S = Summation of difference between each value of given data and the mean value/Number of values.</a:t>
            </a:r>
          </a:p>
          <a:p>
            <a:pPr lvl="1" algn="just">
              <a:buFont typeface="Wingdings" panose="05000000000000000000" pitchFamily="2" charset="2"/>
              <a:buChar char="Ø"/>
            </a:pPr>
            <a:endParaRPr lang="en-US" sz="3200" dirty="0">
              <a:solidFill>
                <a:schemeClr val="tx1"/>
              </a:solidFill>
              <a:latin typeface="Calibri" panose="020F0502020204030204" pitchFamily="34" charset="0"/>
              <a:cs typeface="Calibri" panose="020F0502020204030204" pitchFamily="34" charset="0"/>
            </a:endParaRPr>
          </a:p>
          <a:p>
            <a:pPr lvl="1" algn="just">
              <a:buFont typeface="Wingdings" panose="05000000000000000000" pitchFamily="2" charset="2"/>
              <a:buChar char="Ø"/>
            </a:pPr>
            <a:endParaRPr lang="en-US" sz="3000" dirty="0">
              <a:solidFill>
                <a:schemeClr val="tx1"/>
              </a:solidFill>
              <a:latin typeface="Calibri" panose="020F0502020204030204" pitchFamily="34" charset="0"/>
              <a:cs typeface="Calibri" panose="020F0502020204030204" pitchFamily="34" charset="0"/>
            </a:endParaRPr>
          </a:p>
          <a:p>
            <a:pPr lvl="1" algn="just">
              <a:buFont typeface="Wingdings" panose="05000000000000000000" pitchFamily="2" charset="2"/>
              <a:buChar char="Ø"/>
            </a:pPr>
            <a:r>
              <a:rPr lang="en-US" sz="3000" dirty="0">
                <a:solidFill>
                  <a:schemeClr val="tx1"/>
                </a:solidFill>
                <a:latin typeface="Calibri" panose="020F0502020204030204" pitchFamily="34" charset="0"/>
                <a:cs typeface="Calibri" panose="020F0502020204030204" pitchFamily="34" charset="0"/>
              </a:rPr>
              <a:t>After solving the above equation, we get;</a:t>
            </a:r>
          </a:p>
          <a:p>
            <a:pPr lvl="1" algn="just">
              <a:buFont typeface="Wingdings" panose="05000000000000000000" pitchFamily="2" charset="2"/>
              <a:buChar char="Ø"/>
            </a:pPr>
            <a:r>
              <a:rPr lang="en-US" sz="3000" dirty="0">
                <a:solidFill>
                  <a:schemeClr val="tx1"/>
                </a:solidFill>
                <a:latin typeface="Calibri" panose="020F0502020204030204" pitchFamily="34" charset="0"/>
                <a:cs typeface="Calibri" panose="020F0502020204030204" pitchFamily="34" charset="0"/>
              </a:rPr>
              <a:t>S = 5.35</a:t>
            </a:r>
          </a:p>
          <a:p>
            <a:pPr lvl="1" algn="just">
              <a:buFont typeface="Wingdings" panose="05000000000000000000" pitchFamily="2" charset="2"/>
              <a:buChar char="Ø"/>
            </a:pPr>
            <a:r>
              <a:rPr lang="en-US" sz="3000" dirty="0">
                <a:solidFill>
                  <a:schemeClr val="tx1"/>
                </a:solidFill>
                <a:latin typeface="Calibri" panose="020F0502020204030204" pitchFamily="34" charset="0"/>
                <a:cs typeface="Calibri" panose="020F0502020204030204" pitchFamily="34" charset="0"/>
              </a:rPr>
              <a:t>Therefore, SE can be estimated with the formula;</a:t>
            </a:r>
          </a:p>
          <a:p>
            <a:pPr lvl="1" algn="just">
              <a:buFont typeface="Wingdings" panose="05000000000000000000" pitchFamily="2" charset="2"/>
              <a:buChar char="Ø"/>
            </a:pPr>
            <a:r>
              <a:rPr lang="en-US" sz="3000" dirty="0">
                <a:solidFill>
                  <a:schemeClr val="tx1"/>
                </a:solidFill>
                <a:latin typeface="Calibri" panose="020F0502020204030204" pitchFamily="34" charset="0"/>
                <a:cs typeface="Calibri" panose="020F0502020204030204" pitchFamily="34" charset="0"/>
              </a:rPr>
              <a:t>SE = S/√n</a:t>
            </a:r>
          </a:p>
          <a:p>
            <a:pPr lvl="1" algn="just">
              <a:buFont typeface="Wingdings" panose="05000000000000000000" pitchFamily="2" charset="2"/>
              <a:buChar char="Ø"/>
            </a:pPr>
            <a:r>
              <a:rPr lang="en-US" sz="3000" dirty="0">
                <a:solidFill>
                  <a:schemeClr val="tx1"/>
                </a:solidFill>
                <a:latin typeface="Calibri" panose="020F0502020204030204" pitchFamily="34" charset="0"/>
                <a:cs typeface="Calibri" panose="020F0502020204030204" pitchFamily="34" charset="0"/>
              </a:rPr>
              <a:t>SE = 5.35/√5 = 2.39</a:t>
            </a:r>
            <a:endParaRPr lang="en-US" sz="2400" b="0" i="0" dirty="0">
              <a:solidFill>
                <a:schemeClr val="tx1"/>
              </a:solidFill>
              <a:effectLst/>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29</a:t>
            </a:fld>
            <a:endParaRPr lang="en-US">
              <a:solidFill>
                <a:srgbClr val="90C226"/>
              </a:solidFill>
            </a:endParaRPr>
          </a:p>
        </p:txBody>
      </p:sp>
      <p:pic>
        <p:nvPicPr>
          <p:cNvPr id="6" name="Picture 5">
            <a:extLst>
              <a:ext uri="{FF2B5EF4-FFF2-40B4-BE49-F238E27FC236}">
                <a16:creationId xmlns:a16="http://schemas.microsoft.com/office/drawing/2014/main" id="{0E0E80C0-5B5D-4AB1-92BC-B0D835C26DC9}"/>
              </a:ext>
            </a:extLst>
          </p:cNvPr>
          <p:cNvPicPr>
            <a:picLocks noChangeAspect="1"/>
          </p:cNvPicPr>
          <p:nvPr/>
        </p:nvPicPr>
        <p:blipFill>
          <a:blip r:embed="rId3"/>
          <a:stretch>
            <a:fillRect/>
          </a:stretch>
        </p:blipFill>
        <p:spPr>
          <a:xfrm>
            <a:off x="9191625" y="3317554"/>
            <a:ext cx="3000375" cy="733425"/>
          </a:xfrm>
          <a:prstGeom prst="rect">
            <a:avLst/>
          </a:prstGeom>
          <a:ln>
            <a:solidFill>
              <a:schemeClr val="tx1"/>
            </a:solidFill>
          </a:ln>
        </p:spPr>
      </p:pic>
      <p:sp>
        <p:nvSpPr>
          <p:cNvPr id="8" name="TextBox 7">
            <a:extLst>
              <a:ext uri="{FF2B5EF4-FFF2-40B4-BE49-F238E27FC236}">
                <a16:creationId xmlns:a16="http://schemas.microsoft.com/office/drawing/2014/main" id="{561C5639-3066-B1B2-1035-6475148599FB}"/>
              </a:ext>
            </a:extLst>
          </p:cNvPr>
          <p:cNvSpPr txBox="1"/>
          <p:nvPr/>
        </p:nvSpPr>
        <p:spPr>
          <a:xfrm>
            <a:off x="6767899" y="4373322"/>
            <a:ext cx="5306839" cy="923330"/>
          </a:xfrm>
          <a:prstGeom prst="rect">
            <a:avLst/>
          </a:prstGeom>
          <a:noFill/>
        </p:spPr>
        <p:txBody>
          <a:bodyPr wrap="square">
            <a:spAutoFit/>
          </a:bodyPr>
          <a:lstStyle/>
          <a:p>
            <a:r>
              <a:rPr lang="en-US" dirty="0"/>
              <a:t>Think of SE like the </a:t>
            </a:r>
            <a:r>
              <a:rPr lang="en-US" b="1" dirty="0"/>
              <a:t>“noise”</a:t>
            </a:r>
            <a:r>
              <a:rPr lang="en-US" dirty="0"/>
              <a:t> in your estimate.</a:t>
            </a:r>
            <a:br>
              <a:rPr lang="en-US" dirty="0"/>
            </a:br>
            <a:r>
              <a:rPr lang="en-US" dirty="0"/>
              <a:t>More samples = less noise = clearer signal (closer to the true population mean).</a:t>
            </a:r>
            <a:endParaRPr lang="en-GB" dirty="0"/>
          </a:p>
        </p:txBody>
      </p:sp>
    </p:spTree>
    <p:extLst>
      <p:ext uri="{BB962C8B-B14F-4D97-AF65-F5344CB8AC3E}">
        <p14:creationId xmlns:p14="http://schemas.microsoft.com/office/powerpoint/2010/main" val="15501072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Sampling Distribution</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30</a:t>
            </a:fld>
            <a:endParaRPr lang="en-US">
              <a:solidFill>
                <a:srgbClr val="90C226"/>
              </a:solidFill>
            </a:endParaRPr>
          </a:p>
        </p:txBody>
      </p:sp>
      <p:pic>
        <p:nvPicPr>
          <p:cNvPr id="6" name="Picture 5">
            <a:extLst>
              <a:ext uri="{FF2B5EF4-FFF2-40B4-BE49-F238E27FC236}">
                <a16:creationId xmlns:a16="http://schemas.microsoft.com/office/drawing/2014/main" id="{57E77015-8D9D-4F83-B9E9-EE19DC028005}"/>
              </a:ext>
            </a:extLst>
          </p:cNvPr>
          <p:cNvPicPr>
            <a:picLocks noChangeAspect="1"/>
          </p:cNvPicPr>
          <p:nvPr/>
        </p:nvPicPr>
        <p:blipFill>
          <a:blip r:embed="rId2"/>
          <a:stretch>
            <a:fillRect/>
          </a:stretch>
        </p:blipFill>
        <p:spPr>
          <a:xfrm>
            <a:off x="1443038" y="1140811"/>
            <a:ext cx="8252898" cy="5245701"/>
          </a:xfrm>
          <a:prstGeom prst="rect">
            <a:avLst/>
          </a:prstGeom>
        </p:spPr>
      </p:pic>
    </p:spTree>
    <p:extLst>
      <p:ext uri="{BB962C8B-B14F-4D97-AF65-F5344CB8AC3E}">
        <p14:creationId xmlns:p14="http://schemas.microsoft.com/office/powerpoint/2010/main" val="14894410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The Bootstrap</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547817" y="1128583"/>
            <a:ext cx="8913054" cy="5165125"/>
          </a:xfrm>
        </p:spPr>
        <p:txBody>
          <a:bodyPr>
            <a:normAutofit lnSpcReduction="10000"/>
          </a:bodyPr>
          <a:lstStyle/>
          <a:p>
            <a:pPr algn="just">
              <a:buFont typeface="Wingdings" panose="05000000000000000000" pitchFamily="2" charset="2"/>
              <a:buChar char="Ø"/>
            </a:pPr>
            <a:r>
              <a:rPr lang="en-US" sz="2800" dirty="0">
                <a:solidFill>
                  <a:schemeClr val="tx1"/>
                </a:solidFill>
                <a:latin typeface="Calibri" panose="020F0502020204030204" pitchFamily="34" charset="0"/>
                <a:cs typeface="Calibri" panose="020F0502020204030204" pitchFamily="34" charset="0"/>
              </a:rPr>
              <a:t>Fortunately, it turns out that it is </a:t>
            </a:r>
            <a:r>
              <a:rPr lang="en-US" sz="2800" b="1" dirty="0">
                <a:solidFill>
                  <a:schemeClr val="tx1"/>
                </a:solidFill>
                <a:latin typeface="Calibri" panose="020F0502020204030204" pitchFamily="34" charset="0"/>
                <a:cs typeface="Calibri" panose="020F0502020204030204" pitchFamily="34" charset="0"/>
              </a:rPr>
              <a:t>not necessary</a:t>
            </a:r>
            <a:r>
              <a:rPr lang="en-US" sz="2800" dirty="0">
                <a:solidFill>
                  <a:schemeClr val="tx1"/>
                </a:solidFill>
                <a:latin typeface="Calibri" panose="020F0502020204030204" pitchFamily="34" charset="0"/>
                <a:cs typeface="Calibri" panose="020F0502020204030204" pitchFamily="34" charset="0"/>
              </a:rPr>
              <a:t> to </a:t>
            </a:r>
            <a:r>
              <a:rPr lang="en-US" sz="2800" b="1" dirty="0">
                <a:solidFill>
                  <a:schemeClr val="tx1"/>
                </a:solidFill>
                <a:latin typeface="Calibri" panose="020F0502020204030204" pitchFamily="34" charset="0"/>
                <a:cs typeface="Calibri" panose="020F0502020204030204" pitchFamily="34" charset="0"/>
              </a:rPr>
              <a:t>draw brand new samples</a:t>
            </a:r>
            <a:r>
              <a:rPr lang="en-US" sz="2800" dirty="0">
                <a:solidFill>
                  <a:schemeClr val="tx1"/>
                </a:solidFill>
                <a:latin typeface="Calibri" panose="020F0502020204030204" pitchFamily="34" charset="0"/>
                <a:cs typeface="Calibri" panose="020F0502020204030204" pitchFamily="34" charset="0"/>
              </a:rPr>
              <a:t>; instead, you can use </a:t>
            </a:r>
            <a:r>
              <a:rPr lang="en-US" sz="2800" b="1" dirty="0">
                <a:solidFill>
                  <a:schemeClr val="tx1"/>
                </a:solidFill>
                <a:latin typeface="Calibri" panose="020F0502020204030204" pitchFamily="34" charset="0"/>
                <a:cs typeface="Calibri" panose="020F0502020204030204" pitchFamily="34" charset="0"/>
              </a:rPr>
              <a:t>bootstrap resamples</a:t>
            </a:r>
            <a:r>
              <a:rPr lang="en-US" sz="2800" dirty="0">
                <a:solidFill>
                  <a:schemeClr val="tx1"/>
                </a:solidFill>
                <a:latin typeface="Calibri" panose="020F0502020204030204" pitchFamily="34" charset="0"/>
                <a:cs typeface="Calibri" panose="020F0502020204030204" pitchFamily="34" charset="0"/>
              </a:rPr>
              <a:t>.</a:t>
            </a:r>
          </a:p>
          <a:p>
            <a:pPr algn="just">
              <a:buFont typeface="Wingdings" panose="05000000000000000000" pitchFamily="2" charset="2"/>
              <a:buChar char="Ø"/>
            </a:pPr>
            <a:r>
              <a:rPr lang="en-US" sz="2800" b="0" i="0" dirty="0">
                <a:solidFill>
                  <a:schemeClr val="tx1"/>
                </a:solidFill>
                <a:effectLst/>
                <a:latin typeface="Calibri" panose="020F0502020204030204" pitchFamily="34" charset="0"/>
                <a:cs typeface="Calibri" panose="020F0502020204030204" pitchFamily="34" charset="0"/>
              </a:rPr>
              <a:t>One easy and effective way to estimate the sampling distribution of a statistic, or of model parameters</a:t>
            </a:r>
            <a:r>
              <a:rPr lang="en-US" sz="2800" dirty="0">
                <a:solidFill>
                  <a:schemeClr val="tx1"/>
                </a:solidFill>
                <a:latin typeface="Calibri" panose="020F0502020204030204" pitchFamily="34" charset="0"/>
                <a:cs typeface="Calibri" panose="020F0502020204030204" pitchFamily="34" charset="0"/>
              </a:rPr>
              <a:t> is:</a:t>
            </a:r>
            <a:endParaRPr lang="en-US" sz="2800" b="0" i="0" dirty="0">
              <a:solidFill>
                <a:schemeClr val="tx1"/>
              </a:solidFill>
              <a:effectLst/>
              <a:latin typeface="Calibri" panose="020F0502020204030204" pitchFamily="34" charset="0"/>
              <a:cs typeface="Calibri" panose="020F0502020204030204" pitchFamily="34" charset="0"/>
            </a:endParaRPr>
          </a:p>
          <a:p>
            <a:pPr lvl="1" algn="just">
              <a:buFont typeface="Wingdings" panose="05000000000000000000" pitchFamily="2" charset="2"/>
              <a:buChar char="Ø"/>
            </a:pPr>
            <a:r>
              <a:rPr lang="en-US" sz="2400" b="0" i="0" dirty="0">
                <a:solidFill>
                  <a:schemeClr val="tx1"/>
                </a:solidFill>
                <a:effectLst/>
                <a:latin typeface="Calibri" panose="020F0502020204030204" pitchFamily="34" charset="0"/>
                <a:cs typeface="Calibri" panose="020F0502020204030204" pitchFamily="34" charset="0"/>
              </a:rPr>
              <a:t>to draw additional samples, </a:t>
            </a:r>
            <a:r>
              <a:rPr lang="en-US" sz="2400" b="1" i="0" dirty="0">
                <a:solidFill>
                  <a:schemeClr val="tx1"/>
                </a:solidFill>
                <a:effectLst/>
                <a:latin typeface="Calibri" panose="020F0502020204030204" pitchFamily="34" charset="0"/>
                <a:cs typeface="Calibri" panose="020F0502020204030204" pitchFamily="34" charset="0"/>
              </a:rPr>
              <a:t>with</a:t>
            </a:r>
            <a:r>
              <a:rPr lang="en-US" sz="2400" b="0" i="0" dirty="0">
                <a:solidFill>
                  <a:schemeClr val="tx1"/>
                </a:solidFill>
                <a:effectLst/>
                <a:latin typeface="Calibri" panose="020F0502020204030204" pitchFamily="34" charset="0"/>
                <a:cs typeface="Calibri" panose="020F0502020204030204" pitchFamily="34" charset="0"/>
              </a:rPr>
              <a:t> </a:t>
            </a:r>
            <a:r>
              <a:rPr lang="en-US" sz="2400" b="1" i="0" dirty="0">
                <a:solidFill>
                  <a:schemeClr val="tx1"/>
                </a:solidFill>
                <a:effectLst/>
                <a:latin typeface="Calibri" panose="020F0502020204030204" pitchFamily="34" charset="0"/>
                <a:cs typeface="Calibri" panose="020F0502020204030204" pitchFamily="34" charset="0"/>
              </a:rPr>
              <a:t>replacement</a:t>
            </a:r>
            <a:r>
              <a:rPr lang="en-US" sz="2400" b="0" i="0" dirty="0">
                <a:solidFill>
                  <a:schemeClr val="tx1"/>
                </a:solidFill>
                <a:effectLst/>
                <a:latin typeface="Calibri" panose="020F0502020204030204" pitchFamily="34" charset="0"/>
                <a:cs typeface="Calibri" panose="020F0502020204030204" pitchFamily="34" charset="0"/>
              </a:rPr>
              <a:t>, from the sample itself</a:t>
            </a:r>
          </a:p>
          <a:p>
            <a:pPr lvl="1" algn="just">
              <a:buFont typeface="Wingdings" panose="05000000000000000000" pitchFamily="2" charset="2"/>
              <a:buChar char="Ø"/>
            </a:pPr>
            <a:r>
              <a:rPr lang="en-US" sz="2400" dirty="0">
                <a:solidFill>
                  <a:schemeClr val="tx1"/>
                </a:solidFill>
                <a:latin typeface="Calibri" panose="020F0502020204030204" pitchFamily="34" charset="0"/>
                <a:cs typeface="Calibri" panose="020F0502020204030204" pitchFamily="34" charset="0"/>
              </a:rPr>
              <a:t>and to </a:t>
            </a:r>
            <a:r>
              <a:rPr lang="en-US" sz="2400" b="0" i="0" dirty="0">
                <a:solidFill>
                  <a:schemeClr val="tx1"/>
                </a:solidFill>
                <a:effectLst/>
                <a:latin typeface="Calibri" panose="020F0502020204030204" pitchFamily="34" charset="0"/>
                <a:cs typeface="Calibri" panose="020F0502020204030204" pitchFamily="34" charset="0"/>
              </a:rPr>
              <a:t>recalculate the statistic/fact/metric or model for each resample. </a:t>
            </a:r>
          </a:p>
          <a:p>
            <a:pPr algn="just">
              <a:buFont typeface="Wingdings" panose="05000000000000000000" pitchFamily="2" charset="2"/>
              <a:buChar char="Ø"/>
            </a:pPr>
            <a:r>
              <a:rPr lang="en-US" sz="2800" b="0" i="0" dirty="0">
                <a:solidFill>
                  <a:schemeClr val="tx1"/>
                </a:solidFill>
                <a:effectLst/>
                <a:latin typeface="Calibri" panose="020F0502020204030204" pitchFamily="34" charset="0"/>
                <a:cs typeface="Calibri" panose="020F0502020204030204" pitchFamily="34" charset="0"/>
              </a:rPr>
              <a:t>This procedure is called the </a:t>
            </a:r>
            <a:r>
              <a:rPr lang="en-US" sz="2800" b="1" i="0" dirty="0">
                <a:solidFill>
                  <a:schemeClr val="tx1"/>
                </a:solidFill>
                <a:effectLst/>
                <a:latin typeface="Calibri" panose="020F0502020204030204" pitchFamily="34" charset="0"/>
                <a:cs typeface="Calibri" panose="020F0502020204030204" pitchFamily="34" charset="0"/>
              </a:rPr>
              <a:t>bootstrap</a:t>
            </a:r>
            <a:r>
              <a:rPr lang="en-US" sz="2800" b="0" i="0" dirty="0">
                <a:solidFill>
                  <a:schemeClr val="tx1"/>
                </a:solidFill>
                <a:effectLst/>
                <a:latin typeface="Calibri" panose="020F0502020204030204" pitchFamily="34" charset="0"/>
                <a:cs typeface="Calibri" panose="020F0502020204030204" pitchFamily="34" charset="0"/>
              </a:rPr>
              <a:t>, and it does not necessarily involve any assumptions about the data or the sample statistic/fact being normally distributed.</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31</a:t>
            </a:fld>
            <a:endParaRPr lang="en-US">
              <a:solidFill>
                <a:srgbClr val="90C226"/>
              </a:solidFill>
            </a:endParaRPr>
          </a:p>
        </p:txBody>
      </p:sp>
    </p:spTree>
    <p:extLst>
      <p:ext uri="{BB962C8B-B14F-4D97-AF65-F5344CB8AC3E}">
        <p14:creationId xmlns:p14="http://schemas.microsoft.com/office/powerpoint/2010/main" val="35660666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1F61188-4D2F-40B3-BFAB-789787D244D9}"/>
              </a:ext>
            </a:extLst>
          </p:cNvPr>
          <p:cNvPicPr>
            <a:picLocks noChangeAspect="1"/>
          </p:cNvPicPr>
          <p:nvPr/>
        </p:nvPicPr>
        <p:blipFill>
          <a:blip r:embed="rId2"/>
          <a:stretch>
            <a:fillRect/>
          </a:stretch>
        </p:blipFill>
        <p:spPr>
          <a:xfrm>
            <a:off x="2753738" y="4243763"/>
            <a:ext cx="5982938" cy="2585846"/>
          </a:xfrm>
          <a:prstGeom prst="rect">
            <a:avLst/>
          </a:prstGeom>
          <a:solidFill>
            <a:schemeClr val="tx1"/>
          </a:solidFill>
          <a:ln>
            <a:solidFill>
              <a:schemeClr val="tx1"/>
            </a:solidFill>
          </a:ln>
        </p:spPr>
      </p:pic>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The Bootstrap</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547817" y="1128584"/>
            <a:ext cx="9094124" cy="3243912"/>
          </a:xfrm>
        </p:spPr>
        <p:txBody>
          <a:bodyPr>
            <a:normAutofit fontScale="92500" lnSpcReduction="20000"/>
          </a:bodyPr>
          <a:lstStyle/>
          <a:p>
            <a:pPr algn="just">
              <a:buFont typeface="Wingdings" panose="05000000000000000000" pitchFamily="2" charset="2"/>
              <a:buChar char="Ø"/>
            </a:pPr>
            <a:r>
              <a:rPr lang="en-US" sz="3200" b="1" i="0" dirty="0">
                <a:solidFill>
                  <a:schemeClr val="tx1"/>
                </a:solidFill>
                <a:effectLst/>
                <a:latin typeface="Calibri" panose="020F0502020204030204" pitchFamily="34" charset="0"/>
                <a:cs typeface="Calibri" panose="020F0502020204030204" pitchFamily="34" charset="0"/>
              </a:rPr>
              <a:t>Conceptually</a:t>
            </a:r>
            <a:r>
              <a:rPr lang="en-US" sz="3200" b="0" i="0" dirty="0">
                <a:solidFill>
                  <a:schemeClr val="tx1"/>
                </a:solidFill>
                <a:effectLst/>
                <a:latin typeface="Calibri" panose="020F0502020204030204" pitchFamily="34" charset="0"/>
                <a:cs typeface="Calibri" panose="020F0502020204030204" pitchFamily="34" charset="0"/>
              </a:rPr>
              <a:t>, you can imagine the bootstrap as </a:t>
            </a:r>
            <a:r>
              <a:rPr lang="en-US" sz="3200" b="1" i="0" dirty="0">
                <a:solidFill>
                  <a:schemeClr val="tx1"/>
                </a:solidFill>
                <a:effectLst/>
                <a:latin typeface="Calibri" panose="020F0502020204030204" pitchFamily="34" charset="0"/>
                <a:cs typeface="Calibri" panose="020F0502020204030204" pitchFamily="34" charset="0"/>
              </a:rPr>
              <a:t>replicating the original sample </a:t>
            </a:r>
            <a:r>
              <a:rPr lang="en-US" sz="3200" b="0" i="0" dirty="0">
                <a:solidFill>
                  <a:schemeClr val="tx1"/>
                </a:solidFill>
                <a:effectLst/>
                <a:latin typeface="Calibri" panose="020F0502020204030204" pitchFamily="34" charset="0"/>
                <a:cs typeface="Calibri" panose="020F0502020204030204" pitchFamily="34" charset="0"/>
              </a:rPr>
              <a:t>thousands or millions of times so that you have a </a:t>
            </a:r>
            <a:r>
              <a:rPr lang="en-US" sz="3200" b="1" i="0" dirty="0">
                <a:solidFill>
                  <a:schemeClr val="tx1"/>
                </a:solidFill>
                <a:effectLst/>
                <a:latin typeface="Calibri" panose="020F0502020204030204" pitchFamily="34" charset="0"/>
                <a:cs typeface="Calibri" panose="020F0502020204030204" pitchFamily="34" charset="0"/>
              </a:rPr>
              <a:t>hypothetical population</a:t>
            </a:r>
            <a:r>
              <a:rPr lang="en-US" sz="3200" b="0" i="0" dirty="0">
                <a:solidFill>
                  <a:schemeClr val="tx1"/>
                </a:solidFill>
                <a:effectLst/>
                <a:latin typeface="Calibri" panose="020F0502020204030204" pitchFamily="34" charset="0"/>
                <a:cs typeface="Calibri" panose="020F0502020204030204" pitchFamily="34" charset="0"/>
              </a:rPr>
              <a:t> that embodies all the knowledge from your original sample. </a:t>
            </a:r>
          </a:p>
          <a:p>
            <a:pPr algn="just">
              <a:buFont typeface="Wingdings" panose="05000000000000000000" pitchFamily="2" charset="2"/>
              <a:buChar char="Ø"/>
            </a:pPr>
            <a:r>
              <a:rPr lang="en-US" sz="3200" b="0" i="0" dirty="0">
                <a:solidFill>
                  <a:schemeClr val="tx1"/>
                </a:solidFill>
                <a:effectLst/>
                <a:latin typeface="Calibri" panose="020F0502020204030204" pitchFamily="34" charset="0"/>
                <a:cs typeface="Calibri" panose="020F0502020204030204" pitchFamily="34" charset="0"/>
              </a:rPr>
              <a:t>You can then draw samples from this hypothetical population for the purpose of estimating a sampling distribution</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32</a:t>
            </a:fld>
            <a:endParaRPr lang="en-US">
              <a:solidFill>
                <a:srgbClr val="90C226"/>
              </a:solidFill>
            </a:endParaRPr>
          </a:p>
        </p:txBody>
      </p:sp>
    </p:spTree>
    <p:extLst>
      <p:ext uri="{BB962C8B-B14F-4D97-AF65-F5344CB8AC3E}">
        <p14:creationId xmlns:p14="http://schemas.microsoft.com/office/powerpoint/2010/main" val="38621618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The Bootstrap</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33</a:t>
            </a:fld>
            <a:endParaRPr lang="en-US">
              <a:solidFill>
                <a:srgbClr val="90C226"/>
              </a:solidFill>
            </a:endParaRPr>
          </a:p>
        </p:txBody>
      </p:sp>
      <p:pic>
        <p:nvPicPr>
          <p:cNvPr id="6" name="Picture 5">
            <a:extLst>
              <a:ext uri="{FF2B5EF4-FFF2-40B4-BE49-F238E27FC236}">
                <a16:creationId xmlns:a16="http://schemas.microsoft.com/office/drawing/2014/main" id="{01F61188-4D2F-40B3-BFAB-789787D244D9}"/>
              </a:ext>
            </a:extLst>
          </p:cNvPr>
          <p:cNvPicPr>
            <a:picLocks noChangeAspect="1"/>
          </p:cNvPicPr>
          <p:nvPr/>
        </p:nvPicPr>
        <p:blipFill>
          <a:blip r:embed="rId2"/>
          <a:stretch>
            <a:fillRect/>
          </a:stretch>
        </p:blipFill>
        <p:spPr>
          <a:xfrm>
            <a:off x="7197526" y="1698146"/>
            <a:ext cx="4994474" cy="2158629"/>
          </a:xfrm>
          <a:prstGeom prst="rect">
            <a:avLst/>
          </a:prstGeom>
          <a:solidFill>
            <a:schemeClr val="tx1"/>
          </a:solidFill>
          <a:ln>
            <a:solidFill>
              <a:schemeClr val="tx1"/>
            </a:solidFill>
          </a:ln>
        </p:spPr>
      </p:pic>
      <p:pic>
        <p:nvPicPr>
          <p:cNvPr id="7" name="Picture 6"/>
          <p:cNvPicPr>
            <a:picLocks noChangeAspect="1"/>
          </p:cNvPicPr>
          <p:nvPr/>
        </p:nvPicPr>
        <p:blipFill>
          <a:blip r:embed="rId3"/>
          <a:stretch>
            <a:fillRect/>
          </a:stretch>
        </p:blipFill>
        <p:spPr>
          <a:xfrm>
            <a:off x="0" y="840991"/>
            <a:ext cx="7161291" cy="6017010"/>
          </a:xfrm>
          <a:prstGeom prst="rect">
            <a:avLst/>
          </a:prstGeom>
        </p:spPr>
      </p:pic>
    </p:spTree>
    <p:extLst>
      <p:ext uri="{BB962C8B-B14F-4D97-AF65-F5344CB8AC3E}">
        <p14:creationId xmlns:p14="http://schemas.microsoft.com/office/powerpoint/2010/main" val="8093608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The Bootstrap</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547817" y="1128583"/>
            <a:ext cx="8967375" cy="5165125"/>
          </a:xfrm>
        </p:spPr>
        <p:txBody>
          <a:bodyPr>
            <a:normAutofit/>
          </a:bodyPr>
          <a:lstStyle/>
          <a:p>
            <a:pPr algn="just">
              <a:buFont typeface="Wingdings" panose="05000000000000000000" pitchFamily="2" charset="2"/>
              <a:buChar char="Ø"/>
            </a:pPr>
            <a:r>
              <a:rPr lang="en-US" sz="3200" b="0" i="0" dirty="0">
                <a:solidFill>
                  <a:schemeClr val="tx1"/>
                </a:solidFill>
                <a:effectLst/>
                <a:latin typeface="Calibri" panose="020F0502020204030204" pitchFamily="34" charset="0"/>
                <a:cs typeface="Calibri" panose="020F0502020204030204" pitchFamily="34" charset="0"/>
              </a:rPr>
              <a:t>In practice, </a:t>
            </a:r>
            <a:r>
              <a:rPr lang="en-US" sz="3200" b="1" i="0" dirty="0">
                <a:solidFill>
                  <a:schemeClr val="tx1"/>
                </a:solidFill>
                <a:effectLst/>
                <a:latin typeface="Calibri" panose="020F0502020204030204" pitchFamily="34" charset="0"/>
                <a:cs typeface="Calibri" panose="020F0502020204030204" pitchFamily="34" charset="0"/>
              </a:rPr>
              <a:t>it is not necessary to actually replicate the sample a huge number of times</a:t>
            </a:r>
            <a:r>
              <a:rPr lang="en-US" sz="3200" b="0" i="0" dirty="0">
                <a:solidFill>
                  <a:schemeClr val="tx1"/>
                </a:solidFill>
                <a:effectLst/>
                <a:latin typeface="Calibri" panose="020F0502020204030204" pitchFamily="34" charset="0"/>
                <a:cs typeface="Calibri" panose="020F0502020204030204" pitchFamily="34" charset="0"/>
              </a:rPr>
              <a:t>. </a:t>
            </a:r>
          </a:p>
          <a:p>
            <a:pPr algn="just">
              <a:buFont typeface="Wingdings" panose="05000000000000000000" pitchFamily="2" charset="2"/>
              <a:buChar char="Ø"/>
            </a:pPr>
            <a:r>
              <a:rPr lang="en-US" sz="3200" b="0" i="0" dirty="0">
                <a:solidFill>
                  <a:schemeClr val="tx1"/>
                </a:solidFill>
                <a:effectLst/>
                <a:latin typeface="Calibri" panose="020F0502020204030204" pitchFamily="34" charset="0"/>
                <a:cs typeface="Calibri" panose="020F0502020204030204" pitchFamily="34" charset="0"/>
              </a:rPr>
              <a:t>We simply replace each observation after each draw; that is, we sample </a:t>
            </a:r>
            <a:r>
              <a:rPr lang="en-US" sz="3200" b="1" i="0" dirty="0">
                <a:solidFill>
                  <a:schemeClr val="tx1"/>
                </a:solidFill>
                <a:effectLst/>
                <a:latin typeface="Calibri" panose="020F0502020204030204" pitchFamily="34" charset="0"/>
                <a:cs typeface="Calibri" panose="020F0502020204030204" pitchFamily="34" charset="0"/>
              </a:rPr>
              <a:t>with</a:t>
            </a:r>
            <a:r>
              <a:rPr lang="en-US" sz="3200" b="0" i="0" dirty="0">
                <a:solidFill>
                  <a:schemeClr val="tx1"/>
                </a:solidFill>
                <a:effectLst/>
                <a:latin typeface="Calibri" panose="020F0502020204030204" pitchFamily="34" charset="0"/>
                <a:cs typeface="Calibri" panose="020F0502020204030204" pitchFamily="34" charset="0"/>
              </a:rPr>
              <a:t> </a:t>
            </a:r>
            <a:r>
              <a:rPr lang="en-US" sz="3200" b="1" i="0" dirty="0">
                <a:solidFill>
                  <a:schemeClr val="tx1"/>
                </a:solidFill>
                <a:effectLst/>
                <a:latin typeface="Calibri" panose="020F0502020204030204" pitchFamily="34" charset="0"/>
                <a:cs typeface="Calibri" panose="020F0502020204030204" pitchFamily="34" charset="0"/>
              </a:rPr>
              <a:t>replacement</a:t>
            </a:r>
            <a:r>
              <a:rPr lang="en-US" sz="3200" b="0" i="0" dirty="0">
                <a:solidFill>
                  <a:schemeClr val="tx1"/>
                </a:solidFill>
                <a:effectLst/>
                <a:latin typeface="Calibri" panose="020F0502020204030204" pitchFamily="34" charset="0"/>
                <a:cs typeface="Calibri" panose="020F0502020204030204" pitchFamily="34" charset="0"/>
              </a:rPr>
              <a:t>. </a:t>
            </a:r>
          </a:p>
          <a:p>
            <a:pPr algn="just">
              <a:buFont typeface="Wingdings" panose="05000000000000000000" pitchFamily="2" charset="2"/>
              <a:buChar char="Ø"/>
            </a:pPr>
            <a:r>
              <a:rPr lang="en-US" sz="3200" b="0" i="0" dirty="0">
                <a:solidFill>
                  <a:schemeClr val="tx1"/>
                </a:solidFill>
                <a:effectLst/>
                <a:latin typeface="Calibri" panose="020F0502020204030204" pitchFamily="34" charset="0"/>
                <a:cs typeface="Calibri" panose="020F0502020204030204" pitchFamily="34" charset="0"/>
              </a:rPr>
              <a:t>In this way we effectively create an </a:t>
            </a:r>
            <a:r>
              <a:rPr lang="en-US" sz="3200" b="1" i="0" dirty="0">
                <a:solidFill>
                  <a:schemeClr val="tx1"/>
                </a:solidFill>
                <a:effectLst/>
                <a:latin typeface="Calibri" panose="020F0502020204030204" pitchFamily="34" charset="0"/>
                <a:cs typeface="Calibri" panose="020F0502020204030204" pitchFamily="34" charset="0"/>
              </a:rPr>
              <a:t>infinite</a:t>
            </a:r>
            <a:r>
              <a:rPr lang="en-US" sz="3200" b="0" i="0" dirty="0">
                <a:solidFill>
                  <a:schemeClr val="tx1"/>
                </a:solidFill>
                <a:effectLst/>
                <a:latin typeface="Calibri" panose="020F0502020204030204" pitchFamily="34" charset="0"/>
                <a:cs typeface="Calibri" panose="020F0502020204030204" pitchFamily="34" charset="0"/>
              </a:rPr>
              <a:t> </a:t>
            </a:r>
            <a:r>
              <a:rPr lang="en-US" sz="3200" b="1" i="0" dirty="0">
                <a:solidFill>
                  <a:schemeClr val="tx1"/>
                </a:solidFill>
                <a:effectLst/>
                <a:latin typeface="Calibri" panose="020F0502020204030204" pitchFamily="34" charset="0"/>
                <a:cs typeface="Calibri" panose="020F0502020204030204" pitchFamily="34" charset="0"/>
              </a:rPr>
              <a:t>population</a:t>
            </a:r>
            <a:r>
              <a:rPr lang="en-US" sz="3200" b="0" i="0" dirty="0">
                <a:solidFill>
                  <a:schemeClr val="tx1"/>
                </a:solidFill>
                <a:effectLst/>
                <a:latin typeface="Calibri" panose="020F0502020204030204" pitchFamily="34" charset="0"/>
                <a:cs typeface="Calibri" panose="020F0502020204030204" pitchFamily="34" charset="0"/>
              </a:rPr>
              <a:t> in which the probability of an element being drawn remains unchanged from draw to draw. </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34</a:t>
            </a:fld>
            <a:endParaRPr lang="en-US">
              <a:solidFill>
                <a:srgbClr val="90C226"/>
              </a:solidFill>
            </a:endParaRPr>
          </a:p>
        </p:txBody>
      </p:sp>
    </p:spTree>
    <p:extLst>
      <p:ext uri="{BB962C8B-B14F-4D97-AF65-F5344CB8AC3E}">
        <p14:creationId xmlns:p14="http://schemas.microsoft.com/office/powerpoint/2010/main" val="40052638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The Bootstrap</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547817" y="1128583"/>
            <a:ext cx="8858733" cy="5643409"/>
          </a:xfrm>
        </p:spPr>
        <p:txBody>
          <a:bodyPr>
            <a:normAutofit fontScale="92500"/>
          </a:bodyPr>
          <a:lstStyle/>
          <a:p>
            <a:pPr algn="just">
              <a:buFont typeface="Wingdings" panose="05000000000000000000" pitchFamily="2" charset="2"/>
              <a:buChar char="Ø"/>
            </a:pPr>
            <a:r>
              <a:rPr lang="en-US" sz="3200" b="0" i="0" dirty="0">
                <a:solidFill>
                  <a:schemeClr val="tx1"/>
                </a:solidFill>
                <a:effectLst/>
                <a:latin typeface="Calibri" panose="020F0502020204030204" pitchFamily="34" charset="0"/>
                <a:cs typeface="Calibri" panose="020F0502020204030204" pitchFamily="34" charset="0"/>
              </a:rPr>
              <a:t>The algorithm for a bootstrap resampling of the mean, for a sample of size n, is as follows:</a:t>
            </a:r>
          </a:p>
          <a:p>
            <a:pPr lvl="2" algn="just">
              <a:buFont typeface="Wingdings" panose="05000000000000000000" pitchFamily="2" charset="2"/>
              <a:buChar char="Ø"/>
            </a:pPr>
            <a:r>
              <a:rPr lang="en-US" sz="2800" b="0" i="0" dirty="0">
                <a:solidFill>
                  <a:schemeClr val="tx1"/>
                </a:solidFill>
                <a:effectLst/>
                <a:latin typeface="Calibri" panose="020F0502020204030204" pitchFamily="34" charset="0"/>
                <a:cs typeface="Calibri" panose="020F0502020204030204" pitchFamily="34" charset="0"/>
              </a:rPr>
              <a:t>1. Draw a sample value, record it, and then replace it.</a:t>
            </a:r>
          </a:p>
          <a:p>
            <a:pPr lvl="2" algn="just">
              <a:buFont typeface="Wingdings" panose="05000000000000000000" pitchFamily="2" charset="2"/>
              <a:buChar char="Ø"/>
            </a:pPr>
            <a:r>
              <a:rPr lang="en-US" sz="2800" b="0" i="0" dirty="0">
                <a:solidFill>
                  <a:schemeClr val="tx1"/>
                </a:solidFill>
                <a:effectLst/>
                <a:latin typeface="Calibri" panose="020F0502020204030204" pitchFamily="34" charset="0"/>
                <a:cs typeface="Calibri" panose="020F0502020204030204" pitchFamily="34" charset="0"/>
              </a:rPr>
              <a:t>2. Repeat n times.</a:t>
            </a:r>
          </a:p>
          <a:p>
            <a:pPr lvl="2" algn="just">
              <a:buFont typeface="Wingdings" panose="05000000000000000000" pitchFamily="2" charset="2"/>
              <a:buChar char="Ø"/>
            </a:pPr>
            <a:r>
              <a:rPr lang="en-US" sz="2800" b="0" i="0" dirty="0">
                <a:solidFill>
                  <a:schemeClr val="tx1"/>
                </a:solidFill>
                <a:effectLst/>
                <a:latin typeface="Calibri" panose="020F0502020204030204" pitchFamily="34" charset="0"/>
                <a:cs typeface="Calibri" panose="020F0502020204030204" pitchFamily="34" charset="0"/>
              </a:rPr>
              <a:t>3. Record the mean of the n resampled values.</a:t>
            </a:r>
          </a:p>
          <a:p>
            <a:pPr lvl="2" algn="just">
              <a:buFont typeface="Wingdings" panose="05000000000000000000" pitchFamily="2" charset="2"/>
              <a:buChar char="Ø"/>
            </a:pPr>
            <a:r>
              <a:rPr lang="en-US" sz="2800" b="0" i="0" dirty="0">
                <a:solidFill>
                  <a:schemeClr val="tx1"/>
                </a:solidFill>
                <a:effectLst/>
                <a:latin typeface="Calibri" panose="020F0502020204030204" pitchFamily="34" charset="0"/>
                <a:cs typeface="Calibri" panose="020F0502020204030204" pitchFamily="34" charset="0"/>
              </a:rPr>
              <a:t>4. Repeat steps 1–3 R times.</a:t>
            </a:r>
          </a:p>
          <a:p>
            <a:pPr lvl="2" algn="just">
              <a:buFont typeface="Wingdings" panose="05000000000000000000" pitchFamily="2" charset="2"/>
              <a:buChar char="Ø"/>
            </a:pPr>
            <a:r>
              <a:rPr lang="en-US" sz="2800" b="0" i="0" dirty="0">
                <a:solidFill>
                  <a:schemeClr val="tx1"/>
                </a:solidFill>
                <a:effectLst/>
                <a:latin typeface="Calibri" panose="020F0502020204030204" pitchFamily="34" charset="0"/>
                <a:cs typeface="Calibri" panose="020F0502020204030204" pitchFamily="34" charset="0"/>
              </a:rPr>
              <a:t>5. Use the R results to:</a:t>
            </a:r>
          </a:p>
          <a:p>
            <a:pPr lvl="3" algn="just">
              <a:buFont typeface="Wingdings" panose="05000000000000000000" pitchFamily="2" charset="2"/>
              <a:buChar char="Ø"/>
            </a:pPr>
            <a:r>
              <a:rPr lang="en-US" sz="2600" b="0" i="0" dirty="0">
                <a:solidFill>
                  <a:schemeClr val="tx1"/>
                </a:solidFill>
                <a:effectLst/>
                <a:latin typeface="Calibri" panose="020F0502020204030204" pitchFamily="34" charset="0"/>
                <a:cs typeface="Calibri" panose="020F0502020204030204" pitchFamily="34" charset="0"/>
              </a:rPr>
              <a:t>a. Calculate their standard deviation (this estimates sample mean standard </a:t>
            </a:r>
            <a:r>
              <a:rPr lang="en-US" sz="2800" b="0" i="0" dirty="0">
                <a:solidFill>
                  <a:schemeClr val="tx1"/>
                </a:solidFill>
                <a:effectLst/>
                <a:latin typeface="Calibri" panose="020F0502020204030204" pitchFamily="34" charset="0"/>
                <a:cs typeface="Calibri" panose="020F0502020204030204" pitchFamily="34" charset="0"/>
              </a:rPr>
              <a:t>error).</a:t>
            </a:r>
          </a:p>
          <a:p>
            <a:pPr lvl="3" algn="just">
              <a:buFont typeface="Wingdings" panose="05000000000000000000" pitchFamily="2" charset="2"/>
              <a:buChar char="Ø"/>
            </a:pPr>
            <a:r>
              <a:rPr lang="en-US" sz="2600" b="0" i="0" dirty="0">
                <a:solidFill>
                  <a:schemeClr val="tx1"/>
                </a:solidFill>
                <a:effectLst/>
                <a:latin typeface="Calibri" panose="020F0502020204030204" pitchFamily="34" charset="0"/>
                <a:cs typeface="Calibri" panose="020F0502020204030204" pitchFamily="34" charset="0"/>
              </a:rPr>
              <a:t>b. Produce a histogram or boxplot.</a:t>
            </a:r>
          </a:p>
          <a:p>
            <a:pPr lvl="3" algn="just">
              <a:buFont typeface="Wingdings" panose="05000000000000000000" pitchFamily="2" charset="2"/>
              <a:buChar char="Ø"/>
            </a:pPr>
            <a:r>
              <a:rPr lang="en-US" sz="2600" b="0" i="0" dirty="0">
                <a:solidFill>
                  <a:schemeClr val="tx1"/>
                </a:solidFill>
                <a:effectLst/>
                <a:latin typeface="Calibri" panose="020F0502020204030204" pitchFamily="34" charset="0"/>
                <a:cs typeface="Calibri" panose="020F0502020204030204" pitchFamily="34" charset="0"/>
              </a:rPr>
              <a:t>c. Find a </a:t>
            </a:r>
            <a:r>
              <a:rPr lang="en-US" sz="2600" b="1" i="0" dirty="0">
                <a:solidFill>
                  <a:schemeClr val="tx1"/>
                </a:solidFill>
                <a:effectLst/>
                <a:latin typeface="Calibri" panose="020F0502020204030204" pitchFamily="34" charset="0"/>
                <a:cs typeface="Calibri" panose="020F0502020204030204" pitchFamily="34" charset="0"/>
              </a:rPr>
              <a:t>confidence interval?</a:t>
            </a:r>
            <a:endParaRPr lang="en-US" sz="2600" b="0" i="0" dirty="0">
              <a:solidFill>
                <a:schemeClr val="tx1"/>
              </a:solidFill>
              <a:effectLst/>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35</a:t>
            </a:fld>
            <a:endParaRPr lang="en-US">
              <a:solidFill>
                <a:srgbClr val="90C226"/>
              </a:solidFill>
            </a:endParaRPr>
          </a:p>
        </p:txBody>
      </p:sp>
    </p:spTree>
    <p:extLst>
      <p:ext uri="{BB962C8B-B14F-4D97-AF65-F5344CB8AC3E}">
        <p14:creationId xmlns:p14="http://schemas.microsoft.com/office/powerpoint/2010/main" val="1213803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The Bootstrap</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547817" y="1128583"/>
            <a:ext cx="8726185" cy="5165125"/>
          </a:xfrm>
        </p:spPr>
        <p:txBody>
          <a:bodyPr>
            <a:normAutofit/>
          </a:bodyPr>
          <a:lstStyle/>
          <a:p>
            <a:pPr algn="just">
              <a:buFont typeface="Wingdings" panose="05000000000000000000" pitchFamily="2" charset="2"/>
              <a:buChar char="Ø"/>
            </a:pPr>
            <a:r>
              <a:rPr lang="en-US" sz="3000" b="0" i="0" dirty="0">
                <a:solidFill>
                  <a:schemeClr val="tx1"/>
                </a:solidFill>
                <a:effectLst/>
                <a:latin typeface="Calibri" panose="020F0502020204030204" pitchFamily="34" charset="0"/>
                <a:cs typeface="Calibri" panose="020F0502020204030204" pitchFamily="34" charset="0"/>
              </a:rPr>
              <a:t>the number of iterations (R) of the bootstrap, is set somewhat </a:t>
            </a:r>
            <a:r>
              <a:rPr lang="en-US" sz="3000" b="1" i="0" dirty="0">
                <a:solidFill>
                  <a:schemeClr val="tx1"/>
                </a:solidFill>
                <a:effectLst/>
                <a:latin typeface="Calibri" panose="020F0502020204030204" pitchFamily="34" charset="0"/>
                <a:cs typeface="Calibri" panose="020F0502020204030204" pitchFamily="34" charset="0"/>
              </a:rPr>
              <a:t>arbitrarily</a:t>
            </a:r>
            <a:r>
              <a:rPr lang="en-US" sz="3000" b="0" i="0" dirty="0">
                <a:solidFill>
                  <a:schemeClr val="tx1"/>
                </a:solidFill>
                <a:effectLst/>
                <a:latin typeface="Calibri" panose="020F0502020204030204" pitchFamily="34" charset="0"/>
                <a:cs typeface="Calibri" panose="020F0502020204030204" pitchFamily="34" charset="0"/>
              </a:rPr>
              <a:t>. </a:t>
            </a:r>
          </a:p>
          <a:p>
            <a:pPr algn="just">
              <a:buFont typeface="Wingdings" panose="05000000000000000000" pitchFamily="2" charset="2"/>
              <a:buChar char="Ø"/>
            </a:pPr>
            <a:r>
              <a:rPr lang="en-US" sz="3000" b="0" i="0" dirty="0">
                <a:solidFill>
                  <a:schemeClr val="tx1"/>
                </a:solidFill>
                <a:effectLst/>
                <a:latin typeface="Calibri" panose="020F0502020204030204" pitchFamily="34" charset="0"/>
                <a:cs typeface="Calibri" panose="020F0502020204030204" pitchFamily="34" charset="0"/>
              </a:rPr>
              <a:t>The </a:t>
            </a:r>
            <a:r>
              <a:rPr lang="en-US" sz="3000" b="1" i="0" dirty="0">
                <a:solidFill>
                  <a:schemeClr val="tx1"/>
                </a:solidFill>
                <a:effectLst/>
                <a:latin typeface="Calibri" panose="020F0502020204030204" pitchFamily="34" charset="0"/>
                <a:cs typeface="Calibri" panose="020F0502020204030204" pitchFamily="34" charset="0"/>
              </a:rPr>
              <a:t>more iterations </a:t>
            </a:r>
            <a:r>
              <a:rPr lang="en-US" sz="3000" b="0" i="0" dirty="0">
                <a:solidFill>
                  <a:schemeClr val="tx1"/>
                </a:solidFill>
                <a:effectLst/>
                <a:latin typeface="Calibri" panose="020F0502020204030204" pitchFamily="34" charset="0"/>
                <a:cs typeface="Calibri" panose="020F0502020204030204" pitchFamily="34" charset="0"/>
              </a:rPr>
              <a:t>you do, the </a:t>
            </a:r>
            <a:r>
              <a:rPr lang="en-US" sz="3000" b="1" i="0" dirty="0">
                <a:solidFill>
                  <a:schemeClr val="tx1"/>
                </a:solidFill>
                <a:effectLst/>
                <a:latin typeface="Calibri" panose="020F0502020204030204" pitchFamily="34" charset="0"/>
                <a:cs typeface="Calibri" panose="020F0502020204030204" pitchFamily="34" charset="0"/>
              </a:rPr>
              <a:t>more accurate the estimate of the standard error</a:t>
            </a:r>
            <a:r>
              <a:rPr lang="en-US" sz="3000" b="0" i="0" dirty="0">
                <a:solidFill>
                  <a:schemeClr val="tx1"/>
                </a:solidFill>
                <a:effectLst/>
                <a:latin typeface="Calibri" panose="020F0502020204030204" pitchFamily="34" charset="0"/>
                <a:cs typeface="Calibri" panose="020F0502020204030204" pitchFamily="34" charset="0"/>
              </a:rPr>
              <a:t>, or the confidence interval. </a:t>
            </a:r>
          </a:p>
          <a:p>
            <a:pPr algn="just">
              <a:buFont typeface="Wingdings" panose="05000000000000000000" pitchFamily="2" charset="2"/>
              <a:buChar char="Ø"/>
            </a:pPr>
            <a:r>
              <a:rPr lang="en-US" sz="3000" b="0" i="0" dirty="0">
                <a:solidFill>
                  <a:schemeClr val="tx1"/>
                </a:solidFill>
                <a:effectLst/>
                <a:latin typeface="Calibri" panose="020F0502020204030204" pitchFamily="34" charset="0"/>
                <a:cs typeface="Calibri" panose="020F0502020204030204" pitchFamily="34" charset="0"/>
              </a:rPr>
              <a:t>The result from this procedure is a bootstrap set of sample statistics or estimated model parameters, which you can then examine to see how variable they are.</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36</a:t>
            </a:fld>
            <a:endParaRPr lang="en-US">
              <a:solidFill>
                <a:srgbClr val="90C226"/>
              </a:solidFill>
            </a:endParaRPr>
          </a:p>
        </p:txBody>
      </p:sp>
    </p:spTree>
    <p:extLst>
      <p:ext uri="{BB962C8B-B14F-4D97-AF65-F5344CB8AC3E}">
        <p14:creationId xmlns:p14="http://schemas.microsoft.com/office/powerpoint/2010/main" val="23101961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The Bootstrap</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547817" y="1128583"/>
            <a:ext cx="11149912" cy="5165125"/>
          </a:xfrm>
        </p:spPr>
        <p:txBody>
          <a:bodyPr>
            <a:normAutofit/>
          </a:bodyPr>
          <a:lstStyle/>
          <a:p>
            <a:pPr algn="just">
              <a:buFont typeface="Wingdings" panose="05000000000000000000" pitchFamily="2" charset="2"/>
              <a:buChar char="Ø"/>
            </a:pPr>
            <a:r>
              <a:rPr lang="en-US" sz="3000" b="0" i="0" dirty="0">
                <a:solidFill>
                  <a:schemeClr val="tx1"/>
                </a:solidFill>
                <a:effectLst/>
                <a:latin typeface="NewBaskerville-Roman"/>
              </a:rPr>
              <a:t>For python example see </a:t>
            </a:r>
            <a:r>
              <a:rPr lang="en-US" sz="3000" b="0" i="0" dirty="0" err="1">
                <a:solidFill>
                  <a:schemeClr val="tx1"/>
                </a:solidFill>
                <a:effectLst/>
                <a:latin typeface="NewBaskerville-Roman"/>
              </a:rPr>
              <a:t>colab</a:t>
            </a:r>
            <a:r>
              <a:rPr lang="en-US" sz="3000" b="0" i="0" dirty="0">
                <a:solidFill>
                  <a:schemeClr val="tx1"/>
                </a:solidFill>
                <a:effectLst/>
                <a:latin typeface="NewBaskerville-Roman"/>
              </a:rPr>
              <a:t> notebook</a:t>
            </a:r>
          </a:p>
          <a:p>
            <a:pPr algn="just">
              <a:buFont typeface="Wingdings" panose="05000000000000000000" pitchFamily="2" charset="2"/>
              <a:buChar char="Ø"/>
            </a:pPr>
            <a:endParaRPr lang="en-US" sz="3000" b="0" i="0" dirty="0">
              <a:solidFill>
                <a:schemeClr val="tx1"/>
              </a:solidFill>
              <a:effectLst/>
              <a:latin typeface="NewBaskerville-Roman"/>
            </a:endParaRPr>
          </a:p>
          <a:p>
            <a:pPr algn="just"/>
            <a:endParaRPr lang="en-US" sz="3000" b="0" i="0" dirty="0">
              <a:solidFill>
                <a:schemeClr val="tx1"/>
              </a:solidFill>
              <a:effectLst/>
              <a:latin typeface="NewBaskerville-Roman"/>
            </a:endParaRP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37</a:t>
            </a:fld>
            <a:endParaRPr lang="en-US">
              <a:solidFill>
                <a:srgbClr val="90C226"/>
              </a:solidFill>
            </a:endParaRPr>
          </a:p>
        </p:txBody>
      </p:sp>
    </p:spTree>
    <p:extLst>
      <p:ext uri="{BB962C8B-B14F-4D97-AF65-F5344CB8AC3E}">
        <p14:creationId xmlns:p14="http://schemas.microsoft.com/office/powerpoint/2010/main" val="29569956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38</a:t>
            </a:fld>
            <a:endParaRPr lang="en-US">
              <a:solidFill>
                <a:srgbClr val="90C226"/>
              </a:solidFill>
            </a:endParaRPr>
          </a:p>
        </p:txBody>
      </p:sp>
      <p:pic>
        <p:nvPicPr>
          <p:cNvPr id="6" name="Picture 5">
            <a:extLst>
              <a:ext uri="{FF2B5EF4-FFF2-40B4-BE49-F238E27FC236}">
                <a16:creationId xmlns:a16="http://schemas.microsoft.com/office/drawing/2014/main" id="{0585F2D9-40C3-4839-B8B6-BF152FF90D88}"/>
              </a:ext>
            </a:extLst>
          </p:cNvPr>
          <p:cNvPicPr>
            <a:picLocks noChangeAspect="1"/>
          </p:cNvPicPr>
          <p:nvPr/>
        </p:nvPicPr>
        <p:blipFill>
          <a:blip r:embed="rId2"/>
          <a:stretch>
            <a:fillRect/>
          </a:stretch>
        </p:blipFill>
        <p:spPr>
          <a:xfrm>
            <a:off x="630861" y="1863586"/>
            <a:ext cx="11066868" cy="3442773"/>
          </a:xfrm>
          <a:prstGeom prst="rect">
            <a:avLst/>
          </a:prstGeom>
        </p:spPr>
      </p:pic>
    </p:spTree>
    <p:extLst>
      <p:ext uri="{BB962C8B-B14F-4D97-AF65-F5344CB8AC3E}">
        <p14:creationId xmlns:p14="http://schemas.microsoft.com/office/powerpoint/2010/main" val="13233742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Resampling Versus Bootstrapping</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547817" y="1128583"/>
            <a:ext cx="8994535" cy="5165125"/>
          </a:xfrm>
        </p:spPr>
        <p:txBody>
          <a:bodyPr>
            <a:normAutofit/>
          </a:bodyPr>
          <a:lstStyle/>
          <a:p>
            <a:pPr algn="just">
              <a:buFont typeface="Wingdings" panose="05000000000000000000" pitchFamily="2" charset="2"/>
              <a:buChar char="Ø"/>
            </a:pPr>
            <a:r>
              <a:rPr lang="en-US" sz="3000" b="0" i="0" dirty="0">
                <a:solidFill>
                  <a:schemeClr val="tx1"/>
                </a:solidFill>
                <a:effectLst/>
                <a:latin typeface="Calibri" panose="020F0502020204030204" pitchFamily="34" charset="0"/>
                <a:cs typeface="Calibri" panose="020F0502020204030204" pitchFamily="34" charset="0"/>
              </a:rPr>
              <a:t>Sometimes the term </a:t>
            </a:r>
            <a:r>
              <a:rPr lang="en-US" sz="3000" b="1" i="0" dirty="0">
                <a:solidFill>
                  <a:schemeClr val="tx1"/>
                </a:solidFill>
                <a:effectLst/>
                <a:latin typeface="Calibri" panose="020F0502020204030204" pitchFamily="34" charset="0"/>
                <a:cs typeface="Calibri" panose="020F0502020204030204" pitchFamily="34" charset="0"/>
              </a:rPr>
              <a:t>resampling</a:t>
            </a:r>
            <a:r>
              <a:rPr lang="en-US" sz="3000" b="0" i="0" dirty="0">
                <a:solidFill>
                  <a:schemeClr val="tx1"/>
                </a:solidFill>
                <a:effectLst/>
                <a:latin typeface="Calibri" panose="020F0502020204030204" pitchFamily="34" charset="0"/>
                <a:cs typeface="Calibri" panose="020F0502020204030204" pitchFamily="34" charset="0"/>
              </a:rPr>
              <a:t> is used synonymously with the term </a:t>
            </a:r>
            <a:r>
              <a:rPr lang="en-US" sz="3000" b="1" i="0" dirty="0">
                <a:solidFill>
                  <a:schemeClr val="tx1"/>
                </a:solidFill>
                <a:effectLst/>
                <a:latin typeface="Calibri" panose="020F0502020204030204" pitchFamily="34" charset="0"/>
                <a:cs typeface="Calibri" panose="020F0502020204030204" pitchFamily="34" charset="0"/>
              </a:rPr>
              <a:t>bootstrapping</a:t>
            </a:r>
            <a:r>
              <a:rPr lang="en-US" sz="3000" b="0" i="0" dirty="0">
                <a:solidFill>
                  <a:schemeClr val="tx1"/>
                </a:solidFill>
                <a:effectLst/>
                <a:latin typeface="Calibri" panose="020F0502020204030204" pitchFamily="34" charset="0"/>
                <a:cs typeface="Calibri" panose="020F0502020204030204" pitchFamily="34" charset="0"/>
              </a:rPr>
              <a:t>. </a:t>
            </a:r>
          </a:p>
          <a:p>
            <a:pPr algn="just">
              <a:buFont typeface="Wingdings" panose="05000000000000000000" pitchFamily="2" charset="2"/>
              <a:buChar char="Ø"/>
            </a:pPr>
            <a:r>
              <a:rPr lang="en-US" sz="3000" b="0" i="0" dirty="0">
                <a:solidFill>
                  <a:schemeClr val="tx1"/>
                </a:solidFill>
                <a:effectLst/>
                <a:latin typeface="Calibri" panose="020F0502020204030204" pitchFamily="34" charset="0"/>
                <a:cs typeface="Calibri" panose="020F0502020204030204" pitchFamily="34" charset="0"/>
              </a:rPr>
              <a:t>More often, the term </a:t>
            </a:r>
            <a:r>
              <a:rPr lang="en-US" sz="3000" b="1" dirty="0">
                <a:solidFill>
                  <a:schemeClr val="tx1"/>
                </a:solidFill>
                <a:latin typeface="Calibri" panose="020F0502020204030204" pitchFamily="34" charset="0"/>
                <a:cs typeface="Calibri" panose="020F0502020204030204" pitchFamily="34" charset="0"/>
              </a:rPr>
              <a:t>resampling</a:t>
            </a:r>
            <a:r>
              <a:rPr lang="en-US" sz="3000" b="0" i="0" dirty="0">
                <a:solidFill>
                  <a:schemeClr val="tx1"/>
                </a:solidFill>
                <a:effectLst/>
                <a:latin typeface="Calibri" panose="020F0502020204030204" pitchFamily="34" charset="0"/>
                <a:cs typeface="Calibri" panose="020F0502020204030204" pitchFamily="34" charset="0"/>
              </a:rPr>
              <a:t> also includes permutation procedures where multiple samples are combined and the sampling may be done </a:t>
            </a:r>
            <a:r>
              <a:rPr lang="en-US" sz="3000" b="1" i="0" dirty="0">
                <a:solidFill>
                  <a:schemeClr val="tx1"/>
                </a:solidFill>
                <a:effectLst/>
                <a:latin typeface="Calibri" panose="020F0502020204030204" pitchFamily="34" charset="0"/>
                <a:cs typeface="Calibri" panose="020F0502020204030204" pitchFamily="34" charset="0"/>
              </a:rPr>
              <a:t>without replacement</a:t>
            </a:r>
            <a:r>
              <a:rPr lang="en-US" sz="3000" b="0" i="0" dirty="0">
                <a:solidFill>
                  <a:schemeClr val="tx1"/>
                </a:solidFill>
                <a:effectLst/>
                <a:latin typeface="Calibri" panose="020F0502020204030204" pitchFamily="34" charset="0"/>
                <a:cs typeface="Calibri" panose="020F0502020204030204" pitchFamily="34" charset="0"/>
              </a:rPr>
              <a:t>. </a:t>
            </a:r>
          </a:p>
          <a:p>
            <a:pPr algn="just">
              <a:buFont typeface="Wingdings" panose="05000000000000000000" pitchFamily="2" charset="2"/>
              <a:buChar char="Ø"/>
            </a:pPr>
            <a:r>
              <a:rPr lang="en-US" sz="3000" b="0" i="0" dirty="0">
                <a:solidFill>
                  <a:schemeClr val="tx1"/>
                </a:solidFill>
                <a:effectLst/>
                <a:latin typeface="Calibri" panose="020F0502020204030204" pitchFamily="34" charset="0"/>
                <a:cs typeface="Calibri" panose="020F0502020204030204" pitchFamily="34" charset="0"/>
              </a:rPr>
              <a:t>The term </a:t>
            </a:r>
            <a:r>
              <a:rPr lang="en-US" sz="3000" b="1" i="0" dirty="0">
                <a:solidFill>
                  <a:schemeClr val="tx1"/>
                </a:solidFill>
                <a:effectLst/>
                <a:latin typeface="Calibri" panose="020F0502020204030204" pitchFamily="34" charset="0"/>
                <a:cs typeface="Calibri" panose="020F0502020204030204" pitchFamily="34" charset="0"/>
              </a:rPr>
              <a:t>bootstrap</a:t>
            </a:r>
            <a:r>
              <a:rPr lang="en-US" sz="3000" b="0" i="0" dirty="0">
                <a:solidFill>
                  <a:schemeClr val="tx1"/>
                </a:solidFill>
                <a:effectLst/>
                <a:latin typeface="Calibri" panose="020F0502020204030204" pitchFamily="34" charset="0"/>
                <a:cs typeface="Calibri" panose="020F0502020204030204" pitchFamily="34" charset="0"/>
              </a:rPr>
              <a:t> always implies sampling </a:t>
            </a:r>
            <a:r>
              <a:rPr lang="en-US" sz="3000" b="1" i="0" dirty="0">
                <a:solidFill>
                  <a:schemeClr val="tx1"/>
                </a:solidFill>
                <a:effectLst/>
                <a:latin typeface="Calibri" panose="020F0502020204030204" pitchFamily="34" charset="0"/>
                <a:cs typeface="Calibri" panose="020F0502020204030204" pitchFamily="34" charset="0"/>
              </a:rPr>
              <a:t>with replacement</a:t>
            </a:r>
            <a:r>
              <a:rPr lang="en-US" sz="3000" b="0" i="0" dirty="0">
                <a:solidFill>
                  <a:schemeClr val="tx1"/>
                </a:solidFill>
                <a:effectLst/>
                <a:latin typeface="Calibri" panose="020F0502020204030204" pitchFamily="34" charset="0"/>
                <a:cs typeface="Calibri" panose="020F0502020204030204" pitchFamily="34" charset="0"/>
              </a:rPr>
              <a:t> from an observed data set.</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39</a:t>
            </a:fld>
            <a:endParaRPr lang="en-US">
              <a:solidFill>
                <a:srgbClr val="90C226"/>
              </a:solidFill>
            </a:endParaRPr>
          </a:p>
        </p:txBody>
      </p:sp>
    </p:spTree>
    <p:extLst>
      <p:ext uri="{BB962C8B-B14F-4D97-AF65-F5344CB8AC3E}">
        <p14:creationId xmlns:p14="http://schemas.microsoft.com/office/powerpoint/2010/main" val="354585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Confidence Intervals</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547817" y="1128582"/>
            <a:ext cx="9130337" cy="5643409"/>
          </a:xfrm>
        </p:spPr>
        <p:txBody>
          <a:bodyPr>
            <a:normAutofit fontScale="70000" lnSpcReduction="20000"/>
          </a:bodyPr>
          <a:lstStyle/>
          <a:p>
            <a:pPr algn="just">
              <a:buFont typeface="Wingdings" panose="05000000000000000000" pitchFamily="2" charset="2"/>
              <a:buChar char="Ø"/>
            </a:pPr>
            <a:r>
              <a:rPr lang="en-US" sz="3000" dirty="0">
                <a:solidFill>
                  <a:schemeClr val="tx1"/>
                </a:solidFill>
                <a:latin typeface="Calibri" panose="020F0502020204030204" pitchFamily="34" charset="0"/>
                <a:cs typeface="Calibri" panose="020F0502020204030204" pitchFamily="34" charset="0"/>
              </a:rPr>
              <a:t>A confidence interval shows the probability that a parameter will fall between a pair of values around the mean. Confidence intervals show the degree of uncertainty or certainty in a sampling method. </a:t>
            </a:r>
          </a:p>
          <a:p>
            <a:pPr algn="just">
              <a:buFont typeface="Wingdings" panose="05000000000000000000" pitchFamily="2" charset="2"/>
              <a:buChar char="Ø"/>
            </a:pPr>
            <a:r>
              <a:rPr lang="en-US" sz="3000" b="0" i="0" dirty="0">
                <a:solidFill>
                  <a:schemeClr val="tx1"/>
                </a:solidFill>
                <a:effectLst/>
                <a:latin typeface="Calibri" panose="020F0502020204030204" pitchFamily="34" charset="0"/>
                <a:cs typeface="Calibri" panose="020F0502020204030204" pitchFamily="34" charset="0"/>
              </a:rPr>
              <a:t>Confidence intervals always come with a coverage level, expressed as a (high) percentage, say 90% or 95%. </a:t>
            </a:r>
          </a:p>
          <a:p>
            <a:pPr algn="just">
              <a:buFont typeface="Wingdings" panose="05000000000000000000" pitchFamily="2" charset="2"/>
              <a:buChar char="Ø"/>
            </a:pPr>
            <a:r>
              <a:rPr lang="en-US" sz="3000" b="0" i="0" dirty="0">
                <a:solidFill>
                  <a:schemeClr val="tx1"/>
                </a:solidFill>
                <a:effectLst/>
                <a:latin typeface="Calibri" panose="020F0502020204030204" pitchFamily="34" charset="0"/>
                <a:cs typeface="Calibri" panose="020F0502020204030204" pitchFamily="34" charset="0"/>
              </a:rPr>
              <a:t>One way to think of a 90% confidence interval is as follows:</a:t>
            </a:r>
          </a:p>
          <a:p>
            <a:pPr lvl="1" algn="just">
              <a:buFont typeface="Wingdings" panose="05000000000000000000" pitchFamily="2" charset="2"/>
              <a:buChar char="Ø"/>
            </a:pPr>
            <a:r>
              <a:rPr lang="en-US" sz="2800" b="0" i="0" dirty="0">
                <a:solidFill>
                  <a:schemeClr val="tx1"/>
                </a:solidFill>
                <a:effectLst/>
                <a:latin typeface="Calibri" panose="020F0502020204030204" pitchFamily="34" charset="0"/>
                <a:cs typeface="Calibri" panose="020F0502020204030204" pitchFamily="34" charset="0"/>
              </a:rPr>
              <a:t>it is the interval that encloses the central 90% of the bootstrap sampling distribution </a:t>
            </a:r>
            <a:r>
              <a:rPr lang="en-US" sz="3000" b="0" i="0" dirty="0">
                <a:solidFill>
                  <a:schemeClr val="tx1"/>
                </a:solidFill>
                <a:effectLst/>
                <a:latin typeface="Calibri" panose="020F0502020204030204" pitchFamily="34" charset="0"/>
                <a:cs typeface="Calibri" panose="020F0502020204030204" pitchFamily="34" charset="0"/>
              </a:rPr>
              <a:t>of a sample statistic</a:t>
            </a:r>
          </a:p>
          <a:p>
            <a:pPr algn="just">
              <a:buFont typeface="Wingdings" panose="05000000000000000000" pitchFamily="2" charset="2"/>
              <a:buChar char="Ø"/>
            </a:pPr>
            <a:r>
              <a:rPr lang="en-US" sz="3200" b="0" i="0" dirty="0">
                <a:solidFill>
                  <a:schemeClr val="tx1"/>
                </a:solidFill>
                <a:effectLst/>
                <a:latin typeface="Calibri" panose="020F0502020204030204" pitchFamily="34" charset="0"/>
                <a:cs typeface="Calibri" panose="020F0502020204030204" pitchFamily="34" charset="0"/>
              </a:rPr>
              <a:t>Given a sample of size n, and a sample statistic of interest, the algorithm for a boot‐strap confidence interval is as follows:</a:t>
            </a:r>
          </a:p>
          <a:p>
            <a:pPr lvl="1" algn="just">
              <a:buFont typeface="Wingdings" panose="05000000000000000000" pitchFamily="2" charset="2"/>
              <a:buChar char="Ø"/>
            </a:pPr>
            <a:r>
              <a:rPr lang="en-US" sz="3000" b="0" i="0" dirty="0">
                <a:solidFill>
                  <a:schemeClr val="tx1"/>
                </a:solidFill>
                <a:effectLst/>
                <a:latin typeface="Calibri" panose="020F0502020204030204" pitchFamily="34" charset="0"/>
                <a:cs typeface="Calibri" panose="020F0502020204030204" pitchFamily="34" charset="0"/>
              </a:rPr>
              <a:t>1. Draw a random sample of size n with replacement from the data (a resample).</a:t>
            </a:r>
          </a:p>
          <a:p>
            <a:pPr lvl="1" algn="just">
              <a:buFont typeface="Wingdings" panose="05000000000000000000" pitchFamily="2" charset="2"/>
              <a:buChar char="Ø"/>
            </a:pPr>
            <a:r>
              <a:rPr lang="en-US" sz="3000" b="0" i="0" dirty="0">
                <a:solidFill>
                  <a:schemeClr val="tx1"/>
                </a:solidFill>
                <a:effectLst/>
                <a:latin typeface="Calibri" panose="020F0502020204030204" pitchFamily="34" charset="0"/>
                <a:cs typeface="Calibri" panose="020F0502020204030204" pitchFamily="34" charset="0"/>
              </a:rPr>
              <a:t>2. Record the statistic of interest for the resample.</a:t>
            </a:r>
          </a:p>
          <a:p>
            <a:pPr lvl="1" algn="just">
              <a:buFont typeface="Wingdings" panose="05000000000000000000" pitchFamily="2" charset="2"/>
              <a:buChar char="Ø"/>
            </a:pPr>
            <a:r>
              <a:rPr lang="en-US" sz="3000" b="0" i="0" dirty="0">
                <a:solidFill>
                  <a:schemeClr val="tx1"/>
                </a:solidFill>
                <a:effectLst/>
                <a:latin typeface="Calibri" panose="020F0502020204030204" pitchFamily="34" charset="0"/>
                <a:cs typeface="Calibri" panose="020F0502020204030204" pitchFamily="34" charset="0"/>
              </a:rPr>
              <a:t>3. Repeat steps 1–2 many (R) times. Suppose R=10</a:t>
            </a:r>
          </a:p>
          <a:p>
            <a:pPr lvl="1" algn="just">
              <a:buFont typeface="Wingdings" panose="05000000000000000000" pitchFamily="2" charset="2"/>
              <a:buChar char="Ø"/>
            </a:pPr>
            <a:r>
              <a:rPr lang="en-US" sz="3000" b="0" i="0" dirty="0">
                <a:solidFill>
                  <a:schemeClr val="tx1"/>
                </a:solidFill>
                <a:effectLst/>
                <a:latin typeface="Calibri" panose="020F0502020204030204" pitchFamily="34" charset="0"/>
                <a:cs typeface="Calibri" panose="020F0502020204030204" pitchFamily="34" charset="0"/>
              </a:rPr>
              <a:t>4. For a x% confidence interval, trim [(100-x) / 2]% of the R resample results from either end of the distribution.</a:t>
            </a:r>
          </a:p>
          <a:p>
            <a:pPr lvl="1" algn="just">
              <a:buFont typeface="Wingdings" panose="05000000000000000000" pitchFamily="2" charset="2"/>
              <a:buChar char="Ø"/>
            </a:pPr>
            <a:r>
              <a:rPr lang="en-US" sz="3000" b="0" i="0" dirty="0">
                <a:solidFill>
                  <a:schemeClr val="tx1"/>
                </a:solidFill>
                <a:effectLst/>
                <a:latin typeface="Calibri" panose="020F0502020204030204" pitchFamily="34" charset="0"/>
                <a:cs typeface="Calibri" panose="020F0502020204030204" pitchFamily="34" charset="0"/>
              </a:rPr>
              <a:t>5. The trim points are the endpoints of an x% bootstrap confidence interval.</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40</a:t>
            </a:fld>
            <a:endParaRPr lang="en-US">
              <a:solidFill>
                <a:srgbClr val="90C226"/>
              </a:solidFill>
            </a:endParaRPr>
          </a:p>
        </p:txBody>
      </p:sp>
    </p:spTree>
    <p:extLst>
      <p:ext uri="{BB962C8B-B14F-4D97-AF65-F5344CB8AC3E}">
        <p14:creationId xmlns:p14="http://schemas.microsoft.com/office/powerpoint/2010/main" val="40874949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6A4FCB-9DD8-0333-7591-7A5FF47CB0AB}"/>
              </a:ext>
            </a:extLst>
          </p:cNvPr>
          <p:cNvSpPr>
            <a:spLocks noGrp="1"/>
          </p:cNvSpPr>
          <p:nvPr>
            <p:ph idx="1"/>
          </p:nvPr>
        </p:nvSpPr>
        <p:spPr/>
        <p:txBody>
          <a:bodyPr/>
          <a:lstStyle/>
          <a:p>
            <a:endParaRPr lang="en-GB" dirty="0"/>
          </a:p>
        </p:txBody>
      </p:sp>
      <p:sp>
        <p:nvSpPr>
          <p:cNvPr id="4" name="Slide Number Placeholder 3">
            <a:extLst>
              <a:ext uri="{FF2B5EF4-FFF2-40B4-BE49-F238E27FC236}">
                <a16:creationId xmlns:a16="http://schemas.microsoft.com/office/drawing/2014/main" id="{B5D74336-3BB7-53E4-E7A0-B156276EE934}"/>
              </a:ext>
            </a:extLst>
          </p:cNvPr>
          <p:cNvSpPr>
            <a:spLocks noGrp="1"/>
          </p:cNvSpPr>
          <p:nvPr>
            <p:ph type="sldNum" sz="quarter" idx="12"/>
          </p:nvPr>
        </p:nvSpPr>
        <p:spPr/>
        <p:txBody>
          <a:bodyPr/>
          <a:lstStyle/>
          <a:p>
            <a:fld id="{CC529A1F-6900-4D36-92AC-B7647C1D9DDB}" type="slidenum">
              <a:rPr lang="en-US" smtClean="0"/>
              <a:t>41</a:t>
            </a:fld>
            <a:endParaRPr lang="en-US"/>
          </a:p>
        </p:txBody>
      </p:sp>
      <p:pic>
        <p:nvPicPr>
          <p:cNvPr id="6" name="Picture 5">
            <a:extLst>
              <a:ext uri="{FF2B5EF4-FFF2-40B4-BE49-F238E27FC236}">
                <a16:creationId xmlns:a16="http://schemas.microsoft.com/office/drawing/2014/main" id="{65617CD7-906F-82CF-6CF4-E4F745C25CD4}"/>
              </a:ext>
            </a:extLst>
          </p:cNvPr>
          <p:cNvPicPr>
            <a:picLocks noChangeAspect="1"/>
          </p:cNvPicPr>
          <p:nvPr/>
        </p:nvPicPr>
        <p:blipFill>
          <a:blip r:embed="rId2"/>
          <a:srcRect t="23601" b="3908"/>
          <a:stretch>
            <a:fillRect/>
          </a:stretch>
        </p:blipFill>
        <p:spPr>
          <a:xfrm>
            <a:off x="26772" y="1069968"/>
            <a:ext cx="12192000" cy="4971394"/>
          </a:xfrm>
          <a:prstGeom prst="rect">
            <a:avLst/>
          </a:prstGeom>
        </p:spPr>
      </p:pic>
      <p:sp>
        <p:nvSpPr>
          <p:cNvPr id="7" name="Title 1">
            <a:extLst>
              <a:ext uri="{FF2B5EF4-FFF2-40B4-BE49-F238E27FC236}">
                <a16:creationId xmlns:a16="http://schemas.microsoft.com/office/drawing/2014/main" id="{4DD5B830-E0E2-B972-23B9-C11D74B0E938}"/>
              </a:ext>
            </a:extLst>
          </p:cNvPr>
          <p:cNvSpPr txBox="1">
            <a:spLocks/>
          </p:cNvSpPr>
          <p:nvPr/>
        </p:nvSpPr>
        <p:spPr>
          <a:xfrm>
            <a:off x="547816" y="272673"/>
            <a:ext cx="11149913" cy="757057"/>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Confidence Intervals</a:t>
            </a:r>
            <a:endParaRPr lang="en-US" dirty="0"/>
          </a:p>
        </p:txBody>
      </p:sp>
    </p:spTree>
    <p:extLst>
      <p:ext uri="{BB962C8B-B14F-4D97-AF65-F5344CB8AC3E}">
        <p14:creationId xmlns:p14="http://schemas.microsoft.com/office/powerpoint/2010/main" val="40900813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onfidence_Interval_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03741" y="3658352"/>
            <a:ext cx="5688259" cy="319964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Confidence Intervals</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547817" y="1029731"/>
            <a:ext cx="6209612" cy="5263978"/>
          </a:xfrm>
        </p:spPr>
        <p:txBody>
          <a:bodyPr>
            <a:normAutofit/>
          </a:bodyPr>
          <a:lstStyle/>
          <a:p>
            <a:pPr algn="just">
              <a:buFont typeface="Wingdings" panose="05000000000000000000" pitchFamily="2" charset="2"/>
              <a:buChar char="Ø"/>
            </a:pPr>
            <a:r>
              <a:rPr lang="en-US" sz="3000" b="0" i="0" dirty="0">
                <a:solidFill>
                  <a:schemeClr val="tx1"/>
                </a:solidFill>
                <a:effectLst/>
                <a:latin typeface="Calibri" panose="020F0502020204030204" pitchFamily="34" charset="0"/>
                <a:cs typeface="Calibri" panose="020F0502020204030204" pitchFamily="34" charset="0"/>
              </a:rPr>
              <a:t>Figure 2-9 shows a 90% confidence interval for the mean annual income of loan applicants, based on a sample of 20 for which the mean was $62,231.</a:t>
            </a:r>
          </a:p>
          <a:p>
            <a:pPr algn="just">
              <a:buFont typeface="Wingdings" panose="05000000000000000000" pitchFamily="2" charset="2"/>
              <a:buChar char="Ø"/>
            </a:pPr>
            <a:r>
              <a:rPr lang="en-US" sz="3000" dirty="0">
                <a:solidFill>
                  <a:schemeClr val="tx1"/>
                </a:solidFill>
                <a:latin typeface="Calibri" panose="020F0502020204030204" pitchFamily="34" charset="0"/>
                <a:cs typeface="Calibri" panose="020F0502020204030204" pitchFamily="34" charset="0"/>
              </a:rPr>
              <a:t>Additional reading </a:t>
            </a:r>
          </a:p>
          <a:p>
            <a:pPr lvl="1" algn="just"/>
            <a:r>
              <a:rPr lang="en-US" sz="2800" dirty="0">
                <a:solidFill>
                  <a:schemeClr val="tx1"/>
                </a:solidFill>
                <a:latin typeface="Calibri" panose="020F0502020204030204" pitchFamily="34" charset="0"/>
                <a:cs typeface="Calibri" panose="020F0502020204030204" pitchFamily="34" charset="0"/>
              </a:rPr>
              <a:t>(</a:t>
            </a:r>
            <a:r>
              <a:rPr lang="en-US" sz="2800" dirty="0">
                <a:solidFill>
                  <a:schemeClr val="tx1"/>
                </a:solidFill>
                <a:latin typeface="Calibri" panose="020F0502020204030204" pitchFamily="34" charset="0"/>
                <a:cs typeface="Calibri" panose="020F0502020204030204" pitchFamily="34" charset="0"/>
                <a:hlinkClick r:id="rId3"/>
              </a:rPr>
              <a:t>Link to CI description with example</a:t>
            </a:r>
            <a:r>
              <a:rPr lang="en-US" sz="2800" dirty="0">
                <a:solidFill>
                  <a:schemeClr val="tx1"/>
                </a:solidFill>
                <a:latin typeface="Calibri" panose="020F0502020204030204" pitchFamily="34" charset="0"/>
                <a:cs typeface="Calibri" panose="020F0502020204030204" pitchFamily="34" charset="0"/>
              </a:rPr>
              <a:t>)</a:t>
            </a:r>
            <a:endParaRPr lang="en-US" sz="2800" b="0" i="0" dirty="0">
              <a:solidFill>
                <a:schemeClr val="tx1"/>
              </a:solidFill>
              <a:effectLst/>
              <a:latin typeface="Calibri" panose="020F0502020204030204" pitchFamily="34" charset="0"/>
              <a:cs typeface="Calibri" panose="020F0502020204030204" pitchFamily="34" charset="0"/>
            </a:endParaRPr>
          </a:p>
          <a:p>
            <a:pPr algn="just"/>
            <a:endParaRPr lang="en-US" sz="3000" b="0" i="0" dirty="0">
              <a:solidFill>
                <a:schemeClr val="tx1"/>
              </a:solidFill>
              <a:effectLst/>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42</a:t>
            </a:fld>
            <a:endParaRPr lang="en-US">
              <a:solidFill>
                <a:srgbClr val="90C226"/>
              </a:solidFill>
            </a:endParaRPr>
          </a:p>
        </p:txBody>
      </p:sp>
      <p:pic>
        <p:nvPicPr>
          <p:cNvPr id="6" name="Picture 5">
            <a:extLst>
              <a:ext uri="{FF2B5EF4-FFF2-40B4-BE49-F238E27FC236}">
                <a16:creationId xmlns:a16="http://schemas.microsoft.com/office/drawing/2014/main" id="{BD1FC4F0-A361-4A05-977D-A9E1E7018911}"/>
              </a:ext>
            </a:extLst>
          </p:cNvPr>
          <p:cNvPicPr>
            <a:picLocks noChangeAspect="1"/>
          </p:cNvPicPr>
          <p:nvPr/>
        </p:nvPicPr>
        <p:blipFill>
          <a:blip r:embed="rId4"/>
          <a:stretch>
            <a:fillRect/>
          </a:stretch>
        </p:blipFill>
        <p:spPr>
          <a:xfrm>
            <a:off x="7248698" y="0"/>
            <a:ext cx="4940300" cy="3796298"/>
          </a:xfrm>
          <a:prstGeom prst="rect">
            <a:avLst/>
          </a:prstGeom>
          <a:ln>
            <a:solidFill>
              <a:schemeClr val="tx1"/>
            </a:solidFill>
          </a:ln>
        </p:spPr>
      </p:pic>
    </p:spTree>
    <p:extLst>
      <p:ext uri="{BB962C8B-B14F-4D97-AF65-F5344CB8AC3E}">
        <p14:creationId xmlns:p14="http://schemas.microsoft.com/office/powerpoint/2010/main" val="26666945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Confidence Intervals: Example</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43</a:t>
            </a:fld>
            <a:endParaRPr lang="en-US">
              <a:solidFill>
                <a:srgbClr val="90C226"/>
              </a:solidFill>
            </a:endParaRPr>
          </a:p>
        </p:txBody>
      </p:sp>
      <p:pic>
        <p:nvPicPr>
          <p:cNvPr id="6" name="Picture 5" descr="A math problem with numbers and symbols&#10;&#10;AI-generated content may be incorrect.">
            <a:extLst>
              <a:ext uri="{FF2B5EF4-FFF2-40B4-BE49-F238E27FC236}">
                <a16:creationId xmlns:a16="http://schemas.microsoft.com/office/drawing/2014/main" id="{BB7A463F-F6E9-9892-D423-E00F4FCB9D2E}"/>
              </a:ext>
            </a:extLst>
          </p:cNvPr>
          <p:cNvPicPr>
            <a:picLocks noChangeAspect="1"/>
          </p:cNvPicPr>
          <p:nvPr/>
        </p:nvPicPr>
        <p:blipFill>
          <a:blip r:embed="rId2">
            <a:extLst>
              <a:ext uri="{28A0092B-C50C-407E-A947-70E740481C1C}">
                <a14:useLocalDpi xmlns:a14="http://schemas.microsoft.com/office/drawing/2010/main" val="0"/>
              </a:ext>
            </a:extLst>
          </a:blip>
          <a:srcRect l="-594" t="775" r="594" b="10847"/>
          <a:stretch>
            <a:fillRect/>
          </a:stretch>
        </p:blipFill>
        <p:spPr>
          <a:xfrm>
            <a:off x="413423" y="1340972"/>
            <a:ext cx="9623970" cy="3259603"/>
          </a:xfrm>
          <a:prstGeom prst="rect">
            <a:avLst/>
          </a:prstGeom>
        </p:spPr>
      </p:pic>
    </p:spTree>
    <p:extLst>
      <p:ext uri="{BB962C8B-B14F-4D97-AF65-F5344CB8AC3E}">
        <p14:creationId xmlns:p14="http://schemas.microsoft.com/office/powerpoint/2010/main" val="15414003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7D640-B627-851D-C4D7-33A11159E8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DF0CF4-949F-8E78-2A12-01C8AABC4E0E}"/>
              </a:ext>
            </a:extLst>
          </p:cNvPr>
          <p:cNvSpPr>
            <a:spLocks noGrp="1"/>
          </p:cNvSpPr>
          <p:nvPr>
            <p:ph type="title"/>
          </p:nvPr>
        </p:nvSpPr>
        <p:spPr>
          <a:xfrm>
            <a:off x="547816" y="272673"/>
            <a:ext cx="11149913" cy="757057"/>
          </a:xfrm>
        </p:spPr>
        <p:txBody>
          <a:bodyPr>
            <a:normAutofit/>
          </a:bodyPr>
          <a:lstStyle/>
          <a:p>
            <a:r>
              <a:rPr lang="en-US" dirty="0"/>
              <a:t>Confidence Intervals (How to calculate CI)</a:t>
            </a:r>
          </a:p>
        </p:txBody>
      </p:sp>
      <p:sp>
        <p:nvSpPr>
          <p:cNvPr id="3" name="Content Placeholder 2">
            <a:extLst>
              <a:ext uri="{FF2B5EF4-FFF2-40B4-BE49-F238E27FC236}">
                <a16:creationId xmlns:a16="http://schemas.microsoft.com/office/drawing/2014/main" id="{A67B60A2-73E6-41CC-567A-288E97958B85}"/>
              </a:ext>
            </a:extLst>
          </p:cNvPr>
          <p:cNvSpPr>
            <a:spLocks noGrp="1"/>
          </p:cNvSpPr>
          <p:nvPr>
            <p:ph idx="1"/>
          </p:nvPr>
        </p:nvSpPr>
        <p:spPr>
          <a:xfrm>
            <a:off x="547816" y="1029731"/>
            <a:ext cx="9119885" cy="5720204"/>
          </a:xfrm>
        </p:spPr>
        <p:txBody>
          <a:bodyPr>
            <a:normAutofit fontScale="55000" lnSpcReduction="20000"/>
          </a:bodyPr>
          <a:lstStyle/>
          <a:p>
            <a:pPr algn="just"/>
            <a:r>
              <a:rPr lang="en-US" sz="3000" dirty="0">
                <a:solidFill>
                  <a:schemeClr val="tx1"/>
                </a:solidFill>
                <a:latin typeface="Calibri" panose="020F0502020204030204" pitchFamily="34" charset="0"/>
                <a:cs typeface="Calibri" panose="020F0502020204030204" pitchFamily="34" charset="0"/>
              </a:rPr>
              <a:t>Imagine a group of researchers are interested in determining whether or not the oranges grown on a particular farm are large enough to be sold to a prospective grocery chain.</a:t>
            </a:r>
          </a:p>
          <a:p>
            <a:pPr algn="just"/>
            <a:r>
              <a:rPr lang="en-US" sz="3000" dirty="0">
                <a:solidFill>
                  <a:schemeClr val="tx1"/>
                </a:solidFill>
                <a:latin typeface="Calibri" panose="020F0502020204030204" pitchFamily="34" charset="0"/>
                <a:cs typeface="Calibri" panose="020F0502020204030204" pitchFamily="34" charset="0"/>
              </a:rPr>
              <a:t>Step #1: Find the number of samples (n).</a:t>
            </a:r>
          </a:p>
          <a:p>
            <a:pPr lvl="1" algn="just"/>
            <a:r>
              <a:rPr lang="en-US" sz="2800" dirty="0">
                <a:solidFill>
                  <a:schemeClr val="tx1"/>
                </a:solidFill>
                <a:latin typeface="Calibri" panose="020F0502020204030204" pitchFamily="34" charset="0"/>
                <a:cs typeface="Calibri" panose="020F0502020204030204" pitchFamily="34" charset="0"/>
              </a:rPr>
              <a:t>The researchers randomly selected 46 oranges from trees on the farm. </a:t>
            </a:r>
          </a:p>
          <a:p>
            <a:pPr lvl="1" algn="just"/>
            <a:r>
              <a:rPr lang="en-US" sz="2800" dirty="0">
                <a:solidFill>
                  <a:schemeClr val="tx1"/>
                </a:solidFill>
                <a:latin typeface="Calibri" panose="020F0502020204030204" pitchFamily="34" charset="0"/>
                <a:cs typeface="Calibri" panose="020F0502020204030204" pitchFamily="34" charset="0"/>
              </a:rPr>
              <a:t>n = 46.</a:t>
            </a:r>
          </a:p>
          <a:p>
            <a:pPr algn="just"/>
            <a:r>
              <a:rPr lang="en-US" sz="3000" dirty="0">
                <a:solidFill>
                  <a:schemeClr val="tx1"/>
                </a:solidFill>
                <a:latin typeface="Calibri" panose="020F0502020204030204" pitchFamily="34" charset="0"/>
                <a:cs typeface="Calibri" panose="020F0502020204030204" pitchFamily="34" charset="0"/>
              </a:rPr>
              <a:t>Step #2: Calculate the mean (x) of the samples.</a:t>
            </a:r>
          </a:p>
          <a:p>
            <a:pPr lvl="1" algn="just"/>
            <a:r>
              <a:rPr lang="en-US" sz="2800" dirty="0">
                <a:solidFill>
                  <a:schemeClr val="tx1"/>
                </a:solidFill>
                <a:latin typeface="Calibri" panose="020F0502020204030204" pitchFamily="34" charset="0"/>
                <a:cs typeface="Calibri" panose="020F0502020204030204" pitchFamily="34" charset="0"/>
              </a:rPr>
              <a:t>Calculated mean weight of 86 grams from their sample.</a:t>
            </a:r>
          </a:p>
          <a:p>
            <a:pPr lvl="1" algn="just"/>
            <a:r>
              <a:rPr lang="en-US" sz="2800" dirty="0">
                <a:solidFill>
                  <a:schemeClr val="tx1"/>
                </a:solidFill>
                <a:latin typeface="Calibri" panose="020F0502020204030204" pitchFamily="34" charset="0"/>
                <a:cs typeface="Calibri" panose="020F0502020204030204" pitchFamily="34" charset="0"/>
              </a:rPr>
              <a:t>x = 86.</a:t>
            </a:r>
          </a:p>
          <a:p>
            <a:pPr algn="just"/>
            <a:r>
              <a:rPr lang="en-US" sz="3000" dirty="0">
                <a:solidFill>
                  <a:schemeClr val="tx1"/>
                </a:solidFill>
                <a:latin typeface="Calibri" panose="020F0502020204030204" pitchFamily="34" charset="0"/>
                <a:cs typeface="Calibri" panose="020F0502020204030204" pitchFamily="34" charset="0"/>
              </a:rPr>
              <a:t>Step #3: Calculate the standard deviation (s).</a:t>
            </a:r>
          </a:p>
          <a:p>
            <a:pPr lvl="1" algn="just"/>
            <a:r>
              <a:rPr lang="en-US" sz="2800" dirty="0">
                <a:solidFill>
                  <a:schemeClr val="tx1"/>
                </a:solidFill>
                <a:latin typeface="Calibri" panose="020F0502020204030204" pitchFamily="34" charset="0"/>
                <a:cs typeface="Calibri" panose="020F0502020204030204" pitchFamily="34" charset="0"/>
              </a:rPr>
              <a:t>It’s best to use the SD of the entire population, however, in many cases researchers will not have access to this information. If this is the case, the researchers should use the SD of the sample that they have established. </a:t>
            </a:r>
          </a:p>
          <a:p>
            <a:pPr lvl="1" algn="just"/>
            <a:r>
              <a:rPr lang="en-US" sz="2800" dirty="0">
                <a:solidFill>
                  <a:schemeClr val="tx1"/>
                </a:solidFill>
                <a:latin typeface="Calibri" panose="020F0502020204030204" pitchFamily="34" charset="0"/>
                <a:cs typeface="Calibri" panose="020F0502020204030204" pitchFamily="34" charset="0"/>
              </a:rPr>
              <a:t>For our example, receive a standard deviation of 6.2 grams.</a:t>
            </a:r>
          </a:p>
          <a:p>
            <a:pPr lvl="1" algn="just"/>
            <a:r>
              <a:rPr lang="en-US" sz="2800" dirty="0">
                <a:solidFill>
                  <a:schemeClr val="tx1"/>
                </a:solidFill>
                <a:latin typeface="Calibri" panose="020F0502020204030204" pitchFamily="34" charset="0"/>
                <a:cs typeface="Calibri" panose="020F0502020204030204" pitchFamily="34" charset="0"/>
              </a:rPr>
              <a:t>s = 6.2.</a:t>
            </a:r>
          </a:p>
          <a:p>
            <a:pPr algn="just"/>
            <a:r>
              <a:rPr lang="en-US" sz="3000" dirty="0">
                <a:solidFill>
                  <a:schemeClr val="tx1"/>
                </a:solidFill>
                <a:latin typeface="Calibri" panose="020F0502020204030204" pitchFamily="34" charset="0"/>
                <a:cs typeface="Calibri" panose="020F0502020204030204" pitchFamily="34" charset="0"/>
              </a:rPr>
              <a:t>Step #4: Decide the confidence interval that will be used.</a:t>
            </a:r>
          </a:p>
          <a:p>
            <a:pPr lvl="1" algn="just"/>
            <a:r>
              <a:rPr lang="en-US" sz="2800" dirty="0">
                <a:solidFill>
                  <a:schemeClr val="tx1"/>
                </a:solidFill>
                <a:latin typeface="Calibri" panose="020F0502020204030204" pitchFamily="34" charset="0"/>
                <a:cs typeface="Calibri" panose="020F0502020204030204" pitchFamily="34" charset="0"/>
              </a:rPr>
              <a:t>95 percent and 99 percent confidence intervals are the most common choices in typical market research studies. </a:t>
            </a:r>
          </a:p>
          <a:p>
            <a:pPr lvl="1" algn="just"/>
            <a:r>
              <a:rPr lang="en-US" sz="2800" dirty="0">
                <a:solidFill>
                  <a:schemeClr val="tx1"/>
                </a:solidFill>
                <a:latin typeface="Calibri" panose="020F0502020204030204" pitchFamily="34" charset="0"/>
                <a:cs typeface="Calibri" panose="020F0502020204030204" pitchFamily="34" charset="0"/>
              </a:rPr>
              <a:t>In our example, a confidence interval of 95 percent is used.</a:t>
            </a:r>
          </a:p>
        </p:txBody>
      </p:sp>
      <p:sp>
        <p:nvSpPr>
          <p:cNvPr id="5" name="Slide Number Placeholder 4">
            <a:extLst>
              <a:ext uri="{FF2B5EF4-FFF2-40B4-BE49-F238E27FC236}">
                <a16:creationId xmlns:a16="http://schemas.microsoft.com/office/drawing/2014/main" id="{ED0EA199-6EEB-E703-6153-FD1E02FC3105}"/>
              </a:ext>
            </a:extLst>
          </p:cNvPr>
          <p:cNvSpPr>
            <a:spLocks noGrp="1"/>
          </p:cNvSpPr>
          <p:nvPr>
            <p:ph type="sldNum" sz="quarter" idx="12"/>
          </p:nvPr>
        </p:nvSpPr>
        <p:spPr/>
        <p:txBody>
          <a:bodyPr/>
          <a:lstStyle/>
          <a:p>
            <a:fld id="{CC529A1F-6900-4D36-92AC-B7647C1D9DDB}" type="slidenum">
              <a:rPr lang="en-US" smtClean="0">
                <a:solidFill>
                  <a:srgbClr val="90C226"/>
                </a:solidFill>
              </a:rPr>
              <a:pPr/>
              <a:t>44</a:t>
            </a:fld>
            <a:endParaRPr lang="en-US">
              <a:solidFill>
                <a:srgbClr val="90C226"/>
              </a:solidFill>
            </a:endParaRPr>
          </a:p>
        </p:txBody>
      </p:sp>
    </p:spTree>
    <p:extLst>
      <p:ext uri="{BB962C8B-B14F-4D97-AF65-F5344CB8AC3E}">
        <p14:creationId xmlns:p14="http://schemas.microsoft.com/office/powerpoint/2010/main" val="210959246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Confidence Intervals (How to calculate CI)</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547816" y="1029731"/>
            <a:ext cx="9119885" cy="5628764"/>
          </a:xfrm>
        </p:spPr>
        <p:txBody>
          <a:bodyPr>
            <a:normAutofit fontScale="47500" lnSpcReduction="20000"/>
          </a:bodyPr>
          <a:lstStyle/>
          <a:p>
            <a:pPr algn="just"/>
            <a:r>
              <a:rPr lang="en-US" sz="3000" dirty="0">
                <a:solidFill>
                  <a:schemeClr val="tx1"/>
                </a:solidFill>
                <a:latin typeface="Calibri" panose="020F0502020204030204" pitchFamily="34" charset="0"/>
                <a:cs typeface="Calibri" panose="020F0502020204030204" pitchFamily="34" charset="0"/>
              </a:rPr>
              <a:t>Step #5: Find the Z value for the selected confidence interval.</a:t>
            </a:r>
          </a:p>
          <a:p>
            <a:pPr lvl="1" algn="just"/>
            <a:r>
              <a:rPr lang="en-US" sz="2800" dirty="0">
                <a:solidFill>
                  <a:schemeClr val="tx1"/>
                </a:solidFill>
                <a:latin typeface="Calibri" panose="020F0502020204030204" pitchFamily="34" charset="0"/>
                <a:cs typeface="Calibri" panose="020F0502020204030204" pitchFamily="34" charset="0"/>
              </a:rPr>
              <a:t>Utilize the following table to determine their </a:t>
            </a:r>
            <a:r>
              <a:rPr lang="en-US" sz="2800" b="1" dirty="0">
                <a:solidFill>
                  <a:schemeClr val="tx1"/>
                </a:solidFill>
                <a:latin typeface="Calibri" panose="020F0502020204030204" pitchFamily="34" charset="0"/>
                <a:cs typeface="Calibri" panose="020F0502020204030204" pitchFamily="34" charset="0"/>
              </a:rPr>
              <a:t>Z value</a:t>
            </a:r>
            <a:r>
              <a:rPr lang="en-US" sz="2800" dirty="0">
                <a:solidFill>
                  <a:schemeClr val="tx1"/>
                </a:solidFill>
                <a:latin typeface="Calibri" panose="020F0502020204030204" pitchFamily="34" charset="0"/>
                <a:cs typeface="Calibri" panose="020F0502020204030204" pitchFamily="34" charset="0"/>
              </a:rPr>
              <a:t>:</a:t>
            </a:r>
          </a:p>
          <a:p>
            <a:pPr lvl="1" algn="just"/>
            <a:r>
              <a:rPr lang="en-US" sz="2800" dirty="0">
                <a:solidFill>
                  <a:schemeClr val="tx1"/>
                </a:solidFill>
                <a:latin typeface="Calibri" panose="020F0502020204030204" pitchFamily="34" charset="0"/>
                <a:cs typeface="Calibri" panose="020F0502020204030204" pitchFamily="34" charset="0"/>
              </a:rPr>
              <a:t>Confidence Interval	Z</a:t>
            </a:r>
          </a:p>
          <a:p>
            <a:pPr lvl="2" algn="just"/>
            <a:r>
              <a:rPr lang="en-US" sz="2600" dirty="0">
                <a:solidFill>
                  <a:schemeClr val="tx1"/>
                </a:solidFill>
                <a:latin typeface="Calibri" panose="020F0502020204030204" pitchFamily="34" charset="0"/>
                <a:cs typeface="Calibri" panose="020F0502020204030204" pitchFamily="34" charset="0"/>
              </a:rPr>
              <a:t>80%	1.282</a:t>
            </a:r>
          </a:p>
          <a:p>
            <a:pPr lvl="2" algn="just"/>
            <a:r>
              <a:rPr lang="en-US" sz="2600" dirty="0">
                <a:solidFill>
                  <a:schemeClr val="tx1"/>
                </a:solidFill>
                <a:latin typeface="Calibri" panose="020F0502020204030204" pitchFamily="34" charset="0"/>
                <a:cs typeface="Calibri" panose="020F0502020204030204" pitchFamily="34" charset="0"/>
              </a:rPr>
              <a:t>85%	1.440</a:t>
            </a:r>
          </a:p>
          <a:p>
            <a:pPr lvl="2" algn="just"/>
            <a:r>
              <a:rPr lang="en-US" sz="2600" dirty="0">
                <a:solidFill>
                  <a:schemeClr val="tx1"/>
                </a:solidFill>
                <a:latin typeface="Calibri" panose="020F0502020204030204" pitchFamily="34" charset="0"/>
                <a:cs typeface="Calibri" panose="020F0502020204030204" pitchFamily="34" charset="0"/>
              </a:rPr>
              <a:t>90%	1.645</a:t>
            </a:r>
          </a:p>
          <a:p>
            <a:pPr lvl="2" algn="just"/>
            <a:r>
              <a:rPr lang="en-US" sz="2600" dirty="0">
                <a:solidFill>
                  <a:schemeClr val="tx1"/>
                </a:solidFill>
                <a:latin typeface="Calibri" panose="020F0502020204030204" pitchFamily="34" charset="0"/>
                <a:cs typeface="Calibri" panose="020F0502020204030204" pitchFamily="34" charset="0"/>
              </a:rPr>
              <a:t>95%	1.960</a:t>
            </a:r>
          </a:p>
          <a:p>
            <a:pPr lvl="2" algn="just"/>
            <a:r>
              <a:rPr lang="en-US" sz="2600" dirty="0">
                <a:solidFill>
                  <a:schemeClr val="tx1"/>
                </a:solidFill>
                <a:latin typeface="Calibri" panose="020F0502020204030204" pitchFamily="34" charset="0"/>
                <a:cs typeface="Calibri" panose="020F0502020204030204" pitchFamily="34" charset="0"/>
              </a:rPr>
              <a:t>99%	2.576</a:t>
            </a:r>
          </a:p>
          <a:p>
            <a:pPr lvl="2" algn="just"/>
            <a:r>
              <a:rPr lang="en-US" sz="2600" dirty="0">
                <a:solidFill>
                  <a:schemeClr val="tx1"/>
                </a:solidFill>
                <a:latin typeface="Calibri" panose="020F0502020204030204" pitchFamily="34" charset="0"/>
                <a:cs typeface="Calibri" panose="020F0502020204030204" pitchFamily="34" charset="0"/>
              </a:rPr>
              <a:t>99.5%	2.807</a:t>
            </a:r>
          </a:p>
          <a:p>
            <a:pPr lvl="2" algn="just"/>
            <a:r>
              <a:rPr lang="en-US" sz="2600" dirty="0">
                <a:solidFill>
                  <a:schemeClr val="tx1"/>
                </a:solidFill>
                <a:latin typeface="Calibri" panose="020F0502020204030204" pitchFamily="34" charset="0"/>
                <a:cs typeface="Calibri" panose="020F0502020204030204" pitchFamily="34" charset="0"/>
              </a:rPr>
              <a:t>99.9%	3.291</a:t>
            </a:r>
          </a:p>
          <a:p>
            <a:pPr lvl="1" algn="just"/>
            <a:r>
              <a:rPr lang="en-US" sz="2800" dirty="0">
                <a:solidFill>
                  <a:schemeClr val="tx1"/>
                </a:solidFill>
                <a:latin typeface="Calibri" panose="020F0502020204030204" pitchFamily="34" charset="0"/>
                <a:cs typeface="Calibri" panose="020F0502020204030204" pitchFamily="34" charset="0"/>
              </a:rPr>
              <a:t>For 95 percent confidence interval, Z = 1.960. </a:t>
            </a:r>
          </a:p>
          <a:p>
            <a:pPr algn="just"/>
            <a:r>
              <a:rPr lang="en-US" sz="3000" dirty="0">
                <a:solidFill>
                  <a:schemeClr val="tx1"/>
                </a:solidFill>
                <a:latin typeface="Calibri" panose="020F0502020204030204" pitchFamily="34" charset="0"/>
                <a:cs typeface="Calibri" panose="020F0502020204030204" pitchFamily="34" charset="0"/>
              </a:rPr>
              <a:t>Step #6: Calculate the following formula.</a:t>
            </a:r>
          </a:p>
          <a:p>
            <a:pPr lvl="1" algn="just"/>
            <a:r>
              <a:rPr lang="en-US" sz="2800" dirty="0">
                <a:solidFill>
                  <a:schemeClr val="tx1"/>
                </a:solidFill>
                <a:latin typeface="Calibri" panose="020F0502020204030204" pitchFamily="34" charset="0"/>
                <a:cs typeface="Calibri" panose="020F0502020204030204" pitchFamily="34" charset="0"/>
              </a:rPr>
              <a:t>Next, plug their known values into the formula.</a:t>
            </a:r>
          </a:p>
          <a:p>
            <a:pPr lvl="1" algn="just"/>
            <a:r>
              <a:rPr lang="en-US" sz="2800" dirty="0">
                <a:solidFill>
                  <a:schemeClr val="tx1"/>
                </a:solidFill>
                <a:latin typeface="Calibri" panose="020F0502020204030204" pitchFamily="34" charset="0"/>
                <a:cs typeface="Calibri" panose="020F0502020204030204" pitchFamily="34" charset="0"/>
              </a:rPr>
              <a:t>Continuing with our example, this formula would appear as follows:</a:t>
            </a:r>
          </a:p>
          <a:p>
            <a:pPr lvl="1" algn="just"/>
            <a:r>
              <a:rPr lang="en-US" sz="2800" dirty="0">
                <a:solidFill>
                  <a:schemeClr val="tx1"/>
                </a:solidFill>
                <a:latin typeface="Calibri" panose="020F0502020204030204" pitchFamily="34" charset="0"/>
                <a:cs typeface="Calibri" panose="020F0502020204030204" pitchFamily="34" charset="0"/>
              </a:rPr>
              <a:t>86 ± 1.960 (6.2/6.782)</a:t>
            </a:r>
          </a:p>
          <a:p>
            <a:pPr lvl="1" algn="just"/>
            <a:r>
              <a:rPr lang="en-US" sz="2800" dirty="0">
                <a:solidFill>
                  <a:schemeClr val="tx1"/>
                </a:solidFill>
                <a:latin typeface="Calibri" panose="020F0502020204030204" pitchFamily="34" charset="0"/>
                <a:cs typeface="Calibri" panose="020F0502020204030204" pitchFamily="34" charset="0"/>
              </a:rPr>
              <a:t>When calculated, this formula gives the researchers the result of 86 ± 1.79 as their confidence interval.</a:t>
            </a:r>
          </a:p>
          <a:p>
            <a:pPr algn="just"/>
            <a:r>
              <a:rPr lang="en-US" sz="3000" dirty="0">
                <a:solidFill>
                  <a:schemeClr val="tx1"/>
                </a:solidFill>
                <a:latin typeface="Calibri" panose="020F0502020204030204" pitchFamily="34" charset="0"/>
                <a:cs typeface="Calibri" panose="020F0502020204030204" pitchFamily="34" charset="0"/>
              </a:rPr>
              <a:t>Step #7: Draw a conclusion.</a:t>
            </a:r>
          </a:p>
          <a:p>
            <a:pPr lvl="1" algn="just"/>
            <a:r>
              <a:rPr lang="en-US" sz="2800" dirty="0">
                <a:solidFill>
                  <a:schemeClr val="tx1"/>
                </a:solidFill>
                <a:latin typeface="Calibri" panose="020F0502020204030204" pitchFamily="34" charset="0"/>
                <a:cs typeface="Calibri" panose="020F0502020204030204" pitchFamily="34" charset="0"/>
              </a:rPr>
              <a:t>The researchers have now determined that the true mean of the greater population of oranges is likely (with 95 percent confidence) between 84.21 grams and 87.79 grams.</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45</a:t>
            </a:fld>
            <a:endParaRPr lang="en-US">
              <a:solidFill>
                <a:srgbClr val="90C226"/>
              </a:solidFill>
            </a:endParaRPr>
          </a:p>
        </p:txBody>
      </p:sp>
    </p:spTree>
    <p:extLst>
      <p:ext uri="{BB962C8B-B14F-4D97-AF65-F5344CB8AC3E}">
        <p14:creationId xmlns:p14="http://schemas.microsoft.com/office/powerpoint/2010/main" val="9917961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Confidence Intervals</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solidFill>
                  <a:srgbClr val="90C226"/>
                </a:solidFill>
              </a:rPr>
              <a:pPr/>
              <a:t>46</a:t>
            </a:fld>
            <a:endParaRPr lang="en-US">
              <a:solidFill>
                <a:srgbClr val="90C226"/>
              </a:solidFill>
            </a:endParaRPr>
          </a:p>
        </p:txBody>
      </p:sp>
      <p:pic>
        <p:nvPicPr>
          <p:cNvPr id="6" name="Picture 5">
            <a:extLst>
              <a:ext uri="{FF2B5EF4-FFF2-40B4-BE49-F238E27FC236}">
                <a16:creationId xmlns:a16="http://schemas.microsoft.com/office/drawing/2014/main" id="{7465CCD4-AD87-45FE-9CB7-96F4E0E4A020}"/>
              </a:ext>
            </a:extLst>
          </p:cNvPr>
          <p:cNvPicPr>
            <a:picLocks noChangeAspect="1"/>
          </p:cNvPicPr>
          <p:nvPr/>
        </p:nvPicPr>
        <p:blipFill>
          <a:blip r:embed="rId2"/>
          <a:stretch>
            <a:fillRect/>
          </a:stretch>
        </p:blipFill>
        <p:spPr>
          <a:xfrm>
            <a:off x="1173762" y="1128583"/>
            <a:ext cx="9267825" cy="2914650"/>
          </a:xfrm>
          <a:prstGeom prst="rect">
            <a:avLst/>
          </a:prstGeom>
        </p:spPr>
      </p:pic>
    </p:spTree>
    <p:extLst>
      <p:ext uri="{BB962C8B-B14F-4D97-AF65-F5344CB8AC3E}">
        <p14:creationId xmlns:p14="http://schemas.microsoft.com/office/powerpoint/2010/main" val="39842909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Normal Distribution</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547817" y="1128583"/>
            <a:ext cx="5976551" cy="5165125"/>
          </a:xfrm>
        </p:spPr>
        <p:txBody>
          <a:bodyPr>
            <a:normAutofit fontScale="77500" lnSpcReduction="20000"/>
          </a:bodyPr>
          <a:lstStyle/>
          <a:p>
            <a:pPr algn="just">
              <a:buFont typeface="Wingdings" panose="05000000000000000000" pitchFamily="2" charset="2"/>
              <a:buChar char="Ø"/>
            </a:pPr>
            <a:r>
              <a:rPr lang="en-US" sz="3000" b="0" i="0" dirty="0">
                <a:solidFill>
                  <a:schemeClr val="tx1"/>
                </a:solidFill>
                <a:effectLst/>
                <a:latin typeface="NewBaskerville-Roman"/>
              </a:rPr>
              <a:t>The </a:t>
            </a:r>
            <a:r>
              <a:rPr lang="en-US" sz="3000" b="1" i="0" dirty="0">
                <a:solidFill>
                  <a:schemeClr val="tx1"/>
                </a:solidFill>
                <a:effectLst/>
                <a:latin typeface="NewBaskerville-Roman"/>
              </a:rPr>
              <a:t>bell-shaped, normal distribution </a:t>
            </a:r>
            <a:r>
              <a:rPr lang="en-US" sz="3000" b="0" i="0" dirty="0">
                <a:solidFill>
                  <a:schemeClr val="tx1"/>
                </a:solidFill>
                <a:effectLst/>
                <a:latin typeface="NewBaskerville-Roman"/>
              </a:rPr>
              <a:t>is an iconic in traditional statistics.</a:t>
            </a:r>
          </a:p>
          <a:p>
            <a:pPr algn="just">
              <a:buFont typeface="Wingdings" panose="05000000000000000000" pitchFamily="2" charset="2"/>
              <a:buChar char="Ø"/>
            </a:pPr>
            <a:r>
              <a:rPr lang="en-US" sz="3000" b="0" i="0" dirty="0">
                <a:solidFill>
                  <a:schemeClr val="tx1"/>
                </a:solidFill>
                <a:effectLst/>
                <a:latin typeface="NewBaskerville-Roman"/>
              </a:rPr>
              <a:t>The fact that distributions of sample statistics are </a:t>
            </a:r>
            <a:r>
              <a:rPr lang="en-US" sz="3000" b="1" i="0" dirty="0">
                <a:solidFill>
                  <a:schemeClr val="tx1"/>
                </a:solidFill>
                <a:effectLst/>
                <a:latin typeface="NewBaskerville-Roman"/>
              </a:rPr>
              <a:t>often normally shaped</a:t>
            </a:r>
            <a:r>
              <a:rPr lang="en-US" sz="3000" b="0" i="0" dirty="0">
                <a:solidFill>
                  <a:schemeClr val="tx1"/>
                </a:solidFill>
                <a:effectLst/>
                <a:latin typeface="NewBaskerville-Roman"/>
              </a:rPr>
              <a:t> has made it a powerful tool in the development of mathematical formulas that approximate those distributions.</a:t>
            </a:r>
          </a:p>
          <a:p>
            <a:pPr algn="just">
              <a:buFont typeface="Wingdings" panose="05000000000000000000" pitchFamily="2" charset="2"/>
              <a:buChar char="Ø"/>
            </a:pPr>
            <a:r>
              <a:rPr lang="en-US" sz="3000" b="0" i="0" dirty="0">
                <a:solidFill>
                  <a:schemeClr val="tx1"/>
                </a:solidFill>
                <a:effectLst/>
                <a:latin typeface="NewBaskerville-Roman"/>
              </a:rPr>
              <a:t>In a normal distribution, </a:t>
            </a:r>
          </a:p>
          <a:p>
            <a:pPr lvl="1" algn="just">
              <a:buFont typeface="Wingdings" panose="05000000000000000000" pitchFamily="2" charset="2"/>
              <a:buChar char="Ø"/>
            </a:pPr>
            <a:r>
              <a:rPr lang="en-US" sz="2800" b="1" i="0" dirty="0">
                <a:solidFill>
                  <a:schemeClr val="tx1"/>
                </a:solidFill>
                <a:effectLst/>
                <a:latin typeface="NewBaskerville-Roman"/>
              </a:rPr>
              <a:t>68%</a:t>
            </a:r>
            <a:r>
              <a:rPr lang="en-US" sz="2800" b="0" i="0" dirty="0">
                <a:solidFill>
                  <a:schemeClr val="tx1"/>
                </a:solidFill>
                <a:effectLst/>
                <a:latin typeface="NewBaskerville-Roman"/>
              </a:rPr>
              <a:t> of the data lies </a:t>
            </a:r>
            <a:r>
              <a:rPr lang="en-US" sz="2800" b="1" i="0" dirty="0">
                <a:solidFill>
                  <a:schemeClr val="tx1"/>
                </a:solidFill>
                <a:effectLst/>
                <a:latin typeface="NewBaskerville-Roman"/>
              </a:rPr>
              <a:t>within one standard deviation of the mean</a:t>
            </a:r>
            <a:r>
              <a:rPr lang="en-US" sz="2800" b="0" i="0" dirty="0">
                <a:solidFill>
                  <a:schemeClr val="tx1"/>
                </a:solidFill>
                <a:effectLst/>
                <a:latin typeface="NewBaskerville-Roman"/>
              </a:rPr>
              <a:t>, and </a:t>
            </a:r>
          </a:p>
          <a:p>
            <a:pPr lvl="1" algn="just">
              <a:buFont typeface="Wingdings" panose="05000000000000000000" pitchFamily="2" charset="2"/>
              <a:buChar char="Ø"/>
            </a:pPr>
            <a:r>
              <a:rPr lang="en-US" sz="2800" b="1" i="0" dirty="0">
                <a:solidFill>
                  <a:schemeClr val="tx1"/>
                </a:solidFill>
                <a:effectLst/>
                <a:latin typeface="NewBaskerville-Roman"/>
              </a:rPr>
              <a:t>95%</a:t>
            </a:r>
            <a:r>
              <a:rPr lang="en-US" sz="2800" b="0" i="0" dirty="0">
                <a:solidFill>
                  <a:schemeClr val="tx1"/>
                </a:solidFill>
                <a:effectLst/>
                <a:latin typeface="NewBaskerville-Roman"/>
              </a:rPr>
              <a:t> lies </a:t>
            </a:r>
            <a:r>
              <a:rPr lang="en-US" sz="2800" b="1" i="0" dirty="0">
                <a:solidFill>
                  <a:schemeClr val="tx1"/>
                </a:solidFill>
                <a:effectLst/>
                <a:latin typeface="NewBaskerville-Roman"/>
              </a:rPr>
              <a:t>within two standard deviations</a:t>
            </a:r>
            <a:r>
              <a:rPr lang="en-US" sz="2800" b="0" i="0" dirty="0">
                <a:solidFill>
                  <a:schemeClr val="tx1"/>
                </a:solidFill>
                <a:effectLst/>
                <a:latin typeface="NewBaskerville-Roman"/>
              </a:rPr>
              <a:t>.</a:t>
            </a:r>
          </a:p>
          <a:p>
            <a:pPr algn="just">
              <a:buFont typeface="Wingdings" panose="05000000000000000000" pitchFamily="2" charset="2"/>
              <a:buChar char="Ø"/>
            </a:pPr>
            <a:r>
              <a:rPr lang="en-US" sz="3000" dirty="0">
                <a:solidFill>
                  <a:schemeClr val="tx1"/>
                </a:solidFill>
                <a:latin typeface="NewBaskerville-Roman"/>
              </a:rPr>
              <a:t>The normal distribution is also referred to as a </a:t>
            </a:r>
            <a:r>
              <a:rPr lang="en-US" sz="3000" b="1" dirty="0">
                <a:solidFill>
                  <a:schemeClr val="tx1"/>
                </a:solidFill>
                <a:latin typeface="NewBaskerville-Roman"/>
              </a:rPr>
              <a:t>Gaussian distribution</a:t>
            </a:r>
            <a:r>
              <a:rPr lang="en-US" sz="3000" dirty="0">
                <a:solidFill>
                  <a:schemeClr val="tx1"/>
                </a:solidFill>
                <a:latin typeface="NewBaskerville-Roman"/>
              </a:rPr>
              <a:t> after Carl Friedrich Gauss.</a:t>
            </a:r>
            <a:endParaRPr lang="en-US" sz="3000" b="0" i="0" dirty="0">
              <a:solidFill>
                <a:schemeClr val="tx1"/>
              </a:solidFill>
              <a:effectLst/>
              <a:latin typeface="NewBaskerville-Roman"/>
            </a:endParaRP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t>47</a:t>
            </a:fld>
            <a:endParaRPr lang="en-US"/>
          </a:p>
        </p:txBody>
      </p:sp>
      <p:pic>
        <p:nvPicPr>
          <p:cNvPr id="7" name="Picture 6">
            <a:extLst>
              <a:ext uri="{FF2B5EF4-FFF2-40B4-BE49-F238E27FC236}">
                <a16:creationId xmlns:a16="http://schemas.microsoft.com/office/drawing/2014/main" id="{3D7D4C27-0289-4620-A3B9-662ACABCA6FE}"/>
              </a:ext>
            </a:extLst>
          </p:cNvPr>
          <p:cNvPicPr>
            <a:picLocks noChangeAspect="1"/>
          </p:cNvPicPr>
          <p:nvPr/>
        </p:nvPicPr>
        <p:blipFill>
          <a:blip r:embed="rId2"/>
          <a:stretch>
            <a:fillRect/>
          </a:stretch>
        </p:blipFill>
        <p:spPr>
          <a:xfrm>
            <a:off x="6666356" y="1680519"/>
            <a:ext cx="5171530" cy="3859427"/>
          </a:xfrm>
          <a:prstGeom prst="rect">
            <a:avLst/>
          </a:prstGeom>
          <a:ln>
            <a:solidFill>
              <a:schemeClr val="tx1"/>
            </a:solidFill>
          </a:ln>
        </p:spPr>
      </p:pic>
    </p:spTree>
    <p:extLst>
      <p:ext uri="{BB962C8B-B14F-4D97-AF65-F5344CB8AC3E}">
        <p14:creationId xmlns:p14="http://schemas.microsoft.com/office/powerpoint/2010/main" val="36587391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Standard Normal Distribution</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547817" y="1128583"/>
            <a:ext cx="11232291" cy="5165125"/>
          </a:xfrm>
        </p:spPr>
        <p:txBody>
          <a:bodyPr>
            <a:normAutofit lnSpcReduction="10000"/>
          </a:bodyPr>
          <a:lstStyle/>
          <a:p>
            <a:pPr algn="just">
              <a:buFont typeface="Wingdings" panose="05000000000000000000" pitchFamily="2" charset="2"/>
              <a:buChar char="Ø"/>
            </a:pPr>
            <a:r>
              <a:rPr lang="en-US" sz="3000" b="0" i="0" dirty="0">
                <a:solidFill>
                  <a:schemeClr val="tx1"/>
                </a:solidFill>
                <a:effectLst/>
                <a:latin typeface="NewBaskerville-Roman"/>
              </a:rPr>
              <a:t>A standard normal distribution is one in which the units on the x-axis are expressed in terms of standard deviations away from the mean. </a:t>
            </a:r>
          </a:p>
          <a:p>
            <a:pPr algn="just">
              <a:buFont typeface="Wingdings" panose="05000000000000000000" pitchFamily="2" charset="2"/>
              <a:buChar char="Ø"/>
            </a:pPr>
            <a:r>
              <a:rPr lang="en-US" sz="3000" b="0" i="0" dirty="0">
                <a:solidFill>
                  <a:schemeClr val="tx1"/>
                </a:solidFill>
                <a:effectLst/>
                <a:latin typeface="NewBaskerville-Roman"/>
              </a:rPr>
              <a:t>To compare data to a standard normal distribution, you subtract the mean and then divide by the standard deviation; this is also called </a:t>
            </a:r>
            <a:r>
              <a:rPr lang="en-US" sz="3000" b="1" i="0" dirty="0">
                <a:solidFill>
                  <a:schemeClr val="tx1"/>
                </a:solidFill>
                <a:effectLst/>
                <a:latin typeface="NewBaskerville-Roman"/>
              </a:rPr>
              <a:t>normalization</a:t>
            </a:r>
            <a:r>
              <a:rPr lang="en-US" sz="3000" b="0" i="0" dirty="0">
                <a:solidFill>
                  <a:schemeClr val="tx1"/>
                </a:solidFill>
                <a:effectLst/>
                <a:latin typeface="NewBaskerville-Roman"/>
              </a:rPr>
              <a:t> or </a:t>
            </a:r>
            <a:r>
              <a:rPr lang="en-US" sz="3000" b="1" i="0" dirty="0">
                <a:solidFill>
                  <a:schemeClr val="tx1"/>
                </a:solidFill>
                <a:effectLst/>
                <a:latin typeface="NewBaskerville-Roman"/>
              </a:rPr>
              <a:t>standardization</a:t>
            </a:r>
            <a:r>
              <a:rPr lang="en-US" sz="3000" b="0" i="0" dirty="0">
                <a:solidFill>
                  <a:schemeClr val="tx1"/>
                </a:solidFill>
                <a:effectLst/>
                <a:latin typeface="NewBaskerville-Roman"/>
              </a:rPr>
              <a:t>.</a:t>
            </a:r>
          </a:p>
          <a:p>
            <a:pPr lvl="1" algn="just">
              <a:buFont typeface="Wingdings" panose="05000000000000000000" pitchFamily="2" charset="2"/>
              <a:buChar char="Ø"/>
            </a:pPr>
            <a:r>
              <a:rPr lang="en-US" sz="2800" dirty="0" err="1">
                <a:solidFill>
                  <a:schemeClr val="tx1"/>
                </a:solidFill>
                <a:latin typeface="NewBaskerville-Roman"/>
              </a:rPr>
              <a:t>E.g</a:t>
            </a:r>
            <a:r>
              <a:rPr lang="en-US" sz="2800" dirty="0">
                <a:solidFill>
                  <a:schemeClr val="tx1"/>
                </a:solidFill>
                <a:latin typeface="NewBaskerville-Roman"/>
              </a:rPr>
              <a:t> data is 5,10,15, its mean is 10</a:t>
            </a:r>
          </a:p>
          <a:p>
            <a:pPr lvl="1" algn="just">
              <a:buFont typeface="Wingdings" panose="05000000000000000000" pitchFamily="2" charset="2"/>
              <a:buChar char="Ø"/>
            </a:pPr>
            <a:r>
              <a:rPr lang="en-US" sz="2800" b="0" i="0" dirty="0">
                <a:solidFill>
                  <a:schemeClr val="tx1"/>
                </a:solidFill>
                <a:effectLst/>
                <a:latin typeface="NewBaskerville-Roman"/>
              </a:rPr>
              <a:t>Subtract mean: -5,0,5, its std dev is 5</a:t>
            </a:r>
          </a:p>
          <a:p>
            <a:pPr lvl="1" algn="just">
              <a:buFont typeface="Wingdings" panose="05000000000000000000" pitchFamily="2" charset="2"/>
              <a:buChar char="Ø"/>
            </a:pPr>
            <a:r>
              <a:rPr lang="en-US" sz="2800" b="0" i="0" dirty="0">
                <a:solidFill>
                  <a:schemeClr val="tx1"/>
                </a:solidFill>
                <a:effectLst/>
                <a:latin typeface="NewBaskerville-Roman"/>
              </a:rPr>
              <a:t>Divide by std Dev: -1,0,1</a:t>
            </a:r>
          </a:p>
          <a:p>
            <a:pPr algn="just">
              <a:buFont typeface="Wingdings" panose="05000000000000000000" pitchFamily="2" charset="2"/>
              <a:buChar char="Ø"/>
            </a:pPr>
            <a:r>
              <a:rPr lang="en-US" sz="3000" b="0" i="0" dirty="0">
                <a:solidFill>
                  <a:schemeClr val="tx1"/>
                </a:solidFill>
                <a:effectLst/>
                <a:latin typeface="NewBaskerville-Roman"/>
              </a:rPr>
              <a:t>The transformed value is termed a </a:t>
            </a:r>
            <a:r>
              <a:rPr lang="en-US" sz="3000" b="1" i="0" dirty="0">
                <a:solidFill>
                  <a:schemeClr val="tx1"/>
                </a:solidFill>
                <a:effectLst/>
                <a:latin typeface="NewBaskerville-Roman"/>
              </a:rPr>
              <a:t>z-score</a:t>
            </a:r>
            <a:r>
              <a:rPr lang="en-US" sz="3000" b="0" i="0" dirty="0">
                <a:solidFill>
                  <a:schemeClr val="tx1"/>
                </a:solidFill>
                <a:effectLst/>
                <a:latin typeface="NewBaskerville-Roman"/>
              </a:rPr>
              <a:t>, and the normal distribution is sometimes called the </a:t>
            </a:r>
            <a:r>
              <a:rPr lang="en-US" sz="3000" b="1" i="0" dirty="0">
                <a:solidFill>
                  <a:schemeClr val="tx1"/>
                </a:solidFill>
                <a:effectLst/>
                <a:latin typeface="NewBaskerville-Roman"/>
              </a:rPr>
              <a:t>z-distribution</a:t>
            </a:r>
            <a:r>
              <a:rPr lang="en-US" sz="3000" b="0" i="0" dirty="0">
                <a:solidFill>
                  <a:schemeClr val="tx1"/>
                </a:solidFill>
                <a:effectLst/>
                <a:latin typeface="NewBaskerville-Roman"/>
              </a:rPr>
              <a:t>.</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t>48</a:t>
            </a:fld>
            <a:endParaRPr lang="en-US"/>
          </a:p>
        </p:txBody>
      </p:sp>
      <p:pic>
        <p:nvPicPr>
          <p:cNvPr id="4" name="Picture 3"/>
          <p:cNvPicPr>
            <a:picLocks noChangeAspect="1"/>
          </p:cNvPicPr>
          <p:nvPr/>
        </p:nvPicPr>
        <p:blipFill>
          <a:blip r:embed="rId2"/>
          <a:stretch>
            <a:fillRect/>
          </a:stretch>
        </p:blipFill>
        <p:spPr>
          <a:xfrm>
            <a:off x="7746294" y="3886160"/>
            <a:ext cx="1688738" cy="914479"/>
          </a:xfrm>
          <a:prstGeom prst="rect">
            <a:avLst/>
          </a:prstGeom>
        </p:spPr>
      </p:pic>
    </p:spTree>
    <p:extLst>
      <p:ext uri="{BB962C8B-B14F-4D97-AF65-F5344CB8AC3E}">
        <p14:creationId xmlns:p14="http://schemas.microsoft.com/office/powerpoint/2010/main" val="5193063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Standard Normal Distribution (additional reading)</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547818" y="1128583"/>
            <a:ext cx="9111572" cy="2944653"/>
          </a:xfrm>
        </p:spPr>
        <p:txBody>
          <a:bodyPr>
            <a:normAutofit fontScale="62500" lnSpcReduction="20000"/>
          </a:bodyPr>
          <a:lstStyle/>
          <a:p>
            <a:pPr algn="just">
              <a:buFont typeface="Wingdings" panose="05000000000000000000" pitchFamily="2" charset="2"/>
              <a:buChar char="Ø"/>
            </a:pPr>
            <a:r>
              <a:rPr lang="en-US" sz="3000" dirty="0">
                <a:solidFill>
                  <a:schemeClr val="tx1"/>
                </a:solidFill>
                <a:latin typeface="NewBaskerville-Roman"/>
              </a:rPr>
              <a:t>Normally distributed data can be transformed into a standard normal distribution.</a:t>
            </a:r>
          </a:p>
          <a:p>
            <a:pPr algn="just">
              <a:buFont typeface="Wingdings" panose="05000000000000000000" pitchFamily="2" charset="2"/>
              <a:buChar char="Ø"/>
            </a:pPr>
            <a:r>
              <a:rPr lang="en-US" sz="3000" dirty="0">
                <a:solidFill>
                  <a:schemeClr val="tx1"/>
                </a:solidFill>
                <a:latin typeface="NewBaskerville-Roman"/>
              </a:rPr>
              <a:t>Standardizing normally distributed data makes it easier to compare different sets of data.</a:t>
            </a:r>
          </a:p>
          <a:p>
            <a:pPr algn="just">
              <a:buFont typeface="Wingdings" panose="05000000000000000000" pitchFamily="2" charset="2"/>
              <a:buChar char="Ø"/>
            </a:pPr>
            <a:r>
              <a:rPr lang="en-US" sz="3000" dirty="0">
                <a:solidFill>
                  <a:schemeClr val="tx1"/>
                </a:solidFill>
                <a:latin typeface="NewBaskerville-Roman"/>
              </a:rPr>
              <a:t>The standard normal distribution is used for:</a:t>
            </a:r>
          </a:p>
          <a:p>
            <a:pPr lvl="1" algn="just">
              <a:buFont typeface="Wingdings" panose="05000000000000000000" pitchFamily="2" charset="2"/>
              <a:buChar char="Ø"/>
            </a:pPr>
            <a:r>
              <a:rPr lang="en-US" sz="2800" dirty="0">
                <a:solidFill>
                  <a:schemeClr val="tx1"/>
                </a:solidFill>
                <a:latin typeface="NewBaskerville-Roman"/>
              </a:rPr>
              <a:t>Calculating confidence intervals</a:t>
            </a:r>
          </a:p>
          <a:p>
            <a:pPr lvl="1" algn="just">
              <a:buFont typeface="Wingdings" panose="05000000000000000000" pitchFamily="2" charset="2"/>
              <a:buChar char="Ø"/>
            </a:pPr>
            <a:r>
              <a:rPr lang="en-US" sz="2800" dirty="0">
                <a:solidFill>
                  <a:schemeClr val="tx1"/>
                </a:solidFill>
                <a:latin typeface="NewBaskerville-Roman"/>
              </a:rPr>
              <a:t>Hypothesis tests</a:t>
            </a:r>
          </a:p>
          <a:p>
            <a:pPr algn="just">
              <a:buFont typeface="Wingdings" panose="05000000000000000000" pitchFamily="2" charset="2"/>
              <a:buChar char="Ø"/>
            </a:pPr>
            <a:r>
              <a:rPr lang="en-US" sz="3000" dirty="0">
                <a:solidFill>
                  <a:schemeClr val="tx1"/>
                </a:solidFill>
                <a:latin typeface="NewBaskerville-Roman"/>
              </a:rPr>
              <a:t>Here is a graph of the standard normal distribution with probability values (p-values) between the standard deviations:</a:t>
            </a:r>
          </a:p>
          <a:p>
            <a:pPr algn="just">
              <a:buFont typeface="Wingdings" panose="05000000000000000000" pitchFamily="2" charset="2"/>
              <a:buChar char="Ø"/>
            </a:pPr>
            <a:endParaRPr lang="en-US" sz="3000" b="0" i="0" dirty="0">
              <a:solidFill>
                <a:schemeClr val="tx1"/>
              </a:solidFill>
              <a:effectLst/>
              <a:latin typeface="NewBaskerville-Roman"/>
            </a:endParaRPr>
          </a:p>
          <a:p>
            <a:pPr algn="just">
              <a:buFont typeface="Wingdings" panose="05000000000000000000" pitchFamily="2" charset="2"/>
              <a:buChar char="Ø"/>
            </a:pPr>
            <a:endParaRPr lang="en-US" sz="3000" dirty="0">
              <a:solidFill>
                <a:schemeClr val="tx1"/>
              </a:solidFill>
              <a:latin typeface="NewBaskerville-Roman"/>
            </a:endParaRPr>
          </a:p>
          <a:p>
            <a:pPr algn="just">
              <a:buFont typeface="Wingdings" panose="05000000000000000000" pitchFamily="2" charset="2"/>
              <a:buChar char="Ø"/>
            </a:pPr>
            <a:endParaRPr lang="en-US" sz="3000" b="0" i="0" dirty="0">
              <a:solidFill>
                <a:schemeClr val="tx1"/>
              </a:solidFill>
              <a:effectLst/>
              <a:latin typeface="NewBaskerville-Roman"/>
            </a:endParaRPr>
          </a:p>
          <a:p>
            <a:pPr algn="just">
              <a:buFont typeface="Wingdings" panose="05000000000000000000" pitchFamily="2" charset="2"/>
              <a:buChar char="Ø"/>
            </a:pPr>
            <a:endParaRPr lang="en-US" sz="3000" dirty="0">
              <a:solidFill>
                <a:schemeClr val="tx1"/>
              </a:solidFill>
              <a:latin typeface="NewBaskerville-Roman"/>
            </a:endParaRPr>
          </a:p>
          <a:p>
            <a:pPr algn="just">
              <a:buFont typeface="Wingdings" panose="05000000000000000000" pitchFamily="2" charset="2"/>
              <a:buChar char="Ø"/>
            </a:pPr>
            <a:endParaRPr lang="en-US" sz="3000" b="0" i="0" dirty="0">
              <a:solidFill>
                <a:schemeClr val="tx1"/>
              </a:solidFill>
              <a:effectLst/>
              <a:latin typeface="NewBaskerville-Roman"/>
            </a:endParaRP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t>49</a:t>
            </a:fld>
            <a:endParaRPr lang="en-US"/>
          </a:p>
        </p:txBody>
      </p:sp>
      <p:pic>
        <p:nvPicPr>
          <p:cNvPr id="4" name="Picture 3"/>
          <p:cNvPicPr>
            <a:picLocks noChangeAspect="1"/>
          </p:cNvPicPr>
          <p:nvPr/>
        </p:nvPicPr>
        <p:blipFill>
          <a:blip r:embed="rId2"/>
          <a:stretch>
            <a:fillRect/>
          </a:stretch>
        </p:blipFill>
        <p:spPr>
          <a:xfrm>
            <a:off x="2644314" y="3976688"/>
            <a:ext cx="5762624" cy="2881312"/>
          </a:xfrm>
          <a:prstGeom prst="rect">
            <a:avLst/>
          </a:prstGeom>
        </p:spPr>
      </p:pic>
    </p:spTree>
    <p:extLst>
      <p:ext uri="{BB962C8B-B14F-4D97-AF65-F5344CB8AC3E}">
        <p14:creationId xmlns:p14="http://schemas.microsoft.com/office/powerpoint/2010/main" val="2355903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QQ-Plots</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547817" y="1128583"/>
            <a:ext cx="9153135" cy="5165125"/>
          </a:xfrm>
        </p:spPr>
        <p:txBody>
          <a:bodyPr>
            <a:normAutofit fontScale="62500" lnSpcReduction="20000"/>
          </a:bodyPr>
          <a:lstStyle/>
          <a:p>
            <a:pPr algn="just">
              <a:buFont typeface="Wingdings" panose="05000000000000000000" pitchFamily="2" charset="2"/>
              <a:buChar char="Ø"/>
            </a:pPr>
            <a:r>
              <a:rPr lang="en-US" sz="3000" b="0" i="0" dirty="0">
                <a:solidFill>
                  <a:schemeClr val="tx1"/>
                </a:solidFill>
                <a:effectLst/>
                <a:latin typeface="NewBaskerville-Roman"/>
              </a:rPr>
              <a:t>A </a:t>
            </a:r>
            <a:r>
              <a:rPr lang="en-US" sz="3000" b="1" i="0" dirty="0">
                <a:solidFill>
                  <a:srgbClr val="00B0F0"/>
                </a:solidFill>
                <a:effectLst/>
                <a:latin typeface="NewBaskerville-Roman"/>
              </a:rPr>
              <a:t>QQ-Plot</a:t>
            </a:r>
            <a:r>
              <a:rPr lang="en-US" sz="3000" b="0" i="0" dirty="0">
                <a:solidFill>
                  <a:schemeClr val="tx1"/>
                </a:solidFill>
                <a:effectLst/>
                <a:latin typeface="NewBaskerville-Roman"/>
              </a:rPr>
              <a:t> is used to visually determine how close a sample is to a specified distribution, here it is, the normal distribution. </a:t>
            </a:r>
          </a:p>
          <a:p>
            <a:pPr algn="just">
              <a:buFont typeface="Wingdings" panose="05000000000000000000" pitchFamily="2" charset="2"/>
              <a:buChar char="Ø"/>
            </a:pPr>
            <a:r>
              <a:rPr lang="en-US" sz="3000" b="0" i="0" dirty="0">
                <a:solidFill>
                  <a:schemeClr val="tx1"/>
                </a:solidFill>
                <a:effectLst/>
                <a:latin typeface="NewBaskerville-Roman"/>
              </a:rPr>
              <a:t>The QQ-Plot orders the </a:t>
            </a:r>
            <a:r>
              <a:rPr lang="en-US" sz="3000" b="1" i="0" dirty="0">
                <a:solidFill>
                  <a:schemeClr val="tx1"/>
                </a:solidFill>
                <a:effectLst/>
                <a:latin typeface="NewBaskerville-Roman"/>
              </a:rPr>
              <a:t>z-scores</a:t>
            </a:r>
            <a:r>
              <a:rPr lang="en-US" sz="3000" b="0" i="0" dirty="0">
                <a:solidFill>
                  <a:schemeClr val="tx1"/>
                </a:solidFill>
                <a:effectLst/>
                <a:latin typeface="NewBaskerville-Roman"/>
              </a:rPr>
              <a:t> from low to high and plots each value’s z-score on the y-axis; </a:t>
            </a:r>
          </a:p>
          <a:p>
            <a:pPr lvl="1" algn="just">
              <a:buFont typeface="Wingdings" panose="05000000000000000000" pitchFamily="2" charset="2"/>
              <a:buChar char="Ø"/>
            </a:pPr>
            <a:r>
              <a:rPr lang="en-US" sz="2800" b="0" i="0" dirty="0">
                <a:solidFill>
                  <a:schemeClr val="tx1"/>
                </a:solidFill>
                <a:effectLst/>
                <a:latin typeface="NewBaskerville-Roman"/>
              </a:rPr>
              <a:t>the x-axis is the corresponding quantile of a normal distribution for that value’s rank. (</a:t>
            </a:r>
            <a:r>
              <a:rPr lang="en-US" sz="2800" b="0" i="0" dirty="0" err="1">
                <a:solidFill>
                  <a:schemeClr val="tx1"/>
                </a:solidFill>
                <a:effectLst/>
                <a:latin typeface="NewBaskerville-Roman"/>
              </a:rPr>
              <a:t>Quantiles</a:t>
            </a:r>
            <a:r>
              <a:rPr lang="en-US" sz="2800" b="0" i="0" dirty="0">
                <a:solidFill>
                  <a:schemeClr val="tx1"/>
                </a:solidFill>
                <a:effectLst/>
                <a:latin typeface="NewBaskerville-Roman"/>
              </a:rPr>
              <a:t> are lines that divide the data into equal sized groups and percentiles are just </a:t>
            </a:r>
            <a:r>
              <a:rPr lang="en-US" sz="2800" b="0" i="0" dirty="0" err="1">
                <a:solidFill>
                  <a:schemeClr val="tx1"/>
                </a:solidFill>
                <a:effectLst/>
                <a:latin typeface="NewBaskerville-Roman"/>
              </a:rPr>
              <a:t>quantiles</a:t>
            </a:r>
            <a:r>
              <a:rPr lang="en-US" sz="2800" b="0" i="0" dirty="0">
                <a:solidFill>
                  <a:schemeClr val="tx1"/>
                </a:solidFill>
                <a:effectLst/>
                <a:latin typeface="NewBaskerville-Roman"/>
              </a:rPr>
              <a:t> that divides up the data into 100 equally sized groups)</a:t>
            </a:r>
          </a:p>
          <a:p>
            <a:pPr algn="just">
              <a:buFont typeface="Wingdings" panose="05000000000000000000" pitchFamily="2" charset="2"/>
              <a:buChar char="Ø"/>
            </a:pPr>
            <a:r>
              <a:rPr lang="en-US" sz="3000" b="0" i="0" dirty="0">
                <a:solidFill>
                  <a:schemeClr val="tx1"/>
                </a:solidFill>
                <a:effectLst/>
                <a:latin typeface="NewBaskerville-Roman"/>
              </a:rPr>
              <a:t>Since the data is normalized, </a:t>
            </a:r>
            <a:r>
              <a:rPr lang="en-US" sz="3200" b="0" i="0" dirty="0">
                <a:solidFill>
                  <a:schemeClr val="tx1"/>
                </a:solidFill>
                <a:effectLst/>
                <a:latin typeface="NewBaskerville-Roman"/>
              </a:rPr>
              <a:t>the units correspond to the number of standard deviations away from the mean. </a:t>
            </a:r>
          </a:p>
          <a:p>
            <a:pPr algn="just">
              <a:buFont typeface="Wingdings" panose="05000000000000000000" pitchFamily="2" charset="2"/>
              <a:buChar char="Ø"/>
            </a:pPr>
            <a:r>
              <a:rPr lang="en-US" sz="3200" b="0" i="0" dirty="0">
                <a:solidFill>
                  <a:schemeClr val="tx1"/>
                </a:solidFill>
                <a:effectLst/>
                <a:latin typeface="NewBaskerville-Roman"/>
              </a:rPr>
              <a:t>If </a:t>
            </a:r>
            <a:r>
              <a:rPr lang="en-US" sz="3000" b="0" i="0" dirty="0">
                <a:solidFill>
                  <a:schemeClr val="tx1"/>
                </a:solidFill>
                <a:effectLst/>
                <a:latin typeface="NewBaskerville-Roman"/>
              </a:rPr>
              <a:t>the points roughly fall on the diagonal line, then the sample distribution can be considered close to normal. </a:t>
            </a:r>
          </a:p>
          <a:p>
            <a:pPr algn="just">
              <a:buFont typeface="Wingdings" panose="05000000000000000000" pitchFamily="2" charset="2"/>
              <a:buChar char="Ø"/>
            </a:pPr>
            <a:r>
              <a:rPr lang="en-US" sz="3000" b="0" i="0" dirty="0">
                <a:solidFill>
                  <a:schemeClr val="tx1"/>
                </a:solidFill>
                <a:effectLst/>
                <a:latin typeface="NewBaskerville-Roman"/>
              </a:rPr>
              <a:t>Figure shows a QQ-Plot for a sample of 100 values randomly generated from a normal distribution; as expected, the points closely follow the line.</a:t>
            </a:r>
          </a:p>
          <a:p>
            <a:pPr algn="just">
              <a:buFont typeface="Wingdings" panose="05000000000000000000" pitchFamily="2" charset="2"/>
              <a:buChar char="Ø"/>
            </a:pPr>
            <a:r>
              <a:rPr lang="en-US" sz="3000" dirty="0">
                <a:solidFill>
                  <a:schemeClr val="tx1"/>
                </a:solidFill>
                <a:latin typeface="NewBaskerville-Roman"/>
              </a:rPr>
              <a:t>Best example of QQ plots (</a:t>
            </a:r>
            <a:r>
              <a:rPr lang="en-US" sz="3000" dirty="0">
                <a:solidFill>
                  <a:schemeClr val="tx1"/>
                </a:solidFill>
                <a:latin typeface="NewBaskerville-Roman"/>
                <a:hlinkClick r:id="rId2"/>
              </a:rPr>
              <a:t>https://www.statisticshowto.com/q-q-plots/</a:t>
            </a:r>
            <a:r>
              <a:rPr lang="en-US" sz="3000" dirty="0">
                <a:solidFill>
                  <a:schemeClr val="tx1"/>
                </a:solidFill>
                <a:latin typeface="NewBaskerville-Roman"/>
              </a:rPr>
              <a:t>)</a:t>
            </a:r>
          </a:p>
          <a:p>
            <a:pPr algn="just">
              <a:buFont typeface="Wingdings" panose="05000000000000000000" pitchFamily="2" charset="2"/>
              <a:buChar char="Ø"/>
            </a:pPr>
            <a:r>
              <a:rPr lang="en-US" sz="3000" dirty="0">
                <a:solidFill>
                  <a:schemeClr val="tx1"/>
                </a:solidFill>
                <a:latin typeface="NewBaskerville-Roman"/>
              </a:rPr>
              <a:t>Another </a:t>
            </a:r>
            <a:r>
              <a:rPr lang="en-US" sz="3000" dirty="0" err="1">
                <a:solidFill>
                  <a:schemeClr val="tx1"/>
                </a:solidFill>
                <a:latin typeface="NewBaskerville-Roman"/>
              </a:rPr>
              <a:t>youtube</a:t>
            </a:r>
            <a:r>
              <a:rPr lang="en-US" sz="3000" dirty="0">
                <a:solidFill>
                  <a:schemeClr val="tx1"/>
                </a:solidFill>
                <a:latin typeface="NewBaskerville-Roman"/>
              </a:rPr>
              <a:t> video with example (</a:t>
            </a:r>
            <a:r>
              <a:rPr lang="en-US" sz="2600" dirty="0">
                <a:solidFill>
                  <a:schemeClr val="tx1"/>
                </a:solidFill>
                <a:latin typeface="NewBaskerville-Roman"/>
                <a:hlinkClick r:id="rId3"/>
              </a:rPr>
              <a:t>https://www.youtube.com/watch?v=okjYjClSjOg</a:t>
            </a:r>
            <a:r>
              <a:rPr lang="en-US" sz="3000" dirty="0">
                <a:solidFill>
                  <a:schemeClr val="tx1"/>
                </a:solidFill>
                <a:latin typeface="NewBaskerville-Roman"/>
              </a:rPr>
              <a:t>) </a:t>
            </a:r>
            <a:endParaRPr lang="en-US" sz="3000" b="0" i="0" dirty="0">
              <a:solidFill>
                <a:schemeClr val="tx1"/>
              </a:solidFill>
              <a:effectLst/>
              <a:latin typeface="NewBaskerville-Roman"/>
            </a:endParaRP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t>50</a:t>
            </a:fld>
            <a:endParaRPr lang="en-US"/>
          </a:p>
        </p:txBody>
      </p:sp>
      <p:pic>
        <p:nvPicPr>
          <p:cNvPr id="6" name="Picture 5">
            <a:extLst>
              <a:ext uri="{FF2B5EF4-FFF2-40B4-BE49-F238E27FC236}">
                <a16:creationId xmlns:a16="http://schemas.microsoft.com/office/drawing/2014/main" id="{1D438FC9-6C9E-47AA-8D24-8BF287FEEADB}"/>
              </a:ext>
            </a:extLst>
          </p:cNvPr>
          <p:cNvPicPr>
            <a:picLocks noChangeAspect="1"/>
          </p:cNvPicPr>
          <p:nvPr/>
        </p:nvPicPr>
        <p:blipFill>
          <a:blip r:embed="rId4"/>
          <a:stretch>
            <a:fillRect/>
          </a:stretch>
        </p:blipFill>
        <p:spPr>
          <a:xfrm>
            <a:off x="9700953" y="3814999"/>
            <a:ext cx="2491048" cy="2408925"/>
          </a:xfrm>
          <a:prstGeom prst="rect">
            <a:avLst/>
          </a:prstGeom>
          <a:ln>
            <a:solidFill>
              <a:schemeClr val="tx1"/>
            </a:solidFill>
          </a:ln>
        </p:spPr>
      </p:pic>
    </p:spTree>
    <p:extLst>
      <p:ext uri="{BB962C8B-B14F-4D97-AF65-F5344CB8AC3E}">
        <p14:creationId xmlns:p14="http://schemas.microsoft.com/office/powerpoint/2010/main" val="1649233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Normal Distribution</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t>51</a:t>
            </a:fld>
            <a:endParaRPr lang="en-US"/>
          </a:p>
        </p:txBody>
      </p:sp>
      <p:pic>
        <p:nvPicPr>
          <p:cNvPr id="6" name="Picture 5">
            <a:extLst>
              <a:ext uri="{FF2B5EF4-FFF2-40B4-BE49-F238E27FC236}">
                <a16:creationId xmlns:a16="http://schemas.microsoft.com/office/drawing/2014/main" id="{ABAA71A6-BB9F-49B0-B746-34C81E485B12}"/>
              </a:ext>
            </a:extLst>
          </p:cNvPr>
          <p:cNvPicPr>
            <a:picLocks noChangeAspect="1"/>
          </p:cNvPicPr>
          <p:nvPr/>
        </p:nvPicPr>
        <p:blipFill>
          <a:blip r:embed="rId2"/>
          <a:stretch>
            <a:fillRect/>
          </a:stretch>
        </p:blipFill>
        <p:spPr>
          <a:xfrm>
            <a:off x="1045304" y="1054958"/>
            <a:ext cx="9286875" cy="5238750"/>
          </a:xfrm>
          <a:prstGeom prst="rect">
            <a:avLst/>
          </a:prstGeom>
        </p:spPr>
      </p:pic>
    </p:spTree>
    <p:extLst>
      <p:ext uri="{BB962C8B-B14F-4D97-AF65-F5344CB8AC3E}">
        <p14:creationId xmlns:p14="http://schemas.microsoft.com/office/powerpoint/2010/main" val="212564890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Standard Normal and QQ-Plots</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547817" y="1128583"/>
            <a:ext cx="11232291" cy="5165125"/>
          </a:xfrm>
        </p:spPr>
        <p:txBody>
          <a:bodyPr>
            <a:normAutofit/>
          </a:bodyPr>
          <a:lstStyle/>
          <a:p>
            <a:pPr algn="just">
              <a:buFont typeface="Wingdings" panose="05000000000000000000" pitchFamily="2" charset="2"/>
              <a:buChar char="Ø"/>
            </a:pPr>
            <a:r>
              <a:rPr lang="en-US" sz="3000" b="0" i="0" dirty="0">
                <a:solidFill>
                  <a:schemeClr val="tx1"/>
                </a:solidFill>
                <a:effectLst/>
                <a:latin typeface="NewBaskerville-Roman"/>
              </a:rPr>
              <a:t>For python code please visit notebook for this chapter.</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t>52</a:t>
            </a:fld>
            <a:endParaRPr lang="en-US"/>
          </a:p>
        </p:txBody>
      </p:sp>
    </p:spTree>
    <p:extLst>
      <p:ext uri="{BB962C8B-B14F-4D97-AF65-F5344CB8AC3E}">
        <p14:creationId xmlns:p14="http://schemas.microsoft.com/office/powerpoint/2010/main" val="4404039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Long-Tailed Distributions</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547818" y="1128583"/>
            <a:ext cx="6602626" cy="5165125"/>
          </a:xfrm>
        </p:spPr>
        <p:txBody>
          <a:bodyPr>
            <a:normAutofit/>
          </a:bodyPr>
          <a:lstStyle/>
          <a:p>
            <a:pPr algn="just">
              <a:buFont typeface="Wingdings" panose="05000000000000000000" pitchFamily="2" charset="2"/>
              <a:buChar char="Ø"/>
            </a:pPr>
            <a:r>
              <a:rPr lang="en-US" sz="3000" b="0" i="0" dirty="0">
                <a:solidFill>
                  <a:schemeClr val="tx1"/>
                </a:solidFill>
                <a:effectLst/>
                <a:latin typeface="NewBaskerville-Roman"/>
              </a:rPr>
              <a:t>Sometimes, the distribution is highly </a:t>
            </a:r>
            <a:r>
              <a:rPr lang="en-US" sz="3000" b="1" i="0" dirty="0">
                <a:solidFill>
                  <a:schemeClr val="tx1"/>
                </a:solidFill>
                <a:effectLst/>
                <a:latin typeface="NewBaskerville-Roman"/>
              </a:rPr>
              <a:t>skewed</a:t>
            </a:r>
            <a:r>
              <a:rPr lang="en-US" sz="3000" b="0" i="0" dirty="0">
                <a:solidFill>
                  <a:schemeClr val="tx1"/>
                </a:solidFill>
                <a:effectLst/>
                <a:latin typeface="NewBaskerville-Roman"/>
              </a:rPr>
              <a:t> (asymmetric), such as with income data; or the distribution can be discrete, as with binomial data. </a:t>
            </a:r>
          </a:p>
          <a:p>
            <a:pPr algn="just">
              <a:buFont typeface="Wingdings" panose="05000000000000000000" pitchFamily="2" charset="2"/>
              <a:buChar char="Ø"/>
            </a:pPr>
            <a:r>
              <a:rPr lang="en-US" sz="3000" b="0" i="0" dirty="0">
                <a:solidFill>
                  <a:schemeClr val="tx1"/>
                </a:solidFill>
                <a:effectLst/>
                <a:latin typeface="NewBaskerville-Roman"/>
              </a:rPr>
              <a:t>Both symmetric and asymmetric distributions may have long tails. </a:t>
            </a:r>
          </a:p>
          <a:p>
            <a:pPr algn="just">
              <a:buFont typeface="Wingdings" panose="05000000000000000000" pitchFamily="2" charset="2"/>
              <a:buChar char="Ø"/>
            </a:pPr>
            <a:r>
              <a:rPr lang="en-US" sz="3000" b="0" i="0" dirty="0">
                <a:solidFill>
                  <a:schemeClr val="tx1"/>
                </a:solidFill>
                <a:effectLst/>
                <a:latin typeface="NewBaskerville-Roman"/>
              </a:rPr>
              <a:t>The tails of a distribution correspond to the extreme values (small and large). </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t>53</a:t>
            </a:fld>
            <a:endParaRPr lang="en-US"/>
          </a:p>
        </p:txBody>
      </p:sp>
      <p:pic>
        <p:nvPicPr>
          <p:cNvPr id="7" name="Picture 6">
            <a:extLst>
              <a:ext uri="{FF2B5EF4-FFF2-40B4-BE49-F238E27FC236}">
                <a16:creationId xmlns:a16="http://schemas.microsoft.com/office/drawing/2014/main" id="{EF35F685-EE5C-4979-90A4-35C3C3147F4B}"/>
              </a:ext>
            </a:extLst>
          </p:cNvPr>
          <p:cNvPicPr>
            <a:picLocks noChangeAspect="1"/>
          </p:cNvPicPr>
          <p:nvPr/>
        </p:nvPicPr>
        <p:blipFill>
          <a:blip r:embed="rId2"/>
          <a:stretch>
            <a:fillRect/>
          </a:stretch>
        </p:blipFill>
        <p:spPr>
          <a:xfrm>
            <a:off x="7282958" y="1520409"/>
            <a:ext cx="4572449" cy="4212740"/>
          </a:xfrm>
          <a:prstGeom prst="rect">
            <a:avLst/>
          </a:prstGeom>
          <a:ln>
            <a:solidFill>
              <a:schemeClr val="tx1"/>
            </a:solidFill>
          </a:ln>
        </p:spPr>
      </p:pic>
    </p:spTree>
    <p:extLst>
      <p:ext uri="{BB962C8B-B14F-4D97-AF65-F5344CB8AC3E}">
        <p14:creationId xmlns:p14="http://schemas.microsoft.com/office/powerpoint/2010/main" val="75981696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Long-Tailed Distributions</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54228" y="1128583"/>
            <a:ext cx="7422291" cy="5165125"/>
          </a:xfrm>
        </p:spPr>
        <p:txBody>
          <a:bodyPr>
            <a:normAutofit/>
          </a:bodyPr>
          <a:lstStyle/>
          <a:p>
            <a:pPr algn="just">
              <a:buFont typeface="Wingdings" panose="05000000000000000000" pitchFamily="2" charset="2"/>
              <a:buChar char="Ø"/>
            </a:pPr>
            <a:r>
              <a:rPr lang="en-US" sz="3000" b="0" i="0" dirty="0">
                <a:solidFill>
                  <a:schemeClr val="tx1"/>
                </a:solidFill>
                <a:effectLst/>
                <a:latin typeface="NewBaskerville-Roman"/>
              </a:rPr>
              <a:t>Figure 2-12 shows the QQ-Plot for the daily stock returns for Netflix (NFLX).</a:t>
            </a:r>
          </a:p>
          <a:p>
            <a:pPr algn="just">
              <a:buFont typeface="Wingdings" panose="05000000000000000000" pitchFamily="2" charset="2"/>
              <a:buChar char="Ø"/>
            </a:pPr>
            <a:r>
              <a:rPr lang="en-US" sz="3000" b="0" i="0" dirty="0">
                <a:solidFill>
                  <a:schemeClr val="tx1"/>
                </a:solidFill>
                <a:effectLst/>
                <a:latin typeface="NewBaskerville-Roman"/>
              </a:rPr>
              <a:t> the points are far below the line for low values and far above the line for high values, indicating the data are not normally distributed. </a:t>
            </a:r>
          </a:p>
          <a:p>
            <a:pPr algn="just">
              <a:buFont typeface="Wingdings" panose="05000000000000000000" pitchFamily="2" charset="2"/>
              <a:buChar char="Ø"/>
            </a:pPr>
            <a:r>
              <a:rPr lang="en-US" sz="3000" b="0" i="0" dirty="0">
                <a:solidFill>
                  <a:schemeClr val="tx1"/>
                </a:solidFill>
                <a:effectLst/>
                <a:latin typeface="NewBaskerville-Roman"/>
              </a:rPr>
              <a:t>This means that we are much more likely to observe </a:t>
            </a:r>
            <a:r>
              <a:rPr lang="en-US" sz="3000" b="1" i="0" dirty="0">
                <a:solidFill>
                  <a:schemeClr val="tx1"/>
                </a:solidFill>
                <a:effectLst/>
                <a:latin typeface="NewBaskerville-Roman"/>
              </a:rPr>
              <a:t>extreme values</a:t>
            </a:r>
            <a:r>
              <a:rPr lang="en-US" sz="3000" b="0" i="0" dirty="0">
                <a:solidFill>
                  <a:schemeClr val="tx1"/>
                </a:solidFill>
                <a:effectLst/>
                <a:latin typeface="NewBaskerville-Roman"/>
              </a:rPr>
              <a:t> than would be expected if the data had a normal distribution.</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t>54</a:t>
            </a:fld>
            <a:endParaRPr lang="en-US"/>
          </a:p>
        </p:txBody>
      </p:sp>
      <p:pic>
        <p:nvPicPr>
          <p:cNvPr id="6" name="Picture 5">
            <a:extLst>
              <a:ext uri="{FF2B5EF4-FFF2-40B4-BE49-F238E27FC236}">
                <a16:creationId xmlns:a16="http://schemas.microsoft.com/office/drawing/2014/main" id="{C0B6ABA2-FBBF-4EC2-8444-7A7FC34AB7B5}"/>
              </a:ext>
            </a:extLst>
          </p:cNvPr>
          <p:cNvPicPr>
            <a:picLocks noChangeAspect="1"/>
          </p:cNvPicPr>
          <p:nvPr/>
        </p:nvPicPr>
        <p:blipFill>
          <a:blip r:embed="rId2"/>
          <a:stretch>
            <a:fillRect/>
          </a:stretch>
        </p:blipFill>
        <p:spPr>
          <a:xfrm>
            <a:off x="7996109" y="450507"/>
            <a:ext cx="3648075" cy="1257300"/>
          </a:xfrm>
          <a:prstGeom prst="rect">
            <a:avLst/>
          </a:prstGeom>
          <a:ln>
            <a:solidFill>
              <a:schemeClr val="tx1"/>
            </a:solidFill>
          </a:ln>
        </p:spPr>
      </p:pic>
      <p:pic>
        <p:nvPicPr>
          <p:cNvPr id="10" name="Picture 9">
            <a:extLst>
              <a:ext uri="{FF2B5EF4-FFF2-40B4-BE49-F238E27FC236}">
                <a16:creationId xmlns:a16="http://schemas.microsoft.com/office/drawing/2014/main" id="{15C7C14B-AB30-4CC7-9D07-5B09C10E9C17}"/>
              </a:ext>
            </a:extLst>
          </p:cNvPr>
          <p:cNvPicPr>
            <a:picLocks noChangeAspect="1"/>
          </p:cNvPicPr>
          <p:nvPr/>
        </p:nvPicPr>
        <p:blipFill>
          <a:blip r:embed="rId3"/>
          <a:stretch>
            <a:fillRect/>
          </a:stretch>
        </p:blipFill>
        <p:spPr>
          <a:xfrm>
            <a:off x="7810141" y="2094938"/>
            <a:ext cx="4061253" cy="3741759"/>
          </a:xfrm>
          <a:prstGeom prst="rect">
            <a:avLst/>
          </a:prstGeom>
          <a:ln>
            <a:solidFill>
              <a:schemeClr val="tx1"/>
            </a:solidFill>
          </a:ln>
        </p:spPr>
      </p:pic>
    </p:spTree>
    <p:extLst>
      <p:ext uri="{BB962C8B-B14F-4D97-AF65-F5344CB8AC3E}">
        <p14:creationId xmlns:p14="http://schemas.microsoft.com/office/powerpoint/2010/main" val="230703455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Long-Tailed Distributions</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54228" y="1128583"/>
            <a:ext cx="7422291" cy="5165125"/>
          </a:xfrm>
        </p:spPr>
        <p:txBody>
          <a:bodyPr>
            <a:normAutofit/>
          </a:bodyPr>
          <a:lstStyle/>
          <a:p>
            <a:pPr algn="just">
              <a:buFont typeface="Wingdings" panose="05000000000000000000" pitchFamily="2" charset="2"/>
              <a:buChar char="Ø"/>
            </a:pPr>
            <a:r>
              <a:rPr lang="en-US" sz="3000" b="0" i="0" dirty="0">
                <a:solidFill>
                  <a:schemeClr val="tx1"/>
                </a:solidFill>
                <a:effectLst/>
                <a:latin typeface="NewBaskerville-Roman"/>
              </a:rPr>
              <a:t>Figure 2-12 also shows, the points are close to the line for the data within one standard deviation of the mean. </a:t>
            </a:r>
          </a:p>
          <a:p>
            <a:pPr algn="just">
              <a:buFont typeface="Wingdings" panose="05000000000000000000" pitchFamily="2" charset="2"/>
              <a:buChar char="Ø"/>
            </a:pPr>
            <a:r>
              <a:rPr lang="en-US" sz="3000" b="0" i="0" dirty="0">
                <a:solidFill>
                  <a:schemeClr val="tx1"/>
                </a:solidFill>
                <a:effectLst/>
                <a:latin typeface="NewBaskerville-Roman"/>
              </a:rPr>
              <a:t>this phenomenon is </a:t>
            </a:r>
            <a:r>
              <a:rPr lang="en-US" sz="3000" dirty="0">
                <a:solidFill>
                  <a:schemeClr val="tx1"/>
                </a:solidFill>
                <a:latin typeface="NewBaskerville-Roman"/>
              </a:rPr>
              <a:t>referred </a:t>
            </a:r>
            <a:r>
              <a:rPr lang="en-US" sz="3000" b="0" i="0" dirty="0">
                <a:solidFill>
                  <a:schemeClr val="tx1"/>
                </a:solidFill>
                <a:effectLst/>
                <a:latin typeface="NewBaskerville-Roman"/>
              </a:rPr>
              <a:t>as data being “normal in the middle” but having much longer tails. </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t>55</a:t>
            </a:fld>
            <a:endParaRPr lang="en-US"/>
          </a:p>
        </p:txBody>
      </p:sp>
      <p:pic>
        <p:nvPicPr>
          <p:cNvPr id="6" name="Picture 5">
            <a:extLst>
              <a:ext uri="{FF2B5EF4-FFF2-40B4-BE49-F238E27FC236}">
                <a16:creationId xmlns:a16="http://schemas.microsoft.com/office/drawing/2014/main" id="{C0B6ABA2-FBBF-4EC2-8444-7A7FC34AB7B5}"/>
              </a:ext>
            </a:extLst>
          </p:cNvPr>
          <p:cNvPicPr>
            <a:picLocks noChangeAspect="1"/>
          </p:cNvPicPr>
          <p:nvPr/>
        </p:nvPicPr>
        <p:blipFill>
          <a:blip r:embed="rId2"/>
          <a:stretch>
            <a:fillRect/>
          </a:stretch>
        </p:blipFill>
        <p:spPr>
          <a:xfrm>
            <a:off x="8295504" y="269047"/>
            <a:ext cx="3648075" cy="1257300"/>
          </a:xfrm>
          <a:prstGeom prst="rect">
            <a:avLst/>
          </a:prstGeom>
          <a:ln>
            <a:solidFill>
              <a:schemeClr val="tx1"/>
            </a:solidFill>
          </a:ln>
        </p:spPr>
      </p:pic>
      <p:pic>
        <p:nvPicPr>
          <p:cNvPr id="10" name="Picture 9">
            <a:extLst>
              <a:ext uri="{FF2B5EF4-FFF2-40B4-BE49-F238E27FC236}">
                <a16:creationId xmlns:a16="http://schemas.microsoft.com/office/drawing/2014/main" id="{4D1AE4E1-83C6-4325-9FD5-1B3C6801AD24}"/>
              </a:ext>
            </a:extLst>
          </p:cNvPr>
          <p:cNvPicPr>
            <a:picLocks noChangeAspect="1"/>
          </p:cNvPicPr>
          <p:nvPr/>
        </p:nvPicPr>
        <p:blipFill>
          <a:blip r:embed="rId3"/>
          <a:stretch>
            <a:fillRect/>
          </a:stretch>
        </p:blipFill>
        <p:spPr>
          <a:xfrm>
            <a:off x="8130747" y="3116241"/>
            <a:ext cx="4061253" cy="3741759"/>
          </a:xfrm>
          <a:prstGeom prst="rect">
            <a:avLst/>
          </a:prstGeom>
          <a:ln>
            <a:solidFill>
              <a:schemeClr val="tx1"/>
            </a:solidFill>
          </a:ln>
        </p:spPr>
      </p:pic>
    </p:spTree>
    <p:extLst>
      <p:ext uri="{BB962C8B-B14F-4D97-AF65-F5344CB8AC3E}">
        <p14:creationId xmlns:p14="http://schemas.microsoft.com/office/powerpoint/2010/main" val="333479413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t-Distribution</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54228" y="1128583"/>
            <a:ext cx="8814710" cy="5165125"/>
          </a:xfrm>
        </p:spPr>
        <p:txBody>
          <a:bodyPr>
            <a:normAutofit fontScale="62500" lnSpcReduction="20000"/>
          </a:bodyPr>
          <a:lstStyle/>
          <a:p>
            <a:pPr algn="just">
              <a:buFont typeface="Wingdings" panose="05000000000000000000" pitchFamily="2" charset="2"/>
              <a:buChar char="Ø"/>
            </a:pPr>
            <a:r>
              <a:rPr lang="en-US" sz="3000" b="0" i="0" dirty="0">
                <a:solidFill>
                  <a:schemeClr val="tx1"/>
                </a:solidFill>
                <a:effectLst/>
                <a:latin typeface="NewBaskerville-Roman"/>
              </a:rPr>
              <a:t>The </a:t>
            </a:r>
            <a:r>
              <a:rPr lang="en-US" sz="3000" b="1" i="0" dirty="0">
                <a:solidFill>
                  <a:schemeClr val="tx1"/>
                </a:solidFill>
                <a:effectLst/>
                <a:latin typeface="NewBaskerville-Roman"/>
              </a:rPr>
              <a:t>t-distribution</a:t>
            </a:r>
            <a:r>
              <a:rPr lang="en-US" sz="3000" b="0" i="0" dirty="0">
                <a:solidFill>
                  <a:schemeClr val="tx1"/>
                </a:solidFill>
                <a:effectLst/>
                <a:latin typeface="NewBaskerville-Roman"/>
              </a:rPr>
              <a:t> is a normally shaped distribution, except that it is a bit thicker and longer on the tails. </a:t>
            </a:r>
          </a:p>
          <a:p>
            <a:pPr algn="just">
              <a:buFont typeface="Wingdings" panose="05000000000000000000" pitchFamily="2" charset="2"/>
              <a:buChar char="Ø"/>
            </a:pPr>
            <a:r>
              <a:rPr lang="en-US" sz="3000" b="0" i="0" dirty="0">
                <a:solidFill>
                  <a:schemeClr val="tx1"/>
                </a:solidFill>
                <a:effectLst/>
                <a:latin typeface="NewBaskerville-Roman"/>
              </a:rPr>
              <a:t>It is used extensively in depicting distributions of sample statistics.</a:t>
            </a:r>
          </a:p>
          <a:p>
            <a:pPr algn="just">
              <a:buFont typeface="Wingdings" panose="05000000000000000000" pitchFamily="2" charset="2"/>
              <a:buChar char="Ø"/>
            </a:pPr>
            <a:r>
              <a:rPr lang="en-US" sz="3000" b="0" i="0" dirty="0">
                <a:solidFill>
                  <a:schemeClr val="tx1"/>
                </a:solidFill>
                <a:effectLst/>
                <a:latin typeface="NewBaskerville-Roman"/>
              </a:rPr>
              <a:t>Distributions of sample means are typically shaped like a t-distribution, and there is a family of t-distributions that differ depending on how large the sample is.</a:t>
            </a:r>
          </a:p>
          <a:p>
            <a:pPr algn="just">
              <a:buFont typeface="Wingdings" panose="05000000000000000000" pitchFamily="2" charset="2"/>
              <a:buChar char="Ø"/>
            </a:pPr>
            <a:r>
              <a:rPr lang="en-US" sz="3000" b="0" i="0" dirty="0">
                <a:solidFill>
                  <a:schemeClr val="tx1"/>
                </a:solidFill>
                <a:effectLst/>
                <a:latin typeface="NewBaskerville-Roman"/>
              </a:rPr>
              <a:t>The larger the sample, the more normally shaped the t-distribution becomes.</a:t>
            </a:r>
          </a:p>
          <a:p>
            <a:pPr algn="just">
              <a:buFont typeface="Wingdings" panose="05000000000000000000" pitchFamily="2" charset="2"/>
              <a:buChar char="Ø"/>
            </a:pPr>
            <a:r>
              <a:rPr lang="en-US" sz="3000" b="0" i="0" dirty="0">
                <a:solidFill>
                  <a:schemeClr val="tx1"/>
                </a:solidFill>
                <a:effectLst/>
                <a:latin typeface="NewBaskerville-Roman"/>
              </a:rPr>
              <a:t>Consider a sample of size n for which the sample mean x-bar has been calculated. If s is the sample standard deviation, a 90% confidence interval around the sample mean is given by:</a:t>
            </a:r>
          </a:p>
          <a:p>
            <a:pPr algn="just">
              <a:buFont typeface="Wingdings" panose="05000000000000000000" pitchFamily="2" charset="2"/>
              <a:buChar char="Ø"/>
            </a:pPr>
            <a:endParaRPr lang="en-US" sz="3000" b="0" i="0" dirty="0">
              <a:solidFill>
                <a:schemeClr val="tx1"/>
              </a:solidFill>
              <a:effectLst/>
              <a:latin typeface="NewBaskerville-Roman"/>
            </a:endParaRPr>
          </a:p>
          <a:p>
            <a:pPr algn="just">
              <a:buFont typeface="Wingdings" panose="05000000000000000000" pitchFamily="2" charset="2"/>
              <a:buChar char="Ø"/>
            </a:pPr>
            <a:endParaRPr lang="en-US" sz="3000" dirty="0">
              <a:solidFill>
                <a:schemeClr val="tx1"/>
              </a:solidFill>
              <a:latin typeface="NewBaskerville-Roman"/>
            </a:endParaRPr>
          </a:p>
          <a:p>
            <a:pPr algn="just">
              <a:buFont typeface="Wingdings" panose="05000000000000000000" pitchFamily="2" charset="2"/>
              <a:buChar char="Ø"/>
            </a:pPr>
            <a:r>
              <a:rPr lang="en-US" sz="3000" b="0" i="0" dirty="0">
                <a:solidFill>
                  <a:schemeClr val="tx1"/>
                </a:solidFill>
                <a:effectLst/>
                <a:latin typeface="NewBaskerville-Roman"/>
              </a:rPr>
              <a:t>where </a:t>
            </a:r>
            <a:r>
              <a:rPr lang="en-US" sz="3000" b="0" i="0" dirty="0" err="1">
                <a:solidFill>
                  <a:schemeClr val="tx1"/>
                </a:solidFill>
                <a:effectLst/>
                <a:latin typeface="NewBaskerville-Roman"/>
              </a:rPr>
              <a:t>t</a:t>
            </a:r>
            <a:r>
              <a:rPr lang="en-US" sz="3000" b="0" i="0" baseline="-25000" dirty="0" err="1">
                <a:solidFill>
                  <a:schemeClr val="tx1"/>
                </a:solidFill>
                <a:effectLst/>
                <a:latin typeface="NewBaskerville-Roman"/>
              </a:rPr>
              <a:t>n</a:t>
            </a:r>
            <a:r>
              <a:rPr lang="en-US" sz="3000" b="0" i="0" baseline="-25000" dirty="0">
                <a:solidFill>
                  <a:schemeClr val="tx1"/>
                </a:solidFill>
                <a:effectLst/>
                <a:latin typeface="NewBaskerville-Roman"/>
              </a:rPr>
              <a:t> − 1</a:t>
            </a:r>
            <a:r>
              <a:rPr lang="en-US" sz="3000" b="0" i="0" dirty="0">
                <a:solidFill>
                  <a:schemeClr val="tx1"/>
                </a:solidFill>
                <a:effectLst/>
                <a:latin typeface="NewBaskerville-Roman"/>
              </a:rPr>
              <a:t>(0. 05) is the value of the t-statistic, with [(n – 1) or (R-1)(C-1)] degrees of freedom </a:t>
            </a:r>
          </a:p>
          <a:p>
            <a:pPr algn="just">
              <a:buFont typeface="Wingdings" panose="05000000000000000000" pitchFamily="2" charset="2"/>
              <a:buChar char="Ø"/>
            </a:pPr>
            <a:r>
              <a:rPr lang="en-US" sz="3000" b="0" i="0" dirty="0">
                <a:solidFill>
                  <a:schemeClr val="tx1"/>
                </a:solidFill>
                <a:effectLst/>
                <a:latin typeface="NewBaskerville-Roman"/>
              </a:rPr>
              <a:t>that “chops off ” 5% of the t-distribution at either end.</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t>56</a:t>
            </a:fld>
            <a:endParaRPr lang="en-US"/>
          </a:p>
        </p:txBody>
      </p:sp>
      <p:pic>
        <p:nvPicPr>
          <p:cNvPr id="7" name="Picture 6">
            <a:extLst>
              <a:ext uri="{FF2B5EF4-FFF2-40B4-BE49-F238E27FC236}">
                <a16:creationId xmlns:a16="http://schemas.microsoft.com/office/drawing/2014/main" id="{0CBBED11-42E6-4922-ACEA-571ECD7B2FC5}"/>
              </a:ext>
            </a:extLst>
          </p:cNvPr>
          <p:cNvPicPr>
            <a:picLocks noChangeAspect="1"/>
          </p:cNvPicPr>
          <p:nvPr/>
        </p:nvPicPr>
        <p:blipFill>
          <a:blip r:embed="rId2"/>
          <a:stretch>
            <a:fillRect/>
          </a:stretch>
        </p:blipFill>
        <p:spPr>
          <a:xfrm>
            <a:off x="5004944" y="3711145"/>
            <a:ext cx="2623193" cy="809283"/>
          </a:xfrm>
          <a:prstGeom prst="rect">
            <a:avLst/>
          </a:prstGeom>
          <a:ln>
            <a:solidFill>
              <a:schemeClr val="tx1"/>
            </a:solidFill>
          </a:ln>
        </p:spPr>
      </p:pic>
      <p:pic>
        <p:nvPicPr>
          <p:cNvPr id="8" name="Picture 2" descr="T-Distribution | What It Is and How To Use It (With Examples)">
            <a:extLst>
              <a:ext uri="{FF2B5EF4-FFF2-40B4-BE49-F238E27FC236}">
                <a16:creationId xmlns:a16="http://schemas.microsoft.com/office/drawing/2014/main" id="{2035DA26-65A6-43DC-8CCC-120CACDF4D0D}"/>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406" t="8582" r="4972" b="9333"/>
          <a:stretch/>
        </p:blipFill>
        <p:spPr bwMode="auto">
          <a:xfrm>
            <a:off x="9105060" y="4912823"/>
            <a:ext cx="3110017" cy="196180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1385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t-Distribution</a:t>
            </a:r>
          </a:p>
        </p:txBody>
      </p:sp>
      <p:pic>
        <p:nvPicPr>
          <p:cNvPr id="4" name="Content Placeholder 3"/>
          <p:cNvPicPr>
            <a:picLocks noGrp="1" noChangeAspect="1"/>
          </p:cNvPicPr>
          <p:nvPr>
            <p:ph idx="1"/>
          </p:nvPr>
        </p:nvPicPr>
        <p:blipFill>
          <a:blip r:embed="rId2"/>
          <a:stretch>
            <a:fillRect/>
          </a:stretch>
        </p:blipFill>
        <p:spPr>
          <a:xfrm>
            <a:off x="488407" y="3041316"/>
            <a:ext cx="6984736" cy="3816684"/>
          </a:xfrm>
          <a:prstGeom prst="rect">
            <a:avLst/>
          </a:prstGeom>
        </p:spPr>
      </p:pic>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t>57</a:t>
            </a:fld>
            <a:endParaRPr lang="en-US"/>
          </a:p>
        </p:txBody>
      </p:sp>
      <p:pic>
        <p:nvPicPr>
          <p:cNvPr id="8" name="Picture 2" descr="T-Distribution | What It Is and How To Use It (With Examples)">
            <a:extLst>
              <a:ext uri="{FF2B5EF4-FFF2-40B4-BE49-F238E27FC236}">
                <a16:creationId xmlns:a16="http://schemas.microsoft.com/office/drawing/2014/main" id="{2035DA26-65A6-43DC-8CCC-120CACDF4D0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06" t="8582" r="4972" b="9333"/>
          <a:stretch/>
        </p:blipFill>
        <p:spPr bwMode="auto">
          <a:xfrm>
            <a:off x="6517858" y="47926"/>
            <a:ext cx="4745373" cy="299339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7517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t-Distribution</a:t>
            </a:r>
          </a:p>
        </p:txBody>
      </p:sp>
      <p:pic>
        <p:nvPicPr>
          <p:cNvPr id="4" name="Content Placeholder 3"/>
          <p:cNvPicPr>
            <a:picLocks noGrp="1" noChangeAspect="1"/>
          </p:cNvPicPr>
          <p:nvPr>
            <p:ph idx="1"/>
          </p:nvPr>
        </p:nvPicPr>
        <p:blipFill>
          <a:blip r:embed="rId2"/>
          <a:stretch>
            <a:fillRect/>
          </a:stretch>
        </p:blipFill>
        <p:spPr>
          <a:xfrm>
            <a:off x="4298308" y="1058199"/>
            <a:ext cx="7893692" cy="5165725"/>
          </a:xfrm>
          <a:prstGeom prst="rect">
            <a:avLst/>
          </a:prstGeom>
        </p:spPr>
      </p:pic>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t>58</a:t>
            </a:fld>
            <a:endParaRPr lang="en-US"/>
          </a:p>
        </p:txBody>
      </p:sp>
      <p:sp>
        <p:nvSpPr>
          <p:cNvPr id="6" name="Content Placeholder 2">
            <a:extLst>
              <a:ext uri="{FF2B5EF4-FFF2-40B4-BE49-F238E27FC236}">
                <a16:creationId xmlns:a16="http://schemas.microsoft.com/office/drawing/2014/main" id="{7B8584DC-3BE1-439B-A244-0F2BBE92DF23}"/>
              </a:ext>
            </a:extLst>
          </p:cNvPr>
          <p:cNvSpPr txBox="1">
            <a:spLocks/>
          </p:cNvSpPr>
          <p:nvPr/>
        </p:nvSpPr>
        <p:spPr>
          <a:xfrm>
            <a:off x="354228" y="1128583"/>
            <a:ext cx="3793823" cy="5165125"/>
          </a:xfrm>
          <a:prstGeom prst="rect">
            <a:avLst/>
          </a:prstGeom>
        </p:spPr>
        <p:txBody>
          <a:bodyPr vert="horz" lIns="91440" tIns="45720" rIns="91440" bIns="45720" rtlCol="0">
            <a:normAutofit fontScale="925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r>
              <a:rPr lang="en-US" sz="3000" dirty="0">
                <a:solidFill>
                  <a:schemeClr val="tx1"/>
                </a:solidFill>
                <a:latin typeface="NewBaskerville-Roman"/>
              </a:rPr>
              <a:t>For standard normal distribution we can find 95% confidence interval z score from z score table. </a:t>
            </a:r>
          </a:p>
          <a:p>
            <a:pPr algn="just">
              <a:buFont typeface="Wingdings" panose="05000000000000000000" pitchFamily="2" charset="2"/>
              <a:buChar char="Ø"/>
            </a:pPr>
            <a:r>
              <a:rPr lang="en-US" sz="3000" dirty="0">
                <a:solidFill>
                  <a:schemeClr val="tx1"/>
                </a:solidFill>
                <a:latin typeface="NewBaskerville-Roman"/>
              </a:rPr>
              <a:t>However, for t-distributed data the tail of distribution can have different locations due to different </a:t>
            </a:r>
            <a:r>
              <a:rPr lang="en-US" sz="3000" dirty="0" err="1">
                <a:solidFill>
                  <a:schemeClr val="tx1"/>
                </a:solidFill>
                <a:latin typeface="NewBaskerville-Roman"/>
              </a:rPr>
              <a:t>DoF</a:t>
            </a:r>
            <a:r>
              <a:rPr lang="en-US" sz="3000" dirty="0">
                <a:solidFill>
                  <a:schemeClr val="tx1"/>
                </a:solidFill>
                <a:latin typeface="NewBaskerville-Roman"/>
              </a:rPr>
              <a:t>. Therefore, we find t value w.r.t to </a:t>
            </a:r>
            <a:r>
              <a:rPr lang="en-US" sz="3000" dirty="0" err="1">
                <a:solidFill>
                  <a:schemeClr val="tx1"/>
                </a:solidFill>
                <a:latin typeface="NewBaskerville-Roman"/>
              </a:rPr>
              <a:t>DoF</a:t>
            </a:r>
            <a:r>
              <a:rPr lang="en-US" sz="3000" dirty="0">
                <a:solidFill>
                  <a:schemeClr val="tx1"/>
                </a:solidFill>
                <a:latin typeface="NewBaskerville-Roman"/>
              </a:rPr>
              <a:t> for finding CI.</a:t>
            </a:r>
          </a:p>
        </p:txBody>
      </p:sp>
    </p:spTree>
    <p:extLst>
      <p:ext uri="{BB962C8B-B14F-4D97-AF65-F5344CB8AC3E}">
        <p14:creationId xmlns:p14="http://schemas.microsoft.com/office/powerpoint/2010/main" val="324821959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t-Distribution</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t>59</a:t>
            </a:fld>
            <a:endParaRPr lang="en-US"/>
          </a:p>
        </p:txBody>
      </p:sp>
      <p:sp>
        <p:nvSpPr>
          <p:cNvPr id="3" name="Content Placeholder 2"/>
          <p:cNvSpPr>
            <a:spLocks noGrp="1"/>
          </p:cNvSpPr>
          <p:nvPr>
            <p:ph idx="1"/>
          </p:nvPr>
        </p:nvSpPr>
        <p:spPr>
          <a:xfrm>
            <a:off x="1932556" y="5804662"/>
            <a:ext cx="8084280" cy="473400"/>
          </a:xfrm>
        </p:spPr>
        <p:txBody>
          <a:bodyPr>
            <a:normAutofit fontScale="55000" lnSpcReduction="20000"/>
          </a:bodyPr>
          <a:lstStyle/>
          <a:p>
            <a:r>
              <a:rPr lang="en-US" dirty="0"/>
              <a:t>T-table </a:t>
            </a:r>
            <a:r>
              <a:rPr lang="en-US" dirty="0">
                <a:hlinkClick r:id="rId2"/>
              </a:rPr>
              <a:t>https://www.w3schools.com/statistics/statistics_t_table.php</a:t>
            </a:r>
            <a:endParaRPr lang="en-US" dirty="0"/>
          </a:p>
          <a:p>
            <a:r>
              <a:rPr lang="en-US" dirty="0">
                <a:hlinkClick r:id="rId3"/>
              </a:rPr>
              <a:t>https://www.youtube.com/watch?v=Uv6nGIgZMVw</a:t>
            </a:r>
            <a:endParaRPr lang="en-US" dirty="0"/>
          </a:p>
        </p:txBody>
      </p:sp>
      <p:pic>
        <p:nvPicPr>
          <p:cNvPr id="6" name="Picture 5"/>
          <p:cNvPicPr>
            <a:picLocks noChangeAspect="1"/>
          </p:cNvPicPr>
          <p:nvPr/>
        </p:nvPicPr>
        <p:blipFill>
          <a:blip r:embed="rId4"/>
          <a:stretch>
            <a:fillRect/>
          </a:stretch>
        </p:blipFill>
        <p:spPr>
          <a:xfrm>
            <a:off x="1669989" y="871691"/>
            <a:ext cx="7532200" cy="4772310"/>
          </a:xfrm>
          <a:prstGeom prst="rect">
            <a:avLst/>
          </a:prstGeom>
        </p:spPr>
      </p:pic>
    </p:spTree>
    <p:extLst>
      <p:ext uri="{BB962C8B-B14F-4D97-AF65-F5344CB8AC3E}">
        <p14:creationId xmlns:p14="http://schemas.microsoft.com/office/powerpoint/2010/main" val="55680463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Binomial Distribution</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54228" y="1128583"/>
            <a:ext cx="8919774" cy="4658253"/>
          </a:xfrm>
        </p:spPr>
        <p:txBody>
          <a:bodyPr>
            <a:normAutofit fontScale="55000" lnSpcReduction="20000"/>
          </a:bodyPr>
          <a:lstStyle/>
          <a:p>
            <a:pPr algn="just">
              <a:buFont typeface="Wingdings" panose="05000000000000000000" pitchFamily="2" charset="2"/>
              <a:buChar char="Ø"/>
            </a:pPr>
            <a:r>
              <a:rPr lang="en-US" sz="3000" dirty="0">
                <a:solidFill>
                  <a:schemeClr val="tx1"/>
                </a:solidFill>
                <a:latin typeface="NewBaskerville-Roman"/>
              </a:rPr>
              <a:t>Binomial Distribution is a </a:t>
            </a:r>
            <a:r>
              <a:rPr lang="en-US" sz="3000" b="1" dirty="0">
                <a:solidFill>
                  <a:schemeClr val="tx1"/>
                </a:solidFill>
                <a:latin typeface="NewBaskerville-Roman"/>
              </a:rPr>
              <a:t>Discrete Distribution</a:t>
            </a:r>
            <a:r>
              <a:rPr lang="en-US" sz="3000" dirty="0">
                <a:solidFill>
                  <a:schemeClr val="tx1"/>
                </a:solidFill>
                <a:latin typeface="NewBaskerville-Roman"/>
              </a:rPr>
              <a:t>.</a:t>
            </a:r>
          </a:p>
          <a:p>
            <a:pPr algn="just">
              <a:buFont typeface="Wingdings" panose="05000000000000000000" pitchFamily="2" charset="2"/>
              <a:buChar char="Ø"/>
            </a:pPr>
            <a:r>
              <a:rPr lang="en-US" sz="3000" dirty="0">
                <a:solidFill>
                  <a:schemeClr val="tx1"/>
                </a:solidFill>
                <a:latin typeface="NewBaskerville-Roman"/>
              </a:rPr>
              <a:t>It describes the outcome of </a:t>
            </a:r>
            <a:r>
              <a:rPr lang="en-US" sz="3000" b="1" dirty="0">
                <a:solidFill>
                  <a:schemeClr val="tx1"/>
                </a:solidFill>
                <a:latin typeface="NewBaskerville-Roman"/>
              </a:rPr>
              <a:t>binary scenarios</a:t>
            </a:r>
            <a:r>
              <a:rPr lang="en-US" sz="3000" dirty="0">
                <a:solidFill>
                  <a:schemeClr val="tx1"/>
                </a:solidFill>
                <a:latin typeface="NewBaskerville-Roman"/>
              </a:rPr>
              <a:t>(toss of a coin, it will either be head or tails.</a:t>
            </a:r>
          </a:p>
          <a:p>
            <a:pPr algn="just">
              <a:buFont typeface="Wingdings" panose="05000000000000000000" pitchFamily="2" charset="2"/>
              <a:buChar char="Ø"/>
            </a:pPr>
            <a:r>
              <a:rPr lang="en-US" sz="3000" dirty="0">
                <a:solidFill>
                  <a:schemeClr val="tx1"/>
                </a:solidFill>
                <a:latin typeface="NewBaskerville-Roman"/>
              </a:rPr>
              <a:t>It has three parameters:</a:t>
            </a:r>
          </a:p>
          <a:p>
            <a:pPr lvl="1" algn="just">
              <a:buFont typeface="Wingdings" panose="05000000000000000000" pitchFamily="2" charset="2"/>
              <a:buChar char="Ø"/>
            </a:pPr>
            <a:r>
              <a:rPr lang="en-US" sz="2800" dirty="0">
                <a:solidFill>
                  <a:schemeClr val="tx1"/>
                </a:solidFill>
                <a:latin typeface="NewBaskerville-Roman"/>
              </a:rPr>
              <a:t>n - number of trials.</a:t>
            </a:r>
          </a:p>
          <a:p>
            <a:pPr lvl="1" algn="just">
              <a:buFont typeface="Wingdings" panose="05000000000000000000" pitchFamily="2" charset="2"/>
              <a:buChar char="Ø"/>
            </a:pPr>
            <a:r>
              <a:rPr lang="en-US" sz="2800" dirty="0">
                <a:solidFill>
                  <a:schemeClr val="tx1"/>
                </a:solidFill>
                <a:latin typeface="NewBaskerville-Roman"/>
              </a:rPr>
              <a:t>p - probability of occurrence of each trial (e.g. for toss of a coin 0.5 each).</a:t>
            </a:r>
          </a:p>
          <a:p>
            <a:pPr lvl="1" algn="just">
              <a:buFont typeface="Wingdings" panose="05000000000000000000" pitchFamily="2" charset="2"/>
              <a:buChar char="Ø"/>
            </a:pPr>
            <a:r>
              <a:rPr lang="en-US" sz="2800" dirty="0">
                <a:solidFill>
                  <a:schemeClr val="tx1"/>
                </a:solidFill>
                <a:latin typeface="NewBaskerville-Roman"/>
              </a:rPr>
              <a:t>size - The shape of the returned array.</a:t>
            </a:r>
          </a:p>
          <a:p>
            <a:pPr algn="just">
              <a:buFont typeface="Wingdings" panose="05000000000000000000" pitchFamily="2" charset="2"/>
              <a:buChar char="Ø"/>
            </a:pPr>
            <a:r>
              <a:rPr lang="en-US" sz="3000" b="0" i="0" dirty="0">
                <a:solidFill>
                  <a:schemeClr val="tx1"/>
                </a:solidFill>
                <a:effectLst/>
                <a:latin typeface="NewBaskerville-Roman"/>
              </a:rPr>
              <a:t>The binomial distribution is the idea of a set of trials, each trial having two possible outcomes(yes/no, buy/</a:t>
            </a:r>
            <a:r>
              <a:rPr lang="en-US" sz="3000" b="0" i="0" dirty="0" err="1">
                <a:solidFill>
                  <a:schemeClr val="tx1"/>
                </a:solidFill>
                <a:effectLst/>
                <a:latin typeface="NewBaskerville-Roman"/>
              </a:rPr>
              <a:t>NotBuy</a:t>
            </a:r>
            <a:r>
              <a:rPr lang="en-US" sz="3000" b="0" i="0" dirty="0">
                <a:solidFill>
                  <a:schemeClr val="tx1"/>
                </a:solidFill>
                <a:effectLst/>
                <a:latin typeface="NewBaskerville-Roman"/>
              </a:rPr>
              <a:t>, 1/0) with definite probabilities.</a:t>
            </a:r>
          </a:p>
          <a:p>
            <a:pPr algn="just">
              <a:buFont typeface="Wingdings" panose="05000000000000000000" pitchFamily="2" charset="2"/>
              <a:buChar char="Ø"/>
            </a:pPr>
            <a:r>
              <a:rPr lang="en-US" sz="3000" b="0" i="0" dirty="0">
                <a:solidFill>
                  <a:schemeClr val="tx1"/>
                </a:solidFill>
                <a:effectLst/>
                <a:latin typeface="NewBaskerville-Roman"/>
              </a:rPr>
              <a:t>For example, flipping a coin 10 times is a binomial experiment with 10 trials, each trial having two possible outcomes (heads or tails).</a:t>
            </a:r>
          </a:p>
          <a:p>
            <a:pPr algn="just">
              <a:buFont typeface="Wingdings" panose="05000000000000000000" pitchFamily="2" charset="2"/>
              <a:buChar char="Ø"/>
            </a:pPr>
            <a:r>
              <a:rPr lang="en-US" sz="3000" b="0" i="0" dirty="0">
                <a:solidFill>
                  <a:schemeClr val="tx1"/>
                </a:solidFill>
                <a:effectLst/>
                <a:latin typeface="NewBaskerville-Roman"/>
              </a:rPr>
              <a:t>The binomial distribution is the frequency distribution of the number of </a:t>
            </a:r>
            <a:r>
              <a:rPr lang="en-US" sz="3000" b="1" i="0" dirty="0">
                <a:solidFill>
                  <a:schemeClr val="tx1"/>
                </a:solidFill>
                <a:effectLst/>
                <a:latin typeface="NewBaskerville-Roman"/>
              </a:rPr>
              <a:t>successes (x)</a:t>
            </a:r>
            <a:r>
              <a:rPr lang="en-US" sz="3000" b="0" i="0" dirty="0">
                <a:solidFill>
                  <a:schemeClr val="tx1"/>
                </a:solidFill>
                <a:effectLst/>
                <a:latin typeface="NewBaskerville-Roman"/>
              </a:rPr>
              <a:t> in a given number of </a:t>
            </a:r>
            <a:r>
              <a:rPr lang="en-US" sz="3000" b="1" i="0" dirty="0">
                <a:solidFill>
                  <a:schemeClr val="tx1"/>
                </a:solidFill>
                <a:effectLst/>
                <a:latin typeface="NewBaskerville-Roman"/>
              </a:rPr>
              <a:t>trials (n)</a:t>
            </a:r>
            <a:r>
              <a:rPr lang="en-US" sz="3000" b="0" i="0" dirty="0">
                <a:solidFill>
                  <a:schemeClr val="tx1"/>
                </a:solidFill>
                <a:effectLst/>
                <a:latin typeface="NewBaskerville-Roman"/>
              </a:rPr>
              <a:t> with specified </a:t>
            </a:r>
            <a:r>
              <a:rPr lang="en-US" sz="3000" b="1" i="0" dirty="0">
                <a:solidFill>
                  <a:schemeClr val="tx1"/>
                </a:solidFill>
                <a:effectLst/>
                <a:latin typeface="NewBaskerville-Roman"/>
              </a:rPr>
              <a:t>probability (p)</a:t>
            </a:r>
            <a:r>
              <a:rPr lang="en-US" sz="3000" b="0" i="0" dirty="0">
                <a:solidFill>
                  <a:schemeClr val="tx1"/>
                </a:solidFill>
                <a:effectLst/>
                <a:latin typeface="NewBaskerville-Roman"/>
              </a:rPr>
              <a:t> of success in each trial.</a:t>
            </a:r>
          </a:p>
          <a:p>
            <a:pPr algn="just">
              <a:buFont typeface="Wingdings" panose="05000000000000000000" pitchFamily="2" charset="2"/>
              <a:buChar char="Ø"/>
            </a:pPr>
            <a:r>
              <a:rPr lang="en-US" sz="3000" b="0" i="0" dirty="0">
                <a:solidFill>
                  <a:schemeClr val="tx1"/>
                </a:solidFill>
                <a:effectLst/>
                <a:latin typeface="NewBaskerville-Roman"/>
              </a:rPr>
              <a:t>would return 0.0729, the probability of observing exactly x = 2 successes in size = 5 trials, where the probability of success for each trial is p = 0.1</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t>60</a:t>
            </a:fld>
            <a:endParaRPr lang="en-US"/>
          </a:p>
        </p:txBody>
      </p:sp>
      <p:pic>
        <p:nvPicPr>
          <p:cNvPr id="9" name="Picture 8">
            <a:extLst>
              <a:ext uri="{FF2B5EF4-FFF2-40B4-BE49-F238E27FC236}">
                <a16:creationId xmlns:a16="http://schemas.microsoft.com/office/drawing/2014/main" id="{DA23E30A-374F-42B1-84F2-C95E5E521A31}"/>
              </a:ext>
            </a:extLst>
          </p:cNvPr>
          <p:cNvPicPr>
            <a:picLocks noChangeAspect="1"/>
          </p:cNvPicPr>
          <p:nvPr/>
        </p:nvPicPr>
        <p:blipFill>
          <a:blip r:embed="rId2"/>
          <a:stretch>
            <a:fillRect/>
          </a:stretch>
        </p:blipFill>
        <p:spPr>
          <a:xfrm>
            <a:off x="756462" y="5717052"/>
            <a:ext cx="6576112" cy="1013744"/>
          </a:xfrm>
          <a:prstGeom prst="rect">
            <a:avLst/>
          </a:prstGeom>
          <a:ln>
            <a:solidFill>
              <a:schemeClr val="tx1"/>
            </a:solidFill>
          </a:ln>
        </p:spPr>
      </p:pic>
      <p:pic>
        <p:nvPicPr>
          <p:cNvPr id="4" name="Picture 3"/>
          <p:cNvPicPr>
            <a:picLocks noChangeAspect="1"/>
          </p:cNvPicPr>
          <p:nvPr/>
        </p:nvPicPr>
        <p:blipFill>
          <a:blip r:embed="rId3"/>
          <a:stretch>
            <a:fillRect/>
          </a:stretch>
        </p:blipFill>
        <p:spPr>
          <a:xfrm>
            <a:off x="9253072" y="0"/>
            <a:ext cx="2879521" cy="2734887"/>
          </a:xfrm>
          <a:prstGeom prst="rect">
            <a:avLst/>
          </a:prstGeom>
        </p:spPr>
      </p:pic>
    </p:spTree>
    <p:extLst>
      <p:ext uri="{BB962C8B-B14F-4D97-AF65-F5344CB8AC3E}">
        <p14:creationId xmlns:p14="http://schemas.microsoft.com/office/powerpoint/2010/main" val="382636889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Binomial Distribution</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54228" y="1128583"/>
            <a:ext cx="6639696" cy="5165125"/>
          </a:xfrm>
        </p:spPr>
        <p:txBody>
          <a:bodyPr>
            <a:normAutofit/>
          </a:bodyPr>
          <a:lstStyle/>
          <a:p>
            <a:pPr algn="just">
              <a:buFont typeface="Wingdings" panose="05000000000000000000" pitchFamily="2" charset="2"/>
              <a:buChar char="Ø"/>
            </a:pPr>
            <a:r>
              <a:rPr lang="en-US" sz="2800" b="0" i="0" dirty="0">
                <a:solidFill>
                  <a:schemeClr val="tx1"/>
                </a:solidFill>
                <a:effectLst/>
                <a:latin typeface="NewBaskerville-Roman"/>
              </a:rPr>
              <a:t>There is a family of binomial distributions, depending on the values of n and p. </a:t>
            </a:r>
          </a:p>
          <a:p>
            <a:pPr algn="just">
              <a:buFont typeface="Wingdings" panose="05000000000000000000" pitchFamily="2" charset="2"/>
              <a:buChar char="Ø"/>
            </a:pPr>
            <a:r>
              <a:rPr lang="en-US" sz="2800" b="0" i="0" dirty="0">
                <a:solidFill>
                  <a:schemeClr val="tx1"/>
                </a:solidFill>
                <a:effectLst/>
                <a:latin typeface="NewBaskerville-Roman"/>
              </a:rPr>
              <a:t>The binomial distribution would answer a question like: </a:t>
            </a:r>
          </a:p>
          <a:p>
            <a:pPr lvl="1" algn="just">
              <a:buFont typeface="Wingdings" panose="05000000000000000000" pitchFamily="2" charset="2"/>
              <a:buChar char="Ø"/>
            </a:pPr>
            <a:r>
              <a:rPr lang="en-US" sz="2600" b="0" i="0" dirty="0">
                <a:solidFill>
                  <a:schemeClr val="tx1"/>
                </a:solidFill>
                <a:effectLst/>
                <a:latin typeface="NewBaskerville-Roman"/>
              </a:rPr>
              <a:t>If the probability of a click converting to a sale is 0.02, what is the probability of observing 0 sales in 200 clicks?</a:t>
            </a:r>
          </a:p>
          <a:p>
            <a:pPr lvl="2" algn="just">
              <a:buFont typeface="Wingdings" panose="05000000000000000000" pitchFamily="2" charset="2"/>
              <a:buChar char="Ø"/>
            </a:pPr>
            <a:r>
              <a:rPr lang="en-US" sz="2400" dirty="0">
                <a:solidFill>
                  <a:schemeClr val="tx1"/>
                </a:solidFill>
                <a:latin typeface="NewBaskerville-Roman"/>
              </a:rPr>
              <a:t>X=0, n=200, p=0.02</a:t>
            </a:r>
          </a:p>
          <a:p>
            <a:pPr lvl="2" algn="just">
              <a:buFont typeface="Wingdings" panose="05000000000000000000" pitchFamily="2" charset="2"/>
              <a:buChar char="Ø"/>
            </a:pPr>
            <a:r>
              <a:rPr lang="en-US" sz="2400" dirty="0" err="1">
                <a:solidFill>
                  <a:srgbClr val="FF0000"/>
                </a:solidFill>
                <a:latin typeface="NewBaskerville-Roman"/>
              </a:rPr>
              <a:t>stats.binom.pmf</a:t>
            </a:r>
            <a:r>
              <a:rPr lang="en-US" sz="2400" dirty="0">
                <a:solidFill>
                  <a:srgbClr val="FF0000"/>
                </a:solidFill>
                <a:latin typeface="NewBaskerville-Roman"/>
              </a:rPr>
              <a:t>(0, n=200, p=0.02)</a:t>
            </a:r>
          </a:p>
          <a:p>
            <a:pPr lvl="2" algn="just">
              <a:buFont typeface="Wingdings" panose="05000000000000000000" pitchFamily="2" charset="2"/>
              <a:buChar char="Ø"/>
            </a:pPr>
            <a:r>
              <a:rPr lang="en-US" sz="2400" b="0" i="0" dirty="0">
                <a:solidFill>
                  <a:schemeClr val="tx1"/>
                </a:solidFill>
                <a:effectLst/>
                <a:latin typeface="NewBaskerville-Roman"/>
              </a:rPr>
              <a:t>Ans: 0.017587946605721567</a:t>
            </a:r>
          </a:p>
          <a:p>
            <a:pPr algn="just"/>
            <a:endParaRPr lang="en-US" sz="2800" b="0" i="0" dirty="0">
              <a:solidFill>
                <a:schemeClr val="tx1"/>
              </a:solidFill>
              <a:effectLst/>
              <a:latin typeface="NewBaskerville-Roman"/>
            </a:endParaRP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t>61</a:t>
            </a:fld>
            <a:endParaRPr lang="en-US"/>
          </a:p>
        </p:txBody>
      </p:sp>
      <p:pic>
        <p:nvPicPr>
          <p:cNvPr id="6" name="Content Placeholder 5">
            <a:extLst>
              <a:ext uri="{FF2B5EF4-FFF2-40B4-BE49-F238E27FC236}">
                <a16:creationId xmlns:a16="http://schemas.microsoft.com/office/drawing/2014/main" id="{97C1E5A5-4F97-4B6E-950E-BD439BD7428C}"/>
              </a:ext>
            </a:extLst>
          </p:cNvPr>
          <p:cNvPicPr>
            <a:picLocks noChangeAspect="1"/>
          </p:cNvPicPr>
          <p:nvPr/>
        </p:nvPicPr>
        <p:blipFill rotWithShape="1">
          <a:blip r:embed="rId2"/>
          <a:srcRect l="2247" t="1994" r="24176" b="3902"/>
          <a:stretch/>
        </p:blipFill>
        <p:spPr>
          <a:xfrm>
            <a:off x="7199870" y="1128582"/>
            <a:ext cx="4637902" cy="5165125"/>
          </a:xfrm>
          <a:prstGeom prst="rect">
            <a:avLst/>
          </a:prstGeom>
          <a:ln>
            <a:solidFill>
              <a:schemeClr val="tx1"/>
            </a:solidFill>
          </a:ln>
        </p:spPr>
      </p:pic>
    </p:spTree>
    <p:extLst>
      <p:ext uri="{BB962C8B-B14F-4D97-AF65-F5344CB8AC3E}">
        <p14:creationId xmlns:p14="http://schemas.microsoft.com/office/powerpoint/2010/main" val="75081051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Chi-Square Distribution</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54228" y="1128583"/>
            <a:ext cx="8919774" cy="5165125"/>
          </a:xfrm>
        </p:spPr>
        <p:txBody>
          <a:bodyPr>
            <a:normAutofit fontScale="85000" lnSpcReduction="10000"/>
          </a:bodyPr>
          <a:lstStyle/>
          <a:p>
            <a:pPr algn="just">
              <a:buFont typeface="Wingdings" panose="05000000000000000000" pitchFamily="2" charset="2"/>
              <a:buChar char="Ø"/>
            </a:pPr>
            <a:r>
              <a:rPr lang="en-US" sz="3000" dirty="0">
                <a:solidFill>
                  <a:schemeClr val="tx1"/>
                </a:solidFill>
                <a:latin typeface="NewBaskerville-Roman"/>
              </a:rPr>
              <a:t>Chi-square (Χ2) distributions are a family of continuous probability distributions. They’re widely used in hypothesis tests, including the chi-square goodness of fit test and the chi-square test of independence.</a:t>
            </a:r>
          </a:p>
          <a:p>
            <a:pPr algn="just">
              <a:buFont typeface="Wingdings" panose="05000000000000000000" pitchFamily="2" charset="2"/>
              <a:buChar char="Ø"/>
            </a:pPr>
            <a:r>
              <a:rPr lang="en-US" sz="3000" dirty="0">
                <a:solidFill>
                  <a:schemeClr val="tx1"/>
                </a:solidFill>
                <a:latin typeface="NewBaskerville-Roman"/>
              </a:rPr>
              <a:t>The shape of a chi-square distribution is determined by the parameter k, which represents the degrees of freedom.</a:t>
            </a:r>
          </a:p>
          <a:p>
            <a:pPr algn="just">
              <a:buFont typeface="Wingdings" panose="05000000000000000000" pitchFamily="2" charset="2"/>
              <a:buChar char="Ø"/>
            </a:pPr>
            <a:r>
              <a:rPr lang="en-US" sz="3000" dirty="0">
                <a:solidFill>
                  <a:schemeClr val="tx1"/>
                </a:solidFill>
                <a:latin typeface="NewBaskerville-Roman"/>
              </a:rPr>
              <a:t>Very few real-world observations follow a chi-square distribution. The main purpose of chi-square distributions is hypothesis testing, not describing real-world distributions.</a:t>
            </a:r>
          </a:p>
          <a:p>
            <a:pPr algn="just">
              <a:buFont typeface="Wingdings" panose="05000000000000000000" pitchFamily="2" charset="2"/>
              <a:buChar char="Ø"/>
            </a:pPr>
            <a:r>
              <a:rPr lang="en-US" sz="3000" dirty="0">
                <a:solidFill>
                  <a:schemeClr val="tx1"/>
                </a:solidFill>
                <a:latin typeface="NewBaskerville-Roman"/>
              </a:rPr>
              <a:t>Chi-square distributions are useful for hypothesis testing because of their close relationship to the standard normal distribution.</a:t>
            </a:r>
            <a:endParaRPr lang="en-US" sz="3000" b="0" i="0" dirty="0">
              <a:solidFill>
                <a:schemeClr val="tx1"/>
              </a:solidFill>
              <a:effectLst/>
              <a:latin typeface="NewBaskerville-Roman"/>
            </a:endParaRP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t>62</a:t>
            </a:fld>
            <a:endParaRPr lang="en-US"/>
          </a:p>
        </p:txBody>
      </p:sp>
    </p:spTree>
    <p:extLst>
      <p:ext uri="{BB962C8B-B14F-4D97-AF65-F5344CB8AC3E}">
        <p14:creationId xmlns:p14="http://schemas.microsoft.com/office/powerpoint/2010/main" val="86008289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Chi-Square Distribution</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54228" y="1128583"/>
            <a:ext cx="8919774" cy="5165125"/>
          </a:xfrm>
        </p:spPr>
        <p:txBody>
          <a:bodyPr>
            <a:normAutofit fontScale="77500" lnSpcReduction="20000"/>
          </a:bodyPr>
          <a:lstStyle/>
          <a:p>
            <a:pPr algn="just">
              <a:buFont typeface="Wingdings" panose="05000000000000000000" pitchFamily="2" charset="2"/>
              <a:buChar char="Ø"/>
            </a:pPr>
            <a:r>
              <a:rPr lang="en-US" sz="3000" dirty="0">
                <a:solidFill>
                  <a:schemeClr val="tx1"/>
                </a:solidFill>
                <a:latin typeface="NewBaskerville-Roman"/>
              </a:rPr>
              <a:t>Imagine taking a random sample of a standard normal distribution (Z). If you squared all the values in the sample, you would have the chi-square distribution with k = 1.</a:t>
            </a:r>
          </a:p>
          <a:p>
            <a:pPr lvl="1" algn="just">
              <a:buFont typeface="Wingdings" panose="05000000000000000000" pitchFamily="2" charset="2"/>
              <a:buChar char="Ø"/>
            </a:pPr>
            <a:r>
              <a:rPr lang="el-GR" sz="2800" dirty="0"/>
              <a:t>Χ</a:t>
            </a:r>
            <a:r>
              <a:rPr lang="el-GR" sz="2800" baseline="30000" dirty="0"/>
              <a:t>2</a:t>
            </a:r>
            <a:r>
              <a:rPr lang="el-GR" sz="2800" baseline="-25000" dirty="0"/>
              <a:t>1</a:t>
            </a:r>
            <a:r>
              <a:rPr lang="el-GR" sz="2800" dirty="0"/>
              <a:t> = (</a:t>
            </a:r>
            <a:r>
              <a:rPr lang="en-US" sz="2800" i="1" dirty="0"/>
              <a:t>Z</a:t>
            </a:r>
            <a:r>
              <a:rPr lang="en-US" sz="2800" dirty="0"/>
              <a:t>)</a:t>
            </a:r>
            <a:r>
              <a:rPr lang="en-US" sz="2800" baseline="30000" dirty="0"/>
              <a:t>2</a:t>
            </a:r>
          </a:p>
          <a:p>
            <a:pPr algn="just">
              <a:buFont typeface="Wingdings" panose="05000000000000000000" pitchFamily="2" charset="2"/>
              <a:buChar char="Ø"/>
            </a:pPr>
            <a:r>
              <a:rPr lang="en-US" sz="3000" dirty="0">
                <a:solidFill>
                  <a:schemeClr val="tx1"/>
                </a:solidFill>
                <a:latin typeface="NewBaskerville-Roman"/>
              </a:rPr>
              <a:t>Now imagine taking samples from two standard normal distributions (Z1 and Z2). If each time you sampled a pair of values, you squared them and added them together, you would have the chi-square distribution with k = 2.</a:t>
            </a:r>
          </a:p>
          <a:p>
            <a:pPr lvl="1" algn="just">
              <a:buFont typeface="Wingdings" panose="05000000000000000000" pitchFamily="2" charset="2"/>
              <a:buChar char="Ø"/>
            </a:pPr>
            <a:r>
              <a:rPr lang="el-GR" sz="2800" dirty="0">
                <a:solidFill>
                  <a:schemeClr val="tx1"/>
                </a:solidFill>
                <a:latin typeface="NewBaskerville-Roman"/>
              </a:rPr>
              <a:t>Χ22 = (</a:t>
            </a:r>
            <a:r>
              <a:rPr lang="en-US" sz="2800" dirty="0">
                <a:solidFill>
                  <a:schemeClr val="tx1"/>
                </a:solidFill>
                <a:latin typeface="NewBaskerville-Roman"/>
              </a:rPr>
              <a:t>Z1)2 + (Z2)2</a:t>
            </a:r>
          </a:p>
          <a:p>
            <a:pPr algn="just">
              <a:buFont typeface="Wingdings" panose="05000000000000000000" pitchFamily="2" charset="2"/>
              <a:buChar char="Ø"/>
            </a:pPr>
            <a:r>
              <a:rPr lang="en-US" sz="3000" dirty="0">
                <a:solidFill>
                  <a:schemeClr val="tx1"/>
                </a:solidFill>
                <a:latin typeface="NewBaskerville-Roman"/>
              </a:rPr>
              <a:t>More generally, if you sample from k independent standard normal distributions and then square and sum the values, you’ll produce a chi-square distribution with k degrees of freedom. </a:t>
            </a:r>
          </a:p>
          <a:p>
            <a:pPr algn="just">
              <a:buFont typeface="Wingdings" panose="05000000000000000000" pitchFamily="2" charset="2"/>
              <a:buChar char="Ø"/>
            </a:pPr>
            <a:endParaRPr lang="en-US" sz="3000" dirty="0">
              <a:solidFill>
                <a:schemeClr val="tx1"/>
              </a:solidFill>
              <a:latin typeface="NewBaskerville-Roman"/>
            </a:endParaRPr>
          </a:p>
          <a:p>
            <a:pPr algn="just">
              <a:buFont typeface="Wingdings" panose="05000000000000000000" pitchFamily="2" charset="2"/>
              <a:buChar char="Ø"/>
            </a:pPr>
            <a:r>
              <a:rPr lang="en-US" sz="3000" dirty="0">
                <a:solidFill>
                  <a:schemeClr val="tx1"/>
                </a:solidFill>
                <a:latin typeface="NewBaskerville-Roman"/>
              </a:rPr>
              <a:t>Χ2k = (Z1)2 + (Z2)2 + … + (</a:t>
            </a:r>
            <a:r>
              <a:rPr lang="en-US" sz="3000" dirty="0" err="1">
                <a:solidFill>
                  <a:schemeClr val="tx1"/>
                </a:solidFill>
                <a:latin typeface="NewBaskerville-Roman"/>
              </a:rPr>
              <a:t>Zk</a:t>
            </a:r>
            <a:r>
              <a:rPr lang="en-US" sz="3000" dirty="0">
                <a:solidFill>
                  <a:schemeClr val="tx1"/>
                </a:solidFill>
                <a:latin typeface="NewBaskerville-Roman"/>
              </a:rPr>
              <a:t>)2</a:t>
            </a:r>
          </a:p>
          <a:p>
            <a:pPr algn="just">
              <a:buFont typeface="Wingdings" panose="05000000000000000000" pitchFamily="2" charset="2"/>
              <a:buChar char="Ø"/>
            </a:pPr>
            <a:endParaRPr lang="en-US" sz="3000" dirty="0">
              <a:solidFill>
                <a:schemeClr val="tx1"/>
              </a:solidFill>
              <a:latin typeface="NewBaskerville-Roman"/>
            </a:endParaRPr>
          </a:p>
          <a:p>
            <a:pPr algn="just">
              <a:buFont typeface="Wingdings" panose="05000000000000000000" pitchFamily="2" charset="2"/>
              <a:buChar char="Ø"/>
            </a:pPr>
            <a:endParaRPr lang="en-US" sz="3000" b="0" i="0" dirty="0">
              <a:solidFill>
                <a:schemeClr val="tx1"/>
              </a:solidFill>
              <a:effectLst/>
              <a:latin typeface="NewBaskerville-Roman"/>
            </a:endParaRP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t>63</a:t>
            </a:fld>
            <a:endParaRPr lang="en-US"/>
          </a:p>
        </p:txBody>
      </p:sp>
      <p:pic>
        <p:nvPicPr>
          <p:cNvPr id="4" name="Picture 3"/>
          <p:cNvPicPr>
            <a:picLocks noChangeAspect="1"/>
          </p:cNvPicPr>
          <p:nvPr/>
        </p:nvPicPr>
        <p:blipFill>
          <a:blip r:embed="rId2"/>
          <a:stretch>
            <a:fillRect/>
          </a:stretch>
        </p:blipFill>
        <p:spPr>
          <a:xfrm>
            <a:off x="2516061" y="2010343"/>
            <a:ext cx="1390844" cy="543001"/>
          </a:xfrm>
          <a:prstGeom prst="rect">
            <a:avLst/>
          </a:prstGeom>
        </p:spPr>
      </p:pic>
      <p:pic>
        <p:nvPicPr>
          <p:cNvPr id="6" name="Picture 5"/>
          <p:cNvPicPr>
            <a:picLocks noChangeAspect="1"/>
          </p:cNvPicPr>
          <p:nvPr/>
        </p:nvPicPr>
        <p:blipFill>
          <a:blip r:embed="rId3"/>
          <a:stretch>
            <a:fillRect/>
          </a:stretch>
        </p:blipFill>
        <p:spPr>
          <a:xfrm>
            <a:off x="3906905" y="3640761"/>
            <a:ext cx="2219575" cy="541786"/>
          </a:xfrm>
          <a:prstGeom prst="rect">
            <a:avLst/>
          </a:prstGeom>
        </p:spPr>
      </p:pic>
      <p:pic>
        <p:nvPicPr>
          <p:cNvPr id="7" name="Picture 6"/>
          <p:cNvPicPr>
            <a:picLocks noChangeAspect="1"/>
          </p:cNvPicPr>
          <p:nvPr/>
        </p:nvPicPr>
        <p:blipFill>
          <a:blip r:embed="rId4"/>
          <a:stretch>
            <a:fillRect/>
          </a:stretch>
        </p:blipFill>
        <p:spPr>
          <a:xfrm>
            <a:off x="783547" y="6060788"/>
            <a:ext cx="3924848" cy="609685"/>
          </a:xfrm>
          <a:prstGeom prst="rect">
            <a:avLst/>
          </a:prstGeom>
        </p:spPr>
      </p:pic>
    </p:spTree>
    <p:extLst>
      <p:ext uri="{BB962C8B-B14F-4D97-AF65-F5344CB8AC3E}">
        <p14:creationId xmlns:p14="http://schemas.microsoft.com/office/powerpoint/2010/main" val="333357887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Poisson and Related Distributions</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54228" y="1128583"/>
            <a:ext cx="9039154" cy="5165125"/>
          </a:xfrm>
        </p:spPr>
        <p:txBody>
          <a:bodyPr>
            <a:normAutofit fontScale="92500" lnSpcReduction="10000"/>
          </a:bodyPr>
          <a:lstStyle/>
          <a:p>
            <a:pPr algn="just">
              <a:buFont typeface="Wingdings" panose="05000000000000000000" pitchFamily="2" charset="2"/>
              <a:buChar char="Ø"/>
            </a:pPr>
            <a:r>
              <a:rPr lang="en-US" sz="3000" b="0" i="0" dirty="0">
                <a:solidFill>
                  <a:schemeClr val="tx1"/>
                </a:solidFill>
                <a:effectLst/>
                <a:latin typeface="NewBaskerville-Roman"/>
              </a:rPr>
              <a:t>The </a:t>
            </a:r>
            <a:r>
              <a:rPr lang="en-US" sz="3000" b="1" i="0" dirty="0">
                <a:solidFill>
                  <a:srgbClr val="FF0000"/>
                </a:solidFill>
                <a:effectLst/>
                <a:latin typeface="NewBaskerville-Roman"/>
              </a:rPr>
              <a:t>Poisson</a:t>
            </a:r>
            <a:r>
              <a:rPr lang="en-US" sz="3000" b="0" i="0" dirty="0">
                <a:solidFill>
                  <a:schemeClr val="tx1"/>
                </a:solidFill>
                <a:effectLst/>
                <a:latin typeface="NewBaskerville-Roman"/>
              </a:rPr>
              <a:t> distribution tells us the distribution of events per unit of time or space when we sample many such units.</a:t>
            </a:r>
          </a:p>
          <a:p>
            <a:pPr lvl="1" algn="just">
              <a:buFont typeface="Wingdings" panose="05000000000000000000" pitchFamily="2" charset="2"/>
              <a:buChar char="Ø"/>
            </a:pPr>
            <a:r>
              <a:rPr lang="en-US" sz="2800" b="0" i="0" dirty="0">
                <a:solidFill>
                  <a:schemeClr val="tx1"/>
                </a:solidFill>
                <a:effectLst/>
                <a:latin typeface="NewBaskerville-Roman"/>
              </a:rPr>
              <a:t>From prior aggregate data (for example, number of flu infections per year), we can estimate the average number of events per unit of time or space (e.g., infections per </a:t>
            </a:r>
            <a:r>
              <a:rPr lang="en-US" sz="3000" b="0" i="0" dirty="0">
                <a:solidFill>
                  <a:schemeClr val="tx1"/>
                </a:solidFill>
                <a:effectLst/>
                <a:latin typeface="NewBaskerville-Roman"/>
              </a:rPr>
              <a:t>day, or per census unit).</a:t>
            </a:r>
          </a:p>
          <a:p>
            <a:pPr algn="just">
              <a:buFont typeface="Wingdings" panose="05000000000000000000" pitchFamily="2" charset="2"/>
              <a:buChar char="Ø"/>
            </a:pPr>
            <a:r>
              <a:rPr lang="en-US" sz="3200" b="0" i="0" dirty="0">
                <a:solidFill>
                  <a:schemeClr val="tx1"/>
                </a:solidFill>
                <a:effectLst/>
                <a:latin typeface="NewBaskerville-Roman"/>
              </a:rPr>
              <a:t>The key parameter in a Poisson distribution is λ, or </a:t>
            </a:r>
            <a:r>
              <a:rPr lang="en-US" sz="3200" b="1" i="0" dirty="0">
                <a:solidFill>
                  <a:schemeClr val="tx1"/>
                </a:solidFill>
                <a:effectLst/>
                <a:latin typeface="NewBaskerville-Roman"/>
              </a:rPr>
              <a:t>lambda</a:t>
            </a:r>
            <a:r>
              <a:rPr lang="en-US" sz="3200" b="0" i="0" dirty="0">
                <a:solidFill>
                  <a:schemeClr val="tx1"/>
                </a:solidFill>
                <a:effectLst/>
                <a:latin typeface="NewBaskerville-Roman"/>
              </a:rPr>
              <a:t>. This is the mean number of events that occurs in a specified interval of time or space. </a:t>
            </a:r>
          </a:p>
          <a:p>
            <a:pPr algn="just">
              <a:buFont typeface="Wingdings" panose="05000000000000000000" pitchFamily="2" charset="2"/>
              <a:buChar char="Ø"/>
            </a:pPr>
            <a:r>
              <a:rPr lang="en-US" sz="3200" b="0" i="0" dirty="0">
                <a:solidFill>
                  <a:schemeClr val="tx1"/>
                </a:solidFill>
                <a:effectLst/>
                <a:latin typeface="NewBaskerville-Roman"/>
              </a:rPr>
              <a:t>The variance for a Poisson distribution is also λ.</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t>64</a:t>
            </a:fld>
            <a:endParaRPr lang="en-US"/>
          </a:p>
        </p:txBody>
      </p:sp>
      <p:pic>
        <p:nvPicPr>
          <p:cNvPr id="1026" name="Picture 2">
            <a:extLst>
              <a:ext uri="{FF2B5EF4-FFF2-40B4-BE49-F238E27FC236}">
                <a16:creationId xmlns:a16="http://schemas.microsoft.com/office/drawing/2014/main" id="{FA28E345-1598-30F5-3236-A4654DDBB7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3633" y="5890549"/>
            <a:ext cx="3857625" cy="666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151608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9EBE90F-3E61-9010-4282-61A415FC7492}"/>
              </a:ext>
            </a:extLst>
          </p:cNvPr>
          <p:cNvPicPr>
            <a:picLocks noChangeAspect="1"/>
          </p:cNvPicPr>
          <p:nvPr/>
        </p:nvPicPr>
        <p:blipFill>
          <a:blip r:embed="rId2"/>
          <a:stretch>
            <a:fillRect/>
          </a:stretch>
        </p:blipFill>
        <p:spPr>
          <a:xfrm>
            <a:off x="1318054" y="988735"/>
            <a:ext cx="8427309" cy="4712683"/>
          </a:xfrm>
          <a:prstGeom prst="rect">
            <a:avLst/>
          </a:prstGeom>
        </p:spPr>
      </p:pic>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Poisson and Related Distributions</a:t>
            </a: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t>65</a:t>
            </a:fld>
            <a:endParaRPr lang="en-US"/>
          </a:p>
        </p:txBody>
      </p:sp>
      <p:pic>
        <p:nvPicPr>
          <p:cNvPr id="1026" name="Picture 2">
            <a:extLst>
              <a:ext uri="{FF2B5EF4-FFF2-40B4-BE49-F238E27FC236}">
                <a16:creationId xmlns:a16="http://schemas.microsoft.com/office/drawing/2014/main" id="{FA28E345-1598-30F5-3236-A4654DDBB7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3067" y="5806728"/>
            <a:ext cx="3857625" cy="6667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a:extLst>
              <a:ext uri="{FF2B5EF4-FFF2-40B4-BE49-F238E27FC236}">
                <a16:creationId xmlns:a16="http://schemas.microsoft.com/office/drawing/2014/main" id="{49E41356-3469-2462-4A0D-6A5848AA80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334" y="2365449"/>
            <a:ext cx="3857625" cy="666750"/>
          </a:xfrm>
          <a:prstGeom prst="rect">
            <a:avLst/>
          </a:prstGeom>
          <a:solidFill>
            <a:schemeClr val="accent1">
              <a:lumMod val="40000"/>
              <a:lumOff val="60000"/>
            </a:schemeClr>
          </a:solidFill>
        </p:spPr>
      </p:pic>
    </p:spTree>
    <p:extLst>
      <p:ext uri="{BB962C8B-B14F-4D97-AF65-F5344CB8AC3E}">
        <p14:creationId xmlns:p14="http://schemas.microsoft.com/office/powerpoint/2010/main" val="351605471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722180C-A0C9-B7EC-1E6B-CE763171283E}"/>
              </a:ext>
            </a:extLst>
          </p:cNvPr>
          <p:cNvSpPr>
            <a:spLocks noGrp="1"/>
          </p:cNvSpPr>
          <p:nvPr>
            <p:ph type="sldNum" sz="quarter" idx="12"/>
          </p:nvPr>
        </p:nvSpPr>
        <p:spPr/>
        <p:txBody>
          <a:bodyPr/>
          <a:lstStyle/>
          <a:p>
            <a:fld id="{CC529A1F-6900-4D36-92AC-B7647C1D9DDB}" type="slidenum">
              <a:rPr lang="en-US" smtClean="0"/>
              <a:t>66</a:t>
            </a:fld>
            <a:endParaRPr lang="en-US"/>
          </a:p>
        </p:txBody>
      </p:sp>
      <p:pic>
        <p:nvPicPr>
          <p:cNvPr id="4" name="Picture 3">
            <a:extLst>
              <a:ext uri="{FF2B5EF4-FFF2-40B4-BE49-F238E27FC236}">
                <a16:creationId xmlns:a16="http://schemas.microsoft.com/office/drawing/2014/main" id="{353156F8-06B3-4167-AF87-395945A196CB}"/>
              </a:ext>
            </a:extLst>
          </p:cNvPr>
          <p:cNvPicPr>
            <a:picLocks noChangeAspect="1"/>
          </p:cNvPicPr>
          <p:nvPr/>
        </p:nvPicPr>
        <p:blipFill>
          <a:blip r:embed="rId2"/>
          <a:stretch>
            <a:fillRect/>
          </a:stretch>
        </p:blipFill>
        <p:spPr>
          <a:xfrm>
            <a:off x="397407" y="1712762"/>
            <a:ext cx="11353740" cy="3683021"/>
          </a:xfrm>
          <a:prstGeom prst="rect">
            <a:avLst/>
          </a:prstGeom>
        </p:spPr>
      </p:pic>
    </p:spTree>
    <p:extLst>
      <p:ext uri="{BB962C8B-B14F-4D97-AF65-F5344CB8AC3E}">
        <p14:creationId xmlns:p14="http://schemas.microsoft.com/office/powerpoint/2010/main" val="1361223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Poisson and Related Distributions</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54228" y="1128583"/>
            <a:ext cx="11434118" cy="5165125"/>
          </a:xfrm>
        </p:spPr>
        <p:txBody>
          <a:bodyPr>
            <a:normAutofit/>
          </a:bodyPr>
          <a:lstStyle/>
          <a:p>
            <a:pPr algn="just"/>
            <a:endParaRPr lang="en-US" sz="3200" b="0" i="0" dirty="0">
              <a:solidFill>
                <a:schemeClr val="tx1"/>
              </a:solidFill>
              <a:effectLst/>
              <a:latin typeface="NewBaskerville-Roman"/>
            </a:endParaRPr>
          </a:p>
          <a:p>
            <a:pPr algn="just"/>
            <a:endParaRPr lang="en-US" sz="3200" dirty="0">
              <a:solidFill>
                <a:schemeClr val="tx1"/>
              </a:solidFill>
              <a:latin typeface="NewBaskerville-Roman"/>
            </a:endParaRPr>
          </a:p>
          <a:p>
            <a:pPr algn="just"/>
            <a:endParaRPr lang="en-US" sz="3200" b="0" i="0" dirty="0">
              <a:solidFill>
                <a:schemeClr val="tx1"/>
              </a:solidFill>
              <a:effectLst/>
              <a:latin typeface="NewBaskerville-Roman"/>
            </a:endParaRPr>
          </a:p>
          <a:p>
            <a:pPr algn="just"/>
            <a:endParaRPr lang="en-US" sz="3200" dirty="0">
              <a:solidFill>
                <a:schemeClr val="tx1"/>
              </a:solidFill>
              <a:latin typeface="NewBaskerville-Roman"/>
            </a:endParaRPr>
          </a:p>
          <a:p>
            <a:pPr algn="just"/>
            <a:endParaRPr lang="en-US" sz="3200" b="0" i="0" dirty="0">
              <a:solidFill>
                <a:schemeClr val="tx1"/>
              </a:solidFill>
              <a:effectLst/>
              <a:latin typeface="NewBaskerville-Roman"/>
            </a:endParaRPr>
          </a:p>
          <a:p>
            <a:pPr algn="just"/>
            <a:endParaRPr lang="en-US" sz="3200" dirty="0">
              <a:solidFill>
                <a:schemeClr val="tx1"/>
              </a:solidFill>
              <a:latin typeface="NewBaskerville-Roman"/>
            </a:endParaRPr>
          </a:p>
          <a:p>
            <a:pPr algn="just"/>
            <a:r>
              <a:rPr lang="en-US" sz="3200" b="0" i="0" dirty="0">
                <a:solidFill>
                  <a:schemeClr val="tx1"/>
                </a:solidFill>
                <a:effectLst/>
                <a:latin typeface="NewBaskerville-Roman"/>
              </a:rPr>
              <a:t>17 calls at zero min</a:t>
            </a:r>
          </a:p>
          <a:p>
            <a:pPr algn="just"/>
            <a:r>
              <a:rPr lang="en-US" sz="3200" dirty="0">
                <a:solidFill>
                  <a:schemeClr val="tx1"/>
                </a:solidFill>
                <a:latin typeface="NewBaskerville-Roman"/>
              </a:rPr>
              <a:t>24 calls at 1 min</a:t>
            </a:r>
            <a:endParaRPr lang="en-US" sz="3200" b="0" i="0" dirty="0">
              <a:solidFill>
                <a:schemeClr val="tx1"/>
              </a:solidFill>
              <a:effectLst/>
              <a:latin typeface="NewBaskerville-Roman"/>
            </a:endParaRP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fld id="{CC529A1F-6900-4D36-92AC-B7647C1D9DDB}" type="slidenum">
              <a:rPr lang="en-US" smtClean="0"/>
              <a:t>67</a:t>
            </a:fld>
            <a:endParaRPr lang="en-US"/>
          </a:p>
        </p:txBody>
      </p:sp>
      <p:pic>
        <p:nvPicPr>
          <p:cNvPr id="6" name="Picture 5">
            <a:extLst>
              <a:ext uri="{FF2B5EF4-FFF2-40B4-BE49-F238E27FC236}">
                <a16:creationId xmlns:a16="http://schemas.microsoft.com/office/drawing/2014/main" id="{0F4F5FDC-9070-4F78-9A2D-896D2763589C}"/>
              </a:ext>
            </a:extLst>
          </p:cNvPr>
          <p:cNvPicPr>
            <a:picLocks noChangeAspect="1"/>
          </p:cNvPicPr>
          <p:nvPr/>
        </p:nvPicPr>
        <p:blipFill>
          <a:blip r:embed="rId2"/>
          <a:stretch>
            <a:fillRect/>
          </a:stretch>
        </p:blipFill>
        <p:spPr>
          <a:xfrm>
            <a:off x="403654" y="1128583"/>
            <a:ext cx="10981107" cy="2416518"/>
          </a:xfrm>
          <a:prstGeom prst="rect">
            <a:avLst/>
          </a:prstGeom>
        </p:spPr>
      </p:pic>
      <p:pic>
        <p:nvPicPr>
          <p:cNvPr id="8" name="Picture 7">
            <a:extLst>
              <a:ext uri="{FF2B5EF4-FFF2-40B4-BE49-F238E27FC236}">
                <a16:creationId xmlns:a16="http://schemas.microsoft.com/office/drawing/2014/main" id="{00FD62E1-2702-4AA3-9FB3-EF930F65C525}"/>
              </a:ext>
            </a:extLst>
          </p:cNvPr>
          <p:cNvPicPr>
            <a:picLocks noChangeAspect="1"/>
          </p:cNvPicPr>
          <p:nvPr/>
        </p:nvPicPr>
        <p:blipFill>
          <a:blip r:embed="rId3"/>
          <a:stretch>
            <a:fillRect/>
          </a:stretch>
        </p:blipFill>
        <p:spPr>
          <a:xfrm>
            <a:off x="5726557" y="3608742"/>
            <a:ext cx="4048252" cy="2797745"/>
          </a:xfrm>
          <a:prstGeom prst="rect">
            <a:avLst/>
          </a:prstGeom>
          <a:ln>
            <a:solidFill>
              <a:schemeClr val="tx1"/>
            </a:solidFill>
          </a:ln>
        </p:spPr>
      </p:pic>
    </p:spTree>
    <p:extLst>
      <p:ext uri="{BB962C8B-B14F-4D97-AF65-F5344CB8AC3E}">
        <p14:creationId xmlns:p14="http://schemas.microsoft.com/office/powerpoint/2010/main" val="60832187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834C-F5CC-4046-8513-315A0F788736}"/>
              </a:ext>
            </a:extLst>
          </p:cNvPr>
          <p:cNvSpPr>
            <a:spLocks noGrp="1"/>
          </p:cNvSpPr>
          <p:nvPr>
            <p:ph type="title"/>
          </p:nvPr>
        </p:nvSpPr>
        <p:spPr>
          <a:xfrm>
            <a:off x="547816" y="272673"/>
            <a:ext cx="11149913" cy="757057"/>
          </a:xfrm>
        </p:spPr>
        <p:txBody>
          <a:bodyPr>
            <a:normAutofit/>
          </a:bodyPr>
          <a:lstStyle/>
          <a:p>
            <a:r>
              <a:rPr lang="en-US" dirty="0"/>
              <a:t>Poisson and Related Distributions</a:t>
            </a:r>
          </a:p>
        </p:txBody>
      </p:sp>
      <p:sp>
        <p:nvSpPr>
          <p:cNvPr id="3" name="Content Placeholder 2">
            <a:extLst>
              <a:ext uri="{FF2B5EF4-FFF2-40B4-BE49-F238E27FC236}">
                <a16:creationId xmlns:a16="http://schemas.microsoft.com/office/drawing/2014/main" id="{7B8584DC-3BE1-439B-A244-0F2BBE92DF23}"/>
              </a:ext>
            </a:extLst>
          </p:cNvPr>
          <p:cNvSpPr>
            <a:spLocks noGrp="1"/>
          </p:cNvSpPr>
          <p:nvPr>
            <p:ph idx="1"/>
          </p:nvPr>
        </p:nvSpPr>
        <p:spPr>
          <a:xfrm>
            <a:off x="354228" y="1128583"/>
            <a:ext cx="11434118" cy="5165125"/>
          </a:xfrm>
        </p:spPr>
        <p:txBody>
          <a:bodyPr>
            <a:normAutofit/>
          </a:bodyPr>
          <a:lstStyle/>
          <a:p>
            <a:pPr algn="just"/>
            <a:endParaRPr lang="en-US" sz="3200" b="0" i="0" dirty="0">
              <a:solidFill>
                <a:schemeClr val="tx1"/>
              </a:solidFill>
              <a:effectLst/>
              <a:latin typeface="NewBaskerville-Roman"/>
            </a:endParaRPr>
          </a:p>
          <a:p>
            <a:pPr algn="just"/>
            <a:endParaRPr lang="en-US" sz="3200" dirty="0">
              <a:solidFill>
                <a:schemeClr val="tx1"/>
              </a:solidFill>
              <a:latin typeface="NewBaskerville-Roman"/>
            </a:endParaRPr>
          </a:p>
          <a:p>
            <a:pPr algn="just"/>
            <a:endParaRPr lang="en-US" sz="3200" b="0" i="0" dirty="0">
              <a:solidFill>
                <a:schemeClr val="tx1"/>
              </a:solidFill>
              <a:effectLst/>
              <a:latin typeface="NewBaskerville-Roman"/>
            </a:endParaRPr>
          </a:p>
          <a:p>
            <a:pPr algn="just"/>
            <a:endParaRPr lang="en-US" sz="3200" dirty="0">
              <a:solidFill>
                <a:schemeClr val="tx1"/>
              </a:solidFill>
              <a:latin typeface="NewBaskerville-Roman"/>
            </a:endParaRPr>
          </a:p>
          <a:p>
            <a:pPr algn="just"/>
            <a:endParaRPr lang="en-US" sz="3200" b="0" i="0" dirty="0">
              <a:solidFill>
                <a:schemeClr val="tx1"/>
              </a:solidFill>
              <a:effectLst/>
              <a:latin typeface="NewBaskerville-Roman"/>
            </a:endParaRPr>
          </a:p>
          <a:p>
            <a:pPr algn="just"/>
            <a:endParaRPr lang="en-US" sz="3200" dirty="0">
              <a:solidFill>
                <a:schemeClr val="tx1"/>
              </a:solidFill>
              <a:latin typeface="NewBaskerville-Roman"/>
            </a:endParaRPr>
          </a:p>
          <a:p>
            <a:pPr algn="just"/>
            <a:endParaRPr lang="en-US" sz="3200" b="0" i="0" dirty="0">
              <a:solidFill>
                <a:schemeClr val="tx1"/>
              </a:solidFill>
              <a:effectLst/>
              <a:latin typeface="NewBaskerville-Roman"/>
            </a:endParaRPr>
          </a:p>
          <a:p>
            <a:pPr algn="just"/>
            <a:endParaRPr lang="en-US" sz="3200" b="0" i="0" dirty="0">
              <a:solidFill>
                <a:schemeClr val="tx1"/>
              </a:solidFill>
              <a:effectLst/>
              <a:latin typeface="NewBaskerville-Roman"/>
            </a:endParaRPr>
          </a:p>
        </p:txBody>
      </p:sp>
      <p:sp>
        <p:nvSpPr>
          <p:cNvPr id="5" name="Slide Number Placeholder 4">
            <a:extLst>
              <a:ext uri="{FF2B5EF4-FFF2-40B4-BE49-F238E27FC236}">
                <a16:creationId xmlns:a16="http://schemas.microsoft.com/office/drawing/2014/main" id="{8AA0EF2E-5A9C-42BE-A96E-DA13373D9FC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C529A1F-6900-4D36-92AC-B7647C1D9DDB}" type="slidenum">
              <a:rPr kumimoji="0" lang="en-US" sz="1200" b="0" i="0" u="none" strike="noStrike" kern="1200" cap="none" spc="0" normalizeH="0" baseline="0" noProof="0" smtClean="0">
                <a:ln>
                  <a:noFill/>
                </a:ln>
                <a:solidFill>
                  <a:srgbClr val="A6B727"/>
                </a:solidFill>
                <a:effectLst/>
                <a:uLnTx/>
                <a:uFillTx/>
                <a:latin typeface="Corbel" panose="020B0503020204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68</a:t>
            </a:fld>
            <a:endParaRPr kumimoji="0" lang="en-US" sz="1200" b="0" i="0" u="none" strike="noStrike" kern="1200" cap="none" spc="0" normalizeH="0" baseline="0" noProof="0">
              <a:ln>
                <a:noFill/>
              </a:ln>
              <a:solidFill>
                <a:srgbClr val="A6B727"/>
              </a:solidFill>
              <a:effectLst/>
              <a:uLnTx/>
              <a:uFillTx/>
              <a:latin typeface="Corbel" panose="020B0503020204020204"/>
              <a:ea typeface="+mn-ea"/>
              <a:cs typeface="+mn-cs"/>
            </a:endParaRPr>
          </a:p>
        </p:txBody>
      </p:sp>
      <p:pic>
        <p:nvPicPr>
          <p:cNvPr id="6" name="Picture 5">
            <a:extLst>
              <a:ext uri="{FF2B5EF4-FFF2-40B4-BE49-F238E27FC236}">
                <a16:creationId xmlns:a16="http://schemas.microsoft.com/office/drawing/2014/main" id="{E31C6987-58F4-474D-BE08-94BE18133F9E}"/>
              </a:ext>
            </a:extLst>
          </p:cNvPr>
          <p:cNvPicPr>
            <a:picLocks noChangeAspect="1"/>
          </p:cNvPicPr>
          <p:nvPr/>
        </p:nvPicPr>
        <p:blipFill rotWithShape="1">
          <a:blip r:embed="rId2"/>
          <a:srcRect b="49295"/>
          <a:stretch/>
        </p:blipFill>
        <p:spPr>
          <a:xfrm>
            <a:off x="1168211" y="2009580"/>
            <a:ext cx="9229725" cy="2554875"/>
          </a:xfrm>
          <a:prstGeom prst="rect">
            <a:avLst/>
          </a:prstGeom>
        </p:spPr>
      </p:pic>
    </p:spTree>
    <p:extLst>
      <p:ext uri="{BB962C8B-B14F-4D97-AF65-F5344CB8AC3E}">
        <p14:creationId xmlns:p14="http://schemas.microsoft.com/office/powerpoint/2010/main" val="2911496755"/>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TM03457444[[fn=Basis]]</Template>
  <TotalTime>0</TotalTime>
  <Words>5934</Words>
  <Application>Microsoft Office PowerPoint</Application>
  <PresentationFormat>Widescreen</PresentationFormat>
  <Paragraphs>476</Paragraphs>
  <Slides>68</Slides>
  <Notes>0</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68</vt:i4>
      </vt:variant>
    </vt:vector>
  </HeadingPairs>
  <TitlesOfParts>
    <vt:vector size="81" baseType="lpstr">
      <vt:lpstr>Arial</vt:lpstr>
      <vt:lpstr>Calibri</vt:lpstr>
      <vt:lpstr>Calibri Light</vt:lpstr>
      <vt:lpstr>Cambria Math</vt:lpstr>
      <vt:lpstr>Corbel</vt:lpstr>
      <vt:lpstr>FranklinGothic-DemiItal</vt:lpstr>
      <vt:lpstr>NewBaskerville-Roman</vt:lpstr>
      <vt:lpstr>Times New Roman</vt:lpstr>
      <vt:lpstr>Trebuchet MS</vt:lpstr>
      <vt:lpstr>Wingdings</vt:lpstr>
      <vt:lpstr>Wingdings 3</vt:lpstr>
      <vt:lpstr>Custom Design</vt:lpstr>
      <vt:lpstr>Facet</vt:lpstr>
      <vt:lpstr>PowerPoint Presentation</vt:lpstr>
      <vt:lpstr>Contents</vt:lpstr>
      <vt:lpstr>Population and Samples</vt:lpstr>
      <vt:lpstr>Data and sampling distributions</vt:lpstr>
      <vt:lpstr>Random Sampling and Sample Bias</vt:lpstr>
      <vt:lpstr>Bias</vt:lpstr>
      <vt:lpstr>Random Selection</vt:lpstr>
      <vt:lpstr>PowerPoint Presentation</vt:lpstr>
      <vt:lpstr>Size Versus Quality: When Does Size Matter?</vt:lpstr>
      <vt:lpstr>Sample Mean Versus Population Mean</vt:lpstr>
      <vt:lpstr>Key ideas</vt:lpstr>
      <vt:lpstr>Selection Bias</vt:lpstr>
      <vt:lpstr>Selection Bias (optional reading)</vt:lpstr>
      <vt:lpstr>Selection Bias: Example: Luck or talent</vt:lpstr>
      <vt:lpstr>Selection Bias</vt:lpstr>
      <vt:lpstr>Selection Bias</vt:lpstr>
      <vt:lpstr>Regression to the Mean</vt:lpstr>
      <vt:lpstr>Regression to the Mean</vt:lpstr>
      <vt:lpstr>Regression to the Mean</vt:lpstr>
      <vt:lpstr>PowerPoint Presentation</vt:lpstr>
      <vt:lpstr>Sampling Distribution of a Statistic/Fact</vt:lpstr>
      <vt:lpstr>Sampling Distribution of a Statistic/Fact</vt:lpstr>
      <vt:lpstr>Sampling Distribution of a Statistic (additional reading)</vt:lpstr>
      <vt:lpstr>Sampling Distribution of a Statistic</vt:lpstr>
      <vt:lpstr>Sampling Distribution of a Statistic</vt:lpstr>
      <vt:lpstr>Example: Sampling Distribution of a Statistic</vt:lpstr>
      <vt:lpstr>Central Limit Theorem</vt:lpstr>
      <vt:lpstr>Standard Error</vt:lpstr>
      <vt:lpstr>Standard Error</vt:lpstr>
      <vt:lpstr>Sampling Distribution</vt:lpstr>
      <vt:lpstr>The Bootstrap</vt:lpstr>
      <vt:lpstr>The Bootstrap</vt:lpstr>
      <vt:lpstr>The Bootstrap</vt:lpstr>
      <vt:lpstr>The Bootstrap</vt:lpstr>
      <vt:lpstr>The Bootstrap</vt:lpstr>
      <vt:lpstr>The Bootstrap</vt:lpstr>
      <vt:lpstr>The Bootstrap</vt:lpstr>
      <vt:lpstr>PowerPoint Presentation</vt:lpstr>
      <vt:lpstr>Resampling Versus Bootstrapping</vt:lpstr>
      <vt:lpstr>Confidence Intervals</vt:lpstr>
      <vt:lpstr>PowerPoint Presentation</vt:lpstr>
      <vt:lpstr>Confidence Intervals</vt:lpstr>
      <vt:lpstr>Confidence Intervals: Example</vt:lpstr>
      <vt:lpstr>Confidence Intervals (How to calculate CI)</vt:lpstr>
      <vt:lpstr>Confidence Intervals (How to calculate CI)</vt:lpstr>
      <vt:lpstr>Confidence Intervals</vt:lpstr>
      <vt:lpstr>Normal Distribution</vt:lpstr>
      <vt:lpstr>Standard Normal Distribution</vt:lpstr>
      <vt:lpstr>Standard Normal Distribution (additional reading)</vt:lpstr>
      <vt:lpstr>QQ-Plots</vt:lpstr>
      <vt:lpstr>Normal Distribution</vt:lpstr>
      <vt:lpstr>Standard Normal and QQ-Plots</vt:lpstr>
      <vt:lpstr>Long-Tailed Distributions</vt:lpstr>
      <vt:lpstr>Long-Tailed Distributions</vt:lpstr>
      <vt:lpstr>Long-Tailed Distributions</vt:lpstr>
      <vt:lpstr>t-Distribution</vt:lpstr>
      <vt:lpstr>t-Distribution</vt:lpstr>
      <vt:lpstr>t-Distribution</vt:lpstr>
      <vt:lpstr>t-Distribution</vt:lpstr>
      <vt:lpstr>Binomial Distribution</vt:lpstr>
      <vt:lpstr>Binomial Distribution</vt:lpstr>
      <vt:lpstr>Chi-Square Distribution</vt:lpstr>
      <vt:lpstr>Chi-Square Distribution</vt:lpstr>
      <vt:lpstr>Poisson and Related Distributions</vt:lpstr>
      <vt:lpstr>Poisson and Related Distributions</vt:lpstr>
      <vt:lpstr>PowerPoint Presentation</vt:lpstr>
      <vt:lpstr>Poisson and Related Distributions</vt:lpstr>
      <vt:lpstr>Poisson and Related Distributions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science</dc:title>
  <dc:creator>SIBAU</dc:creator>
  <cp:lastModifiedBy>Muhammad Ismail Mangrio</cp:lastModifiedBy>
  <cp:revision>795</cp:revision>
  <dcterms:created xsi:type="dcterms:W3CDTF">2021-02-15T05:10:53Z</dcterms:created>
  <dcterms:modified xsi:type="dcterms:W3CDTF">2025-10-30T20:37:42Z</dcterms:modified>
</cp:coreProperties>
</file>
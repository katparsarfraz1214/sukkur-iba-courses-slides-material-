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77" r:id="rId2"/>
    <p:sldId id="284" r:id="rId3"/>
    <p:sldId id="279" r:id="rId4"/>
    <p:sldId id="281" r:id="rId5"/>
    <p:sldId id="285" r:id="rId6"/>
    <p:sldId id="282" r:id="rId7"/>
    <p:sldId id="283" r:id="rId8"/>
    <p:sldId id="280" r:id="rId9"/>
    <p:sldId id="28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6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2138A5-75F4-463A-87C8-BDE7CBEF539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FEFDA-0757-41BE-BC76-2BCB40432E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6029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80F7-3B6D-45FD-A9E1-C8CB190EF747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81D2-3598-4BA7-9E30-9C8D60DB4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37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CED7C-349E-4ED5-A9A6-28D432E0A55B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81D2-3598-4BA7-9E30-9C8D60DB4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727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E4241-44D9-4850-A5E5-B57D849AC8F9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81D2-3598-4BA7-9E30-9C8D60DB4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74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C3A60-D094-4E8E-8C18-3E3251500374}" type="datetime1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81D2-3598-4BA7-9E30-9C8D60DB4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196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280D1-9362-4BC5-8E62-1E79CD3B8E72}" type="datetime1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81D2-3598-4BA7-9E30-9C8D60DB4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095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FFE1F-4A59-4813-BE38-ED132723E3DE}" type="datetime1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81D2-3598-4BA7-9E30-9C8D60DB4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647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07994-98F3-4AD7-B23B-08149E44789F}" type="datetime1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81D2-3598-4BA7-9E30-9C8D60DB4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347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7061-2EB0-4AB2-993F-284F92D1FC90}" type="datetime1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81D2-3598-4BA7-9E30-9C8D60DB4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12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66868-9C66-418E-8754-F9476AD4DEAC}" type="datetime1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81D2-3598-4BA7-9E30-9C8D60DB4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990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54836-F05F-4B74-93A2-BA1CC0777FB6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81D2-3598-4BA7-9E30-9C8D60DB4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478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25991-4473-47E2-9FEE-653A053A96AF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81D2-3598-4BA7-9E30-9C8D60DB4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529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2BF697-AE0D-43CA-A62B-C0492959644D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4481D2-3598-4BA7-9E30-9C8D60DB4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64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B13C29-8EDC-4B69-2CA8-D01C0FEA1F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939159"/>
            <a:ext cx="7644627" cy="2751086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Cross Validation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895765-6209-139F-6E28-C71E954ED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8600" y="4782320"/>
            <a:ext cx="7644627" cy="1329443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Dr Muhammad Ismail Mangrio</a:t>
            </a:r>
          </a:p>
        </p:txBody>
      </p:sp>
    </p:spTree>
    <p:extLst>
      <p:ext uri="{BB962C8B-B14F-4D97-AF65-F5344CB8AC3E}">
        <p14:creationId xmlns:p14="http://schemas.microsoft.com/office/powerpoint/2010/main" val="948895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 descr="A diagram of a test&#10;&#10;AI-generated content may be incorrect.">
            <a:extLst>
              <a:ext uri="{FF2B5EF4-FFF2-40B4-BE49-F238E27FC236}">
                <a16:creationId xmlns:a16="http://schemas.microsoft.com/office/drawing/2014/main" id="{C14642FD-3762-9FEC-C41E-70AFBFC6FA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6" r="9880" b="1"/>
          <a:stretch>
            <a:fillRect/>
          </a:stretch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F90809-D318-0904-4957-5AAB74D4AA57}"/>
              </a:ext>
            </a:extLst>
          </p:cNvPr>
          <p:cNvSpPr txBox="1"/>
          <p:nvPr/>
        </p:nvSpPr>
        <p:spPr>
          <a:xfrm>
            <a:off x="7531610" y="24342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Training and Test Data split</a:t>
            </a:r>
          </a:p>
        </p:txBody>
      </p:sp>
      <p:sp>
        <p:nvSpPr>
          <p:cNvPr id="6" name="AutoShape 6" descr="Illustration showing the division of a dataset into training and testing portions. The dataset is split into 80% training and 20% testing. The image emphasizes that only one model is scored.">
            <a:extLst>
              <a:ext uri="{FF2B5EF4-FFF2-40B4-BE49-F238E27FC236}">
                <a16:creationId xmlns:a16="http://schemas.microsoft.com/office/drawing/2014/main" id="{21CC02AA-FE8C-3EE6-549E-29E7BB49C6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54FD9E8-9CD5-8CDD-A692-ED48084D7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145BE-029A-3944-4803-E39BB7887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81D2-3598-4BA7-9E30-9C8D60DB4CE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68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11DD5-66BB-96CA-EF1B-1B95DB83C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and Test Data split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B11C6F-01BF-C8E7-A0B8-7A0888E91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416" y="1807569"/>
            <a:ext cx="10823384" cy="37547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462433-7C63-C86D-54A0-AEA30A667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6BAE22-8D16-8A6B-F137-BB2E9507C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81D2-3598-4BA7-9E30-9C8D60DB4CE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35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E62B8-1226-DF4B-1AC4-4E3E3B73E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and Test Data split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B51EA-C9BE-336C-584F-CED280F92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Train-Test Split:</a:t>
            </a:r>
          </a:p>
          <a:p>
            <a:r>
              <a:rPr lang="en-US" dirty="0"/>
              <a:t>Train → Learn the model</a:t>
            </a:r>
          </a:p>
          <a:p>
            <a:r>
              <a:rPr lang="en-US" dirty="0"/>
              <a:t>Test → Evaluate model</a:t>
            </a:r>
          </a:p>
          <a:p>
            <a:endParaRPr lang="en-US" dirty="0"/>
          </a:p>
          <a:p>
            <a:r>
              <a:rPr lang="en-US" dirty="0"/>
              <a:t>But what if we got </a:t>
            </a:r>
            <a:r>
              <a:rPr lang="en-US" b="1" dirty="0"/>
              <a:t>lucky</a:t>
            </a:r>
            <a:r>
              <a:rPr lang="en-US" dirty="0"/>
              <a:t> or </a:t>
            </a:r>
            <a:r>
              <a:rPr lang="en-US" b="1" dirty="0"/>
              <a:t>unlucky</a:t>
            </a:r>
            <a:r>
              <a:rPr lang="en-US" dirty="0"/>
              <a:t> with our split? </a:t>
            </a:r>
          </a:p>
          <a:p>
            <a:r>
              <a:rPr lang="en-US" dirty="0"/>
              <a:t>What if test data doesn’t represent the whole dataset?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DBC282-F799-B380-FB51-01D715B7F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D6450B-B47D-C595-DEE4-23974F677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81D2-3598-4BA7-9E30-9C8D60DB4C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060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FCA2118-59A2-4310-A4B2-F2CBA821E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12192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B5CA0-9F01-E52E-E9B7-26F06A574C46}"/>
              </a:ext>
            </a:extLst>
          </p:cNvPr>
          <p:cNvSpPr txBox="1"/>
          <p:nvPr/>
        </p:nvSpPr>
        <p:spPr>
          <a:xfrm>
            <a:off x="1255060" y="5279511"/>
            <a:ext cx="9681882" cy="739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K-fold Cross Validation</a:t>
            </a:r>
          </a:p>
        </p:txBody>
      </p:sp>
      <p:pic>
        <p:nvPicPr>
          <p:cNvPr id="5" name="Content Placeholder 4" descr="A diagram of a test&#10;&#10;AI-generated content may be incorrect.">
            <a:extLst>
              <a:ext uri="{FF2B5EF4-FFF2-40B4-BE49-F238E27FC236}">
                <a16:creationId xmlns:a16="http://schemas.microsoft.com/office/drawing/2014/main" id="{5C8E0942-CF9B-9F1C-CE50-A93B2167F6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119" y="32801"/>
            <a:ext cx="8413503" cy="490086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14AC8A1-923F-FDDE-D30E-D267CCC8E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23BDC0-0993-C69D-0363-352408ABA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81D2-3598-4BA7-9E30-9C8D60DB4C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479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2DE95-F19B-C2C1-663A-EAB571114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Validation</a:t>
            </a:r>
            <a:endParaRPr lang="en-GB" dirty="0"/>
          </a:p>
        </p:txBody>
      </p:sp>
      <p:sp>
        <p:nvSpPr>
          <p:cNvPr id="4" name="AutoShape 2" descr="222">
            <a:extLst>
              <a:ext uri="{FF2B5EF4-FFF2-40B4-BE49-F238E27FC236}">
                <a16:creationId xmlns:a16="http://schemas.microsoft.com/office/drawing/2014/main" id="{AC10D9F8-D2D0-DAEF-F668-33CD2A32DE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4" descr="Lightbox">
            <a:extLst>
              <a:ext uri="{FF2B5EF4-FFF2-40B4-BE49-F238E27FC236}">
                <a16:creationId xmlns:a16="http://schemas.microsoft.com/office/drawing/2014/main" id="{A871597A-2938-E183-CD9C-9FF16696FF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18DB5BF-FC70-6C5C-5DDA-06365AF2B4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78939" y="1817204"/>
            <a:ext cx="7643522" cy="3833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6ECC81-6346-2DF7-2A2A-7C139E8CC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C09A4-CDC6-24E4-F7C9-95EA97A5E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81D2-3598-4BA7-9E30-9C8D60DB4C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854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2C628-D7BC-8E76-BBA1-1BC809F53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Validation</a:t>
            </a:r>
            <a:endParaRPr lang="en-GB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53982F0-2FBA-DA82-7783-A6434CA6562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4944" y="1825625"/>
            <a:ext cx="628211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C6D21B-8698-1FB8-01E3-D557458EE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26F69-04DD-6BC5-BF07-C41D128DF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81D2-3598-4BA7-9E30-9C8D60DB4C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622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62275-50FC-99ED-E7A4-F435F515D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Validation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FDFDD-E847-9329-115E-3A8CE1EAE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Cross Validation</a:t>
            </a:r>
            <a:r>
              <a:rPr lang="en-US" dirty="0"/>
              <a:t> is a method to </a:t>
            </a:r>
            <a:r>
              <a:rPr lang="en-US" b="1" dirty="0"/>
              <a:t>check how well our model generalizes</a:t>
            </a:r>
            <a:r>
              <a:rPr lang="en-US" dirty="0"/>
              <a:t> to unseen data by testing it on </a:t>
            </a:r>
            <a:r>
              <a:rPr lang="en-US" b="1" dirty="0"/>
              <a:t>different parts</a:t>
            </a:r>
            <a:r>
              <a:rPr lang="en-US" dirty="0"/>
              <a:t> of the data.</a:t>
            </a:r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A197D7-356B-3A8B-475D-C630745B9392}"/>
              </a:ext>
            </a:extLst>
          </p:cNvPr>
          <p:cNvSpPr txBox="1"/>
          <p:nvPr/>
        </p:nvSpPr>
        <p:spPr>
          <a:xfrm>
            <a:off x="2057400" y="28061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[1, 2, 3, 4, 5, 6, 7, 8, 9, 10]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F626C53-A78F-2533-3AAD-379468A03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917514"/>
              </p:ext>
            </p:extLst>
          </p:nvPr>
        </p:nvGraphicFramePr>
        <p:xfrm>
          <a:off x="1657350" y="3310453"/>
          <a:ext cx="5309363" cy="2194560"/>
        </p:xfrm>
        <a:graphic>
          <a:graphicData uri="http://schemas.openxmlformats.org/drawingml/2006/table">
            <a:tbl>
              <a:tblPr/>
              <a:tblGrid>
                <a:gridCol w="1104900">
                  <a:extLst>
                    <a:ext uri="{9D8B030D-6E8A-4147-A177-3AD203B41FA5}">
                      <a16:colId xmlns:a16="http://schemas.microsoft.com/office/drawing/2014/main" val="1964610759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2078176219"/>
                    </a:ext>
                  </a:extLst>
                </a:gridCol>
                <a:gridCol w="2051813">
                  <a:extLst>
                    <a:ext uri="{9D8B030D-6E8A-4147-A177-3AD203B41FA5}">
                      <a16:colId xmlns:a16="http://schemas.microsoft.com/office/drawing/2014/main" val="31638007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Fold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Train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Test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1254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2–10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5817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1, 3–10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760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1–2, 4–10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819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1–3, 5–10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162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1–4, 6–10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5856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D2F5CE7-754A-AB66-8A43-B541E72CD835}"/>
              </a:ext>
            </a:extLst>
          </p:cNvPr>
          <p:cNvSpPr txBox="1"/>
          <p:nvPr/>
        </p:nvSpPr>
        <p:spPr>
          <a:xfrm>
            <a:off x="1264030" y="5501322"/>
            <a:ext cx="68893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Each time: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Train the model on 4 parts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Test on the 1 part left out</a:t>
            </a:r>
          </a:p>
          <a:p>
            <a:pPr>
              <a:buNone/>
            </a:pPr>
            <a:r>
              <a:rPr lang="en-US" dirty="0"/>
              <a:t>Then average all 5 results → this gives a </a:t>
            </a:r>
            <a:r>
              <a:rPr lang="en-US" b="1" dirty="0"/>
              <a:t>more reliable accuracy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4BCA66-9279-047A-383F-E7955B941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ED5137-BC17-10BB-AF8B-2EB66D298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81D2-3598-4BA7-9E30-9C8D60DB4C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09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0F14BA8D-309F-01BA-8B05-4EBB260F59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31"/>
          <a:stretch>
            <a:fillRect/>
          </a:stretch>
        </p:blipFill>
        <p:spPr>
          <a:xfrm>
            <a:off x="554140" y="480059"/>
            <a:ext cx="5572118" cy="4186534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C6E1FC-EE11-C237-7AB4-504C98CBE0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89"/>
          <a:stretch>
            <a:fillRect/>
          </a:stretch>
        </p:blipFill>
        <p:spPr>
          <a:xfrm>
            <a:off x="6253816" y="3069576"/>
            <a:ext cx="5293787" cy="312300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49998C5-A045-13E5-DA34-BACFBFFA3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437E58-1983-D6EA-6B03-E32089DB3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81D2-3598-4BA7-9E30-9C8D60DB4C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611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Office Theme</vt:lpstr>
      <vt:lpstr>Cross Validation</vt:lpstr>
      <vt:lpstr>PowerPoint Presentation</vt:lpstr>
      <vt:lpstr>Training and Test Data split</vt:lpstr>
      <vt:lpstr>Training and Test Data split</vt:lpstr>
      <vt:lpstr>PowerPoint Presentation</vt:lpstr>
      <vt:lpstr>Cross Validation</vt:lpstr>
      <vt:lpstr>Cross Validation</vt:lpstr>
      <vt:lpstr>Cross Validation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SIBAU</dc:creator>
  <cp:lastModifiedBy>Muhammad Ismail Mangrio</cp:lastModifiedBy>
  <cp:revision>42</cp:revision>
  <dcterms:created xsi:type="dcterms:W3CDTF">2025-02-19T09:00:32Z</dcterms:created>
  <dcterms:modified xsi:type="dcterms:W3CDTF">2025-11-19T19:53:56Z</dcterms:modified>
</cp:coreProperties>
</file>
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8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86" r:id="rId18"/>
    <p:sldId id="271" r:id="rId19"/>
    <p:sldId id="283" r:id="rId20"/>
    <p:sldId id="272" r:id="rId21"/>
    <p:sldId id="284" r:id="rId22"/>
    <p:sldId id="285" r:id="rId23"/>
    <p:sldId id="273" r:id="rId24"/>
    <p:sldId id="282" r:id="rId25"/>
    <p:sldId id="274" r:id="rId26"/>
    <p:sldId id="287" r:id="rId27"/>
    <p:sldId id="288" r:id="rId28"/>
    <p:sldId id="289" r:id="rId29"/>
    <p:sldId id="275" r:id="rId30"/>
    <p:sldId id="276" r:id="rId31"/>
    <p:sldId id="277" r:id="rId32"/>
    <p:sldId id="278" r:id="rId33"/>
    <p:sldId id="279" r:id="rId34"/>
    <p:sldId id="280" r:id="rId3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75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Ismail Mangrio" userId="590c352b-06fa-4bd0-9f05-47e253030496" providerId="ADAL" clId="{BF15BC68-A2CF-4093-A553-41661EC91610}"/>
    <pc:docChg chg="modSld">
      <pc:chgData name="Muhammad Ismail Mangrio" userId="590c352b-06fa-4bd0-9f05-47e253030496" providerId="ADAL" clId="{BF15BC68-A2CF-4093-A553-41661EC91610}" dt="2025-10-01T13:15:34.652" v="51" actId="20577"/>
      <pc:docMkLst>
        <pc:docMk/>
      </pc:docMkLst>
      <pc:sldChg chg="modSp mod">
        <pc:chgData name="Muhammad Ismail Mangrio" userId="590c352b-06fa-4bd0-9f05-47e253030496" providerId="ADAL" clId="{BF15BC68-A2CF-4093-A553-41661EC91610}" dt="2025-10-01T13:15:34.652" v="51" actId="20577"/>
        <pc:sldMkLst>
          <pc:docMk/>
          <pc:sldMk cId="0" sldId="256"/>
        </pc:sldMkLst>
        <pc:spChg chg="mod">
          <ac:chgData name="Muhammad Ismail Mangrio" userId="590c352b-06fa-4bd0-9f05-47e253030496" providerId="ADAL" clId="{BF15BC68-A2CF-4093-A553-41661EC91610}" dt="2025-10-01T13:15:34.652" v="51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4928" y="3681983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2" y="0"/>
                </a:moveTo>
                <a:lnTo>
                  <a:pt x="2042484" y="0"/>
                </a:lnTo>
                <a:lnTo>
                  <a:pt x="0" y="6858000"/>
                </a:lnTo>
                <a:lnTo>
                  <a:pt x="3006852" y="6858000"/>
                </a:lnTo>
                <a:lnTo>
                  <a:pt x="3006852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5" y="0"/>
                </a:moveTo>
                <a:lnTo>
                  <a:pt x="0" y="0"/>
                </a:lnTo>
                <a:lnTo>
                  <a:pt x="1208191" y="6858000"/>
                </a:lnTo>
                <a:lnTo>
                  <a:pt x="2587665" y="6858000"/>
                </a:lnTo>
                <a:lnTo>
                  <a:pt x="2587665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1" y="6858000"/>
                </a:lnTo>
                <a:lnTo>
                  <a:pt x="2851161" y="6858000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8124" y="0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8" y="0"/>
                </a:moveTo>
                <a:lnTo>
                  <a:pt x="1018959" y="0"/>
                </a:lnTo>
                <a:lnTo>
                  <a:pt x="0" y="6858000"/>
                </a:lnTo>
                <a:lnTo>
                  <a:pt x="1290828" y="6858000"/>
                </a:lnTo>
                <a:lnTo>
                  <a:pt x="1290828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344" y="3590543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97454" y="2568320"/>
            <a:ext cx="6348730" cy="996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pPr marL="717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pPr marL="717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pPr marL="717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pPr marL="717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pPr marL="717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4928" y="3681983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2" y="0"/>
                </a:moveTo>
                <a:lnTo>
                  <a:pt x="2042484" y="0"/>
                </a:lnTo>
                <a:lnTo>
                  <a:pt x="0" y="6858000"/>
                </a:lnTo>
                <a:lnTo>
                  <a:pt x="3006852" y="6858000"/>
                </a:lnTo>
                <a:lnTo>
                  <a:pt x="3006852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5" y="0"/>
                </a:moveTo>
                <a:lnTo>
                  <a:pt x="0" y="0"/>
                </a:lnTo>
                <a:lnTo>
                  <a:pt x="1208191" y="6858000"/>
                </a:lnTo>
                <a:lnTo>
                  <a:pt x="2587665" y="6858000"/>
                </a:lnTo>
                <a:lnTo>
                  <a:pt x="2587665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1" y="6858000"/>
                </a:lnTo>
                <a:lnTo>
                  <a:pt x="2851161" y="6858000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8124" y="0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8" y="0"/>
                </a:moveTo>
                <a:lnTo>
                  <a:pt x="1018959" y="0"/>
                </a:lnTo>
                <a:lnTo>
                  <a:pt x="0" y="6858000"/>
                </a:lnTo>
                <a:lnTo>
                  <a:pt x="1290828" y="6858000"/>
                </a:lnTo>
                <a:lnTo>
                  <a:pt x="1290828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344" y="3590543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3403" y="268986"/>
            <a:ext cx="9230740" cy="7377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7451" y="1159002"/>
            <a:ext cx="8672195" cy="4740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051417" y="6148188"/>
            <a:ext cx="182879" cy="1581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pPr marL="717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andas-cut-method-in-python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pynative.com/pandas-set-index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s://www.geeksforgeeks.org/how-to-use-hierarchical-indexes-with-pandas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working-with-geospatial-data-in-python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020"/>
              </a:lnSpc>
              <a:spcBef>
                <a:spcPts val="105"/>
              </a:spcBef>
            </a:pPr>
            <a:r>
              <a:rPr sz="4400" dirty="0"/>
              <a:t>Exploratory</a:t>
            </a:r>
            <a:r>
              <a:rPr sz="4400" spc="-300" dirty="0"/>
              <a:t> </a:t>
            </a:r>
            <a:r>
              <a:rPr sz="4400" spc="-10" dirty="0"/>
              <a:t>Data</a:t>
            </a:r>
            <a:r>
              <a:rPr sz="4400" spc="-320" dirty="0"/>
              <a:t> </a:t>
            </a:r>
            <a:r>
              <a:rPr sz="4400" spc="-10" dirty="0"/>
              <a:t>Analysis</a:t>
            </a:r>
            <a:endParaRPr sz="4400"/>
          </a:p>
          <a:p>
            <a:pPr marL="3803015">
              <a:lnSpc>
                <a:spcPts val="2620"/>
              </a:lnSpc>
            </a:pPr>
            <a:r>
              <a:rPr sz="2400" dirty="0"/>
              <a:t>Unit</a:t>
            </a:r>
            <a:r>
              <a:rPr sz="2400" spc="-45" dirty="0"/>
              <a:t> </a:t>
            </a:r>
            <a:r>
              <a:rPr sz="2400" dirty="0"/>
              <a:t>02</a:t>
            </a:r>
            <a:r>
              <a:rPr sz="2400" spc="-40" dirty="0"/>
              <a:t> </a:t>
            </a:r>
            <a:r>
              <a:rPr sz="2400" dirty="0"/>
              <a:t>Lecture</a:t>
            </a:r>
            <a:r>
              <a:rPr sz="2400" spc="-30" dirty="0"/>
              <a:t> </a:t>
            </a:r>
            <a:r>
              <a:rPr sz="2400" spc="-25" dirty="0"/>
              <a:t>03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6400800" y="4267200"/>
            <a:ext cx="461911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spc="-65" dirty="0">
                <a:solidFill>
                  <a:srgbClr val="7E7E7E"/>
                </a:solidFill>
                <a:latin typeface="Trebuchet MS"/>
                <a:cs typeface="Trebuchet MS"/>
              </a:rPr>
              <a:t>Instructor: </a:t>
            </a:r>
            <a:r>
              <a:rPr sz="1800" spc="-65" dirty="0">
                <a:solidFill>
                  <a:srgbClr val="7E7E7E"/>
                </a:solidFill>
                <a:latin typeface="Trebuchet MS"/>
                <a:cs typeface="Trebuchet MS"/>
              </a:rPr>
              <a:t>Dr.</a:t>
            </a:r>
            <a:r>
              <a:rPr sz="1800" spc="-5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Trebuchet MS"/>
                <a:cs typeface="Trebuchet MS"/>
              </a:rPr>
              <a:t>M</a:t>
            </a:r>
            <a:r>
              <a:rPr lang="en-US" sz="1800" spc="-10" dirty="0">
                <a:solidFill>
                  <a:srgbClr val="7E7E7E"/>
                </a:solidFill>
                <a:latin typeface="Trebuchet MS"/>
                <a:cs typeface="Trebuchet MS"/>
              </a:rPr>
              <a:t>uhammad Ismail Mangrio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847" rIns="0" bIns="0" rtlCol="0">
            <a:spAutoFit/>
          </a:bodyPr>
          <a:lstStyle/>
          <a:p>
            <a:pPr marL="666750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solidFill>
                  <a:srgbClr val="539F20"/>
                </a:solidFill>
                <a:latin typeface="Arial MT"/>
                <a:cs typeface="Arial MT"/>
              </a:rPr>
              <a:t>Contents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452729" y="1018219"/>
            <a:ext cx="5135245" cy="400494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5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Elements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Structured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Rectangular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Estimates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Location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Estimates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Variability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Exploring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Distribution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Exploring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Binary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Categorical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spc="-10" dirty="0">
                <a:latin typeface="Times New Roman"/>
                <a:cs typeface="Times New Roman"/>
              </a:rPr>
              <a:t>Correlation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Exploring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Two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Variables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Hexagonal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Binning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Contours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Elements</a:t>
            </a:r>
            <a:r>
              <a:rPr sz="3600" spc="-15" dirty="0"/>
              <a:t> </a:t>
            </a:r>
            <a:r>
              <a:rPr sz="3600" dirty="0"/>
              <a:t>of</a:t>
            </a:r>
            <a:r>
              <a:rPr sz="3600" spc="-25" dirty="0"/>
              <a:t> </a:t>
            </a:r>
            <a:r>
              <a:rPr sz="3600" dirty="0"/>
              <a:t>Structured</a:t>
            </a:r>
            <a:r>
              <a:rPr sz="3600" spc="-30" dirty="0"/>
              <a:t> </a:t>
            </a:r>
            <a:r>
              <a:rPr sz="3600" spc="-20" dirty="0"/>
              <a:t>Data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626770" y="1091945"/>
            <a:ext cx="8797290" cy="50476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ts val="2160"/>
              </a:lnSpc>
              <a:spcBef>
                <a:spcPts val="105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comes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many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sources: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sensor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measurements,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events,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text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images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endParaRPr sz="2000" dirty="0">
              <a:latin typeface="Times New Roman"/>
              <a:cs typeface="Times New Roman"/>
            </a:endParaRPr>
          </a:p>
          <a:p>
            <a:pPr marL="355600">
              <a:lnSpc>
                <a:spcPts val="2160"/>
              </a:lnSpc>
            </a:pPr>
            <a:r>
              <a:rPr sz="2000" b="1" spc="-10" dirty="0">
                <a:latin typeface="Times New Roman"/>
                <a:cs typeface="Times New Roman"/>
              </a:rPr>
              <a:t>videos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15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Internet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Things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b="1" dirty="0">
                <a:latin typeface="Times New Roman"/>
                <a:cs typeface="Times New Roman"/>
              </a:rPr>
              <a:t>IoT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producing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streams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information.</a:t>
            </a: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Much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</a:t>
            </a:r>
            <a:r>
              <a:rPr sz="2000" b="1" spc="-10" dirty="0">
                <a:latin typeface="Times New Roman"/>
                <a:cs typeface="Times New Roman"/>
              </a:rPr>
              <a:t>unstructured</a:t>
            </a:r>
            <a:r>
              <a:rPr sz="2000" spc="-10" dirty="0">
                <a:latin typeface="Times New Roman"/>
                <a:cs typeface="Times New Roman"/>
              </a:rPr>
              <a:t>:</a:t>
            </a:r>
            <a:endParaRPr sz="2000" dirty="0">
              <a:latin typeface="Times New Roman"/>
              <a:cs typeface="Times New Roman"/>
            </a:endParaRPr>
          </a:p>
          <a:p>
            <a:pPr marL="756285" marR="5715" lvl="1" indent="-287020">
              <a:lnSpc>
                <a:spcPct val="80000"/>
              </a:lnSpc>
              <a:spcBef>
                <a:spcPts val="1000"/>
              </a:spcBef>
              <a:buClr>
                <a:srgbClr val="90C225"/>
              </a:buClr>
              <a:buSzPct val="78947"/>
              <a:buFont typeface="Wingdings"/>
              <a:buChar char=""/>
              <a:tabLst>
                <a:tab pos="756285" algn="l"/>
              </a:tabLst>
            </a:pPr>
            <a:r>
              <a:rPr sz="1900" dirty="0">
                <a:latin typeface="Times New Roman"/>
                <a:cs typeface="Times New Roman"/>
              </a:rPr>
              <a:t>images</a:t>
            </a:r>
            <a:r>
              <a:rPr sz="1900" spc="3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are</a:t>
            </a:r>
            <a:r>
              <a:rPr sz="1900" spc="3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3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collection</a:t>
            </a:r>
            <a:r>
              <a:rPr sz="1900" spc="3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3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pixels,</a:t>
            </a:r>
            <a:r>
              <a:rPr sz="1900" spc="3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with</a:t>
            </a:r>
            <a:r>
              <a:rPr sz="1900" spc="3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each</a:t>
            </a:r>
            <a:r>
              <a:rPr sz="1900" spc="3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pixel</a:t>
            </a:r>
            <a:r>
              <a:rPr sz="1900" spc="3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containing</a:t>
            </a:r>
            <a:r>
              <a:rPr sz="1900" spc="3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RGB</a:t>
            </a:r>
            <a:r>
              <a:rPr sz="1900" spc="3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(red,</a:t>
            </a:r>
            <a:r>
              <a:rPr sz="1900" spc="34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green, </a:t>
            </a:r>
            <a:r>
              <a:rPr sz="1900" dirty="0">
                <a:latin typeface="Times New Roman"/>
                <a:cs typeface="Times New Roman"/>
              </a:rPr>
              <a:t>blue)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color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information.</a:t>
            </a:r>
            <a:endParaRPr sz="19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ts val="2055"/>
              </a:lnSpc>
              <a:spcBef>
                <a:spcPts val="540"/>
              </a:spcBef>
              <a:buClr>
                <a:srgbClr val="90C225"/>
              </a:buClr>
              <a:buSzPct val="78947"/>
              <a:buFont typeface="Wingdings"/>
              <a:buChar char=""/>
              <a:tabLst>
                <a:tab pos="756285" algn="l"/>
              </a:tabLst>
            </a:pPr>
            <a:r>
              <a:rPr sz="1900" spc="-10" dirty="0">
                <a:latin typeface="Times New Roman"/>
                <a:cs typeface="Times New Roman"/>
              </a:rPr>
              <a:t>Texts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sequences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words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nonword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characters,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often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organized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by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sections,</a:t>
            </a:r>
            <a:endParaRPr sz="1900" dirty="0">
              <a:latin typeface="Times New Roman"/>
              <a:cs typeface="Times New Roman"/>
            </a:endParaRPr>
          </a:p>
          <a:p>
            <a:pPr marL="756285">
              <a:lnSpc>
                <a:spcPts val="2055"/>
              </a:lnSpc>
            </a:pPr>
            <a:r>
              <a:rPr sz="1900" dirty="0">
                <a:latin typeface="Times New Roman"/>
                <a:cs typeface="Times New Roman"/>
              </a:rPr>
              <a:t>subsections,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so</a:t>
            </a:r>
            <a:r>
              <a:rPr sz="1900" spc="-25" dirty="0">
                <a:latin typeface="Times New Roman"/>
                <a:cs typeface="Times New Roman"/>
              </a:rPr>
              <a:t> on.</a:t>
            </a:r>
            <a:endParaRPr sz="1900" dirty="0">
              <a:latin typeface="Times New Roman"/>
              <a:cs typeface="Times New Roman"/>
            </a:endParaRPr>
          </a:p>
          <a:p>
            <a:pPr marL="756285" marR="7620" lvl="1" indent="-287020">
              <a:lnSpc>
                <a:spcPts val="1820"/>
              </a:lnSpc>
              <a:spcBef>
                <a:spcPts val="994"/>
              </a:spcBef>
              <a:buClr>
                <a:srgbClr val="90C225"/>
              </a:buClr>
              <a:buSzPct val="78947"/>
              <a:buFont typeface="Wingdings"/>
              <a:buChar char=""/>
              <a:tabLst>
                <a:tab pos="756285" algn="l"/>
              </a:tabLst>
            </a:pPr>
            <a:r>
              <a:rPr sz="1900" dirty="0">
                <a:latin typeface="Times New Roman"/>
                <a:cs typeface="Times New Roman"/>
              </a:rPr>
              <a:t>Clickstreams</a:t>
            </a:r>
            <a:r>
              <a:rPr sz="1900" spc="1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are</a:t>
            </a:r>
            <a:r>
              <a:rPr sz="1900" spc="1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sequences</a:t>
            </a:r>
            <a:r>
              <a:rPr sz="1900" spc="1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1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actions</a:t>
            </a:r>
            <a:r>
              <a:rPr sz="1900" spc="1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by</a:t>
            </a:r>
            <a:r>
              <a:rPr sz="1900" spc="1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1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user</a:t>
            </a:r>
            <a:r>
              <a:rPr sz="1900" spc="1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interacting</a:t>
            </a:r>
            <a:r>
              <a:rPr sz="1900" spc="1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with</a:t>
            </a:r>
            <a:r>
              <a:rPr sz="1900" spc="1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</a:t>
            </a:r>
            <a:r>
              <a:rPr sz="1900" spc="1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app</a:t>
            </a:r>
            <a:r>
              <a:rPr sz="1900" spc="1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or</a:t>
            </a:r>
            <a:r>
              <a:rPr sz="1900" spc="1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13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web </a:t>
            </a:r>
            <a:r>
              <a:rPr sz="1900" spc="-10" dirty="0">
                <a:latin typeface="Times New Roman"/>
                <a:cs typeface="Times New Roman"/>
              </a:rPr>
              <a:t>page.</a:t>
            </a:r>
            <a:endParaRPr sz="1900" dirty="0">
              <a:latin typeface="Times New Roman"/>
              <a:cs typeface="Times New Roman"/>
            </a:endParaRPr>
          </a:p>
          <a:p>
            <a:pPr marL="354965" indent="-342265">
              <a:lnSpc>
                <a:spcPts val="2160"/>
              </a:lnSpc>
              <a:spcBef>
                <a:spcPts val="530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major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challenge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</a:t>
            </a:r>
            <a:r>
              <a:rPr sz="2000" b="1" spc="1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science</a:t>
            </a:r>
            <a:r>
              <a:rPr sz="2000" b="1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harness/attach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torrent/stream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raw</a:t>
            </a:r>
            <a:endParaRPr sz="2000" dirty="0">
              <a:latin typeface="Times New Roman"/>
              <a:cs typeface="Times New Roman"/>
            </a:endParaRPr>
          </a:p>
          <a:p>
            <a:pPr marL="355600">
              <a:lnSpc>
                <a:spcPts val="2160"/>
              </a:lnSpc>
            </a:pP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actionable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information.</a:t>
            </a:r>
            <a:endParaRPr sz="20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80000"/>
              </a:lnSpc>
              <a:spcBef>
                <a:spcPts val="1000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apply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statistical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concepts,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unstructured</a:t>
            </a:r>
            <a:r>
              <a:rPr sz="2000" b="1" spc="2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raw</a:t>
            </a:r>
            <a:r>
              <a:rPr sz="2000" b="1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must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processed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manipulated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structured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form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25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commonest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forms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structured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table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rows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columns</a:t>
            </a:r>
            <a:endParaRPr sz="20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545"/>
              </a:spcBef>
              <a:buClr>
                <a:srgbClr val="90C225"/>
              </a:buClr>
              <a:buSzPct val="78947"/>
              <a:buFont typeface="Wingdings"/>
              <a:buChar char=""/>
              <a:tabLst>
                <a:tab pos="756285" algn="l"/>
              </a:tabLst>
            </a:pPr>
            <a:r>
              <a:rPr sz="1900" dirty="0">
                <a:latin typeface="Times New Roman"/>
                <a:cs typeface="Times New Roman"/>
              </a:rPr>
              <a:t>as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data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might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emerge from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relational</a:t>
            </a:r>
            <a:r>
              <a:rPr sz="1900" b="1" spc="-2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database</a:t>
            </a:r>
            <a:r>
              <a:rPr sz="1900" b="1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or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collected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for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study.</a:t>
            </a:r>
            <a:endParaRPr sz="19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Elements</a:t>
            </a:r>
            <a:r>
              <a:rPr sz="3600" spc="-15" dirty="0"/>
              <a:t> </a:t>
            </a:r>
            <a:r>
              <a:rPr sz="3600" dirty="0"/>
              <a:t>of</a:t>
            </a:r>
            <a:r>
              <a:rPr sz="3600" spc="-25" dirty="0"/>
              <a:t> </a:t>
            </a:r>
            <a:r>
              <a:rPr sz="3600" dirty="0"/>
              <a:t>Structured</a:t>
            </a:r>
            <a:r>
              <a:rPr sz="3600" spc="-30" dirty="0"/>
              <a:t> </a:t>
            </a:r>
            <a:r>
              <a:rPr sz="3600" spc="-20" dirty="0"/>
              <a:t>Data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910844" y="5952557"/>
            <a:ext cx="7274559" cy="561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  <a:tabLst>
                <a:tab pos="299085" algn="l"/>
              </a:tabLst>
            </a:pPr>
            <a:r>
              <a:rPr sz="1200" spc="-50" dirty="0">
                <a:solidFill>
                  <a:srgbClr val="90C225"/>
                </a:solidFill>
                <a:latin typeface="Wingdings"/>
                <a:cs typeface="Wingdings"/>
              </a:rPr>
              <a:t></a:t>
            </a:r>
            <a:r>
              <a:rPr sz="1200" dirty="0">
                <a:solidFill>
                  <a:srgbClr val="90C225"/>
                </a:solidFill>
                <a:latin typeface="Times New Roman"/>
                <a:cs typeface="Times New Roman"/>
              </a:rPr>
              <a:t>	</a:t>
            </a:r>
            <a:r>
              <a:rPr sz="1500" b="1" dirty="0">
                <a:latin typeface="Times New Roman"/>
                <a:cs typeface="Times New Roman"/>
              </a:rPr>
              <a:t>Ordinal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data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is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</a:t>
            </a:r>
            <a:r>
              <a:rPr sz="1500" dirty="0">
                <a:latin typeface="Times New Roman"/>
                <a:cs typeface="Times New Roman"/>
              </a:rPr>
              <a:t>nother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useful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type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categorical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data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which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categories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ordered;</a:t>
            </a:r>
            <a:endParaRPr sz="15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05"/>
              </a:spcBef>
            </a:pPr>
            <a:r>
              <a:rPr sz="1050" dirty="0">
                <a:solidFill>
                  <a:srgbClr val="90C225"/>
                </a:solidFill>
                <a:latin typeface="Wingdings"/>
                <a:cs typeface="Wingdings"/>
              </a:rPr>
              <a:t></a:t>
            </a:r>
            <a:r>
              <a:rPr sz="1050" spc="195" dirty="0">
                <a:solidFill>
                  <a:srgbClr val="90C225"/>
                </a:solidFill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an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example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this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is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numerical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rating (1,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2,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3,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4,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or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5),</a:t>
            </a:r>
            <a:r>
              <a:rPr sz="1300" spc="-10" dirty="0">
                <a:latin typeface="Times New Roman"/>
                <a:cs typeface="Times New Roman"/>
              </a:rPr>
              <a:t> grading.</a:t>
            </a:r>
            <a:endParaRPr sz="13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453644" y="1152906"/>
            <a:ext cx="9069705" cy="46786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important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know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type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helps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find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right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visual display,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analysis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statistical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modeling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995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4965" algn="l"/>
              </a:tabLst>
            </a:pP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data.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 basic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structured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numeric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categorical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Numeric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expressed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numeric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scale.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forms: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1015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756285" algn="l"/>
              </a:tabLst>
            </a:pPr>
            <a:r>
              <a:rPr sz="1500" b="1" dirty="0">
                <a:latin typeface="Times New Roman"/>
                <a:cs typeface="Times New Roman"/>
              </a:rPr>
              <a:t>Continuous</a:t>
            </a:r>
            <a:r>
              <a:rPr sz="1500" b="1" spc="1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form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can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take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any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value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tan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interval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(float,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interval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synonyms),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such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as</a:t>
            </a:r>
            <a:endParaRPr sz="150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</a:pPr>
            <a:r>
              <a:rPr sz="1500" dirty="0">
                <a:latin typeface="Times New Roman"/>
                <a:cs typeface="Times New Roman"/>
              </a:rPr>
              <a:t>wind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speed or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time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duration,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and</a:t>
            </a:r>
            <a:endParaRPr sz="15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756285" algn="l"/>
              </a:tabLst>
            </a:pPr>
            <a:r>
              <a:rPr sz="1500" b="1" dirty="0">
                <a:latin typeface="Times New Roman"/>
                <a:cs typeface="Times New Roman"/>
              </a:rPr>
              <a:t>Discrete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form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take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only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integer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values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e.g., counts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</a:t>
            </a:r>
            <a:r>
              <a:rPr sz="1500" spc="-10" dirty="0">
                <a:latin typeface="Times New Roman"/>
                <a:cs typeface="Times New Roman"/>
              </a:rPr>
              <a:t> event.</a:t>
            </a:r>
            <a:endParaRPr sz="15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98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  <a:tab pos="1868805" algn="l"/>
                <a:tab pos="2466340" algn="l"/>
                <a:tab pos="3063875" algn="l"/>
                <a:tab pos="3696335" algn="l"/>
                <a:tab pos="3952240" algn="l"/>
                <a:tab pos="4952365" algn="l"/>
                <a:tab pos="5394325" algn="l"/>
                <a:tab pos="5760085" algn="l"/>
                <a:tab pos="6605905" algn="l"/>
                <a:tab pos="8119109" algn="l"/>
                <a:tab pos="8375650" algn="l"/>
                <a:tab pos="8818880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Categorical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data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take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only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0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specific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set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of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values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representing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0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set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of </a:t>
            </a:r>
            <a:r>
              <a:rPr sz="2200" dirty="0">
                <a:latin typeface="Times New Roman"/>
                <a:cs typeface="Times New Roman"/>
              </a:rPr>
              <a:t>possible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categories.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two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forms:</a:t>
            </a:r>
            <a:endParaRPr sz="2200">
              <a:latin typeface="Times New Roman"/>
              <a:cs typeface="Times New Roman"/>
            </a:endParaRPr>
          </a:p>
          <a:p>
            <a:pPr marL="1155065" lvl="1" indent="-227965">
              <a:lnSpc>
                <a:spcPct val="100000"/>
              </a:lnSpc>
              <a:spcBef>
                <a:spcPts val="1035"/>
              </a:spcBef>
              <a:buClr>
                <a:srgbClr val="90C225"/>
              </a:buClr>
              <a:buSzPct val="80769"/>
              <a:buFont typeface="Wingdings"/>
              <a:buChar char=""/>
              <a:tabLst>
                <a:tab pos="1155065" algn="l"/>
              </a:tabLst>
            </a:pPr>
            <a:r>
              <a:rPr sz="1300" dirty="0">
                <a:latin typeface="Times New Roman"/>
                <a:cs typeface="Times New Roman"/>
              </a:rPr>
              <a:t>such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as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type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TV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screen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(plasma,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LCD,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LED,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etc.)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or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state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name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(Ala‐bama,</a:t>
            </a:r>
            <a:r>
              <a:rPr sz="1300" spc="-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Alaska,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etc.).</a:t>
            </a:r>
            <a:endParaRPr sz="1300">
              <a:latin typeface="Times New Roman"/>
              <a:cs typeface="Times New Roman"/>
            </a:endParaRPr>
          </a:p>
          <a:p>
            <a:pPr marL="756285" indent="-286385">
              <a:lnSpc>
                <a:spcPct val="100000"/>
              </a:lnSpc>
              <a:spcBef>
                <a:spcPts val="985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756285" algn="l"/>
              </a:tabLst>
            </a:pPr>
            <a:r>
              <a:rPr sz="1500" b="1" dirty="0">
                <a:latin typeface="Times New Roman"/>
                <a:cs typeface="Times New Roman"/>
              </a:rPr>
              <a:t>Binary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data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important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special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case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categorical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data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takes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only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two</a:t>
            </a:r>
            <a:r>
              <a:rPr sz="1500" spc="-10" dirty="0">
                <a:latin typeface="Times New Roman"/>
                <a:cs typeface="Times New Roman"/>
              </a:rPr>
              <a:t> values,</a:t>
            </a:r>
            <a:endParaRPr sz="1500">
              <a:latin typeface="Times New Roman"/>
              <a:cs typeface="Times New Roman"/>
            </a:endParaRPr>
          </a:p>
          <a:p>
            <a:pPr marL="1155065" lvl="1" indent="-227965">
              <a:lnSpc>
                <a:spcPct val="100000"/>
              </a:lnSpc>
              <a:spcBef>
                <a:spcPts val="1015"/>
              </a:spcBef>
              <a:buClr>
                <a:srgbClr val="90C225"/>
              </a:buClr>
              <a:buSzPct val="80769"/>
              <a:buFont typeface="Wingdings"/>
              <a:buChar char=""/>
              <a:tabLst>
                <a:tab pos="1155065" algn="l"/>
              </a:tabLst>
            </a:pPr>
            <a:r>
              <a:rPr sz="1300" dirty="0">
                <a:latin typeface="Times New Roman"/>
                <a:cs typeface="Times New Roman"/>
              </a:rPr>
              <a:t>such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as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0/1,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yes/no,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or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true/false.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54AFD-4E90-24E1-CF59-6B9F8BC61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03" y="268986"/>
            <a:ext cx="9230740" cy="430887"/>
          </a:xfrm>
        </p:spPr>
        <p:txBody>
          <a:bodyPr/>
          <a:lstStyle/>
          <a:p>
            <a:r>
              <a:rPr lang="en-US" sz="2800" b="1" dirty="0">
                <a:latin typeface="Times New Roman"/>
                <a:cs typeface="Times New Roman"/>
              </a:rPr>
              <a:t>Ordinal</a:t>
            </a:r>
            <a:r>
              <a:rPr lang="en-US" sz="2800" b="1" spc="-30" dirty="0">
                <a:latin typeface="Times New Roman"/>
                <a:cs typeface="Times New Roman"/>
              </a:rPr>
              <a:t> </a:t>
            </a:r>
            <a:r>
              <a:rPr lang="en-US" sz="2800" b="1" dirty="0">
                <a:latin typeface="Times New Roman"/>
                <a:cs typeface="Times New Roman"/>
              </a:rPr>
              <a:t>data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71D827-1A4D-7A09-E056-11D7672DA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548" y="1600200"/>
            <a:ext cx="58864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178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Elements</a:t>
            </a:r>
            <a:r>
              <a:rPr sz="2400" spc="-75" dirty="0"/>
              <a:t> </a:t>
            </a:r>
            <a:r>
              <a:rPr sz="2400" dirty="0"/>
              <a:t>of</a:t>
            </a:r>
            <a:r>
              <a:rPr sz="2400" spc="-85" dirty="0"/>
              <a:t> </a:t>
            </a:r>
            <a:r>
              <a:rPr sz="2400" dirty="0"/>
              <a:t>Structured</a:t>
            </a:r>
            <a:r>
              <a:rPr sz="2400" spc="-75" dirty="0"/>
              <a:t> </a:t>
            </a:r>
            <a:r>
              <a:rPr sz="2400" dirty="0"/>
              <a:t>Data</a:t>
            </a:r>
            <a:r>
              <a:rPr sz="2400" spc="-80" dirty="0"/>
              <a:t> </a:t>
            </a:r>
            <a:r>
              <a:rPr sz="2400" dirty="0"/>
              <a:t>(Categorical</a:t>
            </a:r>
            <a:r>
              <a:rPr sz="2400" spc="-55" dirty="0"/>
              <a:t> </a:t>
            </a:r>
            <a:r>
              <a:rPr sz="2400" dirty="0"/>
              <a:t>data</a:t>
            </a:r>
            <a:r>
              <a:rPr sz="2400" spc="-75" dirty="0"/>
              <a:t> </a:t>
            </a:r>
            <a:r>
              <a:rPr sz="2400" dirty="0"/>
              <a:t>creation</a:t>
            </a:r>
            <a:r>
              <a:rPr sz="2400" spc="-70" dirty="0"/>
              <a:t> </a:t>
            </a:r>
            <a:r>
              <a:rPr sz="2400" dirty="0"/>
              <a:t>in</a:t>
            </a:r>
            <a:r>
              <a:rPr sz="2400" spc="-80" dirty="0"/>
              <a:t> </a:t>
            </a:r>
            <a:r>
              <a:rPr sz="2400" spc="-10" dirty="0"/>
              <a:t>Python)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488" y="1118616"/>
            <a:ext cx="8860535" cy="57393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10853" y="6141211"/>
            <a:ext cx="857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90C225"/>
                </a:solidFill>
                <a:latin typeface="Trebuchet MS"/>
                <a:cs typeface="Trebuchet MS"/>
              </a:rPr>
              <a:t>5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66686" y="6071412"/>
            <a:ext cx="22275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rebuchet MS"/>
                <a:cs typeface="Trebuchet MS"/>
                <a:hlinkClick r:id="rId3"/>
              </a:rPr>
              <a:t>Link:</a:t>
            </a:r>
            <a:r>
              <a:rPr sz="1100" u="sng" spc="-25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100" u="sng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rebuchet MS"/>
                <a:cs typeface="Trebuchet MS"/>
                <a:hlinkClick r:id="rId3"/>
              </a:rPr>
              <a:t>Study</a:t>
            </a:r>
            <a:r>
              <a:rPr sz="1100" u="sng" spc="-25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100" u="sng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rebuchet MS"/>
                <a:cs typeface="Trebuchet MS"/>
                <a:hlinkClick r:id="rId3"/>
              </a:rPr>
              <a:t>cut()</a:t>
            </a:r>
            <a:r>
              <a:rPr sz="1100" u="sng" spc="-25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100" u="sng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rebuchet MS"/>
                <a:cs typeface="Trebuchet MS"/>
                <a:hlinkClick r:id="rId3"/>
              </a:rPr>
              <a:t>method</a:t>
            </a:r>
            <a:r>
              <a:rPr sz="1100" u="sng" spc="-15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100" u="sng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rebuchet MS"/>
                <a:cs typeface="Trebuchet MS"/>
                <a:hlinkClick r:id="rId3"/>
              </a:rPr>
              <a:t>of</a:t>
            </a:r>
            <a:r>
              <a:rPr sz="1100" u="sng" spc="-5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100" u="sng" spc="-10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rebuchet MS"/>
                <a:cs typeface="Trebuchet MS"/>
                <a:hlinkClick r:id="rId3"/>
              </a:rPr>
              <a:t>python</a:t>
            </a:r>
            <a:endParaRPr sz="1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100327"/>
            <a:ext cx="8394192" cy="55519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Elements</a:t>
            </a:r>
            <a:r>
              <a:rPr sz="2400" spc="-75" dirty="0"/>
              <a:t> </a:t>
            </a:r>
            <a:r>
              <a:rPr sz="2400" dirty="0"/>
              <a:t>of</a:t>
            </a:r>
            <a:r>
              <a:rPr sz="2400" spc="-85" dirty="0"/>
              <a:t> </a:t>
            </a:r>
            <a:r>
              <a:rPr sz="2400" dirty="0"/>
              <a:t>Structured</a:t>
            </a:r>
            <a:r>
              <a:rPr sz="2400" spc="-75" dirty="0"/>
              <a:t> </a:t>
            </a:r>
            <a:r>
              <a:rPr sz="2400" dirty="0"/>
              <a:t>Data</a:t>
            </a:r>
            <a:r>
              <a:rPr sz="2400" spc="-80" dirty="0"/>
              <a:t> </a:t>
            </a:r>
            <a:r>
              <a:rPr sz="2400" dirty="0"/>
              <a:t>(Categorical</a:t>
            </a:r>
            <a:r>
              <a:rPr sz="2400" spc="-55" dirty="0"/>
              <a:t> </a:t>
            </a:r>
            <a:r>
              <a:rPr sz="2400" dirty="0"/>
              <a:t>data</a:t>
            </a:r>
            <a:r>
              <a:rPr sz="2400" spc="-75" dirty="0"/>
              <a:t> </a:t>
            </a:r>
            <a:r>
              <a:rPr sz="2400" dirty="0"/>
              <a:t>creation</a:t>
            </a:r>
            <a:r>
              <a:rPr sz="2400" spc="-70" dirty="0"/>
              <a:t> </a:t>
            </a:r>
            <a:r>
              <a:rPr sz="2400" dirty="0"/>
              <a:t>in</a:t>
            </a:r>
            <a:r>
              <a:rPr sz="2400" spc="-80" dirty="0"/>
              <a:t> </a:t>
            </a:r>
            <a:r>
              <a:rPr sz="2400" spc="-10" dirty="0"/>
              <a:t>Python)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Rectangular</a:t>
            </a:r>
            <a:r>
              <a:rPr sz="3600" spc="-229" dirty="0"/>
              <a:t> </a:t>
            </a:r>
            <a:r>
              <a:rPr sz="3600" spc="-20" dirty="0"/>
              <a:t>Data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53644" y="1152906"/>
            <a:ext cx="6446520" cy="4999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</a:pPr>
            <a:r>
              <a:rPr sz="160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typical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reference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spc="-20" dirty="0">
                <a:latin typeface="Times New Roman"/>
                <a:cs typeface="Times New Roman"/>
              </a:rPr>
              <a:t>data </a:t>
            </a:r>
            <a:r>
              <a:rPr sz="2000" dirty="0">
                <a:latin typeface="Times New Roman"/>
                <a:cs typeface="Times New Roman"/>
              </a:rPr>
              <a:t>science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rectangular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object,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like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spreadsheet</a:t>
            </a:r>
            <a:r>
              <a:rPr sz="2000" b="1" spc="19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or </a:t>
            </a:r>
            <a:r>
              <a:rPr sz="2000" b="1" dirty="0">
                <a:latin typeface="Times New Roman"/>
                <a:cs typeface="Times New Roman"/>
              </a:rPr>
              <a:t>database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table.</a:t>
            </a:r>
            <a:endParaRPr sz="20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994"/>
              </a:spcBef>
            </a:pPr>
            <a:r>
              <a:rPr sz="160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spc="130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Rectangular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general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term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two-dimensional </a:t>
            </a:r>
            <a:r>
              <a:rPr sz="2000" dirty="0">
                <a:latin typeface="Times New Roman"/>
                <a:cs typeface="Times New Roman"/>
              </a:rPr>
              <a:t>matrix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with</a:t>
            </a:r>
            <a:endParaRPr sz="2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15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47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rows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indicating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records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(cases)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00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15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1800" b="1" dirty="0">
                <a:latin typeface="Times New Roman"/>
                <a:cs typeface="Times New Roman"/>
              </a:rPr>
              <a:t>columns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indicating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features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(variables);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994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484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data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frame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specific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format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Python.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doesn’t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always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start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rectangular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form:</a:t>
            </a:r>
            <a:endParaRPr sz="2000">
              <a:latin typeface="Times New Roman"/>
              <a:cs typeface="Times New Roman"/>
            </a:endParaRPr>
          </a:p>
          <a:p>
            <a:pPr marL="756285" marR="5080" indent="-287020" algn="just">
              <a:lnSpc>
                <a:spcPct val="100000"/>
              </a:lnSpc>
              <a:spcBef>
                <a:spcPts val="1005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20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unstructured</a:t>
            </a:r>
            <a:r>
              <a:rPr sz="1800" spc="31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31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(e.g.,</a:t>
            </a:r>
            <a:r>
              <a:rPr sz="1800" spc="30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text)</a:t>
            </a:r>
            <a:r>
              <a:rPr sz="1800" spc="30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must</a:t>
            </a:r>
            <a:r>
              <a:rPr sz="1800" spc="31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31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processed</a:t>
            </a:r>
            <a:r>
              <a:rPr sz="1800" spc="305" dirty="0">
                <a:latin typeface="Times New Roman"/>
                <a:cs typeface="Times New Roman"/>
              </a:rPr>
              <a:t> 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manipulated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represented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set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features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rectangular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data.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90"/>
              </a:spcBef>
              <a:tabLst>
                <a:tab pos="3422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relational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databases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must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extracted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put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into</a:t>
            </a:r>
            <a:endParaRPr sz="2000">
              <a:latin typeface="Times New Roman"/>
              <a:cs typeface="Times New Roman"/>
            </a:endParaRPr>
          </a:p>
          <a:p>
            <a:pPr marR="22225" algn="ctr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single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table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most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modeling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tasks.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82611" y="408431"/>
            <a:ext cx="4634484" cy="374142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316723" y="4224528"/>
            <a:ext cx="4482465" cy="2009139"/>
            <a:chOff x="7316723" y="4224528"/>
            <a:chExt cx="4482465" cy="200913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25867" y="4233672"/>
              <a:ext cx="4463796" cy="199034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321295" y="4229100"/>
              <a:ext cx="4472940" cy="1999614"/>
            </a:xfrm>
            <a:custGeom>
              <a:avLst/>
              <a:gdLst/>
              <a:ahLst/>
              <a:cxnLst/>
              <a:rect l="l" t="t" r="r" b="b"/>
              <a:pathLst>
                <a:path w="4472940" h="1999614">
                  <a:moveTo>
                    <a:pt x="0" y="1999488"/>
                  </a:moveTo>
                  <a:lnTo>
                    <a:pt x="4472940" y="1999488"/>
                  </a:lnTo>
                  <a:lnTo>
                    <a:pt x="4472940" y="0"/>
                  </a:lnTo>
                  <a:lnTo>
                    <a:pt x="0" y="0"/>
                  </a:lnTo>
                  <a:lnTo>
                    <a:pt x="0" y="1999488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Rectangular</a:t>
            </a:r>
            <a:r>
              <a:rPr sz="3600" spc="-229" dirty="0"/>
              <a:t> </a:t>
            </a:r>
            <a:r>
              <a:rPr sz="3600" spc="-20" dirty="0"/>
              <a:t>Data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831" y="1417585"/>
            <a:ext cx="6200333" cy="497213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197852" y="2479548"/>
            <a:ext cx="4998720" cy="2242185"/>
            <a:chOff x="7197852" y="2479548"/>
            <a:chExt cx="4998720" cy="224218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6996" y="2488692"/>
              <a:ext cx="4985004" cy="222351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202424" y="2484120"/>
              <a:ext cx="4989830" cy="2232660"/>
            </a:xfrm>
            <a:custGeom>
              <a:avLst/>
              <a:gdLst/>
              <a:ahLst/>
              <a:cxnLst/>
              <a:rect l="l" t="t" r="r" b="b"/>
              <a:pathLst>
                <a:path w="4989830" h="2232660">
                  <a:moveTo>
                    <a:pt x="4989576" y="0"/>
                  </a:moveTo>
                  <a:lnTo>
                    <a:pt x="0" y="0"/>
                  </a:lnTo>
                  <a:lnTo>
                    <a:pt x="0" y="2232660"/>
                  </a:lnTo>
                  <a:lnTo>
                    <a:pt x="4989576" y="223266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Rectangular</a:t>
            </a:r>
            <a:r>
              <a:rPr sz="3600" spc="-229" dirty="0"/>
              <a:t> </a:t>
            </a:r>
            <a:r>
              <a:rPr sz="3600" spc="-20" dirty="0"/>
              <a:t>Data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28319" y="1053541"/>
            <a:ext cx="8404225" cy="2753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  <a:tab pos="741045" algn="l"/>
                <a:tab pos="1509395" algn="l"/>
                <a:tab pos="2106295" algn="l"/>
                <a:tab pos="2816860" algn="l"/>
                <a:tab pos="3155315" algn="l"/>
                <a:tab pos="3432810" algn="l"/>
                <a:tab pos="4019550" algn="l"/>
                <a:tab pos="4406900" algn="l"/>
                <a:tab pos="5717540" algn="l"/>
                <a:tab pos="6102985" algn="l"/>
                <a:tab pos="7203440" algn="l"/>
                <a:tab pos="7821930" algn="l"/>
              </a:tabLst>
            </a:pPr>
            <a:r>
              <a:rPr sz="2200" spc="-2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Table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1-</a:t>
            </a:r>
            <a:r>
              <a:rPr sz="2200" spc="-25" dirty="0">
                <a:latin typeface="Times New Roman"/>
                <a:cs typeface="Times New Roman"/>
              </a:rPr>
              <a:t>1,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there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0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mix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of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b="1" spc="-10" dirty="0">
                <a:latin typeface="Times New Roman"/>
                <a:cs typeface="Times New Roman"/>
              </a:rPr>
              <a:t>measured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or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b="1" spc="-10" dirty="0">
                <a:latin typeface="Times New Roman"/>
                <a:cs typeface="Times New Roman"/>
              </a:rPr>
              <a:t>counted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data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(e.g.,</a:t>
            </a:r>
            <a:endParaRPr sz="220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duration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price)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categorical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(e.g.,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category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currency).</a:t>
            </a:r>
            <a:endParaRPr sz="22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special</a:t>
            </a:r>
            <a:r>
              <a:rPr sz="2200" spc="2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form</a:t>
            </a:r>
            <a:r>
              <a:rPr sz="2200" spc="2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2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categorical</a:t>
            </a:r>
            <a:r>
              <a:rPr sz="2200" spc="2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variable</a:t>
            </a:r>
            <a:r>
              <a:rPr sz="2200" spc="2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2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2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binary</a:t>
            </a:r>
            <a:r>
              <a:rPr sz="2200" spc="2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(yes/no</a:t>
            </a:r>
            <a:r>
              <a:rPr sz="2200" spc="2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2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0/1)</a:t>
            </a:r>
            <a:r>
              <a:rPr sz="2200" spc="2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i.e.,</a:t>
            </a:r>
            <a:endParaRPr sz="220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200" spc="-10" dirty="0">
                <a:latin typeface="Times New Roman"/>
                <a:cs typeface="Times New Roman"/>
              </a:rPr>
              <a:t>competitive</a:t>
            </a:r>
            <a:endParaRPr sz="2200" dirty="0">
              <a:latin typeface="Times New Roman"/>
              <a:cs typeface="Times New Roman"/>
            </a:endParaRPr>
          </a:p>
          <a:p>
            <a:pPr marL="755015" marR="5715" lvl="1" indent="-285750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756285" algn="l"/>
                <a:tab pos="2239010" algn="l"/>
              </a:tabLst>
            </a:pPr>
            <a:r>
              <a:rPr sz="2200" spc="-10" dirty="0">
                <a:latin typeface="Times New Roman"/>
                <a:cs typeface="Times New Roman"/>
              </a:rPr>
              <a:t>competitive</a:t>
            </a:r>
            <a:r>
              <a:rPr sz="2200" dirty="0">
                <a:latin typeface="Times New Roman"/>
                <a:cs typeface="Times New Roman"/>
              </a:rPr>
              <a:t>	attribute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indicates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whether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auction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was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competitive 	</a:t>
            </a:r>
            <a:r>
              <a:rPr sz="2200" dirty="0">
                <a:latin typeface="Times New Roman"/>
                <a:cs typeface="Times New Roman"/>
              </a:rPr>
              <a:t>(had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multiple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bidders)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not.</a:t>
            </a:r>
            <a:endParaRPr sz="22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755650" algn="l"/>
              </a:tabLst>
            </a:pP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predictor/label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predictive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modeling.</a:t>
            </a:r>
            <a:endParaRPr sz="22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75332" y="4082796"/>
            <a:ext cx="6071870" cy="2717800"/>
            <a:chOff x="2275332" y="4082796"/>
            <a:chExt cx="6071870" cy="27178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4476" y="4091940"/>
              <a:ext cx="6053328" cy="269900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79904" y="4087368"/>
              <a:ext cx="6062980" cy="2708275"/>
            </a:xfrm>
            <a:custGeom>
              <a:avLst/>
              <a:gdLst/>
              <a:ahLst/>
              <a:cxnLst/>
              <a:rect l="l" t="t" r="r" b="b"/>
              <a:pathLst>
                <a:path w="6062980" h="2708275">
                  <a:moveTo>
                    <a:pt x="0" y="2708147"/>
                  </a:moveTo>
                  <a:lnTo>
                    <a:pt x="6062472" y="2708147"/>
                  </a:lnTo>
                  <a:lnTo>
                    <a:pt x="6062472" y="0"/>
                  </a:lnTo>
                  <a:lnTo>
                    <a:pt x="0" y="0"/>
                  </a:lnTo>
                  <a:lnTo>
                    <a:pt x="0" y="270814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4615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Rectangular</a:t>
            </a:r>
            <a:r>
              <a:rPr sz="3200" spc="-114" dirty="0"/>
              <a:t> </a:t>
            </a:r>
            <a:r>
              <a:rPr sz="3200" dirty="0"/>
              <a:t>Data(Data</a:t>
            </a:r>
            <a:r>
              <a:rPr sz="3200" spc="-114" dirty="0"/>
              <a:t> </a:t>
            </a:r>
            <a:r>
              <a:rPr sz="3200" dirty="0"/>
              <a:t>Frames</a:t>
            </a:r>
            <a:r>
              <a:rPr sz="3200" spc="-125" dirty="0"/>
              <a:t> </a:t>
            </a:r>
            <a:r>
              <a:rPr sz="3200" dirty="0"/>
              <a:t>and</a:t>
            </a:r>
            <a:r>
              <a:rPr sz="3200" spc="-120" dirty="0"/>
              <a:t> </a:t>
            </a:r>
            <a:r>
              <a:rPr sz="3200" spc="-10" dirty="0"/>
              <a:t>Indexes)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31088" y="1118361"/>
            <a:ext cx="7264400" cy="4796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Index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Pandas: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index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Pandas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address, </a:t>
            </a:r>
            <a:r>
              <a:rPr sz="2400" dirty="0">
                <a:latin typeface="Times New Roman"/>
                <a:cs typeface="Times New Roman"/>
              </a:rPr>
              <a:t>it’s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across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DataFrame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series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 accessed.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Indexes can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 numeric,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string,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even </a:t>
            </a:r>
            <a:r>
              <a:rPr sz="2400" dirty="0">
                <a:latin typeface="Times New Roman"/>
                <a:cs typeface="Times New Roman"/>
              </a:rPr>
              <a:t>datetime.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4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4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unique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4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non-</a:t>
            </a:r>
            <a:r>
              <a:rPr sz="2400" dirty="0">
                <a:latin typeface="Times New Roman"/>
                <a:cs typeface="Times New Roman"/>
              </a:rPr>
              <a:t>unique.</a:t>
            </a:r>
            <a:r>
              <a:rPr sz="2400" spc="4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By </a:t>
            </a:r>
            <a:r>
              <a:rPr sz="2400" dirty="0">
                <a:latin typeface="Times New Roman"/>
                <a:cs typeface="Times New Roman"/>
              </a:rPr>
              <a:t>default,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Pandas</a:t>
            </a:r>
            <a:r>
              <a:rPr sz="2400" spc="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assigns</a:t>
            </a:r>
            <a:r>
              <a:rPr sz="2400" spc="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numeric,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auto-incrementing </a:t>
            </a:r>
            <a:r>
              <a:rPr sz="2400" dirty="0">
                <a:latin typeface="Times New Roman"/>
                <a:cs typeface="Times New Roman"/>
              </a:rPr>
              <a:t>index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DataFrame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 </a:t>
            </a:r>
            <a:r>
              <a:rPr sz="2400" spc="-10" dirty="0">
                <a:latin typeface="Times New Roman"/>
                <a:cs typeface="Times New Roman"/>
              </a:rPr>
              <a:t>create.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  <a:hlinkClick r:id="rId2"/>
              </a:rPr>
              <a:t>Indexing</a:t>
            </a:r>
            <a:r>
              <a:rPr sz="2400" spc="560" dirty="0">
                <a:latin typeface="Times New Roman"/>
                <a:cs typeface="Times New Roman"/>
                <a:hlinkClick r:id="rId2"/>
              </a:rPr>
              <a:t> </a:t>
            </a:r>
            <a:r>
              <a:rPr sz="2400" dirty="0">
                <a:latin typeface="Times New Roman"/>
                <a:cs typeface="Times New Roman"/>
                <a:hlinkClick r:id="rId2"/>
              </a:rPr>
              <a:t>is</a:t>
            </a:r>
            <a:r>
              <a:rPr sz="2400" spc="545" dirty="0">
                <a:latin typeface="Times New Roman"/>
                <a:cs typeface="Times New Roman"/>
                <a:hlinkClick r:id="rId2"/>
              </a:rPr>
              <a:t> </a:t>
            </a:r>
            <a:r>
              <a:rPr sz="2400" dirty="0">
                <a:latin typeface="Times New Roman"/>
                <a:cs typeface="Times New Roman"/>
                <a:hlinkClick r:id="rId2"/>
              </a:rPr>
              <a:t>important</a:t>
            </a:r>
            <a:r>
              <a:rPr sz="2400" spc="555" dirty="0">
                <a:latin typeface="Times New Roman"/>
                <a:cs typeface="Times New Roman"/>
                <a:hlinkClick r:id="rId2"/>
              </a:rPr>
              <a:t> </a:t>
            </a:r>
            <a:r>
              <a:rPr sz="2400" dirty="0">
                <a:latin typeface="Times New Roman"/>
                <a:cs typeface="Times New Roman"/>
                <a:hlinkClick r:id="rId2"/>
              </a:rPr>
              <a:t>for</a:t>
            </a:r>
            <a:r>
              <a:rPr sz="2400" spc="550" dirty="0">
                <a:latin typeface="Times New Roman"/>
                <a:cs typeface="Times New Roman"/>
                <a:hlinkClick r:id="rId2"/>
              </a:rPr>
              <a:t> </a:t>
            </a:r>
            <a:r>
              <a:rPr sz="2400" dirty="0">
                <a:latin typeface="Times New Roman"/>
                <a:cs typeface="Times New Roman"/>
                <a:hlinkClick r:id="rId2"/>
              </a:rPr>
              <a:t>two</a:t>
            </a:r>
            <a:r>
              <a:rPr sz="2400" spc="555" dirty="0">
                <a:latin typeface="Times New Roman"/>
                <a:cs typeface="Times New Roman"/>
                <a:hlinkClick r:id="rId2"/>
              </a:rPr>
              <a:t> </a:t>
            </a:r>
            <a:r>
              <a:rPr sz="2400" dirty="0">
                <a:latin typeface="Times New Roman"/>
                <a:cs typeface="Times New Roman"/>
                <a:hlinkClick r:id="rId2"/>
              </a:rPr>
              <a:t>main</a:t>
            </a:r>
            <a:r>
              <a:rPr sz="2400" spc="565" dirty="0">
                <a:latin typeface="Times New Roman"/>
                <a:cs typeface="Times New Roman"/>
                <a:hlinkClick r:id="rId2"/>
              </a:rPr>
              <a:t> </a:t>
            </a:r>
            <a:r>
              <a:rPr sz="2400" dirty="0">
                <a:latin typeface="Times New Roman"/>
                <a:cs typeface="Times New Roman"/>
                <a:hlinkClick r:id="rId2"/>
              </a:rPr>
              <a:t>reasons:</a:t>
            </a:r>
            <a:r>
              <a:rPr sz="2400" spc="545" dirty="0">
                <a:latin typeface="Times New Roman"/>
                <a:cs typeface="Times New Roman"/>
                <a:hlinkClick r:id="rId2"/>
              </a:rPr>
              <a:t> </a:t>
            </a:r>
            <a:r>
              <a:rPr sz="2400" u="sng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imes New Roman"/>
                <a:cs typeface="Times New Roman"/>
                <a:hlinkClick r:id="rId2"/>
              </a:rPr>
              <a:t>Link</a:t>
            </a:r>
            <a:r>
              <a:rPr sz="2400" u="sng" spc="550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2400" u="sng" spc="-25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imes New Roman"/>
                <a:cs typeface="Times New Roman"/>
                <a:hlinkClick r:id="rId2"/>
              </a:rPr>
              <a:t>to</a:t>
            </a:r>
            <a:r>
              <a:rPr sz="2400" spc="-25" dirty="0">
                <a:solidFill>
                  <a:srgbClr val="99C93B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sz="2400" u="sng" spc="-10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imes New Roman"/>
                <a:cs typeface="Times New Roman"/>
                <a:hlinkClick r:id="rId2"/>
              </a:rPr>
              <a:t>indexing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Identification: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Unique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identifiers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help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identifying</a:t>
            </a:r>
            <a:endParaRPr sz="2400">
              <a:latin typeface="Times New Roman"/>
              <a:cs typeface="Times New Roman"/>
            </a:endParaRPr>
          </a:p>
          <a:p>
            <a:pPr marL="756285" algn="just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rows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characteristics.</a:t>
            </a:r>
            <a:endParaRPr sz="2400">
              <a:latin typeface="Times New Roman"/>
              <a:cs typeface="Times New Roman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Selection:</a:t>
            </a:r>
            <a:r>
              <a:rPr sz="2400" spc="250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Indexes</a:t>
            </a:r>
            <a:r>
              <a:rPr sz="2400" spc="254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make</a:t>
            </a:r>
            <a:r>
              <a:rPr sz="2400" spc="254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254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selection</a:t>
            </a:r>
            <a:r>
              <a:rPr sz="2400" spc="254" dirty="0">
                <a:latin typeface="Times New Roman"/>
                <a:cs typeface="Times New Roman"/>
              </a:rPr>
              <a:t>  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manipulation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faster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easier.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97368" y="867155"/>
            <a:ext cx="4294632" cy="59908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4615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Rectangular</a:t>
            </a:r>
            <a:r>
              <a:rPr sz="3200" spc="-114" dirty="0"/>
              <a:t> </a:t>
            </a:r>
            <a:r>
              <a:rPr sz="3200" dirty="0"/>
              <a:t>Data(Data</a:t>
            </a:r>
            <a:r>
              <a:rPr sz="3200" spc="-114" dirty="0"/>
              <a:t> </a:t>
            </a:r>
            <a:r>
              <a:rPr sz="3200" dirty="0"/>
              <a:t>Frames</a:t>
            </a:r>
            <a:r>
              <a:rPr sz="3200" spc="-125" dirty="0"/>
              <a:t> </a:t>
            </a:r>
            <a:r>
              <a:rPr sz="3200" dirty="0"/>
              <a:t>and</a:t>
            </a:r>
            <a:r>
              <a:rPr sz="3200" spc="-120" dirty="0"/>
              <a:t> </a:t>
            </a:r>
            <a:r>
              <a:rPr sz="3200" spc="-10" dirty="0"/>
              <a:t>Indexes)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31088" y="1052829"/>
            <a:ext cx="5643245" cy="482028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5600" marR="5715" indent="-342900" algn="just">
              <a:lnSpc>
                <a:spcPts val="2110"/>
              </a:lnSpc>
              <a:spcBef>
                <a:spcPts val="60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Traditional</a:t>
            </a:r>
            <a:r>
              <a:rPr sz="2200" spc="3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database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tables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2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more </a:t>
            </a:r>
            <a:r>
              <a:rPr sz="2200" dirty="0">
                <a:latin typeface="Times New Roman"/>
                <a:cs typeface="Times New Roman"/>
              </a:rPr>
              <a:t>columns</a:t>
            </a:r>
            <a:r>
              <a:rPr sz="2200" spc="2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designated</a:t>
            </a:r>
            <a:r>
              <a:rPr sz="2200" spc="2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index,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essentially</a:t>
            </a:r>
            <a:r>
              <a:rPr sz="2200" spc="26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a </a:t>
            </a:r>
            <a:r>
              <a:rPr sz="2200" dirty="0">
                <a:latin typeface="Times New Roman"/>
                <a:cs typeface="Times New Roman"/>
              </a:rPr>
              <a:t>row</a:t>
            </a:r>
            <a:r>
              <a:rPr sz="2200" spc="13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number.</a:t>
            </a:r>
            <a:r>
              <a:rPr sz="2200" spc="14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14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14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vastly</a:t>
            </a:r>
            <a:r>
              <a:rPr sz="2200" spc="15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improve</a:t>
            </a:r>
            <a:r>
              <a:rPr sz="2200" spc="140" dirty="0">
                <a:latin typeface="Times New Roman"/>
                <a:cs typeface="Times New Roman"/>
              </a:rPr>
              <a:t> 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efficiency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certain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database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queries.</a:t>
            </a:r>
            <a:endParaRPr sz="2200">
              <a:latin typeface="Times New Roman"/>
              <a:cs typeface="Times New Roman"/>
            </a:endParaRPr>
          </a:p>
          <a:p>
            <a:pPr marL="355600" marR="7620" indent="-342900" algn="just">
              <a:lnSpc>
                <a:spcPts val="2110"/>
              </a:lnSpc>
              <a:spcBef>
                <a:spcPts val="101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2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Python,</a:t>
            </a:r>
            <a:r>
              <a:rPr sz="2200" spc="25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2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pandas</a:t>
            </a:r>
            <a:r>
              <a:rPr sz="2200" b="1" spc="25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library,</a:t>
            </a:r>
            <a:r>
              <a:rPr sz="2200" spc="2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54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basic </a:t>
            </a:r>
            <a:r>
              <a:rPr sz="2200" dirty="0">
                <a:latin typeface="Times New Roman"/>
                <a:cs typeface="Times New Roman"/>
              </a:rPr>
              <a:t>rectangular</a:t>
            </a:r>
            <a:r>
              <a:rPr sz="2200" spc="13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14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structure</a:t>
            </a:r>
            <a:r>
              <a:rPr sz="2200" spc="13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3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35" dirty="0">
                <a:latin typeface="Times New Roman"/>
                <a:cs typeface="Times New Roman"/>
              </a:rPr>
              <a:t>  </a:t>
            </a:r>
            <a:r>
              <a:rPr sz="2200" b="1" spc="-10" dirty="0">
                <a:latin typeface="Times New Roman"/>
                <a:cs typeface="Times New Roman"/>
              </a:rPr>
              <a:t>DataFrame </a:t>
            </a:r>
            <a:r>
              <a:rPr sz="2200" spc="-10" dirty="0">
                <a:latin typeface="Times New Roman"/>
                <a:cs typeface="Times New Roman"/>
              </a:rPr>
              <a:t>object.</a:t>
            </a:r>
            <a:endParaRPr sz="22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80000"/>
              </a:lnSpc>
              <a:spcBef>
                <a:spcPts val="103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18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default,</a:t>
            </a:r>
            <a:r>
              <a:rPr sz="2200" spc="18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18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automatic</a:t>
            </a:r>
            <a:r>
              <a:rPr sz="2200" spc="18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integer</a:t>
            </a:r>
            <a:r>
              <a:rPr sz="2200" spc="18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index</a:t>
            </a:r>
            <a:r>
              <a:rPr sz="2200" spc="175" dirty="0">
                <a:latin typeface="Times New Roman"/>
                <a:cs typeface="Times New Roman"/>
              </a:rPr>
              <a:t>  </a:t>
            </a:r>
            <a:r>
              <a:rPr sz="2200" spc="-25" dirty="0">
                <a:latin typeface="Times New Roman"/>
                <a:cs typeface="Times New Roman"/>
              </a:rPr>
              <a:t>is </a:t>
            </a:r>
            <a:r>
              <a:rPr sz="2200" dirty="0">
                <a:latin typeface="Times New Roman"/>
                <a:cs typeface="Times New Roman"/>
              </a:rPr>
              <a:t>created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DataFrame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based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order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of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rows.</a:t>
            </a:r>
            <a:endParaRPr sz="2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80100"/>
              </a:lnSpc>
              <a:spcBef>
                <a:spcPts val="99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54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pandas,</a:t>
            </a:r>
            <a:r>
              <a:rPr sz="2200" spc="54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54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54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also</a:t>
            </a:r>
            <a:r>
              <a:rPr sz="2200" spc="54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possible</a:t>
            </a:r>
            <a:r>
              <a:rPr sz="2200" spc="54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80" dirty="0">
                <a:latin typeface="Times New Roman"/>
                <a:cs typeface="Times New Roman"/>
              </a:rPr>
              <a:t>   </a:t>
            </a:r>
            <a:r>
              <a:rPr sz="2200" spc="-25" dirty="0">
                <a:latin typeface="Times New Roman"/>
                <a:cs typeface="Times New Roman"/>
              </a:rPr>
              <a:t>set </a:t>
            </a:r>
            <a:r>
              <a:rPr sz="2200" dirty="0">
                <a:latin typeface="Times New Roman"/>
                <a:cs typeface="Times New Roman"/>
              </a:rPr>
              <a:t>multilevel/hierarchical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indexes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improve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efficiency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certain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operations.</a:t>
            </a:r>
            <a:endParaRPr sz="2200">
              <a:latin typeface="Times New Roman"/>
              <a:cs typeface="Times New Roman"/>
            </a:endParaRPr>
          </a:p>
          <a:p>
            <a:pPr marL="755015" marR="6350" lvl="1" indent="-285750" algn="just">
              <a:lnSpc>
                <a:spcPct val="80000"/>
              </a:lnSpc>
              <a:spcBef>
                <a:spcPts val="1005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Hierarchical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Indexes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known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multi- 	</a:t>
            </a:r>
            <a:r>
              <a:rPr sz="2000" dirty="0">
                <a:latin typeface="Times New Roman"/>
                <a:cs typeface="Times New Roman"/>
              </a:rPr>
              <a:t>indexing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setting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column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name 	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index.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u="sng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imes New Roman"/>
                <a:cs typeface="Times New Roman"/>
                <a:hlinkClick r:id="rId2"/>
              </a:rPr>
              <a:t>Link</a:t>
            </a:r>
            <a:r>
              <a:rPr sz="2000" u="sng" spc="-15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2000" u="sng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imes New Roman"/>
                <a:cs typeface="Times New Roman"/>
                <a:hlinkClick r:id="rId2"/>
              </a:rPr>
              <a:t>to</a:t>
            </a:r>
            <a:r>
              <a:rPr sz="2000" u="sng" spc="-10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2000" u="sng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imes New Roman"/>
                <a:cs typeface="Times New Roman"/>
                <a:hlinkClick r:id="rId2"/>
              </a:rPr>
              <a:t>hierarchical</a:t>
            </a:r>
            <a:r>
              <a:rPr sz="2000" u="sng" spc="-50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2000" u="sng" spc="-10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imes New Roman"/>
                <a:cs typeface="Times New Roman"/>
                <a:hlinkClick r:id="rId2"/>
              </a:rPr>
              <a:t>indexing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50864" y="1229867"/>
            <a:ext cx="5858255" cy="48966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7005" y="291795"/>
            <a:ext cx="64871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Nonrectangular</a:t>
            </a:r>
            <a:r>
              <a:rPr sz="3600" spc="-60" dirty="0"/>
              <a:t> </a:t>
            </a:r>
            <a:r>
              <a:rPr sz="3600" dirty="0"/>
              <a:t>Data</a:t>
            </a:r>
            <a:r>
              <a:rPr sz="3600" spc="-30" dirty="0"/>
              <a:t> </a:t>
            </a:r>
            <a:r>
              <a:rPr sz="3600" spc="-10" dirty="0"/>
              <a:t>Structures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22554" y="862482"/>
            <a:ext cx="9366885" cy="519811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95"/>
              </a:spcBef>
              <a:buClr>
                <a:srgbClr val="90C225"/>
              </a:buClr>
              <a:buSzPct val="78125"/>
              <a:buFont typeface="Wingdings"/>
              <a:buChar char=""/>
              <a:tabLst>
                <a:tab pos="354965" algn="l"/>
              </a:tabLst>
            </a:pPr>
            <a:r>
              <a:rPr sz="1600" b="1" dirty="0">
                <a:latin typeface="Times New Roman"/>
                <a:cs typeface="Times New Roman"/>
              </a:rPr>
              <a:t>Time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series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data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records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successive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measurements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same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variable.</a:t>
            </a:r>
            <a:endParaRPr sz="1600" dirty="0">
              <a:latin typeface="Times New Roman"/>
              <a:cs typeface="Times New Roman"/>
            </a:endParaRPr>
          </a:p>
          <a:p>
            <a:pPr marL="756285" marR="7620" lvl="1" indent="-287020" algn="just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8125"/>
              <a:buFont typeface="Wingdings"/>
              <a:buChar char=""/>
              <a:tabLst>
                <a:tab pos="756285" algn="l"/>
              </a:tabLst>
            </a:pP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raw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material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statistical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forecasting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methods,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also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key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component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data </a:t>
            </a:r>
            <a:r>
              <a:rPr sz="1600" dirty="0">
                <a:latin typeface="Times New Roman"/>
                <a:cs typeface="Times New Roman"/>
              </a:rPr>
              <a:t>produced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devices—</a:t>
            </a:r>
            <a:r>
              <a:rPr sz="1600" dirty="0">
                <a:latin typeface="Times New Roman"/>
                <a:cs typeface="Times New Roman"/>
              </a:rPr>
              <a:t>the </a:t>
            </a:r>
            <a:r>
              <a:rPr sz="1600" spc="-20" dirty="0">
                <a:latin typeface="Times New Roman"/>
                <a:cs typeface="Times New Roman"/>
              </a:rPr>
              <a:t>IoT.</a:t>
            </a:r>
            <a:endParaRPr sz="1600" dirty="0">
              <a:latin typeface="Times New Roman"/>
              <a:cs typeface="Times New Roman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8125"/>
              <a:buFont typeface="Wingdings"/>
              <a:buChar char=""/>
              <a:tabLst>
                <a:tab pos="756285" algn="l"/>
              </a:tabLst>
            </a:pPr>
            <a:r>
              <a:rPr sz="1600" dirty="0">
                <a:latin typeface="Times New Roman"/>
                <a:cs typeface="Times New Roman"/>
              </a:rPr>
              <a:t>Time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series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series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points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which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each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point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associated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timestamp.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 simple </a:t>
            </a:r>
            <a:r>
              <a:rPr sz="1600" dirty="0">
                <a:latin typeface="Times New Roman"/>
                <a:cs typeface="Times New Roman"/>
              </a:rPr>
              <a:t>example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price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stock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stock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market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at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different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points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time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given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day.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Another </a:t>
            </a:r>
            <a:r>
              <a:rPr sz="1600" dirty="0">
                <a:latin typeface="Times New Roman"/>
                <a:cs typeface="Times New Roman"/>
              </a:rPr>
              <a:t>example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amount of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rainfall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region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different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months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year.</a:t>
            </a:r>
            <a:endParaRPr sz="1600" dirty="0">
              <a:latin typeface="Times New Roman"/>
              <a:cs typeface="Times New Roman"/>
            </a:endParaRPr>
          </a:p>
          <a:p>
            <a:pPr marL="355600" marR="8255" indent="-342900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8125"/>
              <a:buFont typeface="Wingdings"/>
              <a:buChar char=""/>
              <a:tabLst>
                <a:tab pos="355600" algn="l"/>
              </a:tabLst>
            </a:pPr>
            <a:r>
              <a:rPr sz="1600" b="1" dirty="0">
                <a:latin typeface="Times New Roman"/>
                <a:cs typeface="Times New Roman"/>
              </a:rPr>
              <a:t>Spatial</a:t>
            </a:r>
            <a:r>
              <a:rPr sz="1600" b="1" spc="1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data</a:t>
            </a:r>
            <a:r>
              <a:rPr sz="1600" b="1" spc="1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structures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which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used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mapping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location</a:t>
            </a:r>
            <a:r>
              <a:rPr sz="1600" b="1" spc="1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analytics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more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complex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varied </a:t>
            </a:r>
            <a:r>
              <a:rPr sz="1600" dirty="0">
                <a:latin typeface="Times New Roman"/>
                <a:cs typeface="Times New Roman"/>
              </a:rPr>
              <a:t>than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rectangular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structures.</a:t>
            </a:r>
            <a:endParaRPr sz="16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8125"/>
              <a:buFont typeface="Wingdings"/>
              <a:buChar char=""/>
              <a:tabLst>
                <a:tab pos="756285" algn="l"/>
              </a:tabLst>
            </a:pP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object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representation,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focus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object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(e.g.,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house</a:t>
            </a:r>
            <a:r>
              <a:rPr sz="1600" dirty="0">
                <a:latin typeface="Times New Roman"/>
                <a:cs typeface="Times New Roman"/>
              </a:rPr>
              <a:t>)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spatial</a:t>
            </a:r>
            <a:r>
              <a:rPr sz="1600" b="1" spc="-10" dirty="0">
                <a:latin typeface="Times New Roman"/>
                <a:cs typeface="Times New Roman"/>
              </a:rPr>
              <a:t> coordinates</a:t>
            </a:r>
            <a:r>
              <a:rPr sz="1600" spc="-10" dirty="0">
                <a:latin typeface="Times New Roman"/>
                <a:cs typeface="Times New Roman"/>
              </a:rPr>
              <a:t>.</a:t>
            </a:r>
            <a:endParaRPr sz="1600" dirty="0">
              <a:latin typeface="Times New Roman"/>
              <a:cs typeface="Times New Roman"/>
            </a:endParaRPr>
          </a:p>
          <a:p>
            <a:pPr marL="756285" marR="7620" lvl="1" indent="-287020" algn="just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8125"/>
              <a:buFont typeface="Wingdings"/>
              <a:buChar char=""/>
              <a:tabLst>
                <a:tab pos="756285" algn="l"/>
              </a:tabLst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field</a:t>
            </a:r>
            <a:r>
              <a:rPr sz="1600" b="1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view,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contrast,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focuses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small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units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space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value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relevant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metric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(pixel </a:t>
            </a:r>
            <a:r>
              <a:rPr sz="1600" dirty="0">
                <a:latin typeface="Times New Roman"/>
                <a:cs typeface="Times New Roman"/>
              </a:rPr>
              <a:t>brightness,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example) </a:t>
            </a:r>
            <a:r>
              <a:rPr sz="1600" u="sng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imes New Roman"/>
                <a:cs typeface="Times New Roman"/>
                <a:hlinkClick r:id="rId2"/>
              </a:rPr>
              <a:t>Python</a:t>
            </a:r>
            <a:r>
              <a:rPr sz="1600" u="sng" spc="-45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1600" u="sng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imes New Roman"/>
                <a:cs typeface="Times New Roman"/>
                <a:hlinkClick r:id="rId2"/>
              </a:rPr>
              <a:t>spatial</a:t>
            </a:r>
            <a:r>
              <a:rPr sz="1600" u="sng" spc="-30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1600" u="sng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imes New Roman"/>
                <a:cs typeface="Times New Roman"/>
                <a:hlinkClick r:id="rId2"/>
              </a:rPr>
              <a:t>data</a:t>
            </a:r>
            <a:r>
              <a:rPr sz="1600" u="sng" spc="-30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1600" u="sng" spc="-10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imes New Roman"/>
                <a:cs typeface="Times New Roman"/>
                <a:hlinkClick r:id="rId2"/>
              </a:rPr>
              <a:t>reading</a:t>
            </a:r>
            <a:endParaRPr sz="1600" dirty="0">
              <a:latin typeface="Times New Roman"/>
              <a:cs typeface="Times New Roman"/>
            </a:endParaRPr>
          </a:p>
          <a:p>
            <a:pPr marL="355600" marR="5715" indent="-342900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8125"/>
              <a:buFont typeface="Wingdings"/>
              <a:buChar char=""/>
              <a:tabLst>
                <a:tab pos="355600" algn="l"/>
              </a:tabLst>
            </a:pPr>
            <a:r>
              <a:rPr sz="1600" b="1" dirty="0">
                <a:latin typeface="Times New Roman"/>
                <a:cs typeface="Times New Roman"/>
              </a:rPr>
              <a:t>Graph</a:t>
            </a:r>
            <a:r>
              <a:rPr sz="1600" b="1" spc="1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(or</a:t>
            </a:r>
            <a:r>
              <a:rPr sz="1600" b="1" spc="1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network)</a:t>
            </a:r>
            <a:r>
              <a:rPr sz="1600" b="1" spc="1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data</a:t>
            </a:r>
            <a:r>
              <a:rPr sz="1600" b="1" spc="1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structures</a:t>
            </a:r>
            <a:r>
              <a:rPr sz="1600" b="1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used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represent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physical,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social,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abstract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relationships.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For </a:t>
            </a:r>
            <a:r>
              <a:rPr sz="1600" spc="-10" dirty="0">
                <a:latin typeface="Times New Roman"/>
                <a:cs typeface="Times New Roman"/>
              </a:rPr>
              <a:t>example,</a:t>
            </a:r>
            <a:endParaRPr sz="16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8125"/>
              <a:buFont typeface="Wingdings"/>
              <a:buChar char=""/>
              <a:tabLst>
                <a:tab pos="756285" algn="l"/>
              </a:tabLst>
            </a:pPr>
            <a:r>
              <a:rPr sz="1600" dirty="0">
                <a:latin typeface="Times New Roman"/>
                <a:cs typeface="Times New Roman"/>
              </a:rPr>
              <a:t>Facebook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LinkedIn,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may represent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connections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between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people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network.</a:t>
            </a:r>
            <a:endParaRPr sz="16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8125"/>
              <a:buFont typeface="Wingdings"/>
              <a:buChar char=""/>
              <a:tabLst>
                <a:tab pos="756285" algn="l"/>
              </a:tabLst>
            </a:pPr>
            <a:r>
              <a:rPr sz="1600" dirty="0">
                <a:latin typeface="Times New Roman"/>
                <a:cs typeface="Times New Roman"/>
              </a:rPr>
              <a:t>Distribution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hubs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connected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roads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example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physical </a:t>
            </a:r>
            <a:r>
              <a:rPr sz="1600" spc="-10" dirty="0">
                <a:latin typeface="Times New Roman"/>
                <a:cs typeface="Times New Roman"/>
              </a:rPr>
              <a:t>network.</a:t>
            </a:r>
            <a:endParaRPr sz="16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78125"/>
              <a:buFont typeface="Wingdings"/>
              <a:buChar char=""/>
              <a:tabLst>
                <a:tab pos="756285" algn="l"/>
                <a:tab pos="1393190" algn="l"/>
                <a:tab pos="2317115" algn="l"/>
                <a:tab pos="2694940" algn="l"/>
                <a:tab pos="3322954" algn="l"/>
                <a:tab pos="3691890" algn="l"/>
                <a:tab pos="4376420" algn="l"/>
                <a:tab pos="4935220" algn="l"/>
                <a:tab pos="5237480" algn="l"/>
                <a:tab pos="6174740" algn="l"/>
                <a:tab pos="6678930" algn="l"/>
                <a:tab pos="6979284" algn="l"/>
                <a:tab pos="7831455" algn="l"/>
                <a:tab pos="9058275" algn="l"/>
              </a:tabLst>
            </a:pPr>
            <a:r>
              <a:rPr sz="1600" spc="-10" dirty="0">
                <a:latin typeface="Times New Roman"/>
                <a:cs typeface="Times New Roman"/>
              </a:rPr>
              <a:t>Graph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structures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25" dirty="0">
                <a:latin typeface="Times New Roman"/>
                <a:cs typeface="Times New Roman"/>
              </a:rPr>
              <a:t>are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useful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25" dirty="0">
                <a:latin typeface="Times New Roman"/>
                <a:cs typeface="Times New Roman"/>
              </a:rPr>
              <a:t>for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certain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types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25" dirty="0">
                <a:latin typeface="Times New Roman"/>
                <a:cs typeface="Times New Roman"/>
              </a:rPr>
              <a:t>of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problems,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Times New Roman"/>
                <a:cs typeface="Times New Roman"/>
              </a:rPr>
              <a:t>such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25" dirty="0">
                <a:latin typeface="Times New Roman"/>
                <a:cs typeface="Times New Roman"/>
              </a:rPr>
              <a:t>as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b="1" spc="-10" dirty="0">
                <a:latin typeface="Times New Roman"/>
                <a:cs typeface="Times New Roman"/>
              </a:rPr>
              <a:t>network</a:t>
            </a:r>
            <a:r>
              <a:rPr sz="1600" b="1" dirty="0">
                <a:latin typeface="Times New Roman"/>
                <a:cs typeface="Times New Roman"/>
              </a:rPr>
              <a:t>	</a:t>
            </a:r>
            <a:r>
              <a:rPr sz="1600" b="1" spc="-10" dirty="0">
                <a:latin typeface="Times New Roman"/>
                <a:cs typeface="Times New Roman"/>
              </a:rPr>
              <a:t>optimization</a:t>
            </a:r>
            <a:r>
              <a:rPr sz="1600" b="1" dirty="0">
                <a:latin typeface="Times New Roman"/>
                <a:cs typeface="Times New Roman"/>
              </a:rPr>
              <a:t>	</a:t>
            </a:r>
            <a:r>
              <a:rPr sz="1600" spc="-25" dirty="0">
                <a:latin typeface="Times New Roman"/>
                <a:cs typeface="Times New Roman"/>
              </a:rPr>
              <a:t>and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2554" y="5908040"/>
            <a:ext cx="6285865" cy="76708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756285">
              <a:lnSpc>
                <a:spcPct val="100000"/>
              </a:lnSpc>
              <a:spcBef>
                <a:spcPts val="1100"/>
              </a:spcBef>
            </a:pPr>
            <a:r>
              <a:rPr sz="1600" b="1" dirty="0">
                <a:latin typeface="Times New Roman"/>
                <a:cs typeface="Times New Roman"/>
              </a:rPr>
              <a:t>recommender</a:t>
            </a:r>
            <a:r>
              <a:rPr sz="1600" b="1" spc="-9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systems.</a:t>
            </a:r>
            <a:endParaRPr sz="1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8125"/>
              <a:buFont typeface="Wingdings"/>
              <a:buChar char=""/>
              <a:tabLst>
                <a:tab pos="354965" algn="l"/>
              </a:tabLst>
            </a:pPr>
            <a:r>
              <a:rPr sz="1600" dirty="0">
                <a:latin typeface="Times New Roman"/>
                <a:cs typeface="Times New Roman"/>
              </a:rPr>
              <a:t>Each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these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types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specialized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methodology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science.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51417" y="6141211"/>
            <a:ext cx="1447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90C225"/>
                </a:solidFill>
                <a:latin typeface="Trebuchet MS"/>
                <a:cs typeface="Trebuchet MS"/>
              </a:rPr>
              <a:t>12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51417" y="6141211"/>
            <a:ext cx="1447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90C225"/>
                </a:solidFill>
                <a:latin typeface="Trebuchet MS"/>
                <a:cs typeface="Trebuchet MS"/>
              </a:rPr>
              <a:t>13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14884" y="0"/>
            <a:ext cx="11977370" cy="6858000"/>
            <a:chOff x="214884" y="0"/>
            <a:chExt cx="1197737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12948" y="0"/>
              <a:ext cx="5945124" cy="443026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4028" y="4215382"/>
              <a:ext cx="5187696" cy="259384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19456" y="4210811"/>
              <a:ext cx="5196840" cy="2603500"/>
            </a:xfrm>
            <a:custGeom>
              <a:avLst/>
              <a:gdLst/>
              <a:ahLst/>
              <a:cxnLst/>
              <a:rect l="l" t="t" r="r" b="b"/>
              <a:pathLst>
                <a:path w="5196840" h="2603500">
                  <a:moveTo>
                    <a:pt x="0" y="2602992"/>
                  </a:moveTo>
                  <a:lnTo>
                    <a:pt x="5196840" y="2602992"/>
                  </a:lnTo>
                  <a:lnTo>
                    <a:pt x="5196840" y="0"/>
                  </a:lnTo>
                  <a:lnTo>
                    <a:pt x="0" y="0"/>
                  </a:lnTo>
                  <a:lnTo>
                    <a:pt x="0" y="260299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22492" y="4344923"/>
              <a:ext cx="5969508" cy="25130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Estimates of </a:t>
            </a:r>
            <a:r>
              <a:rPr sz="3600" spc="-10" dirty="0"/>
              <a:t>Location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31088" y="1037589"/>
            <a:ext cx="6816090" cy="289687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55600" marR="5080" indent="-342900" algn="just">
              <a:lnSpc>
                <a:spcPts val="2500"/>
              </a:lnSpc>
              <a:spcBef>
                <a:spcPts val="705"/>
              </a:spcBef>
              <a:buClr>
                <a:srgbClr val="90C225"/>
              </a:buClr>
              <a:buSzPct val="78846"/>
              <a:buFont typeface="Wingdings"/>
              <a:buChar char=""/>
              <a:tabLst>
                <a:tab pos="355600" algn="l"/>
              </a:tabLst>
            </a:pPr>
            <a:r>
              <a:rPr sz="2600" dirty="0">
                <a:latin typeface="Times New Roman"/>
                <a:cs typeface="Times New Roman"/>
              </a:rPr>
              <a:t>Variables</a:t>
            </a:r>
            <a:r>
              <a:rPr sz="2600" spc="6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  measured  or  count</a:t>
            </a:r>
            <a:r>
              <a:rPr sz="2600" spc="6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data</a:t>
            </a:r>
            <a:r>
              <a:rPr sz="2600" spc="6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might </a:t>
            </a:r>
            <a:r>
              <a:rPr sz="2600" dirty="0">
                <a:latin typeface="Times New Roman"/>
                <a:cs typeface="Times New Roman"/>
              </a:rPr>
              <a:t>have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thousands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distinct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values.</a:t>
            </a:r>
            <a:endParaRPr sz="26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80000"/>
              </a:lnSpc>
              <a:spcBef>
                <a:spcPts val="1019"/>
              </a:spcBef>
              <a:buClr>
                <a:srgbClr val="90C225"/>
              </a:buClr>
              <a:buSzPct val="78846"/>
              <a:buFont typeface="Wingdings"/>
              <a:buChar char=""/>
              <a:tabLst>
                <a:tab pos="355600" algn="l"/>
              </a:tabLst>
            </a:pP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basic</a:t>
            </a:r>
            <a:r>
              <a:rPr sz="2600" spc="2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step</a:t>
            </a:r>
            <a:r>
              <a:rPr sz="2600" spc="2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2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exploring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your</a:t>
            </a:r>
            <a:r>
              <a:rPr sz="2600" spc="2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data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getting</a:t>
            </a:r>
            <a:r>
              <a:rPr sz="2600" spc="26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a </a:t>
            </a:r>
            <a:r>
              <a:rPr sz="2600" dirty="0">
                <a:latin typeface="Times New Roman"/>
                <a:cs typeface="Times New Roman"/>
              </a:rPr>
              <a:t>“typical</a:t>
            </a:r>
            <a:r>
              <a:rPr sz="2600" spc="5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value”</a:t>
            </a:r>
            <a:r>
              <a:rPr sz="2600" spc="5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5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each</a:t>
            </a:r>
            <a:r>
              <a:rPr sz="2600" spc="5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feature</a:t>
            </a:r>
            <a:r>
              <a:rPr sz="2600" spc="5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(variable):</a:t>
            </a:r>
            <a:r>
              <a:rPr sz="2600" spc="525" dirty="0">
                <a:latin typeface="Times New Roman"/>
                <a:cs typeface="Times New Roman"/>
              </a:rPr>
              <a:t> </a:t>
            </a:r>
            <a:r>
              <a:rPr sz="2600" b="1" spc="-25" dirty="0">
                <a:latin typeface="Times New Roman"/>
                <a:cs typeface="Times New Roman"/>
              </a:rPr>
              <a:t>an </a:t>
            </a:r>
            <a:r>
              <a:rPr sz="2600" b="1" dirty="0">
                <a:latin typeface="Times New Roman"/>
                <a:cs typeface="Times New Roman"/>
              </a:rPr>
              <a:t>estimate</a:t>
            </a:r>
            <a:r>
              <a:rPr sz="2600" b="1" spc="20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of</a:t>
            </a:r>
            <a:r>
              <a:rPr sz="2600" b="1" spc="204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where</a:t>
            </a:r>
            <a:r>
              <a:rPr sz="2600" b="1" spc="204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most</a:t>
            </a:r>
            <a:r>
              <a:rPr sz="2600" b="1" spc="21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of</a:t>
            </a:r>
            <a:r>
              <a:rPr sz="2600" b="1" spc="21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the</a:t>
            </a:r>
            <a:r>
              <a:rPr sz="2600" b="1" spc="204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data</a:t>
            </a:r>
            <a:r>
              <a:rPr sz="2600" b="1" spc="21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is</a:t>
            </a:r>
            <a:r>
              <a:rPr sz="2600" b="1" spc="21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located </a:t>
            </a:r>
            <a:r>
              <a:rPr sz="2600" dirty="0">
                <a:latin typeface="Times New Roman"/>
                <a:cs typeface="Times New Roman"/>
              </a:rPr>
              <a:t>(i.e.,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central</a:t>
            </a:r>
            <a:r>
              <a:rPr sz="2600" b="1" spc="-3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tendency</a:t>
            </a:r>
            <a:r>
              <a:rPr sz="2600" spc="-10" dirty="0">
                <a:latin typeface="Times New Roman"/>
                <a:cs typeface="Times New Roman"/>
              </a:rPr>
              <a:t>).</a:t>
            </a:r>
            <a:endParaRPr sz="2600">
              <a:latin typeface="Times New Roman"/>
              <a:cs typeface="Times New Roman"/>
            </a:endParaRPr>
          </a:p>
          <a:p>
            <a:pPr marL="354965" indent="-342265" algn="just">
              <a:lnSpc>
                <a:spcPts val="2810"/>
              </a:lnSpc>
              <a:spcBef>
                <a:spcPts val="375"/>
              </a:spcBef>
              <a:buClr>
                <a:srgbClr val="90C225"/>
              </a:buClr>
              <a:buSzPct val="78846"/>
              <a:buFont typeface="Wingdings"/>
              <a:buChar char=""/>
              <a:tabLst>
                <a:tab pos="354965" algn="l"/>
              </a:tabLst>
            </a:pPr>
            <a:r>
              <a:rPr sz="2600" dirty="0">
                <a:latin typeface="Times New Roman"/>
                <a:cs typeface="Times New Roman"/>
              </a:rPr>
              <a:t>Summarizing</a:t>
            </a:r>
            <a:r>
              <a:rPr sz="2600" spc="24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data</a:t>
            </a:r>
            <a:r>
              <a:rPr sz="2600" spc="24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might</a:t>
            </a:r>
            <a:r>
              <a:rPr sz="2600" spc="254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seem</a:t>
            </a:r>
            <a:r>
              <a:rPr sz="2600" spc="25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fairly</a:t>
            </a:r>
            <a:r>
              <a:rPr sz="2600" spc="260" dirty="0">
                <a:latin typeface="Times New Roman"/>
                <a:cs typeface="Times New Roman"/>
              </a:rPr>
              <a:t>  </a:t>
            </a:r>
            <a:r>
              <a:rPr sz="2600" spc="-10" dirty="0">
                <a:latin typeface="Times New Roman"/>
                <a:cs typeface="Times New Roman"/>
              </a:rPr>
              <a:t>trivial</a:t>
            </a:r>
            <a:endParaRPr sz="2600">
              <a:latin typeface="Times New Roman"/>
              <a:cs typeface="Times New Roman"/>
            </a:endParaRPr>
          </a:p>
          <a:p>
            <a:pPr marL="355600" algn="just">
              <a:lnSpc>
                <a:spcPts val="2810"/>
              </a:lnSpc>
            </a:pPr>
            <a:r>
              <a:rPr sz="2600" dirty="0">
                <a:latin typeface="Times New Roman"/>
                <a:cs typeface="Times New Roman"/>
              </a:rPr>
              <a:t>/minor: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just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take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mean</a:t>
            </a:r>
            <a:r>
              <a:rPr sz="2600" b="1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data.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1088" y="3955160"/>
            <a:ext cx="6815455" cy="245872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55600" marR="5080" indent="-342900" algn="just">
              <a:lnSpc>
                <a:spcPct val="80000"/>
              </a:lnSpc>
              <a:spcBef>
                <a:spcPts val="725"/>
              </a:spcBef>
              <a:buClr>
                <a:srgbClr val="90C225"/>
              </a:buClr>
              <a:buSzPct val="78846"/>
              <a:buFont typeface="Wingdings"/>
              <a:buChar char=""/>
              <a:tabLst>
                <a:tab pos="355600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425" dirty="0">
                <a:latin typeface="Times New Roman"/>
                <a:cs typeface="Times New Roman"/>
              </a:rPr>
              <a:t>   </a:t>
            </a:r>
            <a:r>
              <a:rPr sz="2600" b="1" dirty="0">
                <a:latin typeface="Times New Roman"/>
                <a:cs typeface="Times New Roman"/>
              </a:rPr>
              <a:t>mean</a:t>
            </a:r>
            <a:r>
              <a:rPr sz="2600" b="1" spc="434" dirty="0">
                <a:latin typeface="Times New Roman"/>
                <a:cs typeface="Times New Roman"/>
              </a:rPr>
              <a:t>  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430" dirty="0">
                <a:latin typeface="Times New Roman"/>
                <a:cs typeface="Times New Roman"/>
              </a:rPr>
              <a:t>   </a:t>
            </a:r>
            <a:r>
              <a:rPr sz="2600" dirty="0">
                <a:latin typeface="Times New Roman"/>
                <a:cs typeface="Times New Roman"/>
              </a:rPr>
              <a:t>easy</a:t>
            </a:r>
            <a:r>
              <a:rPr sz="2600" spc="430" dirty="0">
                <a:latin typeface="Times New Roman"/>
                <a:cs typeface="Times New Roman"/>
              </a:rPr>
              <a:t>  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434" dirty="0">
                <a:latin typeface="Times New Roman"/>
                <a:cs typeface="Times New Roman"/>
              </a:rPr>
              <a:t>   </a:t>
            </a:r>
            <a:r>
              <a:rPr sz="2600" dirty="0">
                <a:latin typeface="Times New Roman"/>
                <a:cs typeface="Times New Roman"/>
              </a:rPr>
              <a:t>compute</a:t>
            </a:r>
            <a:r>
              <a:rPr sz="2600" spc="430" dirty="0">
                <a:latin typeface="Times New Roman"/>
                <a:cs typeface="Times New Roman"/>
              </a:rPr>
              <a:t>   </a:t>
            </a:r>
            <a:r>
              <a:rPr sz="2600" spc="-25" dirty="0">
                <a:latin typeface="Times New Roman"/>
                <a:cs typeface="Times New Roman"/>
              </a:rPr>
              <a:t>and </a:t>
            </a:r>
            <a:r>
              <a:rPr sz="2600" dirty="0">
                <a:latin typeface="Times New Roman"/>
                <a:cs typeface="Times New Roman"/>
              </a:rPr>
              <a:t>expedient/useful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use,</a:t>
            </a:r>
            <a:endParaRPr sz="2600">
              <a:latin typeface="Times New Roman"/>
              <a:cs typeface="Times New Roman"/>
            </a:endParaRPr>
          </a:p>
          <a:p>
            <a:pPr marL="756285" marR="5080" lvl="1" indent="-287020" algn="just">
              <a:lnSpc>
                <a:spcPts val="2300"/>
              </a:lnSpc>
              <a:spcBef>
                <a:spcPts val="995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3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30" dirty="0"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not</a:t>
            </a:r>
            <a:r>
              <a:rPr sz="2400" spc="2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always</a:t>
            </a:r>
            <a:r>
              <a:rPr sz="2400" spc="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best</a:t>
            </a:r>
            <a:r>
              <a:rPr sz="2400" spc="3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measure</a:t>
            </a:r>
            <a:r>
              <a:rPr sz="2400" spc="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central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value.</a:t>
            </a:r>
            <a:endParaRPr sz="2400">
              <a:latin typeface="Times New Roman"/>
              <a:cs typeface="Times New Roman"/>
            </a:endParaRPr>
          </a:p>
          <a:p>
            <a:pPr marL="756285" marR="5080" lvl="1" indent="-287020" algn="just">
              <a:lnSpc>
                <a:spcPct val="80000"/>
              </a:lnSpc>
              <a:spcBef>
                <a:spcPts val="103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reason,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statisticians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developed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promoted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several</a:t>
            </a:r>
            <a:r>
              <a:rPr sz="2400" spc="1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alternative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estimates</a:t>
            </a:r>
            <a:r>
              <a:rPr sz="2400" spc="1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mean.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51417" y="6141211"/>
            <a:ext cx="1447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90C225"/>
                </a:solidFill>
                <a:latin typeface="Trebuchet MS"/>
                <a:cs typeface="Trebuchet MS"/>
              </a:rPr>
              <a:t>14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13319" y="406908"/>
            <a:ext cx="4326635" cy="6134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Mean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31088" y="1118361"/>
            <a:ext cx="9078595" cy="4065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985" indent="-342900" algn="just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most</a:t>
            </a:r>
            <a:r>
              <a:rPr sz="2400" b="1" spc="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basic</a:t>
            </a:r>
            <a:r>
              <a:rPr sz="2400" b="1" spc="1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estimate</a:t>
            </a:r>
            <a:r>
              <a:rPr sz="2400" b="1" spc="1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2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location</a:t>
            </a:r>
            <a:r>
              <a:rPr sz="2400" b="1" spc="1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1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mean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average</a:t>
            </a:r>
            <a:r>
              <a:rPr sz="2400" b="1" spc="19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value</a:t>
            </a:r>
            <a:r>
              <a:rPr sz="2400" spc="-10" dirty="0">
                <a:latin typeface="Times New Roman"/>
                <a:cs typeface="Times New Roman"/>
              </a:rPr>
              <a:t>.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sum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all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values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divided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by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number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values</a:t>
            </a:r>
            <a:endParaRPr sz="240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You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encounter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symbol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(pronounced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“</a:t>
            </a:r>
            <a:r>
              <a:rPr sz="2400" b="1" spc="-10" dirty="0">
                <a:latin typeface="Times New Roman"/>
                <a:cs typeface="Times New Roman"/>
              </a:rPr>
              <a:t>x-</a:t>
            </a:r>
            <a:r>
              <a:rPr sz="2400" b="1" dirty="0">
                <a:latin typeface="Times New Roman"/>
                <a:cs typeface="Times New Roman"/>
              </a:rPr>
              <a:t>bar</a:t>
            </a:r>
            <a:r>
              <a:rPr sz="2400" dirty="0">
                <a:latin typeface="Times New Roman"/>
                <a:cs typeface="Times New Roman"/>
              </a:rPr>
              <a:t>”)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being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represent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sample</a:t>
            </a:r>
            <a:r>
              <a:rPr sz="2400" b="1" spc="3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from</a:t>
            </a:r>
            <a:r>
              <a:rPr sz="2400" b="1" spc="3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3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population</a:t>
            </a:r>
            <a:r>
              <a:rPr sz="2400" dirty="0">
                <a:latin typeface="Times New Roman"/>
                <a:cs typeface="Times New Roman"/>
              </a:rPr>
              <a:t>.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formula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compute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x1,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x2,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...,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is: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N</a:t>
            </a:r>
            <a:r>
              <a:rPr sz="2400" b="1" spc="5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(or</a:t>
            </a:r>
            <a:r>
              <a:rPr sz="2400" spc="5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5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refers</a:t>
            </a:r>
            <a:r>
              <a:rPr sz="2400" spc="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total</a:t>
            </a:r>
            <a:r>
              <a:rPr sz="2400" spc="5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5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records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5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observations.</a:t>
            </a:r>
            <a:r>
              <a:rPr sz="2400" spc="5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statistics</a:t>
            </a:r>
            <a:r>
              <a:rPr sz="2400" spc="509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</a:t>
            </a:r>
            <a:r>
              <a:rPr sz="2400" b="1" spc="5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refers</a:t>
            </a:r>
            <a:r>
              <a:rPr sz="2400" spc="5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5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5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population</a:t>
            </a:r>
            <a:r>
              <a:rPr sz="2400" b="1" spc="5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whereas</a:t>
            </a:r>
            <a:r>
              <a:rPr sz="2400" spc="509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</a:t>
            </a:r>
            <a:r>
              <a:rPr sz="2400" b="1" spc="5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09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5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sample</a:t>
            </a:r>
            <a:r>
              <a:rPr sz="2400" b="1" spc="509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from</a:t>
            </a:r>
            <a:r>
              <a:rPr sz="2400" b="1" spc="509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a </a:t>
            </a:r>
            <a:r>
              <a:rPr sz="2400" b="1" spc="-10" dirty="0">
                <a:latin typeface="Times New Roman"/>
                <a:cs typeface="Times New Roman"/>
              </a:rPr>
              <a:t>population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basic</a:t>
            </a:r>
            <a:r>
              <a:rPr sz="2400" spc="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metric</a:t>
            </a:r>
            <a:r>
              <a:rPr sz="2400" spc="3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location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mean,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sensitive</a:t>
            </a:r>
            <a:r>
              <a:rPr sz="2400" spc="3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endParaRPr sz="2400">
              <a:latin typeface="Times New Roman"/>
              <a:cs typeface="Times New Roman"/>
            </a:endParaRPr>
          </a:p>
          <a:p>
            <a:pPr marL="355600" algn="just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extreme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b="1" spc="-10" dirty="0">
                <a:latin typeface="Times New Roman"/>
                <a:cs typeface="Times New Roman"/>
              </a:rPr>
              <a:t>outlier</a:t>
            </a:r>
            <a:r>
              <a:rPr sz="2400" spc="-10" dirty="0">
                <a:latin typeface="Times New Roman"/>
                <a:cs typeface="Times New Roman"/>
              </a:rPr>
              <a:t>).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51417" y="6141211"/>
            <a:ext cx="1447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90C225"/>
                </a:solidFill>
                <a:latin typeface="Trebuchet MS"/>
                <a:cs typeface="Trebuchet MS"/>
              </a:rPr>
              <a:t>15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3454" y="5636979"/>
            <a:ext cx="2466707" cy="76219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F8B630-FEA4-AB6C-7208-460537467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00200"/>
            <a:ext cx="714375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674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0">
              <a:lnSpc>
                <a:spcPct val="100000"/>
              </a:lnSpc>
              <a:spcBef>
                <a:spcPts val="100"/>
              </a:spcBef>
            </a:pPr>
            <a:r>
              <a:rPr sz="3600" spc="-30" dirty="0"/>
              <a:t>Trimmed</a:t>
            </a:r>
            <a:r>
              <a:rPr sz="3600" spc="-220" dirty="0"/>
              <a:t> </a:t>
            </a:r>
            <a:r>
              <a:rPr sz="3600" spc="-20" dirty="0"/>
              <a:t>Mean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31088" y="1119886"/>
            <a:ext cx="9068435" cy="170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variation</a:t>
            </a:r>
            <a:r>
              <a:rPr sz="2200" spc="7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7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7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mean</a:t>
            </a:r>
            <a:r>
              <a:rPr sz="2200" spc="8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7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7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trimmed</a:t>
            </a:r>
            <a:r>
              <a:rPr sz="2200" spc="7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mean,</a:t>
            </a:r>
            <a:r>
              <a:rPr sz="2200" spc="7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7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you</a:t>
            </a:r>
            <a:r>
              <a:rPr sz="2200" spc="75" dirty="0">
                <a:latin typeface="Times New Roman"/>
                <a:cs typeface="Times New Roman"/>
              </a:rPr>
              <a:t>  </a:t>
            </a:r>
            <a:r>
              <a:rPr sz="2200" b="1" dirty="0">
                <a:latin typeface="Times New Roman"/>
                <a:cs typeface="Times New Roman"/>
              </a:rPr>
              <a:t>calculate</a:t>
            </a:r>
            <a:r>
              <a:rPr sz="2200" b="1" spc="70" dirty="0">
                <a:latin typeface="Times New Roman"/>
                <a:cs typeface="Times New Roman"/>
              </a:rPr>
              <a:t>  </a:t>
            </a:r>
            <a:r>
              <a:rPr sz="2200" b="1" spc="-25" dirty="0">
                <a:latin typeface="Times New Roman"/>
                <a:cs typeface="Times New Roman"/>
              </a:rPr>
              <a:t>by </a:t>
            </a:r>
            <a:r>
              <a:rPr sz="2200" b="1" dirty="0">
                <a:latin typeface="Times New Roman"/>
                <a:cs typeface="Times New Roman"/>
              </a:rPr>
              <a:t>dropping</a:t>
            </a:r>
            <a:r>
              <a:rPr sz="2200" b="1" spc="1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</a:t>
            </a:r>
            <a:r>
              <a:rPr sz="2200" b="1" spc="1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fixed</a:t>
            </a:r>
            <a:r>
              <a:rPr sz="2200" b="1" spc="1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number</a:t>
            </a:r>
            <a:r>
              <a:rPr sz="2200" b="1" spc="1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1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sorted</a:t>
            </a:r>
            <a:r>
              <a:rPr sz="2200" b="1" spc="1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values</a:t>
            </a:r>
            <a:r>
              <a:rPr sz="2200" b="1" spc="1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</a:t>
            </a:r>
            <a:r>
              <a:rPr sz="2200" spc="1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each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end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then</a:t>
            </a:r>
            <a:r>
              <a:rPr sz="2200" spc="1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taking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 </a:t>
            </a:r>
            <a:r>
              <a:rPr sz="2200" dirty="0">
                <a:latin typeface="Times New Roman"/>
                <a:cs typeface="Times New Roman"/>
              </a:rPr>
              <a:t>average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remaining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values.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Representing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sorted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values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,</a:t>
            </a:r>
            <a:endParaRPr sz="2200" dirty="0">
              <a:latin typeface="Times New Roman"/>
              <a:cs typeface="Times New Roman"/>
            </a:endParaRPr>
          </a:p>
          <a:p>
            <a:pPr marL="355600" marR="6350" algn="just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...,</a:t>
            </a:r>
            <a:r>
              <a:rPr sz="2200" spc="2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</a:t>
            </a:r>
            <a:r>
              <a:rPr sz="2200" spc="2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where</a:t>
            </a:r>
            <a:r>
              <a:rPr sz="2200" spc="2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</a:t>
            </a:r>
            <a:r>
              <a:rPr sz="2200" spc="2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</a:t>
            </a:r>
            <a:r>
              <a:rPr sz="2200" spc="2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2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smallest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value</a:t>
            </a:r>
            <a:r>
              <a:rPr sz="2200" spc="2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2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</a:t>
            </a:r>
            <a:r>
              <a:rPr sz="2200" spc="2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</a:t>
            </a:r>
            <a:r>
              <a:rPr sz="2200" spc="2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largest,</a:t>
            </a:r>
            <a:r>
              <a:rPr sz="2200" spc="2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formula</a:t>
            </a:r>
            <a:r>
              <a:rPr sz="2200" spc="29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compute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trimmed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smallest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largest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values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omitted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is: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1088" y="4309948"/>
            <a:ext cx="9069070" cy="1702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trimmed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mean</a:t>
            </a:r>
            <a:r>
              <a:rPr sz="2200" b="1" spc="-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eliminates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influence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-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extreme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values</a:t>
            </a:r>
            <a:r>
              <a:rPr sz="2200" dirty="0">
                <a:latin typeface="Times New Roman"/>
                <a:cs typeface="Times New Roman"/>
              </a:rPr>
              <a:t>.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example,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2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international</a:t>
            </a:r>
            <a:r>
              <a:rPr sz="2200" spc="2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diving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top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score</a:t>
            </a:r>
            <a:r>
              <a:rPr sz="2200" spc="2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2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bottom</a:t>
            </a:r>
            <a:r>
              <a:rPr sz="2200" spc="20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score</a:t>
            </a:r>
            <a:r>
              <a:rPr sz="2200" spc="2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20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five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judges</a:t>
            </a:r>
            <a:r>
              <a:rPr sz="2200" spc="21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are </a:t>
            </a:r>
            <a:r>
              <a:rPr sz="2200" dirty="0">
                <a:latin typeface="Times New Roman"/>
                <a:cs typeface="Times New Roman"/>
              </a:rPr>
              <a:t>dropped,</a:t>
            </a:r>
            <a:r>
              <a:rPr sz="2200" spc="4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48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4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final</a:t>
            </a:r>
            <a:r>
              <a:rPr sz="2200" spc="4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score</a:t>
            </a:r>
            <a:r>
              <a:rPr sz="2200" spc="48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48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4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average</a:t>
            </a:r>
            <a:r>
              <a:rPr sz="2200" spc="48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48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4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scores</a:t>
            </a:r>
            <a:r>
              <a:rPr sz="2200" spc="4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48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484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three </a:t>
            </a:r>
            <a:r>
              <a:rPr sz="2200" dirty="0">
                <a:latin typeface="Times New Roman"/>
                <a:cs typeface="Times New Roman"/>
              </a:rPr>
              <a:t>remaining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judges.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makes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difficult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single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judge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manipulate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score,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perhaps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favor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their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country’s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contestant.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Trimmed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means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widely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3988" y="5987288"/>
            <a:ext cx="74707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used,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many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cases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preferable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using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ordinary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mea</a:t>
            </a:r>
            <a:r>
              <a:rPr lang="en-US" sz="2200" spc="-20" dirty="0">
                <a:latin typeface="Times New Roman"/>
                <a:cs typeface="Times New Roman"/>
              </a:rPr>
              <a:t>n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51417" y="6141211"/>
            <a:ext cx="1447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90C225"/>
                </a:solidFill>
                <a:latin typeface="Trebuchet MS"/>
                <a:cs typeface="Trebuchet MS"/>
              </a:rPr>
              <a:t>16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4464" y="3282315"/>
            <a:ext cx="4096435" cy="7524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EB7775-23C9-E3ED-8CEE-F8A467CD5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0"/>
            <a:ext cx="68296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366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0">
              <a:lnSpc>
                <a:spcPct val="100000"/>
              </a:lnSpc>
              <a:spcBef>
                <a:spcPts val="100"/>
              </a:spcBef>
            </a:pPr>
            <a:r>
              <a:rPr sz="3600" spc="-30" dirty="0"/>
              <a:t>Trimmed</a:t>
            </a:r>
            <a:r>
              <a:rPr sz="3600" spc="-105" dirty="0"/>
              <a:t> </a:t>
            </a:r>
            <a:r>
              <a:rPr sz="3600" dirty="0"/>
              <a:t>Mean</a:t>
            </a:r>
            <a:r>
              <a:rPr sz="3600" spc="-110" dirty="0"/>
              <a:t> </a:t>
            </a:r>
            <a:r>
              <a:rPr sz="3600" dirty="0"/>
              <a:t>Vs</a:t>
            </a:r>
            <a:r>
              <a:rPr sz="3600" spc="-80" dirty="0"/>
              <a:t> </a:t>
            </a:r>
            <a:r>
              <a:rPr sz="3600" spc="-20" dirty="0"/>
              <a:t>Mean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597152" y="1958339"/>
            <a:ext cx="6993890" cy="3139440"/>
          </a:xfrm>
          <a:prstGeom prst="rect">
            <a:avLst/>
          </a:prstGeom>
          <a:solidFill>
            <a:srgbClr val="B7E995"/>
          </a:solidFill>
        </p:spPr>
        <p:txBody>
          <a:bodyPr vert="horz" wrap="square" lIns="0" tIns="39370" rIns="0" bIns="0" rtlCol="0">
            <a:spAutoFit/>
          </a:bodyPr>
          <a:lstStyle/>
          <a:p>
            <a:pPr marL="90805" marR="613410">
              <a:lnSpc>
                <a:spcPct val="100000"/>
              </a:lnSpc>
              <a:spcBef>
                <a:spcPts val="310"/>
              </a:spcBef>
            </a:pPr>
            <a:r>
              <a:rPr sz="1800" dirty="0">
                <a:latin typeface="Trebuchet MS"/>
                <a:cs typeface="Trebuchet MS"/>
              </a:rPr>
              <a:t>Find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10%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trimmed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mean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mean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following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set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of </a:t>
            </a:r>
            <a:r>
              <a:rPr sz="1800" spc="-10" dirty="0">
                <a:latin typeface="Trebuchet MS"/>
                <a:cs typeface="Trebuchet MS"/>
              </a:rPr>
              <a:t>data:</a:t>
            </a:r>
            <a:endParaRPr sz="1800" dirty="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12,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23,14,19,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30,17,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20,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222,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24,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25,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26,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40,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70,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26,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50,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56,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52</a:t>
            </a:r>
            <a:endParaRPr sz="1800" dirty="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Mean=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?</a:t>
            </a:r>
            <a:endParaRPr sz="1800" dirty="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10%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trimmed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mean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=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?</a:t>
            </a:r>
            <a:endParaRPr sz="1800" dirty="0">
              <a:latin typeface="Trebuchet MS"/>
              <a:cs typeface="Trebuchet MS"/>
            </a:endParaRPr>
          </a:p>
          <a:p>
            <a:pPr marL="361950" indent="-271145">
              <a:lnSpc>
                <a:spcPct val="100000"/>
              </a:lnSpc>
              <a:buAutoNum type="arabicPlain"/>
              <a:tabLst>
                <a:tab pos="361950" algn="l"/>
              </a:tabLst>
            </a:pPr>
            <a:r>
              <a:rPr sz="1800" dirty="0">
                <a:latin typeface="Trebuchet MS"/>
                <a:cs typeface="Trebuchet MS"/>
              </a:rPr>
              <a:t>First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sort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data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order</a:t>
            </a:r>
            <a:endParaRPr sz="1800" dirty="0">
              <a:latin typeface="Trebuchet MS"/>
              <a:cs typeface="Trebuchet MS"/>
            </a:endParaRPr>
          </a:p>
          <a:p>
            <a:pPr marL="361950" indent="-271145">
              <a:lnSpc>
                <a:spcPct val="100000"/>
              </a:lnSpc>
              <a:spcBef>
                <a:spcPts val="5"/>
              </a:spcBef>
              <a:buAutoNum type="arabicPlain"/>
              <a:tabLst>
                <a:tab pos="361950" algn="l"/>
              </a:tabLst>
            </a:pPr>
            <a:r>
              <a:rPr sz="1800" dirty="0">
                <a:latin typeface="Trebuchet MS"/>
                <a:cs typeface="Trebuchet MS"/>
              </a:rPr>
              <a:t>Divide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total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number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items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by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trim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percentage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like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10/10=1</a:t>
            </a:r>
            <a:endParaRPr sz="1800" dirty="0">
              <a:latin typeface="Trebuchet MS"/>
              <a:cs typeface="Trebuchet MS"/>
            </a:endParaRPr>
          </a:p>
          <a:p>
            <a:pPr marL="361950" indent="-271145">
              <a:lnSpc>
                <a:spcPct val="100000"/>
              </a:lnSpc>
              <a:buAutoNum type="arabicPlain"/>
              <a:tabLst>
                <a:tab pos="361950" algn="l"/>
              </a:tabLst>
            </a:pPr>
            <a:r>
              <a:rPr sz="1800" dirty="0">
                <a:latin typeface="Trebuchet MS"/>
                <a:cs typeface="Trebuchet MS"/>
              </a:rPr>
              <a:t>It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means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remove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one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observation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from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each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side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(first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last</a:t>
            </a:r>
            <a:endParaRPr sz="1800" dirty="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</a:rPr>
              <a:t>item)</a:t>
            </a:r>
            <a:endParaRPr sz="1800" dirty="0">
              <a:latin typeface="Trebuchet MS"/>
              <a:cs typeface="Trebuchet MS"/>
            </a:endParaRPr>
          </a:p>
          <a:p>
            <a:pPr marL="361950" indent="-271145">
              <a:lnSpc>
                <a:spcPct val="100000"/>
              </a:lnSpc>
              <a:buAutoNum type="arabicPlain" startAt="4"/>
              <a:tabLst>
                <a:tab pos="361950" algn="l"/>
              </a:tabLst>
            </a:pPr>
            <a:r>
              <a:rPr sz="1800" dirty="0">
                <a:latin typeface="Trebuchet MS"/>
                <a:cs typeface="Trebuchet MS"/>
              </a:rPr>
              <a:t>find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average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called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trimmed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mean</a:t>
            </a:r>
            <a:endParaRPr sz="1800" dirty="0">
              <a:latin typeface="Trebuchet MS"/>
              <a:cs typeface="Trebuchet MS"/>
            </a:endParaRPr>
          </a:p>
          <a:p>
            <a:pPr marL="349885" indent="-259079">
              <a:lnSpc>
                <a:spcPct val="100000"/>
              </a:lnSpc>
              <a:buAutoNum type="arabicPlain" startAt="4"/>
              <a:tabLst>
                <a:tab pos="349885" algn="l"/>
              </a:tabLst>
            </a:pPr>
            <a:r>
              <a:rPr sz="1800" dirty="0">
                <a:latin typeface="Trebuchet MS"/>
                <a:cs typeface="Trebuchet MS"/>
              </a:rPr>
              <a:t>Also,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find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mean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9B337B-CD48-9318-7B5F-8D62CA59A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"/>
            <a:ext cx="8267700" cy="569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982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A80FBE-AA72-87C5-5CAD-4EFBF7793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0"/>
            <a:ext cx="7943850" cy="5629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C0C5D6-2E98-237B-25FF-C853B222C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0" y="0"/>
            <a:ext cx="5048250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2079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75003"/>
            <a:ext cx="12192000" cy="5683250"/>
            <a:chOff x="0" y="1175003"/>
            <a:chExt cx="12192000" cy="56832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62900" y="1592579"/>
              <a:ext cx="4229100" cy="31882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071" y="1175003"/>
              <a:ext cx="7767828" cy="523189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Weighted</a:t>
            </a:r>
            <a:r>
              <a:rPr sz="3600" spc="-235" dirty="0"/>
              <a:t> </a:t>
            </a:r>
            <a:r>
              <a:rPr sz="3600" spc="-20" dirty="0"/>
              <a:t>Mean</a:t>
            </a:r>
            <a:endParaRPr sz="360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22B439-C130-7F73-DB53-6FA8CCB30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00037"/>
            <a:ext cx="6429375" cy="62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051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7005" y="291795"/>
            <a:ext cx="59721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Median</a:t>
            </a:r>
            <a:r>
              <a:rPr sz="3600" spc="-110" dirty="0"/>
              <a:t> </a:t>
            </a:r>
            <a:r>
              <a:rPr sz="3600" dirty="0"/>
              <a:t>and</a:t>
            </a:r>
            <a:r>
              <a:rPr sz="3600" spc="-95" dirty="0"/>
              <a:t> </a:t>
            </a:r>
            <a:r>
              <a:rPr sz="3600" dirty="0"/>
              <a:t>Robust</a:t>
            </a:r>
            <a:r>
              <a:rPr sz="3600" spc="-80" dirty="0"/>
              <a:t> </a:t>
            </a:r>
            <a:r>
              <a:rPr sz="3600" spc="-10" dirty="0"/>
              <a:t>Estimates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54458" y="854735"/>
            <a:ext cx="5806548" cy="3276538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90"/>
              </a:spcBef>
              <a:buClr>
                <a:srgbClr val="90C225"/>
              </a:buClr>
              <a:buSzPct val="78846"/>
              <a:buFont typeface="Wingdings"/>
              <a:buChar char=""/>
              <a:tabLst>
                <a:tab pos="354965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median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middle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number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on</a:t>
            </a:r>
            <a:r>
              <a:rPr sz="2600" b="1" spc="-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</a:t>
            </a:r>
            <a:r>
              <a:rPr sz="2600" b="1" spc="-2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sorted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list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data.</a:t>
            </a:r>
            <a:endParaRPr sz="2600" dirty="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even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numbers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values,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average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middle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will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10" dirty="0">
                <a:latin typeface="Times New Roman"/>
                <a:cs typeface="Times New Roman"/>
              </a:rPr>
              <a:t>median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8846"/>
              <a:buFont typeface="Wingdings"/>
              <a:buChar char=""/>
              <a:tabLst>
                <a:tab pos="354965" algn="l"/>
              </a:tabLst>
            </a:pPr>
            <a:r>
              <a:rPr sz="2600" dirty="0">
                <a:latin typeface="Times New Roman"/>
                <a:cs typeface="Times New Roman"/>
              </a:rPr>
              <a:t>Unlike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mean,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median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robust</a:t>
            </a:r>
            <a:r>
              <a:rPr sz="2600" b="1" spc="-2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to</a:t>
            </a:r>
            <a:r>
              <a:rPr sz="2600" b="1" spc="-3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outliers</a:t>
            </a:r>
            <a:endParaRPr lang="en-US" sz="2600" b="1" spc="-1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8846"/>
              <a:buFont typeface="Wingdings"/>
              <a:buChar char=""/>
              <a:tabLst>
                <a:tab pos="354965" algn="l"/>
              </a:tabLst>
            </a:pP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51417" y="6141211"/>
            <a:ext cx="1447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90C225"/>
                </a:solidFill>
                <a:latin typeface="Trebuchet MS"/>
                <a:cs typeface="Trebuchet MS"/>
              </a:rPr>
              <a:t>19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DCD308-1743-7598-8C93-35FD74BF2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5186"/>
            <a:ext cx="5095875" cy="2486025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01F2C5-9886-3BDF-3FA7-9B8FE8DC9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858" y="2362200"/>
            <a:ext cx="6868807" cy="4495800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4FAF2E0-A0D3-6EC5-3D0C-4240076F5B34}"/>
              </a:ext>
            </a:extLst>
          </p:cNvPr>
          <p:cNvSpPr txBox="1"/>
          <p:nvPr/>
        </p:nvSpPr>
        <p:spPr>
          <a:xfrm>
            <a:off x="6934200" y="968003"/>
            <a:ext cx="5257800" cy="92333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Mean → affected by outliers.</a:t>
            </a:r>
          </a:p>
          <a:p>
            <a:r>
              <a:rPr lang="en-US" dirty="0"/>
              <a:t>Median → resistant to outliers, better for skewed data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D0C42-2ABB-010B-E43E-2DE4B266F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C635988-0ADC-2F3B-1DC2-A8F768D761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7005" y="291795"/>
            <a:ext cx="597217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8846"/>
              <a:buFont typeface="Wingdings"/>
              <a:buChar char=""/>
              <a:tabLst>
                <a:tab pos="354965" algn="l"/>
              </a:tabLst>
            </a:pPr>
            <a:r>
              <a:rPr lang="en-US" sz="3600" b="1" spc="-10" dirty="0">
                <a:latin typeface="Times New Roman"/>
                <a:cs typeface="Times New Roman"/>
              </a:rPr>
              <a:t>Weighted</a:t>
            </a:r>
            <a:r>
              <a:rPr lang="en-US" sz="3600" b="1" spc="-95" dirty="0">
                <a:latin typeface="Times New Roman"/>
                <a:cs typeface="Times New Roman"/>
              </a:rPr>
              <a:t> </a:t>
            </a:r>
            <a:r>
              <a:rPr lang="en-US" sz="3600" b="1" spc="-10" dirty="0">
                <a:latin typeface="Times New Roman"/>
                <a:cs typeface="Times New Roman"/>
              </a:rPr>
              <a:t>Median</a:t>
            </a:r>
            <a:r>
              <a:rPr lang="en-US" sz="3600" spc="-10" dirty="0">
                <a:latin typeface="Times New Roman"/>
                <a:cs typeface="Times New Roman"/>
              </a:rPr>
              <a:t>:</a:t>
            </a:r>
            <a:endParaRPr lang="en-US" sz="3600" dirty="0">
              <a:latin typeface="Times New Roman"/>
              <a:cs typeface="Times New Roman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F68D779-3329-8435-6E3C-F4C14ADB6EE0}"/>
              </a:ext>
            </a:extLst>
          </p:cNvPr>
          <p:cNvSpPr txBox="1"/>
          <p:nvPr/>
        </p:nvSpPr>
        <p:spPr>
          <a:xfrm>
            <a:off x="599898" y="1269632"/>
            <a:ext cx="827468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298450" algn="l"/>
                <a:tab pos="855344" algn="l"/>
                <a:tab pos="1600835" algn="l"/>
                <a:tab pos="2309495" algn="l"/>
                <a:tab pos="2917190" algn="l"/>
                <a:tab pos="3770629" algn="l"/>
                <a:tab pos="5037455" algn="l"/>
                <a:tab pos="5798185" algn="l"/>
                <a:tab pos="6504940" algn="l"/>
                <a:tab pos="7366634" algn="l"/>
                <a:tab pos="7973059" algn="l"/>
              </a:tabLst>
            </a:pPr>
            <a:r>
              <a:rPr sz="2400" spc="-25" dirty="0">
                <a:latin typeface="Times New Roman"/>
                <a:cs typeface="Times New Roman"/>
              </a:rPr>
              <a:t>we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first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0" dirty="0">
                <a:latin typeface="Times New Roman"/>
                <a:cs typeface="Times New Roman"/>
              </a:rPr>
              <a:t>sort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the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data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although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each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data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value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has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2E4E13A-385D-4208-CC5F-CAF2F94BE502}"/>
              </a:ext>
            </a:extLst>
          </p:cNvPr>
          <p:cNvSpPr txBox="1"/>
          <p:nvPr/>
        </p:nvSpPr>
        <p:spPr>
          <a:xfrm>
            <a:off x="464007" y="1661427"/>
            <a:ext cx="8735060" cy="226695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756285" algn="just">
              <a:lnSpc>
                <a:spcPct val="100000"/>
              </a:lnSpc>
              <a:spcBef>
                <a:spcPts val="1105"/>
              </a:spcBef>
            </a:pPr>
            <a:r>
              <a:rPr sz="2400" dirty="0">
                <a:latin typeface="Times New Roman"/>
                <a:cs typeface="Times New Roman"/>
              </a:rPr>
              <a:t>associated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weight.</a:t>
            </a:r>
            <a:endParaRPr sz="2400" dirty="0">
              <a:latin typeface="Times New Roman"/>
              <a:cs typeface="Times New Roman"/>
            </a:endParaRPr>
          </a:p>
          <a:p>
            <a:pPr marL="756285" marR="5080" indent="-287020" algn="just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Instead</a:t>
            </a:r>
            <a:r>
              <a:rPr sz="2400" spc="3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middle</a:t>
            </a:r>
            <a:r>
              <a:rPr sz="2400" spc="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number,</a:t>
            </a:r>
            <a:r>
              <a:rPr sz="2400" spc="3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weighted</a:t>
            </a:r>
            <a:r>
              <a:rPr sz="2400" spc="3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median</a:t>
            </a:r>
            <a:r>
              <a:rPr sz="2400" spc="3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3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value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3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sum</a:t>
            </a:r>
            <a:r>
              <a:rPr sz="2400" b="1" spc="3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3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3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weights</a:t>
            </a:r>
            <a:r>
              <a:rPr sz="2400" b="1" spc="3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3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equal</a:t>
            </a:r>
            <a:r>
              <a:rPr sz="2400" b="1" spc="3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for</a:t>
            </a:r>
            <a:r>
              <a:rPr sz="2400" b="1" spc="3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3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lower</a:t>
            </a:r>
            <a:r>
              <a:rPr sz="2400" b="1" spc="31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and </a:t>
            </a:r>
            <a:r>
              <a:rPr sz="2400" b="1" dirty="0">
                <a:latin typeface="Times New Roman"/>
                <a:cs typeface="Times New Roman"/>
              </a:rPr>
              <a:t>upper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halves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sorted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list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990"/>
              </a:spcBef>
              <a:buClr>
                <a:srgbClr val="90C225"/>
              </a:buClr>
              <a:buSzPct val="78846"/>
              <a:buFont typeface="Wingdings"/>
              <a:buChar char=""/>
              <a:tabLst>
                <a:tab pos="354965" algn="l"/>
              </a:tabLst>
            </a:pPr>
            <a:r>
              <a:rPr sz="2600" dirty="0">
                <a:latin typeface="Times New Roman"/>
                <a:cs typeface="Times New Roman"/>
              </a:rPr>
              <a:t>Other</a:t>
            </a:r>
            <a:r>
              <a:rPr sz="2600" spc="5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metrics</a:t>
            </a:r>
            <a:r>
              <a:rPr sz="2600" spc="5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(median,</a:t>
            </a:r>
            <a:r>
              <a:rPr sz="2600" spc="5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trimmed</a:t>
            </a:r>
            <a:r>
              <a:rPr sz="2600" spc="5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mean)</a:t>
            </a:r>
            <a:r>
              <a:rPr sz="2600" spc="5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5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less</a:t>
            </a:r>
            <a:r>
              <a:rPr sz="2600" spc="5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sensitive</a:t>
            </a:r>
            <a:r>
              <a:rPr sz="2600" spc="54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to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9C72EE0-15AC-4967-8421-1859C02F82E3}"/>
              </a:ext>
            </a:extLst>
          </p:cNvPr>
          <p:cNvSpPr txBox="1"/>
          <p:nvPr/>
        </p:nvSpPr>
        <p:spPr>
          <a:xfrm>
            <a:off x="703402" y="4191000"/>
            <a:ext cx="806767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outliers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unusual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distributions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hence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more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robust.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3F28C06-C860-6C52-9132-D9FBB421E3D9}"/>
              </a:ext>
            </a:extLst>
          </p:cNvPr>
          <p:cNvSpPr txBox="1"/>
          <p:nvPr/>
        </p:nvSpPr>
        <p:spPr>
          <a:xfrm>
            <a:off x="9051417" y="6141211"/>
            <a:ext cx="1447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90C225"/>
                </a:solidFill>
                <a:latin typeface="Trebuchet MS"/>
                <a:cs typeface="Trebuchet MS"/>
              </a:rPr>
              <a:t>19</a:t>
            </a:r>
            <a:endParaRPr sz="9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2993797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7DF10B-53C7-128F-AF12-EDCCCD155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4029075" cy="4343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F06A7D-0D33-F757-2342-76B94F827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0"/>
            <a:ext cx="5626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5267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0D5CA5-A6D2-8305-4352-C78353626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1955"/>
            <a:ext cx="4395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0567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749040"/>
            <a:ext cx="5562600" cy="3108960"/>
            <a:chOff x="0" y="3749040"/>
            <a:chExt cx="5562600" cy="31089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756" y="3749040"/>
              <a:ext cx="4081272" cy="2616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342638" y="4456938"/>
              <a:ext cx="1210310" cy="1203960"/>
            </a:xfrm>
            <a:custGeom>
              <a:avLst/>
              <a:gdLst/>
              <a:ahLst/>
              <a:cxnLst/>
              <a:rect l="l" t="t" r="r" b="b"/>
              <a:pathLst>
                <a:path w="1210310" h="1203960">
                  <a:moveTo>
                    <a:pt x="1210056" y="0"/>
                  </a:moveTo>
                  <a:lnTo>
                    <a:pt x="423799" y="0"/>
                  </a:lnTo>
                  <a:lnTo>
                    <a:pt x="423799" y="451485"/>
                  </a:lnTo>
                  <a:lnTo>
                    <a:pt x="300989" y="451485"/>
                  </a:lnTo>
                  <a:lnTo>
                    <a:pt x="300989" y="300989"/>
                  </a:lnTo>
                  <a:lnTo>
                    <a:pt x="0" y="601980"/>
                  </a:lnTo>
                  <a:lnTo>
                    <a:pt x="300989" y="902970"/>
                  </a:lnTo>
                  <a:lnTo>
                    <a:pt x="300989" y="752475"/>
                  </a:lnTo>
                  <a:lnTo>
                    <a:pt x="423799" y="752475"/>
                  </a:lnTo>
                  <a:lnTo>
                    <a:pt x="423799" y="1203960"/>
                  </a:lnTo>
                  <a:lnTo>
                    <a:pt x="1210056" y="1203960"/>
                  </a:lnTo>
                  <a:lnTo>
                    <a:pt x="1210056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42638" y="4456938"/>
              <a:ext cx="1210310" cy="1203960"/>
            </a:xfrm>
            <a:custGeom>
              <a:avLst/>
              <a:gdLst/>
              <a:ahLst/>
              <a:cxnLst/>
              <a:rect l="l" t="t" r="r" b="b"/>
              <a:pathLst>
                <a:path w="1210310" h="1203960">
                  <a:moveTo>
                    <a:pt x="0" y="601980"/>
                  </a:moveTo>
                  <a:lnTo>
                    <a:pt x="300989" y="300989"/>
                  </a:lnTo>
                  <a:lnTo>
                    <a:pt x="300989" y="451485"/>
                  </a:lnTo>
                  <a:lnTo>
                    <a:pt x="423799" y="451485"/>
                  </a:lnTo>
                  <a:lnTo>
                    <a:pt x="423799" y="0"/>
                  </a:lnTo>
                  <a:lnTo>
                    <a:pt x="1210056" y="0"/>
                  </a:lnTo>
                  <a:lnTo>
                    <a:pt x="1210056" y="1203960"/>
                  </a:lnTo>
                  <a:lnTo>
                    <a:pt x="423799" y="1203960"/>
                  </a:lnTo>
                  <a:lnTo>
                    <a:pt x="423799" y="752475"/>
                  </a:lnTo>
                  <a:lnTo>
                    <a:pt x="300989" y="752475"/>
                  </a:lnTo>
                  <a:lnTo>
                    <a:pt x="300989" y="902970"/>
                  </a:lnTo>
                  <a:lnTo>
                    <a:pt x="0" y="601980"/>
                  </a:lnTo>
                  <a:close/>
                </a:path>
              </a:pathLst>
            </a:custGeom>
            <a:ln w="19812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Weighted</a:t>
            </a:r>
            <a:r>
              <a:rPr sz="3600" spc="-235" dirty="0"/>
              <a:t> </a:t>
            </a:r>
            <a:r>
              <a:rPr sz="3600" spc="-10" dirty="0"/>
              <a:t>Median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9064117" y="6160888"/>
            <a:ext cx="119380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25"/>
              </a:lnSpc>
            </a:pPr>
            <a:r>
              <a:rPr sz="900" spc="-30" dirty="0">
                <a:solidFill>
                  <a:srgbClr val="90C225"/>
                </a:solidFill>
                <a:latin typeface="Trebuchet MS"/>
                <a:cs typeface="Trebuchet MS"/>
              </a:rPr>
              <a:t>20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63640" y="940306"/>
            <a:ext cx="5933440" cy="5922645"/>
            <a:chOff x="6263640" y="940306"/>
            <a:chExt cx="5933440" cy="592264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72784" y="949450"/>
              <a:ext cx="5919216" cy="590854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268212" y="944878"/>
              <a:ext cx="5923915" cy="5913120"/>
            </a:xfrm>
            <a:custGeom>
              <a:avLst/>
              <a:gdLst/>
              <a:ahLst/>
              <a:cxnLst/>
              <a:rect l="l" t="t" r="r" b="b"/>
              <a:pathLst>
                <a:path w="5923915" h="5913120">
                  <a:moveTo>
                    <a:pt x="5923788" y="0"/>
                  </a:moveTo>
                  <a:lnTo>
                    <a:pt x="0" y="0"/>
                  </a:lnTo>
                  <a:lnTo>
                    <a:pt x="0" y="5913121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0768" y="1491461"/>
            <a:ext cx="3189095" cy="218899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6909" y="1070703"/>
            <a:ext cx="5412060" cy="34697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890896" y="4766309"/>
            <a:ext cx="535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 marR="5080" indent="-762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Class 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work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250435" y="1741932"/>
            <a:ext cx="1682750" cy="1224280"/>
            <a:chOff x="4250435" y="1741932"/>
            <a:chExt cx="1682750" cy="1224280"/>
          </a:xfrm>
        </p:grpSpPr>
        <p:sp>
          <p:nvSpPr>
            <p:cNvPr id="15" name="object 15"/>
            <p:cNvSpPr/>
            <p:nvPr/>
          </p:nvSpPr>
          <p:spPr>
            <a:xfrm>
              <a:off x="4260341" y="1751838"/>
              <a:ext cx="1663064" cy="1203960"/>
            </a:xfrm>
            <a:custGeom>
              <a:avLst/>
              <a:gdLst/>
              <a:ahLst/>
              <a:cxnLst/>
              <a:rect l="l" t="t" r="r" b="b"/>
              <a:pathLst>
                <a:path w="1663064" h="1203960">
                  <a:moveTo>
                    <a:pt x="1080389" y="0"/>
                  </a:moveTo>
                  <a:lnTo>
                    <a:pt x="0" y="0"/>
                  </a:lnTo>
                  <a:lnTo>
                    <a:pt x="0" y="1203960"/>
                  </a:lnTo>
                  <a:lnTo>
                    <a:pt x="1080389" y="1203960"/>
                  </a:lnTo>
                  <a:lnTo>
                    <a:pt x="1080389" y="752475"/>
                  </a:lnTo>
                  <a:lnTo>
                    <a:pt x="1361694" y="752475"/>
                  </a:lnTo>
                  <a:lnTo>
                    <a:pt x="1361694" y="902970"/>
                  </a:lnTo>
                  <a:lnTo>
                    <a:pt x="1662684" y="601979"/>
                  </a:lnTo>
                  <a:lnTo>
                    <a:pt x="1361694" y="300989"/>
                  </a:lnTo>
                  <a:lnTo>
                    <a:pt x="1361694" y="451485"/>
                  </a:lnTo>
                  <a:lnTo>
                    <a:pt x="1080389" y="451485"/>
                  </a:lnTo>
                  <a:lnTo>
                    <a:pt x="1080389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60341" y="1751838"/>
              <a:ext cx="1663064" cy="1203960"/>
            </a:xfrm>
            <a:custGeom>
              <a:avLst/>
              <a:gdLst/>
              <a:ahLst/>
              <a:cxnLst/>
              <a:rect l="l" t="t" r="r" b="b"/>
              <a:pathLst>
                <a:path w="1663064" h="1203960">
                  <a:moveTo>
                    <a:pt x="1662684" y="601979"/>
                  </a:moveTo>
                  <a:lnTo>
                    <a:pt x="1361694" y="300989"/>
                  </a:lnTo>
                  <a:lnTo>
                    <a:pt x="1361694" y="451485"/>
                  </a:lnTo>
                  <a:lnTo>
                    <a:pt x="1080389" y="451485"/>
                  </a:lnTo>
                  <a:lnTo>
                    <a:pt x="1080389" y="0"/>
                  </a:lnTo>
                  <a:lnTo>
                    <a:pt x="0" y="0"/>
                  </a:lnTo>
                  <a:lnTo>
                    <a:pt x="0" y="1203960"/>
                  </a:lnTo>
                  <a:lnTo>
                    <a:pt x="1080389" y="1203960"/>
                  </a:lnTo>
                  <a:lnTo>
                    <a:pt x="1080389" y="752475"/>
                  </a:lnTo>
                  <a:lnTo>
                    <a:pt x="1361694" y="752475"/>
                  </a:lnTo>
                  <a:lnTo>
                    <a:pt x="1361694" y="902970"/>
                  </a:lnTo>
                  <a:lnTo>
                    <a:pt x="1662684" y="601979"/>
                  </a:lnTo>
                  <a:close/>
                </a:path>
              </a:pathLst>
            </a:custGeom>
            <a:ln w="19811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374007" y="2197734"/>
            <a:ext cx="851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Solution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Estimates of </a:t>
            </a:r>
            <a:r>
              <a:rPr sz="3600" spc="-10" dirty="0"/>
              <a:t>Location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6985" y="933171"/>
            <a:ext cx="4158017" cy="59075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Outliers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9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</a:tabLst>
            </a:pPr>
            <a:r>
              <a:rPr dirty="0"/>
              <a:t>The</a:t>
            </a:r>
            <a:r>
              <a:rPr spc="200" dirty="0"/>
              <a:t> </a:t>
            </a:r>
            <a:r>
              <a:rPr dirty="0"/>
              <a:t>median</a:t>
            </a:r>
            <a:r>
              <a:rPr spc="195" dirty="0"/>
              <a:t> </a:t>
            </a:r>
            <a:r>
              <a:rPr dirty="0"/>
              <a:t>is</a:t>
            </a:r>
            <a:r>
              <a:rPr spc="185" dirty="0"/>
              <a:t> </a:t>
            </a:r>
            <a:r>
              <a:rPr dirty="0"/>
              <a:t>referred</a:t>
            </a:r>
            <a:r>
              <a:rPr spc="195" dirty="0"/>
              <a:t> </a:t>
            </a:r>
            <a:r>
              <a:rPr dirty="0"/>
              <a:t>to</a:t>
            </a:r>
            <a:r>
              <a:rPr spc="204" dirty="0"/>
              <a:t> </a:t>
            </a:r>
            <a:r>
              <a:rPr dirty="0"/>
              <a:t>as</a:t>
            </a:r>
            <a:r>
              <a:rPr spc="185" dirty="0"/>
              <a:t> </a:t>
            </a:r>
            <a:r>
              <a:rPr dirty="0"/>
              <a:t>a</a:t>
            </a:r>
            <a:r>
              <a:rPr spc="185" dirty="0"/>
              <a:t> </a:t>
            </a:r>
            <a:r>
              <a:rPr dirty="0"/>
              <a:t>robust</a:t>
            </a:r>
            <a:r>
              <a:rPr spc="190" dirty="0"/>
              <a:t> </a:t>
            </a:r>
            <a:r>
              <a:rPr dirty="0"/>
              <a:t>estimate</a:t>
            </a:r>
            <a:r>
              <a:rPr spc="190" dirty="0"/>
              <a:t> </a:t>
            </a:r>
            <a:r>
              <a:rPr dirty="0"/>
              <a:t>of</a:t>
            </a:r>
            <a:r>
              <a:rPr spc="185" dirty="0"/>
              <a:t> </a:t>
            </a:r>
            <a:r>
              <a:rPr dirty="0"/>
              <a:t>location</a:t>
            </a:r>
            <a:r>
              <a:rPr spc="200" dirty="0"/>
              <a:t> </a:t>
            </a:r>
            <a:r>
              <a:rPr dirty="0"/>
              <a:t>since</a:t>
            </a:r>
            <a:r>
              <a:rPr spc="185" dirty="0"/>
              <a:t> </a:t>
            </a:r>
            <a:r>
              <a:rPr dirty="0"/>
              <a:t>it</a:t>
            </a:r>
            <a:r>
              <a:rPr spc="190" dirty="0"/>
              <a:t> </a:t>
            </a:r>
            <a:r>
              <a:rPr dirty="0"/>
              <a:t>is</a:t>
            </a:r>
            <a:r>
              <a:rPr spc="185" dirty="0"/>
              <a:t> </a:t>
            </a:r>
            <a:r>
              <a:rPr spc="-25" dirty="0"/>
              <a:t>not</a:t>
            </a:r>
          </a:p>
          <a:p>
            <a:pPr marL="355600" algn="just">
              <a:lnSpc>
                <a:spcPct val="100000"/>
              </a:lnSpc>
            </a:pPr>
            <a:r>
              <a:rPr dirty="0"/>
              <a:t>influenced</a:t>
            </a:r>
            <a:r>
              <a:rPr spc="-35" dirty="0"/>
              <a:t> </a:t>
            </a:r>
            <a:r>
              <a:rPr dirty="0"/>
              <a:t>by</a:t>
            </a:r>
            <a:r>
              <a:rPr spc="-50" dirty="0"/>
              <a:t> </a:t>
            </a:r>
            <a:r>
              <a:rPr dirty="0"/>
              <a:t>outliers</a:t>
            </a:r>
            <a:r>
              <a:rPr spc="-40" dirty="0"/>
              <a:t> </a:t>
            </a:r>
            <a:r>
              <a:rPr dirty="0"/>
              <a:t>(extreme</a:t>
            </a:r>
            <a:r>
              <a:rPr spc="-5" dirty="0"/>
              <a:t> </a:t>
            </a:r>
            <a:r>
              <a:rPr dirty="0"/>
              <a:t>cases)</a:t>
            </a:r>
            <a:r>
              <a:rPr spc="-45" dirty="0"/>
              <a:t> </a:t>
            </a:r>
            <a:r>
              <a:rPr dirty="0"/>
              <a:t>that</a:t>
            </a:r>
            <a:r>
              <a:rPr spc="-35" dirty="0"/>
              <a:t> </a:t>
            </a:r>
            <a:r>
              <a:rPr dirty="0"/>
              <a:t>could</a:t>
            </a:r>
            <a:r>
              <a:rPr spc="-40" dirty="0"/>
              <a:t> </a:t>
            </a:r>
            <a:r>
              <a:rPr dirty="0"/>
              <a:t>skew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results.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</a:tabLst>
            </a:pPr>
            <a:r>
              <a:rPr dirty="0"/>
              <a:t>Definition:</a:t>
            </a:r>
            <a:r>
              <a:rPr spc="150" dirty="0"/>
              <a:t> </a:t>
            </a:r>
            <a:r>
              <a:rPr dirty="0"/>
              <a:t>An</a:t>
            </a:r>
            <a:r>
              <a:rPr spc="155" dirty="0"/>
              <a:t> </a:t>
            </a:r>
            <a:r>
              <a:rPr dirty="0"/>
              <a:t>outlier</a:t>
            </a:r>
            <a:r>
              <a:rPr spc="160" dirty="0"/>
              <a:t> </a:t>
            </a:r>
            <a:r>
              <a:rPr dirty="0"/>
              <a:t>is</a:t>
            </a:r>
            <a:r>
              <a:rPr spc="150" dirty="0"/>
              <a:t> </a:t>
            </a:r>
            <a:r>
              <a:rPr b="1" dirty="0">
                <a:latin typeface="Times New Roman"/>
                <a:cs typeface="Times New Roman"/>
              </a:rPr>
              <a:t>any</a:t>
            </a:r>
            <a:r>
              <a:rPr b="1" spc="1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value</a:t>
            </a:r>
            <a:r>
              <a:rPr b="1" spc="1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that</a:t>
            </a:r>
            <a:r>
              <a:rPr b="1" spc="1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is</a:t>
            </a:r>
            <a:r>
              <a:rPr b="1" spc="1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very</a:t>
            </a:r>
            <a:r>
              <a:rPr b="1" spc="16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distant</a:t>
            </a:r>
            <a:r>
              <a:rPr b="1" spc="16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from</a:t>
            </a:r>
            <a:r>
              <a:rPr b="1" spc="16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the</a:t>
            </a:r>
            <a:r>
              <a:rPr b="1" spc="16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other </a:t>
            </a:r>
            <a:r>
              <a:rPr b="1" dirty="0">
                <a:latin typeface="Times New Roman"/>
                <a:cs typeface="Times New Roman"/>
              </a:rPr>
              <a:t>values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in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data</a:t>
            </a:r>
            <a:r>
              <a:rPr b="1" spc="-20" dirty="0">
                <a:latin typeface="Times New Roman"/>
                <a:cs typeface="Times New Roman"/>
              </a:rPr>
              <a:t> set</a:t>
            </a:r>
            <a:r>
              <a:rPr spc="-20" dirty="0"/>
              <a:t>.</a:t>
            </a:r>
          </a:p>
          <a:p>
            <a:pPr marL="354965" indent="-342265" algn="just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</a:tabLst>
            </a:pPr>
            <a:r>
              <a:rPr dirty="0"/>
              <a:t>The</a:t>
            </a:r>
            <a:r>
              <a:rPr spc="390" dirty="0"/>
              <a:t> </a:t>
            </a:r>
            <a:r>
              <a:rPr dirty="0"/>
              <a:t>exact</a:t>
            </a:r>
            <a:r>
              <a:rPr spc="395" dirty="0"/>
              <a:t> </a:t>
            </a:r>
            <a:r>
              <a:rPr dirty="0"/>
              <a:t>definition</a:t>
            </a:r>
            <a:r>
              <a:rPr spc="400" dirty="0"/>
              <a:t> </a:t>
            </a:r>
            <a:r>
              <a:rPr dirty="0"/>
              <a:t>of</a:t>
            </a:r>
            <a:r>
              <a:rPr spc="390" dirty="0"/>
              <a:t> </a:t>
            </a:r>
            <a:r>
              <a:rPr dirty="0"/>
              <a:t>an</a:t>
            </a:r>
            <a:r>
              <a:rPr spc="395" dirty="0"/>
              <a:t> </a:t>
            </a:r>
            <a:r>
              <a:rPr dirty="0"/>
              <a:t>outlier</a:t>
            </a:r>
            <a:r>
              <a:rPr spc="395" dirty="0"/>
              <a:t> </a:t>
            </a:r>
            <a:r>
              <a:rPr b="1" dirty="0">
                <a:latin typeface="Times New Roman"/>
                <a:cs typeface="Times New Roman"/>
              </a:rPr>
              <a:t>is</a:t>
            </a:r>
            <a:r>
              <a:rPr b="1" spc="37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some‐</a:t>
            </a:r>
            <a:r>
              <a:rPr b="1" spc="38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what</a:t>
            </a:r>
            <a:r>
              <a:rPr b="1" spc="39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subjective</a:t>
            </a:r>
            <a:r>
              <a:rPr dirty="0"/>
              <a:t>,</a:t>
            </a:r>
            <a:r>
              <a:rPr spc="395" dirty="0"/>
              <a:t> </a:t>
            </a:r>
            <a:r>
              <a:rPr spc="-10" dirty="0"/>
              <a:t>although</a:t>
            </a:r>
          </a:p>
          <a:p>
            <a:pPr marL="355600" algn="just">
              <a:lnSpc>
                <a:spcPct val="100000"/>
              </a:lnSpc>
            </a:pPr>
            <a:r>
              <a:rPr dirty="0"/>
              <a:t>certain</a:t>
            </a:r>
            <a:r>
              <a:rPr spc="-25" dirty="0"/>
              <a:t> </a:t>
            </a:r>
            <a:r>
              <a:rPr dirty="0"/>
              <a:t>conventions</a:t>
            </a:r>
            <a:r>
              <a:rPr spc="-55" dirty="0"/>
              <a:t> </a:t>
            </a:r>
            <a:r>
              <a:rPr dirty="0"/>
              <a:t>are</a:t>
            </a:r>
            <a:r>
              <a:rPr spc="-45" dirty="0"/>
              <a:t> </a:t>
            </a:r>
            <a:r>
              <a:rPr dirty="0"/>
              <a:t>used</a:t>
            </a:r>
            <a:r>
              <a:rPr spc="-5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various</a:t>
            </a:r>
            <a:r>
              <a:rPr spc="-55" dirty="0"/>
              <a:t> </a:t>
            </a: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summaries</a:t>
            </a:r>
            <a:r>
              <a:rPr spc="-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plot.</a:t>
            </a:r>
          </a:p>
          <a:p>
            <a:pPr marL="354965" indent="-342265" algn="just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</a:tabLst>
            </a:pPr>
            <a:r>
              <a:rPr dirty="0"/>
              <a:t>Being an</a:t>
            </a:r>
            <a:r>
              <a:rPr spc="-5" dirty="0"/>
              <a:t> </a:t>
            </a:r>
            <a:r>
              <a:rPr dirty="0"/>
              <a:t>outlier</a:t>
            </a:r>
            <a:r>
              <a:rPr spc="-10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itself</a:t>
            </a:r>
            <a:r>
              <a:rPr spc="-10" dirty="0"/>
              <a:t> </a:t>
            </a:r>
            <a:r>
              <a:rPr dirty="0"/>
              <a:t>does</a:t>
            </a:r>
            <a:r>
              <a:rPr spc="-5" dirty="0"/>
              <a:t> </a:t>
            </a:r>
            <a:r>
              <a:rPr dirty="0"/>
              <a:t>not</a:t>
            </a:r>
            <a:r>
              <a:rPr spc="-10" dirty="0"/>
              <a:t> </a:t>
            </a:r>
            <a:r>
              <a:rPr dirty="0"/>
              <a:t>make</a:t>
            </a:r>
            <a:r>
              <a:rPr spc="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data</a:t>
            </a:r>
            <a:r>
              <a:rPr spc="-10" dirty="0"/>
              <a:t> </a:t>
            </a:r>
            <a:r>
              <a:rPr dirty="0"/>
              <a:t>value</a:t>
            </a:r>
            <a:r>
              <a:rPr spc="-10" dirty="0"/>
              <a:t> </a:t>
            </a:r>
            <a:r>
              <a:rPr b="1" dirty="0">
                <a:latin typeface="Times New Roman"/>
                <a:cs typeface="Times New Roman"/>
              </a:rPr>
              <a:t>invalid </a:t>
            </a:r>
            <a:r>
              <a:rPr dirty="0"/>
              <a:t>or</a:t>
            </a:r>
            <a:r>
              <a:rPr spc="-10" dirty="0"/>
              <a:t> </a:t>
            </a:r>
            <a:r>
              <a:rPr b="1" spc="-10" dirty="0">
                <a:latin typeface="Times New Roman"/>
                <a:cs typeface="Times New Roman"/>
              </a:rPr>
              <a:t>erroneous</a:t>
            </a:r>
          </a:p>
          <a:p>
            <a:pPr marL="355600" algn="just">
              <a:lnSpc>
                <a:spcPct val="100000"/>
              </a:lnSpc>
            </a:pPr>
            <a:r>
              <a:rPr dirty="0"/>
              <a:t>(In</a:t>
            </a:r>
            <a:r>
              <a:rPr spc="-25" dirty="0"/>
              <a:t> </a:t>
            </a:r>
            <a:r>
              <a:rPr dirty="0"/>
              <a:t>case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Bill</a:t>
            </a:r>
            <a:r>
              <a:rPr spc="-25" dirty="0"/>
              <a:t> </a:t>
            </a:r>
            <a:r>
              <a:rPr dirty="0"/>
              <a:t>gates</a:t>
            </a:r>
            <a:r>
              <a:rPr spc="-30" dirty="0"/>
              <a:t> </a:t>
            </a:r>
            <a:r>
              <a:rPr dirty="0"/>
              <a:t>income</a:t>
            </a:r>
            <a:r>
              <a:rPr spc="-1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not</a:t>
            </a:r>
            <a:r>
              <a:rPr spc="-35" dirty="0"/>
              <a:t> </a:t>
            </a:r>
            <a:r>
              <a:rPr spc="-10" dirty="0"/>
              <a:t>invalid).</a:t>
            </a:r>
          </a:p>
          <a:p>
            <a:pPr marL="755015" marR="6350" lvl="1" indent="-285750" algn="just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Still,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outliers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often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result</a:t>
            </a:r>
            <a:r>
              <a:rPr sz="2000" b="1" spc="3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3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</a:t>
            </a:r>
            <a:r>
              <a:rPr sz="2000" b="1" spc="3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errors</a:t>
            </a:r>
            <a:r>
              <a:rPr sz="2000" b="1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mixing</a:t>
            </a:r>
            <a:r>
              <a:rPr sz="2000" b="1" spc="3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</a:t>
            </a:r>
            <a:r>
              <a:rPr sz="2000" b="1" spc="35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of 	</a:t>
            </a:r>
            <a:r>
              <a:rPr sz="2000" b="1" dirty="0">
                <a:latin typeface="Times New Roman"/>
                <a:cs typeface="Times New Roman"/>
              </a:rPr>
              <a:t>different</a:t>
            </a:r>
            <a:r>
              <a:rPr sz="2000" b="1" spc="3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units</a:t>
            </a:r>
            <a:r>
              <a:rPr sz="2000" b="1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(kilometers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versus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meters)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bad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readings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sensor. 	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outliers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bad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data,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mean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poor 	</a:t>
            </a:r>
            <a:r>
              <a:rPr sz="2000" dirty="0">
                <a:latin typeface="Times New Roman"/>
                <a:cs typeface="Times New Roman"/>
              </a:rPr>
              <a:t>estimate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location,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while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median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still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valid.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case,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outliers 	</a:t>
            </a:r>
            <a:r>
              <a:rPr sz="2000" dirty="0">
                <a:latin typeface="Times New Roman"/>
                <a:cs typeface="Times New Roman"/>
              </a:rPr>
              <a:t>should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identified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usually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worthy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further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investigation.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Example:</a:t>
            </a:r>
            <a:r>
              <a:rPr spc="-70" dirty="0"/>
              <a:t> </a:t>
            </a:r>
            <a:r>
              <a:rPr dirty="0"/>
              <a:t>Location</a:t>
            </a:r>
            <a:r>
              <a:rPr spc="-55" dirty="0"/>
              <a:t> </a:t>
            </a:r>
            <a:r>
              <a:rPr dirty="0"/>
              <a:t>Estimates</a:t>
            </a:r>
            <a:r>
              <a:rPr spc="-8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Population</a:t>
            </a:r>
            <a:r>
              <a:rPr spc="-5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Murder</a:t>
            </a:r>
            <a:r>
              <a:rPr spc="-50" dirty="0"/>
              <a:t> </a:t>
            </a:r>
            <a:r>
              <a:rPr spc="-10" dirty="0"/>
              <a:t>Rates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372" y="949452"/>
            <a:ext cx="9884664" cy="527456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Example:</a:t>
            </a:r>
            <a:r>
              <a:rPr spc="-70" dirty="0"/>
              <a:t> </a:t>
            </a:r>
            <a:r>
              <a:rPr dirty="0"/>
              <a:t>Location</a:t>
            </a:r>
            <a:r>
              <a:rPr spc="-55" dirty="0"/>
              <a:t> </a:t>
            </a:r>
            <a:r>
              <a:rPr dirty="0"/>
              <a:t>Estimates</a:t>
            </a:r>
            <a:r>
              <a:rPr spc="-8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Population</a:t>
            </a:r>
            <a:r>
              <a:rPr spc="-5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Murder</a:t>
            </a:r>
            <a:r>
              <a:rPr spc="-50" dirty="0"/>
              <a:t> </a:t>
            </a:r>
            <a:r>
              <a:rPr spc="-10" dirty="0"/>
              <a:t>Rates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923" y="873252"/>
            <a:ext cx="8738616" cy="55473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59" y="0"/>
            <a:ext cx="7758683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Words>2104</Words>
  <Application>Microsoft Office PowerPoint</Application>
  <PresentationFormat>Widescreen</PresentationFormat>
  <Paragraphs>171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 MT</vt:lpstr>
      <vt:lpstr>Lucida Sans Unicode</vt:lpstr>
      <vt:lpstr>Times New Roman</vt:lpstr>
      <vt:lpstr>Trebuchet MS</vt:lpstr>
      <vt:lpstr>Wingdings</vt:lpstr>
      <vt:lpstr>Office Theme</vt:lpstr>
      <vt:lpstr>Exploratory Data Analysis Unit 02 Lecture 03</vt:lpstr>
      <vt:lpstr>Contents</vt:lpstr>
      <vt:lpstr>Elements of Structured Data</vt:lpstr>
      <vt:lpstr>Elements of Structured Data</vt:lpstr>
      <vt:lpstr>Ordinal data</vt:lpstr>
      <vt:lpstr>Elements of Structured Data (Categorical data creation in Python)</vt:lpstr>
      <vt:lpstr>Elements of Structured Data (Categorical data creation in Python)</vt:lpstr>
      <vt:lpstr>Rectangular Data</vt:lpstr>
      <vt:lpstr>Rectangular Data</vt:lpstr>
      <vt:lpstr>Rectangular Data</vt:lpstr>
      <vt:lpstr>Rectangular Data(Data Frames and Indexes)</vt:lpstr>
      <vt:lpstr>Rectangular Data(Data Frames and Indexes)</vt:lpstr>
      <vt:lpstr>Nonrectangular Data Structures</vt:lpstr>
      <vt:lpstr>PowerPoint Presentation</vt:lpstr>
      <vt:lpstr>Estimates of Location</vt:lpstr>
      <vt:lpstr>Mean</vt:lpstr>
      <vt:lpstr>PowerPoint Presentation</vt:lpstr>
      <vt:lpstr>Trimmed Mean</vt:lpstr>
      <vt:lpstr>PowerPoint Presentation</vt:lpstr>
      <vt:lpstr>Trimmed Mean Vs Mean</vt:lpstr>
      <vt:lpstr>PowerPoint Presentation</vt:lpstr>
      <vt:lpstr>PowerPoint Presentation</vt:lpstr>
      <vt:lpstr>Weighted Mean</vt:lpstr>
      <vt:lpstr>PowerPoint Presentation</vt:lpstr>
      <vt:lpstr>Median and Robust Estimates</vt:lpstr>
      <vt:lpstr>Weighted Median:</vt:lpstr>
      <vt:lpstr>PowerPoint Presentation</vt:lpstr>
      <vt:lpstr>PowerPoint Presentation</vt:lpstr>
      <vt:lpstr>Weighted Median</vt:lpstr>
      <vt:lpstr>Estimates of Location</vt:lpstr>
      <vt:lpstr>Outliers</vt:lpstr>
      <vt:lpstr>Example: Location Estimates of Population and Murder Rates</vt:lpstr>
      <vt:lpstr>Example: Location Estimates of Population and Murder Rates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</dc:title>
  <dc:creator>SIBAU</dc:creator>
  <cp:lastModifiedBy>Muhammad Ismail Mangrio</cp:lastModifiedBy>
  <cp:revision>9</cp:revision>
  <dcterms:created xsi:type="dcterms:W3CDTF">2025-10-01T04:38:05Z</dcterms:created>
  <dcterms:modified xsi:type="dcterms:W3CDTF">2025-10-01T13:15:36Z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2025-10-01T00:00:00Z</vt:filetime>
  </property>
  <property fmtid="{D5CDD505-2E9C-101B-9397-08002B2CF9AE}" pid="5" name="Producer">
    <vt:lpwstr>Microsoft® PowerPoint® 2013</vt:lpwstr>
  </property>
</Properties>
</file>
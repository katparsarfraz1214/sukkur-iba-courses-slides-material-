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media/image2.jpg" ContentType="image/jpg"/>
  <Override PartName="/ppt/media/image3.jpg" ContentType="image/jpg"/>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media/image20.jpg" ContentType="image/jpg"/>
  <Override PartName="/ppt/media/image21.jpg" ContentType="image/jpg"/>
  <Override PartName="/ppt/media/image22.jpg" ContentType="image/jpg"/>
  <Override PartName="/ppt/media/image23.jpg" ContentType="image/jpg"/>
  <Override PartName="/ppt/media/image24.jpg" ContentType="image/jpg"/>
  <Override PartName="/ppt/media/image28.jpg" ContentType="image/jpg"/>
  <Override PartName="/ppt/media/image29.jpg" ContentType="image/jpg"/>
  <Override PartName="/ppt/media/image34.jpg" ContentType="image/jpg"/>
  <Override PartName="/ppt/media/image35.jpg" ContentType="image/jpg"/>
  <Override PartName="/ppt/media/image38.jpg" ContentType="image/jpg"/>
  <Override PartName="/ppt/media/image47.jpg" ContentType="image/jpg"/>
  <Override PartName="/ppt/media/image49.jpg" ContentType="image/jpg"/>
  <Override PartName="/ppt/media/image50.jpg" ContentType="image/jpg"/>
  <Override PartName="/ppt/media/image51.jpg" ContentType="image/jpg"/>
  <Override PartName="/ppt/media/image52.jpg" ContentType="image/jpg"/>
  <Override PartName="/ppt/media/image53.jpg" ContentType="image/jpg"/>
  <Override PartName="/ppt/media/image54.jpg" ContentType="image/jpg"/>
  <Override PartName="/ppt/media/image55.jpg" ContentType="image/jpg"/>
  <Override PartName="/ppt/media/image56.jpg" ContentType="image/jpg"/>
  <Override PartName="/ppt/media/image59.jpg" ContentType="image/jp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52"/>
  </p:notesMasterIdLst>
  <p:sldIdLst>
    <p:sldId id="256" r:id="rId2"/>
    <p:sldId id="382" r:id="rId3"/>
    <p:sldId id="383" r:id="rId4"/>
    <p:sldId id="384" r:id="rId5"/>
    <p:sldId id="385" r:id="rId6"/>
    <p:sldId id="380" r:id="rId7"/>
    <p:sldId id="368" r:id="rId8"/>
    <p:sldId id="379" r:id="rId9"/>
    <p:sldId id="381" r:id="rId10"/>
    <p:sldId id="386" r:id="rId11"/>
    <p:sldId id="364" r:id="rId12"/>
    <p:sldId id="388" r:id="rId13"/>
    <p:sldId id="269" r:id="rId14"/>
    <p:sldId id="270" r:id="rId15"/>
    <p:sldId id="394" r:id="rId16"/>
    <p:sldId id="390" r:id="rId17"/>
    <p:sldId id="395" r:id="rId18"/>
    <p:sldId id="392" r:id="rId19"/>
    <p:sldId id="393" r:id="rId20"/>
    <p:sldId id="305" r:id="rId21"/>
    <p:sldId id="311" r:id="rId22"/>
    <p:sldId id="312" r:id="rId23"/>
    <p:sldId id="271" r:id="rId24"/>
    <p:sldId id="272" r:id="rId25"/>
    <p:sldId id="274" r:id="rId26"/>
    <p:sldId id="398" r:id="rId27"/>
    <p:sldId id="276"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3" autoAdjust="0"/>
    <p:restoredTop sz="88481" autoAdjust="0"/>
  </p:normalViewPr>
  <p:slideViewPr>
    <p:cSldViewPr snapToGrid="0">
      <p:cViewPr varScale="1">
        <p:scale>
          <a:sx n="70" d="100"/>
          <a:sy n="70" d="100"/>
        </p:scale>
        <p:origin x="10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1E1445-090E-4D65-9DF6-996FD0F1D3A5}" type="doc">
      <dgm:prSet loTypeId="urn:microsoft.com/office/officeart/2005/8/layout/hProcess11" loCatId="process" qsTypeId="urn:microsoft.com/office/officeart/2005/8/quickstyle/simple1" qsCatId="simple" csTypeId="urn:microsoft.com/office/officeart/2005/8/colors/accent1_2" csCatId="accent1" phldr="1"/>
      <dgm:spPr/>
      <dgm:t>
        <a:bodyPr/>
        <a:lstStyle/>
        <a:p>
          <a:endParaRPr lang="en-GB"/>
        </a:p>
      </dgm:t>
    </dgm:pt>
    <dgm:pt modelId="{68DA5758-6AE2-4329-854B-DCCE79EAA5F7}">
      <dgm:prSet/>
      <dgm:spPr/>
      <dgm:t>
        <a:bodyPr/>
        <a:lstStyle/>
        <a:p>
          <a:pPr rtl="0"/>
          <a:r>
            <a:rPr lang="en-US" dirty="0"/>
            <a:t>B.E. Pakistan, 2011 </a:t>
          </a:r>
          <a:endParaRPr lang="en-GB" dirty="0"/>
        </a:p>
      </dgm:t>
    </dgm:pt>
    <dgm:pt modelId="{7F39A144-C4C1-4FC1-AD80-E2F9E84F2CC7}" type="parTrans" cxnId="{A232F076-F5BF-48AF-B9F9-10C5ADFAAAC6}">
      <dgm:prSet/>
      <dgm:spPr/>
      <dgm:t>
        <a:bodyPr/>
        <a:lstStyle/>
        <a:p>
          <a:endParaRPr lang="en-GB"/>
        </a:p>
      </dgm:t>
    </dgm:pt>
    <dgm:pt modelId="{BF8E7E9C-654C-4A0C-8EDB-24A91877DDE9}" type="sibTrans" cxnId="{A232F076-F5BF-48AF-B9F9-10C5ADFAAAC6}">
      <dgm:prSet/>
      <dgm:spPr/>
      <dgm:t>
        <a:bodyPr/>
        <a:lstStyle/>
        <a:p>
          <a:endParaRPr lang="en-GB"/>
        </a:p>
      </dgm:t>
    </dgm:pt>
    <dgm:pt modelId="{86896D46-65A0-42A1-885E-D47BA6BB7DEE}">
      <dgm:prSet/>
      <dgm:spPr/>
      <dgm:t>
        <a:bodyPr/>
        <a:lstStyle/>
        <a:p>
          <a:pPr rtl="0"/>
          <a:r>
            <a:rPr lang="en-US" dirty="0"/>
            <a:t>M.S. </a:t>
          </a:r>
          <a:r>
            <a:rPr lang="en-US" dirty="0" err="1"/>
            <a:t>Myongji</a:t>
          </a:r>
          <a:r>
            <a:rPr lang="en-US" dirty="0"/>
            <a:t> University, South Korea, 2016 </a:t>
          </a:r>
          <a:endParaRPr lang="en-GB" dirty="0"/>
        </a:p>
      </dgm:t>
    </dgm:pt>
    <dgm:pt modelId="{DAD0E147-AC7F-44D2-A298-88AD9391FCCC}" type="parTrans" cxnId="{A530D65C-AB41-4B69-B3AE-E8F11C6779CB}">
      <dgm:prSet/>
      <dgm:spPr/>
      <dgm:t>
        <a:bodyPr/>
        <a:lstStyle/>
        <a:p>
          <a:endParaRPr lang="en-GB"/>
        </a:p>
      </dgm:t>
    </dgm:pt>
    <dgm:pt modelId="{D1316B00-1B5B-4C35-8353-43A0B258B04E}" type="sibTrans" cxnId="{A530D65C-AB41-4B69-B3AE-E8F11C6779CB}">
      <dgm:prSet/>
      <dgm:spPr/>
      <dgm:t>
        <a:bodyPr/>
        <a:lstStyle/>
        <a:p>
          <a:endParaRPr lang="en-GB"/>
        </a:p>
      </dgm:t>
    </dgm:pt>
    <dgm:pt modelId="{B070D5E5-1B86-47B4-8EFF-235B034D80F0}">
      <dgm:prSet/>
      <dgm:spPr/>
      <dgm:t>
        <a:bodyPr/>
        <a:lstStyle/>
        <a:p>
          <a:pPr rtl="0"/>
          <a:r>
            <a:rPr lang="en-US" dirty="0"/>
            <a:t>Associate Fellow HEA (AFHEA), 2021</a:t>
          </a:r>
          <a:endParaRPr lang="en-GB" dirty="0"/>
        </a:p>
      </dgm:t>
    </dgm:pt>
    <dgm:pt modelId="{69E712EB-6A6A-44C2-B195-5115EA6CC325}" type="parTrans" cxnId="{E9ECB6C6-DBAB-443B-87FB-550A13EA0BD9}">
      <dgm:prSet/>
      <dgm:spPr/>
      <dgm:t>
        <a:bodyPr/>
        <a:lstStyle/>
        <a:p>
          <a:endParaRPr lang="en-GB"/>
        </a:p>
      </dgm:t>
    </dgm:pt>
    <dgm:pt modelId="{87949C1C-AEAC-4EA8-B43A-B668F6F59CCE}" type="sibTrans" cxnId="{E9ECB6C6-DBAB-443B-87FB-550A13EA0BD9}">
      <dgm:prSet/>
      <dgm:spPr/>
      <dgm:t>
        <a:bodyPr/>
        <a:lstStyle/>
        <a:p>
          <a:endParaRPr lang="en-GB"/>
        </a:p>
      </dgm:t>
    </dgm:pt>
    <dgm:pt modelId="{2BAE4089-1BA6-46A2-ABAA-138252F39A18}">
      <dgm:prSet/>
      <dgm:spPr/>
      <dgm:t>
        <a:bodyPr/>
        <a:lstStyle/>
        <a:p>
          <a:pPr rtl="0"/>
          <a:r>
            <a:rPr lang="en-US" dirty="0"/>
            <a:t>PhD, 2023</a:t>
          </a:r>
          <a:endParaRPr lang="en-GB" dirty="0"/>
        </a:p>
      </dgm:t>
    </dgm:pt>
    <dgm:pt modelId="{FDFC75DC-5ED8-4D1D-A422-36DBCF424737}" type="parTrans" cxnId="{3225AAFB-1C9F-41CA-B601-BFC71F78E601}">
      <dgm:prSet/>
      <dgm:spPr/>
      <dgm:t>
        <a:bodyPr/>
        <a:lstStyle/>
        <a:p>
          <a:endParaRPr lang="en-GB"/>
        </a:p>
      </dgm:t>
    </dgm:pt>
    <dgm:pt modelId="{B5DF8852-608C-424A-9930-C20CC0427A19}" type="sibTrans" cxnId="{3225AAFB-1C9F-41CA-B601-BFC71F78E601}">
      <dgm:prSet/>
      <dgm:spPr/>
      <dgm:t>
        <a:bodyPr/>
        <a:lstStyle/>
        <a:p>
          <a:endParaRPr lang="en-GB"/>
        </a:p>
      </dgm:t>
    </dgm:pt>
    <dgm:pt modelId="{9920DD5C-3138-478B-8555-B5F62184C5C0}" type="pres">
      <dgm:prSet presAssocID="{5E1E1445-090E-4D65-9DF6-996FD0F1D3A5}" presName="Name0" presStyleCnt="0">
        <dgm:presLayoutVars>
          <dgm:dir/>
          <dgm:resizeHandles val="exact"/>
        </dgm:presLayoutVars>
      </dgm:prSet>
      <dgm:spPr/>
    </dgm:pt>
    <dgm:pt modelId="{D11EDD9E-8387-45E2-AABC-071A05DE672C}" type="pres">
      <dgm:prSet presAssocID="{5E1E1445-090E-4D65-9DF6-996FD0F1D3A5}" presName="arrow" presStyleLbl="bgShp" presStyleIdx="0" presStyleCnt="1"/>
      <dgm:spPr/>
    </dgm:pt>
    <dgm:pt modelId="{6EA4D532-9193-4CD8-B86A-7F510EDBEBF6}" type="pres">
      <dgm:prSet presAssocID="{5E1E1445-090E-4D65-9DF6-996FD0F1D3A5}" presName="points" presStyleCnt="0"/>
      <dgm:spPr/>
    </dgm:pt>
    <dgm:pt modelId="{E1C7016F-7666-42A9-B4BF-030A6FE51BF4}" type="pres">
      <dgm:prSet presAssocID="{68DA5758-6AE2-4329-854B-DCCE79EAA5F7}" presName="compositeA" presStyleCnt="0"/>
      <dgm:spPr/>
    </dgm:pt>
    <dgm:pt modelId="{E65BAE7D-93D4-4471-87D8-C627B2F195EF}" type="pres">
      <dgm:prSet presAssocID="{68DA5758-6AE2-4329-854B-DCCE79EAA5F7}" presName="textA" presStyleLbl="revTx" presStyleIdx="0" presStyleCnt="4" custScaleX="136341">
        <dgm:presLayoutVars>
          <dgm:bulletEnabled val="1"/>
        </dgm:presLayoutVars>
      </dgm:prSet>
      <dgm:spPr/>
    </dgm:pt>
    <dgm:pt modelId="{59146250-F2FC-4B1E-BA53-78A0BDB212A6}" type="pres">
      <dgm:prSet presAssocID="{68DA5758-6AE2-4329-854B-DCCE79EAA5F7}" presName="circleA" presStyleLbl="node1" presStyleIdx="0" presStyleCnt="4" custScaleX="415354" custScaleY="162859" custLinFactNeighborY="2444"/>
      <dgm:spPr>
        <a:blipFill rotWithShape="0">
          <a:blip xmlns:r="http://schemas.openxmlformats.org/officeDocument/2006/relationships" r:embed="rId1"/>
          <a:stretch>
            <a:fillRect/>
          </a:stretch>
        </a:blipFill>
      </dgm:spPr>
    </dgm:pt>
    <dgm:pt modelId="{7EED2402-D92F-45D6-91EA-028AFFE53631}" type="pres">
      <dgm:prSet presAssocID="{68DA5758-6AE2-4329-854B-DCCE79EAA5F7}" presName="spaceA" presStyleCnt="0"/>
      <dgm:spPr/>
    </dgm:pt>
    <dgm:pt modelId="{1DDD8261-8955-4107-829B-CF274AE9A288}" type="pres">
      <dgm:prSet presAssocID="{BF8E7E9C-654C-4A0C-8EDB-24A91877DDE9}" presName="space" presStyleCnt="0"/>
      <dgm:spPr/>
    </dgm:pt>
    <dgm:pt modelId="{18D85389-1EAA-420D-8B3D-AC922F9A4CA8}" type="pres">
      <dgm:prSet presAssocID="{86896D46-65A0-42A1-885E-D47BA6BB7DEE}" presName="compositeB" presStyleCnt="0"/>
      <dgm:spPr/>
    </dgm:pt>
    <dgm:pt modelId="{0EBB0B82-65ED-43EA-BF88-BF17CBC71BA5}" type="pres">
      <dgm:prSet presAssocID="{86896D46-65A0-42A1-885E-D47BA6BB7DEE}" presName="textB" presStyleLbl="revTx" presStyleIdx="1" presStyleCnt="4">
        <dgm:presLayoutVars>
          <dgm:bulletEnabled val="1"/>
        </dgm:presLayoutVars>
      </dgm:prSet>
      <dgm:spPr/>
    </dgm:pt>
    <dgm:pt modelId="{FED642C9-AFAB-428B-9AFF-E115EACFD490}" type="pres">
      <dgm:prSet presAssocID="{86896D46-65A0-42A1-885E-D47BA6BB7DEE}" presName="circleB" presStyleLbl="node1" presStyleIdx="1" presStyleCnt="4" custScaleX="334390" custScaleY="184121"/>
      <dgm:spPr>
        <a:blipFill rotWithShape="0">
          <a:blip xmlns:r="http://schemas.openxmlformats.org/officeDocument/2006/relationships" r:embed="rId2"/>
          <a:stretch>
            <a:fillRect/>
          </a:stretch>
        </a:blipFill>
      </dgm:spPr>
    </dgm:pt>
    <dgm:pt modelId="{25167523-3948-43EB-A0E5-7A5B11D5A1DF}" type="pres">
      <dgm:prSet presAssocID="{86896D46-65A0-42A1-885E-D47BA6BB7DEE}" presName="spaceB" presStyleCnt="0"/>
      <dgm:spPr/>
    </dgm:pt>
    <dgm:pt modelId="{BF7FA504-7408-415E-A228-EFF36A82C2A3}" type="pres">
      <dgm:prSet presAssocID="{D1316B00-1B5B-4C35-8353-43A0B258B04E}" presName="space" presStyleCnt="0"/>
      <dgm:spPr/>
    </dgm:pt>
    <dgm:pt modelId="{81E234C4-6197-4760-A23E-DF9FF2B85142}" type="pres">
      <dgm:prSet presAssocID="{B070D5E5-1B86-47B4-8EFF-235B034D80F0}" presName="compositeA" presStyleCnt="0"/>
      <dgm:spPr/>
    </dgm:pt>
    <dgm:pt modelId="{9D5D0913-8CD5-439F-8FE4-622B0660A8FD}" type="pres">
      <dgm:prSet presAssocID="{B070D5E5-1B86-47B4-8EFF-235B034D80F0}" presName="textA" presStyleLbl="revTx" presStyleIdx="2" presStyleCnt="4" custScaleX="129927">
        <dgm:presLayoutVars>
          <dgm:bulletEnabled val="1"/>
        </dgm:presLayoutVars>
      </dgm:prSet>
      <dgm:spPr/>
    </dgm:pt>
    <dgm:pt modelId="{98544EEF-0B71-43FE-AA3E-2C8D530B3500}" type="pres">
      <dgm:prSet presAssocID="{B070D5E5-1B86-47B4-8EFF-235B034D80F0}" presName="circleA" presStyleLbl="node1" presStyleIdx="2" presStyleCnt="4" custScaleX="396456" custScaleY="167745"/>
      <dgm:spPr>
        <a:blipFill rotWithShape="0">
          <a:blip xmlns:r="http://schemas.openxmlformats.org/officeDocument/2006/relationships" r:embed="rId3"/>
          <a:stretch>
            <a:fillRect/>
          </a:stretch>
        </a:blipFill>
      </dgm:spPr>
    </dgm:pt>
    <dgm:pt modelId="{2F3CA5A6-961A-4E37-BD45-F1A7AB8ADCFD}" type="pres">
      <dgm:prSet presAssocID="{B070D5E5-1B86-47B4-8EFF-235B034D80F0}" presName="spaceA" presStyleCnt="0"/>
      <dgm:spPr/>
    </dgm:pt>
    <dgm:pt modelId="{8A629D9F-A699-43F5-9CC0-56BC5D838091}" type="pres">
      <dgm:prSet presAssocID="{87949C1C-AEAC-4EA8-B43A-B668F6F59CCE}" presName="space" presStyleCnt="0"/>
      <dgm:spPr/>
    </dgm:pt>
    <dgm:pt modelId="{C9CC237B-83AC-47BC-BB1A-8075CD2CF9E9}" type="pres">
      <dgm:prSet presAssocID="{2BAE4089-1BA6-46A2-ABAA-138252F39A18}" presName="compositeB" presStyleCnt="0"/>
      <dgm:spPr/>
    </dgm:pt>
    <dgm:pt modelId="{E94FB1FB-5903-4DF6-8B74-4E013A5FE23E}" type="pres">
      <dgm:prSet presAssocID="{2BAE4089-1BA6-46A2-ABAA-138252F39A18}" presName="textB" presStyleLbl="revTx" presStyleIdx="3" presStyleCnt="4">
        <dgm:presLayoutVars>
          <dgm:bulletEnabled val="1"/>
        </dgm:presLayoutVars>
      </dgm:prSet>
      <dgm:spPr/>
    </dgm:pt>
    <dgm:pt modelId="{A6E3526F-6E85-43D9-9E35-7D9BF5349E9A}" type="pres">
      <dgm:prSet presAssocID="{2BAE4089-1BA6-46A2-ABAA-138252F39A18}" presName="circleB" presStyleLbl="node1" presStyleIdx="3" presStyleCnt="4" custScaleX="374999" custScaleY="153084"/>
      <dgm:spPr>
        <a:blipFill rotWithShape="0">
          <a:blip xmlns:r="http://schemas.openxmlformats.org/officeDocument/2006/relationships" r:embed="rId3"/>
          <a:stretch>
            <a:fillRect/>
          </a:stretch>
        </a:blipFill>
      </dgm:spPr>
    </dgm:pt>
    <dgm:pt modelId="{1794272D-E5C5-4B8B-9019-045607970A4A}" type="pres">
      <dgm:prSet presAssocID="{2BAE4089-1BA6-46A2-ABAA-138252F39A18}" presName="spaceB" presStyleCnt="0"/>
      <dgm:spPr/>
    </dgm:pt>
  </dgm:ptLst>
  <dgm:cxnLst>
    <dgm:cxn modelId="{A530D65C-AB41-4B69-B3AE-E8F11C6779CB}" srcId="{5E1E1445-090E-4D65-9DF6-996FD0F1D3A5}" destId="{86896D46-65A0-42A1-885E-D47BA6BB7DEE}" srcOrd="1" destOrd="0" parTransId="{DAD0E147-AC7F-44D2-A298-88AD9391FCCC}" sibTransId="{D1316B00-1B5B-4C35-8353-43A0B258B04E}"/>
    <dgm:cxn modelId="{5C6E8562-7802-4D8A-86E0-36A121C2AA7F}" type="presOf" srcId="{68DA5758-6AE2-4329-854B-DCCE79EAA5F7}" destId="{E65BAE7D-93D4-4471-87D8-C627B2F195EF}" srcOrd="0" destOrd="0" presId="urn:microsoft.com/office/officeart/2005/8/layout/hProcess11"/>
    <dgm:cxn modelId="{59FBCD6B-3274-43E4-96ED-2BBF8CA56C2F}" type="presOf" srcId="{2BAE4089-1BA6-46A2-ABAA-138252F39A18}" destId="{E94FB1FB-5903-4DF6-8B74-4E013A5FE23E}" srcOrd="0" destOrd="0" presId="urn:microsoft.com/office/officeart/2005/8/layout/hProcess11"/>
    <dgm:cxn modelId="{A232F076-F5BF-48AF-B9F9-10C5ADFAAAC6}" srcId="{5E1E1445-090E-4D65-9DF6-996FD0F1D3A5}" destId="{68DA5758-6AE2-4329-854B-DCCE79EAA5F7}" srcOrd="0" destOrd="0" parTransId="{7F39A144-C4C1-4FC1-AD80-E2F9E84F2CC7}" sibTransId="{BF8E7E9C-654C-4A0C-8EDB-24A91877DDE9}"/>
    <dgm:cxn modelId="{1CFDD28C-F8C3-469A-8F79-790BCC8E7BCA}" type="presOf" srcId="{B070D5E5-1B86-47B4-8EFF-235B034D80F0}" destId="{9D5D0913-8CD5-439F-8FE4-622B0660A8FD}" srcOrd="0" destOrd="0" presId="urn:microsoft.com/office/officeart/2005/8/layout/hProcess11"/>
    <dgm:cxn modelId="{D0FBA9BB-2C76-432E-AD5E-B5B8D9DDE807}" type="presOf" srcId="{5E1E1445-090E-4D65-9DF6-996FD0F1D3A5}" destId="{9920DD5C-3138-478B-8555-B5F62184C5C0}" srcOrd="0" destOrd="0" presId="urn:microsoft.com/office/officeart/2005/8/layout/hProcess11"/>
    <dgm:cxn modelId="{A8140EBD-7163-481E-9D09-A0EAA3FAA112}" type="presOf" srcId="{86896D46-65A0-42A1-885E-D47BA6BB7DEE}" destId="{0EBB0B82-65ED-43EA-BF88-BF17CBC71BA5}" srcOrd="0" destOrd="0" presId="urn:microsoft.com/office/officeart/2005/8/layout/hProcess11"/>
    <dgm:cxn modelId="{E9ECB6C6-DBAB-443B-87FB-550A13EA0BD9}" srcId="{5E1E1445-090E-4D65-9DF6-996FD0F1D3A5}" destId="{B070D5E5-1B86-47B4-8EFF-235B034D80F0}" srcOrd="2" destOrd="0" parTransId="{69E712EB-6A6A-44C2-B195-5115EA6CC325}" sibTransId="{87949C1C-AEAC-4EA8-B43A-B668F6F59CCE}"/>
    <dgm:cxn modelId="{3225AAFB-1C9F-41CA-B601-BFC71F78E601}" srcId="{5E1E1445-090E-4D65-9DF6-996FD0F1D3A5}" destId="{2BAE4089-1BA6-46A2-ABAA-138252F39A18}" srcOrd="3" destOrd="0" parTransId="{FDFC75DC-5ED8-4D1D-A422-36DBCF424737}" sibTransId="{B5DF8852-608C-424A-9930-C20CC0427A19}"/>
    <dgm:cxn modelId="{9BBECA08-2BEE-4577-8A41-728DB0640D8F}" type="presParOf" srcId="{9920DD5C-3138-478B-8555-B5F62184C5C0}" destId="{D11EDD9E-8387-45E2-AABC-071A05DE672C}" srcOrd="0" destOrd="0" presId="urn:microsoft.com/office/officeart/2005/8/layout/hProcess11"/>
    <dgm:cxn modelId="{F0E7D111-95BC-4523-886C-90F2D2D69995}" type="presParOf" srcId="{9920DD5C-3138-478B-8555-B5F62184C5C0}" destId="{6EA4D532-9193-4CD8-B86A-7F510EDBEBF6}" srcOrd="1" destOrd="0" presId="urn:microsoft.com/office/officeart/2005/8/layout/hProcess11"/>
    <dgm:cxn modelId="{5F111391-3110-4D83-8F9A-32E593648D95}" type="presParOf" srcId="{6EA4D532-9193-4CD8-B86A-7F510EDBEBF6}" destId="{E1C7016F-7666-42A9-B4BF-030A6FE51BF4}" srcOrd="0" destOrd="0" presId="urn:microsoft.com/office/officeart/2005/8/layout/hProcess11"/>
    <dgm:cxn modelId="{91A4C8CC-705F-4ACE-ACAD-45F754860070}" type="presParOf" srcId="{E1C7016F-7666-42A9-B4BF-030A6FE51BF4}" destId="{E65BAE7D-93D4-4471-87D8-C627B2F195EF}" srcOrd="0" destOrd="0" presId="urn:microsoft.com/office/officeart/2005/8/layout/hProcess11"/>
    <dgm:cxn modelId="{DC638982-5575-4BA7-B173-B3025DD19430}" type="presParOf" srcId="{E1C7016F-7666-42A9-B4BF-030A6FE51BF4}" destId="{59146250-F2FC-4B1E-BA53-78A0BDB212A6}" srcOrd="1" destOrd="0" presId="urn:microsoft.com/office/officeart/2005/8/layout/hProcess11"/>
    <dgm:cxn modelId="{9AACE977-8E84-40EE-9958-704AC06CB270}" type="presParOf" srcId="{E1C7016F-7666-42A9-B4BF-030A6FE51BF4}" destId="{7EED2402-D92F-45D6-91EA-028AFFE53631}" srcOrd="2" destOrd="0" presId="urn:microsoft.com/office/officeart/2005/8/layout/hProcess11"/>
    <dgm:cxn modelId="{11FEDABE-BA82-493B-A10B-7D8DDED6EDF9}" type="presParOf" srcId="{6EA4D532-9193-4CD8-B86A-7F510EDBEBF6}" destId="{1DDD8261-8955-4107-829B-CF274AE9A288}" srcOrd="1" destOrd="0" presId="urn:microsoft.com/office/officeart/2005/8/layout/hProcess11"/>
    <dgm:cxn modelId="{D4690798-2211-49AF-B4D4-A91C4BC56325}" type="presParOf" srcId="{6EA4D532-9193-4CD8-B86A-7F510EDBEBF6}" destId="{18D85389-1EAA-420D-8B3D-AC922F9A4CA8}" srcOrd="2" destOrd="0" presId="urn:microsoft.com/office/officeart/2005/8/layout/hProcess11"/>
    <dgm:cxn modelId="{AD577A16-F5AD-41D8-BEFC-2BF1910DB369}" type="presParOf" srcId="{18D85389-1EAA-420D-8B3D-AC922F9A4CA8}" destId="{0EBB0B82-65ED-43EA-BF88-BF17CBC71BA5}" srcOrd="0" destOrd="0" presId="urn:microsoft.com/office/officeart/2005/8/layout/hProcess11"/>
    <dgm:cxn modelId="{5414E1CB-E7D2-4C25-ABE7-44BB8AA4AD4C}" type="presParOf" srcId="{18D85389-1EAA-420D-8B3D-AC922F9A4CA8}" destId="{FED642C9-AFAB-428B-9AFF-E115EACFD490}" srcOrd="1" destOrd="0" presId="urn:microsoft.com/office/officeart/2005/8/layout/hProcess11"/>
    <dgm:cxn modelId="{FC251181-A4BD-4734-AEF3-282D9DF75E7B}" type="presParOf" srcId="{18D85389-1EAA-420D-8B3D-AC922F9A4CA8}" destId="{25167523-3948-43EB-A0E5-7A5B11D5A1DF}" srcOrd="2" destOrd="0" presId="urn:microsoft.com/office/officeart/2005/8/layout/hProcess11"/>
    <dgm:cxn modelId="{6EC9DC51-5253-4EBA-A0B5-16CFFA2A03B6}" type="presParOf" srcId="{6EA4D532-9193-4CD8-B86A-7F510EDBEBF6}" destId="{BF7FA504-7408-415E-A228-EFF36A82C2A3}" srcOrd="3" destOrd="0" presId="urn:microsoft.com/office/officeart/2005/8/layout/hProcess11"/>
    <dgm:cxn modelId="{EC4994FE-F631-4092-B38E-4CA00687200D}" type="presParOf" srcId="{6EA4D532-9193-4CD8-B86A-7F510EDBEBF6}" destId="{81E234C4-6197-4760-A23E-DF9FF2B85142}" srcOrd="4" destOrd="0" presId="urn:microsoft.com/office/officeart/2005/8/layout/hProcess11"/>
    <dgm:cxn modelId="{AFC3D802-B9EC-457D-B416-7802457AFA0F}" type="presParOf" srcId="{81E234C4-6197-4760-A23E-DF9FF2B85142}" destId="{9D5D0913-8CD5-439F-8FE4-622B0660A8FD}" srcOrd="0" destOrd="0" presId="urn:microsoft.com/office/officeart/2005/8/layout/hProcess11"/>
    <dgm:cxn modelId="{13B22737-13E2-4E58-B473-C25086B6F003}" type="presParOf" srcId="{81E234C4-6197-4760-A23E-DF9FF2B85142}" destId="{98544EEF-0B71-43FE-AA3E-2C8D530B3500}" srcOrd="1" destOrd="0" presId="urn:microsoft.com/office/officeart/2005/8/layout/hProcess11"/>
    <dgm:cxn modelId="{9D0D8351-3164-46DA-A997-B2016ECFEF7F}" type="presParOf" srcId="{81E234C4-6197-4760-A23E-DF9FF2B85142}" destId="{2F3CA5A6-961A-4E37-BD45-F1A7AB8ADCFD}" srcOrd="2" destOrd="0" presId="urn:microsoft.com/office/officeart/2005/8/layout/hProcess11"/>
    <dgm:cxn modelId="{72FE8B7C-981E-4C6B-8991-600935D760DD}" type="presParOf" srcId="{6EA4D532-9193-4CD8-B86A-7F510EDBEBF6}" destId="{8A629D9F-A699-43F5-9CC0-56BC5D838091}" srcOrd="5" destOrd="0" presId="urn:microsoft.com/office/officeart/2005/8/layout/hProcess11"/>
    <dgm:cxn modelId="{6C9FD8B3-9113-4CEF-8970-11A4671060B5}" type="presParOf" srcId="{6EA4D532-9193-4CD8-B86A-7F510EDBEBF6}" destId="{C9CC237B-83AC-47BC-BB1A-8075CD2CF9E9}" srcOrd="6" destOrd="0" presId="urn:microsoft.com/office/officeart/2005/8/layout/hProcess11"/>
    <dgm:cxn modelId="{BB11E5F6-C227-4A44-AEB1-5AD35E132CAF}" type="presParOf" srcId="{C9CC237B-83AC-47BC-BB1A-8075CD2CF9E9}" destId="{E94FB1FB-5903-4DF6-8B74-4E013A5FE23E}" srcOrd="0" destOrd="0" presId="urn:microsoft.com/office/officeart/2005/8/layout/hProcess11"/>
    <dgm:cxn modelId="{96D29387-1167-400D-B239-4759E2E42944}" type="presParOf" srcId="{C9CC237B-83AC-47BC-BB1A-8075CD2CF9E9}" destId="{A6E3526F-6E85-43D9-9E35-7D9BF5349E9A}" srcOrd="1" destOrd="0" presId="urn:microsoft.com/office/officeart/2005/8/layout/hProcess11"/>
    <dgm:cxn modelId="{5F910A2F-64D7-4A09-AF95-ED06A7A5B191}" type="presParOf" srcId="{C9CC237B-83AC-47BC-BB1A-8075CD2CF9E9}" destId="{1794272D-E5C5-4B8B-9019-045607970A4A}"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1EDD9E-8387-45E2-AABC-071A05DE672C}">
      <dsp:nvSpPr>
        <dsp:cNvPr id="0" name=""/>
        <dsp:cNvSpPr/>
      </dsp:nvSpPr>
      <dsp:spPr>
        <a:xfrm>
          <a:off x="0" y="821218"/>
          <a:ext cx="10266679" cy="1094958"/>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5BAE7D-93D4-4471-87D8-C627B2F195EF}">
      <dsp:nvSpPr>
        <dsp:cNvPr id="0" name=""/>
        <dsp:cNvSpPr/>
      </dsp:nvSpPr>
      <dsp:spPr>
        <a:xfrm>
          <a:off x="461" y="0"/>
          <a:ext cx="2617390" cy="1094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rtl="0">
            <a:lnSpc>
              <a:spcPct val="90000"/>
            </a:lnSpc>
            <a:spcBef>
              <a:spcPct val="0"/>
            </a:spcBef>
            <a:spcAft>
              <a:spcPct val="35000"/>
            </a:spcAft>
            <a:buNone/>
          </a:pPr>
          <a:r>
            <a:rPr lang="en-US" sz="1800" kern="1200" dirty="0"/>
            <a:t>B.E. Pakistan, 2011 </a:t>
          </a:r>
          <a:endParaRPr lang="en-GB" sz="1800" kern="1200" dirty="0"/>
        </a:p>
      </dsp:txBody>
      <dsp:txXfrm>
        <a:off x="461" y="0"/>
        <a:ext cx="2617390" cy="1094958"/>
      </dsp:txXfrm>
    </dsp:sp>
    <dsp:sp modelId="{59146250-F2FC-4B1E-BA53-78A0BDB212A6}">
      <dsp:nvSpPr>
        <dsp:cNvPr id="0" name=""/>
        <dsp:cNvSpPr/>
      </dsp:nvSpPr>
      <dsp:spPr>
        <a:xfrm>
          <a:off x="740662" y="1152483"/>
          <a:ext cx="1136988" cy="445809"/>
        </a:xfrm>
        <a:prstGeom prst="ellipse">
          <a:avLst/>
        </a:prstGeom>
        <a:blipFill rotWithShape="0">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BB0B82-65ED-43EA-BF88-BF17CBC71BA5}">
      <dsp:nvSpPr>
        <dsp:cNvPr id="0" name=""/>
        <dsp:cNvSpPr/>
      </dsp:nvSpPr>
      <dsp:spPr>
        <a:xfrm>
          <a:off x="2713839" y="1642437"/>
          <a:ext cx="1919738" cy="1094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rtl="0">
            <a:lnSpc>
              <a:spcPct val="90000"/>
            </a:lnSpc>
            <a:spcBef>
              <a:spcPct val="0"/>
            </a:spcBef>
            <a:spcAft>
              <a:spcPct val="35000"/>
            </a:spcAft>
            <a:buNone/>
          </a:pPr>
          <a:r>
            <a:rPr lang="en-US" sz="1800" kern="1200" dirty="0"/>
            <a:t>M.S. </a:t>
          </a:r>
          <a:r>
            <a:rPr lang="en-US" sz="1800" kern="1200" dirty="0" err="1"/>
            <a:t>Myongji</a:t>
          </a:r>
          <a:r>
            <a:rPr lang="en-US" sz="1800" kern="1200" dirty="0"/>
            <a:t> University, South Korea, 2016 </a:t>
          </a:r>
          <a:endParaRPr lang="en-GB" sz="1800" kern="1200" dirty="0"/>
        </a:p>
      </dsp:txBody>
      <dsp:txXfrm>
        <a:off x="2713839" y="1642437"/>
        <a:ext cx="1919738" cy="1094958"/>
      </dsp:txXfrm>
    </dsp:sp>
    <dsp:sp modelId="{FED642C9-AFAB-428B-9AFF-E115EACFD490}">
      <dsp:nvSpPr>
        <dsp:cNvPr id="0" name=""/>
        <dsp:cNvSpPr/>
      </dsp:nvSpPr>
      <dsp:spPr>
        <a:xfrm>
          <a:off x="3216029" y="1116691"/>
          <a:ext cx="915357" cy="504012"/>
        </a:xfrm>
        <a:prstGeom prst="ellipse">
          <a:avLst/>
        </a:prstGeom>
        <a:blipFill rotWithShape="0">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5D0913-8CD5-439F-8FE4-622B0660A8FD}">
      <dsp:nvSpPr>
        <dsp:cNvPr id="0" name=""/>
        <dsp:cNvSpPr/>
      </dsp:nvSpPr>
      <dsp:spPr>
        <a:xfrm>
          <a:off x="4729565" y="0"/>
          <a:ext cx="2494258" cy="1094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rtl="0">
            <a:lnSpc>
              <a:spcPct val="90000"/>
            </a:lnSpc>
            <a:spcBef>
              <a:spcPct val="0"/>
            </a:spcBef>
            <a:spcAft>
              <a:spcPct val="35000"/>
            </a:spcAft>
            <a:buNone/>
          </a:pPr>
          <a:r>
            <a:rPr lang="en-US" sz="1800" kern="1200" dirty="0"/>
            <a:t>Associate Fellow HEA (AFHEA), 2021</a:t>
          </a:r>
          <a:endParaRPr lang="en-GB" sz="1800" kern="1200" dirty="0"/>
        </a:p>
      </dsp:txBody>
      <dsp:txXfrm>
        <a:off x="4729565" y="0"/>
        <a:ext cx="2494258" cy="1094958"/>
      </dsp:txXfrm>
    </dsp:sp>
    <dsp:sp modelId="{98544EEF-0B71-43FE-AA3E-2C8D530B3500}">
      <dsp:nvSpPr>
        <dsp:cNvPr id="0" name=""/>
        <dsp:cNvSpPr/>
      </dsp:nvSpPr>
      <dsp:spPr>
        <a:xfrm>
          <a:off x="5434065" y="1139105"/>
          <a:ext cx="1085257" cy="459184"/>
        </a:xfrm>
        <a:prstGeom prst="ellipse">
          <a:avLst/>
        </a:prstGeom>
        <a:blipFill rotWithShape="0">
          <a:blip xmlns:r="http://schemas.openxmlformats.org/officeDocument/2006/relationships" r:embed="rId3"/>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4FB1FB-5903-4DF6-8B74-4E013A5FE23E}">
      <dsp:nvSpPr>
        <dsp:cNvPr id="0" name=""/>
        <dsp:cNvSpPr/>
      </dsp:nvSpPr>
      <dsp:spPr>
        <a:xfrm>
          <a:off x="7319810" y="1642437"/>
          <a:ext cx="1919738" cy="10949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rtl="0">
            <a:lnSpc>
              <a:spcPct val="90000"/>
            </a:lnSpc>
            <a:spcBef>
              <a:spcPct val="0"/>
            </a:spcBef>
            <a:spcAft>
              <a:spcPct val="35000"/>
            </a:spcAft>
            <a:buNone/>
          </a:pPr>
          <a:r>
            <a:rPr lang="en-US" sz="1800" kern="1200" dirty="0"/>
            <a:t>PhD, 2023</a:t>
          </a:r>
          <a:endParaRPr lang="en-GB" sz="1800" kern="1200" dirty="0"/>
        </a:p>
      </dsp:txBody>
      <dsp:txXfrm>
        <a:off x="7319810" y="1642437"/>
        <a:ext cx="1919738" cy="1094958"/>
      </dsp:txXfrm>
    </dsp:sp>
    <dsp:sp modelId="{A6E3526F-6E85-43D9-9E35-7D9BF5349E9A}">
      <dsp:nvSpPr>
        <dsp:cNvPr id="0" name=""/>
        <dsp:cNvSpPr/>
      </dsp:nvSpPr>
      <dsp:spPr>
        <a:xfrm>
          <a:off x="7766419" y="1159172"/>
          <a:ext cx="1026520" cy="419051"/>
        </a:xfrm>
        <a:prstGeom prst="ellipse">
          <a:avLst/>
        </a:prstGeom>
        <a:blipFill rotWithShape="0">
          <a:blip xmlns:r="http://schemas.openxmlformats.org/officeDocument/2006/relationships" r:embed="rId3"/>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0A62B6-8235-4A7C-8403-CEED7F26C7E5}" type="datetimeFigureOut">
              <a:rPr lang="en-GB" smtClean="0"/>
              <a:t>12/08/2025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693A92-C27D-47D1-8B2A-7E8A5CD75095}" type="slidenum">
              <a:rPr lang="en-GB" smtClean="0"/>
              <a:t>‹#›</a:t>
            </a:fld>
            <a:endParaRPr lang="en-GB"/>
          </a:p>
        </p:txBody>
      </p:sp>
    </p:spTree>
    <p:extLst>
      <p:ext uri="{BB962C8B-B14F-4D97-AF65-F5344CB8AC3E}">
        <p14:creationId xmlns:p14="http://schemas.microsoft.com/office/powerpoint/2010/main" val="1345972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continuum.io/thank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0693A92-C27D-47D1-8B2A-7E8A5CD75095}" type="slidenum">
              <a:rPr lang="en-GB" smtClean="0"/>
              <a:t>1</a:t>
            </a:fld>
            <a:endParaRPr lang="en-GB"/>
          </a:p>
        </p:txBody>
      </p:sp>
    </p:spTree>
    <p:extLst>
      <p:ext uri="{BB962C8B-B14F-4D97-AF65-F5344CB8AC3E}">
        <p14:creationId xmlns:p14="http://schemas.microsoft.com/office/powerpoint/2010/main" val="3476877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EFFCB360-D711-4137-BEA8-A81958523985}" type="slidenum">
              <a:rPr lang="en-GB" smtClean="0">
                <a:latin typeface="Arial" pitchFamily="34" charset="0"/>
                <a:cs typeface="Arial" pitchFamily="34" charset="0"/>
              </a:rPr>
              <a:pPr/>
              <a:t>7</a:t>
            </a:fld>
            <a:endParaRPr lang="en-GB">
              <a:latin typeface="Arial" pitchFamily="34" charset="0"/>
              <a:cs typeface="Arial" pitchFamily="3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marL="228600" indent="-228600"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1843186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85AFF-EA7C-CDC3-048E-295EAE2726BA}"/>
            </a:ext>
          </a:extLst>
        </p:cNvPr>
        <p:cNvGrpSpPr/>
        <p:nvPr/>
      </p:nvGrpSpPr>
      <p:grpSpPr>
        <a:xfrm>
          <a:off x="0" y="0"/>
          <a:ext cx="0" cy="0"/>
          <a:chOff x="0" y="0"/>
          <a:chExt cx="0" cy="0"/>
        </a:xfrm>
      </p:grpSpPr>
      <p:sp>
        <p:nvSpPr>
          <p:cNvPr id="44034" name="Rectangle 7">
            <a:extLst>
              <a:ext uri="{FF2B5EF4-FFF2-40B4-BE49-F238E27FC236}">
                <a16:creationId xmlns:a16="http://schemas.microsoft.com/office/drawing/2014/main" id="{7D4AF137-1A9D-F6C9-1A00-EB364CE35D6A}"/>
              </a:ext>
            </a:extLst>
          </p:cNvPr>
          <p:cNvSpPr>
            <a:spLocks noGrp="1" noChangeArrowheads="1"/>
          </p:cNvSpPr>
          <p:nvPr>
            <p:ph type="sldNum" sz="quarter" idx="5"/>
          </p:nvPr>
        </p:nvSpPr>
        <p:spPr>
          <a:noFill/>
        </p:spPr>
        <p:txBody>
          <a:bodyPr/>
          <a:lstStyle/>
          <a:p>
            <a:fld id="{EFFCB360-D711-4137-BEA8-A81958523985}" type="slidenum">
              <a:rPr lang="en-GB" smtClean="0">
                <a:latin typeface="Arial" pitchFamily="34" charset="0"/>
                <a:cs typeface="Arial" pitchFamily="34" charset="0"/>
              </a:rPr>
              <a:pPr/>
              <a:t>8</a:t>
            </a:fld>
            <a:endParaRPr lang="en-GB">
              <a:latin typeface="Arial" pitchFamily="34" charset="0"/>
              <a:cs typeface="Arial" pitchFamily="34" charset="0"/>
            </a:endParaRPr>
          </a:p>
        </p:txBody>
      </p:sp>
      <p:sp>
        <p:nvSpPr>
          <p:cNvPr id="44035" name="Rectangle 2">
            <a:extLst>
              <a:ext uri="{FF2B5EF4-FFF2-40B4-BE49-F238E27FC236}">
                <a16:creationId xmlns:a16="http://schemas.microsoft.com/office/drawing/2014/main" id="{3E93A18A-ED3F-E07B-8ACF-BFE2B37DD7E4}"/>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A3D8911F-FF39-B137-EE26-84536D065D4A}"/>
              </a:ext>
            </a:extLst>
          </p:cNvPr>
          <p:cNvSpPr>
            <a:spLocks noGrp="1" noChangeArrowheads="1"/>
          </p:cNvSpPr>
          <p:nvPr>
            <p:ph type="body" idx="1"/>
          </p:nvPr>
        </p:nvSpPr>
        <p:spPr>
          <a:noFill/>
          <a:ln/>
        </p:spPr>
        <p:txBody>
          <a:bodyPr/>
          <a:lstStyle/>
          <a:p>
            <a:pPr marL="228600" indent="-228600" eaLnBrk="1" hangingPunct="1"/>
            <a:endParaRPr lang="en-US">
              <a:latin typeface="Arial" pitchFamily="34" charset="0"/>
              <a:cs typeface="Arial" pitchFamily="34" charset="0"/>
            </a:endParaRPr>
          </a:p>
        </p:txBody>
      </p:sp>
    </p:spTree>
    <p:extLst>
      <p:ext uri="{BB962C8B-B14F-4D97-AF65-F5344CB8AC3E}">
        <p14:creationId xmlns:p14="http://schemas.microsoft.com/office/powerpoint/2010/main" val="20542836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933" marR="6773">
              <a:lnSpc>
                <a:spcPts val="2200"/>
              </a:lnSpc>
              <a:spcBef>
                <a:spcPts val="240"/>
              </a:spcBef>
            </a:pPr>
            <a:r>
              <a:rPr lang="en-GB" spc="-7" dirty="0"/>
              <a:t>Python 2.7.13 |Anaconda 4.4.0 (x86_64)| (default, Dec 20 2016, 23:05:08)  [GCC 4.2.1 Compatible Apple LLVM 6.0 (clang-600.0.57)] on</a:t>
            </a:r>
            <a:r>
              <a:rPr lang="en-GB" spc="-47" dirty="0"/>
              <a:t> </a:t>
            </a:r>
            <a:r>
              <a:rPr lang="en-GB" spc="-7" dirty="0" err="1"/>
              <a:t>darwin</a:t>
            </a:r>
            <a:endParaRPr lang="en-GB" spc="-7" dirty="0"/>
          </a:p>
          <a:p>
            <a:pPr marL="16933" marR="290398">
              <a:lnSpc>
                <a:spcPts val="2200"/>
              </a:lnSpc>
            </a:pPr>
            <a:r>
              <a:rPr lang="en-GB" spc="-7" dirty="0"/>
              <a:t>Type "help", "copyright", "credits" or "license" for more information.  Anaconda is brought to you by Continuum</a:t>
            </a:r>
            <a:r>
              <a:rPr lang="en-GB" spc="-33" dirty="0"/>
              <a:t> </a:t>
            </a:r>
            <a:r>
              <a:rPr lang="en-GB" spc="-7" dirty="0"/>
              <a:t>Analytics.</a:t>
            </a:r>
          </a:p>
          <a:p>
            <a:pPr marL="16933">
              <a:lnSpc>
                <a:spcPts val="2113"/>
              </a:lnSpc>
            </a:pPr>
            <a:r>
              <a:rPr lang="en-GB" spc="-7" dirty="0"/>
              <a:t>Please check out:</a:t>
            </a:r>
            <a:r>
              <a:rPr lang="en-GB" spc="-7" dirty="0">
                <a:hlinkClick r:id="rId3"/>
              </a:rPr>
              <a:t> http://continuum.io/thanks </a:t>
            </a:r>
            <a:r>
              <a:rPr lang="en-GB" spc="-7" dirty="0"/>
              <a:t>and</a:t>
            </a:r>
            <a:r>
              <a:rPr lang="en-GB" spc="-67" dirty="0"/>
              <a:t> </a:t>
            </a:r>
            <a:r>
              <a:rPr lang="en-GB" spc="-7" dirty="0"/>
              <a:t>https://anaconda.org</a:t>
            </a:r>
          </a:p>
          <a:p>
            <a:pPr marL="16933">
              <a:lnSpc>
                <a:spcPts val="2219"/>
              </a:lnSpc>
            </a:pPr>
            <a:r>
              <a:rPr lang="en-GB" spc="-7" dirty="0"/>
              <a:t>&gt;&gt;&gt;</a:t>
            </a:r>
          </a:p>
          <a:p>
            <a:endParaRPr lang="en-GB" dirty="0"/>
          </a:p>
        </p:txBody>
      </p:sp>
      <p:sp>
        <p:nvSpPr>
          <p:cNvPr id="4" name="Slide Number Placeholder 3"/>
          <p:cNvSpPr>
            <a:spLocks noGrp="1"/>
          </p:cNvSpPr>
          <p:nvPr>
            <p:ph type="sldNum" sz="quarter" idx="5"/>
          </p:nvPr>
        </p:nvSpPr>
        <p:spPr/>
        <p:txBody>
          <a:bodyPr/>
          <a:lstStyle/>
          <a:p>
            <a:fld id="{50693A92-C27D-47D1-8B2A-7E8A5CD75095}" type="slidenum">
              <a:rPr lang="en-GB" smtClean="0"/>
              <a:t>27</a:t>
            </a:fld>
            <a:endParaRPr lang="en-GB"/>
          </a:p>
        </p:txBody>
      </p:sp>
    </p:spTree>
    <p:extLst>
      <p:ext uri="{BB962C8B-B14F-4D97-AF65-F5344CB8AC3E}">
        <p14:creationId xmlns:p14="http://schemas.microsoft.com/office/powerpoint/2010/main" val="1341224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style>
          <a:lnRef idx="2">
            <a:schemeClr val="dk1"/>
          </a:lnRef>
          <a:fillRef idx="1">
            <a:schemeClr val="lt1"/>
          </a:fillRef>
          <a:effectRef idx="0">
            <a:schemeClr val="dk1"/>
          </a:effectRef>
          <a:fontRef idx="none"/>
        </p:style>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GB"/>
              <a:t>Data Science Fall 2025</a:t>
            </a:r>
          </a:p>
        </p:txBody>
      </p:sp>
      <p:sp>
        <p:nvSpPr>
          <p:cNvPr id="6" name="Slide Number Placeholder 5"/>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238985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85316"/>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mn-lt"/>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r>
              <a:rPr lang="en-US"/>
              <a:t>Data Science Fall 2025</a:t>
            </a:r>
            <a:endParaRPr lang="en-GB" dirty="0"/>
          </a:p>
        </p:txBody>
      </p:sp>
      <p:sp>
        <p:nvSpPr>
          <p:cNvPr id="6" name="Slide Number Placeholder 5"/>
          <p:cNvSpPr>
            <a:spLocks noGrp="1"/>
          </p:cNvSpPr>
          <p:nvPr>
            <p:ph type="sldNum" sz="quarter" idx="12"/>
          </p:nvPr>
        </p:nvSpPr>
        <p:spPr/>
        <p:txBody>
          <a:bodyPr/>
          <a:lstStyle/>
          <a:p>
            <a:fld id="{1BEB7A16-2A17-4549-A1D9-B9B2F7AEB8FC}" type="slidenum">
              <a:rPr lang="en-GB" smtClean="0"/>
              <a:t>‹#›</a:t>
            </a:fld>
            <a:endParaRPr lang="en-GB"/>
          </a:p>
        </p:txBody>
      </p:sp>
      <p:pic>
        <p:nvPicPr>
          <p:cNvPr id="8" name="Picture 7"/>
          <p:cNvPicPr>
            <a:picLocks noChangeAspect="1"/>
          </p:cNvPicPr>
          <p:nvPr userDrawn="1"/>
        </p:nvPicPr>
        <p:blipFill rotWithShape="1">
          <a:blip r:embed="rId2">
            <a:extLst>
              <a:ext uri="{28A0092B-C50C-407E-A947-70E740481C1C}">
                <a14:useLocalDpi xmlns:a14="http://schemas.microsoft.com/office/drawing/2010/main" val="0"/>
              </a:ext>
            </a:extLst>
          </a:blip>
          <a:srcRect l="2556" t="4411" r="4469"/>
          <a:stretch/>
        </p:blipFill>
        <p:spPr>
          <a:xfrm>
            <a:off x="8133" y="6343095"/>
            <a:ext cx="1411549" cy="514905"/>
          </a:xfrm>
          <a:prstGeom prst="rect">
            <a:avLst/>
          </a:prstGeom>
        </p:spPr>
      </p:pic>
    </p:spTree>
    <p:extLst>
      <p:ext uri="{BB962C8B-B14F-4D97-AF65-F5344CB8AC3E}">
        <p14:creationId xmlns:p14="http://schemas.microsoft.com/office/powerpoint/2010/main" val="3643863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noFill/>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GB"/>
              <a:t>Data Science Fall 2025</a:t>
            </a:r>
          </a:p>
        </p:txBody>
      </p:sp>
      <p:sp>
        <p:nvSpPr>
          <p:cNvPr id="6" name="Slide Number Placeholder 5"/>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3085741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r>
              <a:rPr lang="en-GB"/>
              <a:t>Data Science Fall 2025</a:t>
            </a:r>
          </a:p>
        </p:txBody>
      </p:sp>
      <p:sp>
        <p:nvSpPr>
          <p:cNvPr id="7" name="Slide Number Placeholder 6"/>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3444406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GB"/>
          </a:p>
        </p:txBody>
      </p:sp>
      <p:sp>
        <p:nvSpPr>
          <p:cNvPr id="8" name="Footer Placeholder 7"/>
          <p:cNvSpPr>
            <a:spLocks noGrp="1"/>
          </p:cNvSpPr>
          <p:nvPr>
            <p:ph type="ftr" sz="quarter" idx="11"/>
          </p:nvPr>
        </p:nvSpPr>
        <p:spPr/>
        <p:txBody>
          <a:bodyPr/>
          <a:lstStyle/>
          <a:p>
            <a:r>
              <a:rPr lang="en-GB"/>
              <a:t>Data Science Fall 2025</a:t>
            </a:r>
          </a:p>
        </p:txBody>
      </p:sp>
      <p:sp>
        <p:nvSpPr>
          <p:cNvPr id="9" name="Slide Number Placeholder 8"/>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3485167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08408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GB"/>
          </a:p>
        </p:txBody>
      </p:sp>
      <p:sp>
        <p:nvSpPr>
          <p:cNvPr id="4" name="Footer Placeholder 3"/>
          <p:cNvSpPr>
            <a:spLocks noGrp="1"/>
          </p:cNvSpPr>
          <p:nvPr>
            <p:ph type="ftr" sz="quarter" idx="11"/>
          </p:nvPr>
        </p:nvSpPr>
        <p:spPr/>
        <p:txBody>
          <a:bodyPr/>
          <a:lstStyle/>
          <a:p>
            <a:r>
              <a:rPr lang="en-GB"/>
              <a:t>Data Science Fall 2025</a:t>
            </a:r>
          </a:p>
        </p:txBody>
      </p:sp>
      <p:sp>
        <p:nvSpPr>
          <p:cNvPr id="5" name="Slide Number Placeholder 4"/>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1865282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a:p>
        </p:txBody>
      </p:sp>
      <p:sp>
        <p:nvSpPr>
          <p:cNvPr id="3" name="Footer Placeholder 2"/>
          <p:cNvSpPr>
            <a:spLocks noGrp="1"/>
          </p:cNvSpPr>
          <p:nvPr>
            <p:ph type="ftr" sz="quarter" idx="11"/>
          </p:nvPr>
        </p:nvSpPr>
        <p:spPr/>
        <p:txBody>
          <a:bodyPr/>
          <a:lstStyle/>
          <a:p>
            <a:r>
              <a:rPr lang="en-GB"/>
              <a:t>Data Science Fall 2025</a:t>
            </a:r>
          </a:p>
        </p:txBody>
      </p:sp>
      <p:sp>
        <p:nvSpPr>
          <p:cNvPr id="4" name="Slide Number Placeholder 3"/>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1443954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r>
              <a:rPr lang="en-GB"/>
              <a:t>Data Science Fall 2025</a:t>
            </a:r>
          </a:p>
        </p:txBody>
      </p:sp>
      <p:sp>
        <p:nvSpPr>
          <p:cNvPr id="7" name="Slide Number Placeholder 6"/>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1079572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p>
            <a:r>
              <a:rPr lang="en-GB"/>
              <a:t>Data Science Fall 2025</a:t>
            </a:r>
          </a:p>
        </p:txBody>
      </p:sp>
      <p:sp>
        <p:nvSpPr>
          <p:cNvPr id="7" name="Slide Number Placeholder 6"/>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3537830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GB"/>
              <a:t>Data Science Fall 2025</a:t>
            </a:r>
          </a:p>
        </p:txBody>
      </p:sp>
      <p:sp>
        <p:nvSpPr>
          <p:cNvPr id="6" name="Slide Number Placeholder 5"/>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4102512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GB"/>
              <a:t>Data Science Fall 2025</a:t>
            </a:r>
          </a:p>
        </p:txBody>
      </p:sp>
      <p:sp>
        <p:nvSpPr>
          <p:cNvPr id="6" name="Slide Number Placeholder 5"/>
          <p:cNvSpPr>
            <a:spLocks noGrp="1"/>
          </p:cNvSpPr>
          <p:nvPr>
            <p:ph type="sldNum" sz="quarter" idx="12"/>
          </p:nvPr>
        </p:nvSpPr>
        <p:spPr/>
        <p:txBody>
          <a:bodyPr/>
          <a:lstStyle/>
          <a:p>
            <a:fld id="{1BEB7A16-2A17-4549-A1D9-B9B2F7AEB8FC}" type="slidenum">
              <a:rPr lang="en-GB" smtClean="0"/>
              <a:t>‹#›</a:t>
            </a:fld>
            <a:endParaRPr lang="en-GB"/>
          </a:p>
        </p:txBody>
      </p:sp>
    </p:spTree>
    <p:extLst>
      <p:ext uri="{BB962C8B-B14F-4D97-AF65-F5344CB8AC3E}">
        <p14:creationId xmlns:p14="http://schemas.microsoft.com/office/powerpoint/2010/main" val="3441813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429752" y="2047113"/>
            <a:ext cx="9332497" cy="960199"/>
          </a:xfrm>
          <a:prstGeom prst="rect">
            <a:avLst/>
          </a:prstGeom>
        </p:spPr>
        <p:txBody>
          <a:bodyPr wrap="square" lIns="0" tIns="0" rIns="0" bIns="0">
            <a:spAutoFit/>
          </a:bodyPr>
          <a:lstStyle>
            <a:lvl1pPr>
              <a:defRPr sz="6933" b="0"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1"/>
            <a:ext cx="853440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62483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844682" y="1439230"/>
            <a:ext cx="3285425" cy="5198689"/>
          </a:xfrm>
          <a:prstGeom prst="rect">
            <a:avLst/>
          </a:prstGeom>
          <a:blipFill>
            <a:blip r:embed="rId2" cstate="print"/>
            <a:stretch>
              <a:fillRect/>
            </a:stretch>
          </a:blipFill>
        </p:spPr>
        <p:txBody>
          <a:bodyPr wrap="square" lIns="0" tIns="0" rIns="0" bIns="0" rtlCol="0"/>
          <a:lstStyle/>
          <a:p>
            <a:endParaRPr sz="2400"/>
          </a:p>
        </p:txBody>
      </p:sp>
      <p:sp>
        <p:nvSpPr>
          <p:cNvPr id="17" name="bg object 17"/>
          <p:cNvSpPr/>
          <p:nvPr/>
        </p:nvSpPr>
        <p:spPr>
          <a:xfrm>
            <a:off x="101599" y="1429307"/>
            <a:ext cx="2429728" cy="5421712"/>
          </a:xfrm>
          <a:prstGeom prst="rect">
            <a:avLst/>
          </a:prstGeom>
          <a:blipFill>
            <a:blip r:embed="rId3" cstate="print"/>
            <a:stretch>
              <a:fillRect/>
            </a:stretch>
          </a:blipFill>
        </p:spPr>
        <p:txBody>
          <a:bodyPr wrap="square" lIns="0" tIns="0" rIns="0" bIns="0" rtlCol="0"/>
          <a:lstStyle/>
          <a:p>
            <a:endParaRPr sz="2400"/>
          </a:p>
        </p:txBody>
      </p:sp>
      <p:sp>
        <p:nvSpPr>
          <p:cNvPr id="2" name="Holder 2"/>
          <p:cNvSpPr>
            <a:spLocks noGrp="1"/>
          </p:cNvSpPr>
          <p:nvPr>
            <p:ph type="title"/>
          </p:nvPr>
        </p:nvSpPr>
        <p:spPr/>
        <p:txBody>
          <a:bodyPr lIns="0" tIns="0" rIns="0" bIns="0"/>
          <a:lstStyle>
            <a:lvl1pPr>
              <a:defRPr sz="3733"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301630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style>
          <a:lnRef idx="2">
            <a:schemeClr val="accent1">
              <a:shade val="50000"/>
            </a:schemeClr>
          </a:lnRef>
          <a:fillRef idx="1">
            <a:schemeClr val="accent1"/>
          </a:fillRef>
          <a:effectRef idx="0">
            <a:schemeClr val="accent1"/>
          </a:effectRef>
          <a:fontRef idx="none"/>
        </p:style>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Data Science Fall 2025</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B7A16-2A17-4549-A1D9-B9B2F7AEB8FC}" type="slidenum">
              <a:rPr lang="en-GB" smtClean="0"/>
              <a:t>‹#›</a:t>
            </a:fld>
            <a:endParaRPr lang="en-GB"/>
          </a:p>
        </p:txBody>
      </p:sp>
    </p:spTree>
    <p:extLst>
      <p:ext uri="{BB962C8B-B14F-4D97-AF65-F5344CB8AC3E}">
        <p14:creationId xmlns:p14="http://schemas.microsoft.com/office/powerpoint/2010/main" val="41913114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smail@iba-suk.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w3schools.com/python/default.asp" TargetMode="External"/><Relationship Id="rId2" Type="http://schemas.openxmlformats.org/officeDocument/2006/relationships/image" Target="../media/image5.tmp"/><Relationship Id="rId1" Type="http://schemas.openxmlformats.org/officeDocument/2006/relationships/slideLayout" Target="../slideLayouts/slideLayout4.xml"/><Relationship Id="rId5" Type="http://schemas.openxmlformats.org/officeDocument/2006/relationships/hyperlink" Target="https://www.youtube.com/watch?v=_uQrJ0TkZlc&amp;ab_channel=ProgrammingwithMosh" TargetMode="External"/><Relationship Id="rId4" Type="http://schemas.openxmlformats.org/officeDocument/2006/relationships/hyperlink" Target="https://www.geeksforgeeks.org/python/python-programming-language-tutorial/"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elearning.iba-suk.edu.pk/course/view.php?id=943"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hyperlink" Target="http://www.python.org/community/logos/"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jupyter.org/"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continuum.io/thank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 Id="rId4" Type="http://schemas.openxmlformats.org/officeDocument/2006/relationships/image" Target="../media/image23.jp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 Id="rId6" Type="http://schemas.openxmlformats.org/officeDocument/2006/relationships/image" Target="../media/image28.jpg"/><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image" Target="../media/image33.png"/><Relationship Id="rId2" Type="http://schemas.openxmlformats.org/officeDocument/2006/relationships/image" Target="../media/image29.jp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image" Target="../media/image33.png"/><Relationship Id="rId2" Type="http://schemas.openxmlformats.org/officeDocument/2006/relationships/image" Target="../media/image29.jp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34.jpg"/><Relationship Id="rId1" Type="http://schemas.openxmlformats.org/officeDocument/2006/relationships/slideLayout" Target="../slideLayouts/slideLayout7.xml"/><Relationship Id="rId4" Type="http://schemas.openxmlformats.org/officeDocument/2006/relationships/image" Target="../media/image35.jpg"/></Relationships>
</file>

<file path=ppt/slides/_rels/slide3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34.jp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jpg"/></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4.jpg"/><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3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13.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docs.python.org/3/library/exceptions.html#NameError" TargetMode="External"/><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58.png"/><Relationship Id="rId4" Type="http://schemas.openxmlformats.org/officeDocument/2006/relationships/hyperlink" Target="https://docs.python.org/3/library/exceptions.html#TypeError" TargetMode="External"/></Relationships>
</file>

<file path=ppt/slides/_rels/slide49.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43159" y="1926901"/>
            <a:ext cx="9413507" cy="1790700"/>
          </a:xfrm>
          <a:ln>
            <a:noFill/>
          </a:ln>
        </p:spPr>
        <p:txBody>
          <a:bodyPr>
            <a:noAutofit/>
          </a:bodyPr>
          <a:lstStyle/>
          <a:p>
            <a:r>
              <a:rPr lang="en-US" sz="4800" b="1" dirty="0"/>
              <a:t>Data Science</a:t>
            </a:r>
            <a:br>
              <a:rPr lang="en-US" sz="4800" b="1" dirty="0"/>
            </a:br>
            <a:endParaRPr lang="en-GB" sz="4800" b="1" dirty="0"/>
          </a:p>
        </p:txBody>
      </p:sp>
      <p:sp>
        <p:nvSpPr>
          <p:cNvPr id="3" name="Subtitle 2"/>
          <p:cNvSpPr>
            <a:spLocks noGrp="1"/>
          </p:cNvSpPr>
          <p:nvPr>
            <p:ph type="subTitle" idx="1"/>
          </p:nvPr>
        </p:nvSpPr>
        <p:spPr>
          <a:xfrm>
            <a:off x="2705501" y="4035749"/>
            <a:ext cx="6858000" cy="1611202"/>
          </a:xfrm>
        </p:spPr>
        <p:txBody>
          <a:bodyPr>
            <a:normAutofit/>
          </a:bodyPr>
          <a:lstStyle/>
          <a:p>
            <a:r>
              <a:rPr lang="en-US" sz="2000" dirty="0"/>
              <a:t>Teacher: </a:t>
            </a:r>
            <a:r>
              <a:rPr lang="en-US" sz="2000" dirty="0" err="1"/>
              <a:t>Dr</a:t>
            </a:r>
            <a:r>
              <a:rPr lang="en-US" sz="2000" dirty="0"/>
              <a:t> Muhammad Ismail </a:t>
            </a:r>
            <a:r>
              <a:rPr lang="en-US" sz="2000" dirty="0" err="1"/>
              <a:t>Mangrio</a:t>
            </a:r>
            <a:endParaRPr lang="en-US" sz="2000" dirty="0"/>
          </a:p>
          <a:p>
            <a:pPr marL="0" lvl="1">
              <a:spcBef>
                <a:spcPts val="1000"/>
              </a:spcBef>
            </a:pPr>
            <a:r>
              <a:rPr lang="en-US" dirty="0">
                <a:hlinkClick r:id="rId3"/>
              </a:rPr>
              <a:t>ismail@iba-suk.edu.pk</a:t>
            </a:r>
            <a:endParaRPr lang="en-GB" dirty="0"/>
          </a:p>
        </p:txBody>
      </p:sp>
      <p:sp>
        <p:nvSpPr>
          <p:cNvPr id="5" name="副标题 2"/>
          <p:cNvSpPr txBox="1">
            <a:spLocks/>
          </p:cNvSpPr>
          <p:nvPr/>
        </p:nvSpPr>
        <p:spPr>
          <a:xfrm>
            <a:off x="3470205" y="5885372"/>
            <a:ext cx="5328592" cy="747929"/>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ct val="120000"/>
              </a:lnSpc>
              <a:spcBef>
                <a:spcPts val="0"/>
              </a:spcBef>
            </a:pPr>
            <a:r>
              <a:rPr lang="en-US" altLang="zh-CN" sz="1600" i="1" dirty="0">
                <a:solidFill>
                  <a:schemeClr val="tx1"/>
                </a:solidFill>
              </a:rPr>
              <a:t>Week 1</a:t>
            </a:r>
          </a:p>
        </p:txBody>
      </p:sp>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t="15557" b="15720"/>
          <a:stretch/>
        </p:blipFill>
        <p:spPr>
          <a:xfrm>
            <a:off x="18140" y="10160"/>
            <a:ext cx="2450039" cy="1010117"/>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4083" y="0"/>
            <a:ext cx="3566152" cy="1010117"/>
          </a:xfrm>
          <a:prstGeom prst="rect">
            <a:avLst/>
          </a:prstGeom>
        </p:spPr>
      </p:pic>
    </p:spTree>
    <p:extLst>
      <p:ext uri="{BB962C8B-B14F-4D97-AF65-F5344CB8AC3E}">
        <p14:creationId xmlns:p14="http://schemas.microsoft.com/office/powerpoint/2010/main" val="3409547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D3CD-7B0F-7C91-BBB1-DF742EEF4F9E}"/>
              </a:ext>
            </a:extLst>
          </p:cNvPr>
          <p:cNvSpPr>
            <a:spLocks noGrp="1"/>
          </p:cNvSpPr>
          <p:nvPr>
            <p:ph type="title"/>
          </p:nvPr>
        </p:nvSpPr>
        <p:spPr/>
        <p:txBody>
          <a:bodyPr/>
          <a:lstStyle/>
          <a:p>
            <a:r>
              <a:rPr lang="en-GB" dirty="0"/>
              <a:t>Course Objectives</a:t>
            </a:r>
          </a:p>
        </p:txBody>
      </p:sp>
      <p:sp>
        <p:nvSpPr>
          <p:cNvPr id="3" name="Content Placeholder 2">
            <a:extLst>
              <a:ext uri="{FF2B5EF4-FFF2-40B4-BE49-F238E27FC236}">
                <a16:creationId xmlns:a16="http://schemas.microsoft.com/office/drawing/2014/main" id="{9DFBF48E-AAD1-2E98-117D-8D014C138A97}"/>
              </a:ext>
            </a:extLst>
          </p:cNvPr>
          <p:cNvSpPr>
            <a:spLocks noGrp="1"/>
          </p:cNvSpPr>
          <p:nvPr>
            <p:ph idx="1"/>
          </p:nvPr>
        </p:nvSpPr>
        <p:spPr>
          <a:xfrm>
            <a:off x="674912" y="1381878"/>
            <a:ext cx="10678887" cy="4974472"/>
          </a:xfrm>
        </p:spPr>
        <p:txBody>
          <a:bodyPr>
            <a:normAutofit/>
          </a:bodyPr>
          <a:lstStyle/>
          <a:p>
            <a:pPr marL="379095" indent="-367030" algn="just">
              <a:lnSpc>
                <a:spcPct val="100000"/>
              </a:lnSpc>
              <a:spcBef>
                <a:spcPts val="100"/>
              </a:spcBef>
              <a:buChar char="●"/>
              <a:tabLst>
                <a:tab pos="379095" algn="l"/>
                <a:tab pos="379730" algn="l"/>
              </a:tabLst>
            </a:pPr>
            <a:r>
              <a:rPr lang="en-US" sz="2400" spc="-5" dirty="0">
                <a:latin typeface="Arial"/>
                <a:cs typeface="Arial"/>
              </a:rPr>
              <a:t>This course aims to provide students with a foundational understanding of key concepts, techniques, and tools used in the field of data science using the Python programming language. </a:t>
            </a:r>
          </a:p>
          <a:p>
            <a:pPr marL="379095" indent="-367030" algn="just">
              <a:lnSpc>
                <a:spcPct val="100000"/>
              </a:lnSpc>
              <a:spcBef>
                <a:spcPts val="100"/>
              </a:spcBef>
              <a:buChar char="●"/>
              <a:tabLst>
                <a:tab pos="379095" algn="l"/>
                <a:tab pos="379730" algn="l"/>
              </a:tabLst>
            </a:pPr>
            <a:r>
              <a:rPr lang="en-US" sz="2400" spc="-5" dirty="0">
                <a:latin typeface="Arial"/>
                <a:cs typeface="Arial"/>
              </a:rPr>
              <a:t>To cater to individuals who are new to data science. </a:t>
            </a:r>
          </a:p>
          <a:p>
            <a:pPr marL="379095" indent="-367030" algn="just">
              <a:lnSpc>
                <a:spcPct val="100000"/>
              </a:lnSpc>
              <a:spcBef>
                <a:spcPts val="100"/>
              </a:spcBef>
              <a:buChar char="●"/>
              <a:tabLst>
                <a:tab pos="379095" algn="l"/>
                <a:tab pos="379730" algn="l"/>
              </a:tabLst>
            </a:pPr>
            <a:endParaRPr lang="en-US" sz="2400" spc="-5" dirty="0">
              <a:latin typeface="Arial"/>
              <a:cs typeface="Arial"/>
            </a:endParaRPr>
          </a:p>
          <a:p>
            <a:pPr marL="379095" indent="-367030" algn="just">
              <a:lnSpc>
                <a:spcPct val="100000"/>
              </a:lnSpc>
              <a:spcBef>
                <a:spcPts val="100"/>
              </a:spcBef>
              <a:buChar char="●"/>
              <a:tabLst>
                <a:tab pos="379095" algn="l"/>
                <a:tab pos="379730" algn="l"/>
              </a:tabLst>
            </a:pPr>
            <a:r>
              <a:rPr lang="en-US" sz="2400" spc="-5" dirty="0">
                <a:latin typeface="Arial"/>
                <a:cs typeface="Arial"/>
              </a:rPr>
              <a:t>By the end of the course, participants should be able to:</a:t>
            </a:r>
          </a:p>
          <a:p>
            <a:pPr marL="836295" lvl="1" indent="-367030" algn="just">
              <a:spcBef>
                <a:spcPts val="100"/>
              </a:spcBef>
              <a:buChar char="●"/>
              <a:tabLst>
                <a:tab pos="379095" algn="l"/>
                <a:tab pos="379730" algn="l"/>
              </a:tabLst>
            </a:pPr>
            <a:r>
              <a:rPr lang="en-US" b="1" spc="-5" dirty="0">
                <a:latin typeface="Arial"/>
                <a:cs typeface="Arial"/>
              </a:rPr>
              <a:t>Understand Data Science Fundamentals</a:t>
            </a:r>
            <a:r>
              <a:rPr lang="en-US" spc="-5" dirty="0">
                <a:latin typeface="Arial"/>
                <a:cs typeface="Arial"/>
              </a:rPr>
              <a:t>: Gain a clear grasp of the fundamental concepts of data science, including data manipulation, exploration, analysis, and visualization.</a:t>
            </a:r>
          </a:p>
          <a:p>
            <a:pPr marL="836295" lvl="1" indent="-367030" algn="just">
              <a:spcBef>
                <a:spcPts val="100"/>
              </a:spcBef>
              <a:buChar char="●"/>
              <a:tabLst>
                <a:tab pos="379095" algn="l"/>
                <a:tab pos="379730" algn="l"/>
              </a:tabLst>
            </a:pPr>
            <a:r>
              <a:rPr lang="en-US" b="1" spc="-5" dirty="0">
                <a:latin typeface="Arial"/>
                <a:cs typeface="Arial"/>
              </a:rPr>
              <a:t>Learn Python Programming</a:t>
            </a:r>
            <a:r>
              <a:rPr lang="en-US" spc="-5" dirty="0">
                <a:latin typeface="Arial"/>
                <a:cs typeface="Arial"/>
              </a:rPr>
              <a:t>: Acquire essential Python programming skills required for data manipulation, analysis, and visualization. Participants will learn how to work with Python libraries commonly used in data science, such as NumPy, pandas, and matplotlib.</a:t>
            </a:r>
          </a:p>
          <a:p>
            <a:endParaRPr lang="en-GB" sz="2400" dirty="0"/>
          </a:p>
        </p:txBody>
      </p:sp>
      <p:sp>
        <p:nvSpPr>
          <p:cNvPr id="4" name="Footer Placeholder 3">
            <a:extLst>
              <a:ext uri="{FF2B5EF4-FFF2-40B4-BE49-F238E27FC236}">
                <a16:creationId xmlns:a16="http://schemas.microsoft.com/office/drawing/2014/main" id="{7B0F0F66-162F-6F8F-DC5C-17B89EF22615}"/>
              </a:ext>
            </a:extLst>
          </p:cNvPr>
          <p:cNvSpPr>
            <a:spLocks noGrp="1"/>
          </p:cNvSpPr>
          <p:nvPr>
            <p:ph type="ftr" sz="quarter" idx="11"/>
          </p:nvPr>
        </p:nvSpPr>
        <p:spPr/>
        <p:txBody>
          <a:bodyPr/>
          <a:lstStyle/>
          <a:p>
            <a:r>
              <a:rPr lang="en-US"/>
              <a:t>Data Science Fall 2025</a:t>
            </a:r>
            <a:endParaRPr lang="en-GB" dirty="0"/>
          </a:p>
        </p:txBody>
      </p:sp>
      <p:sp>
        <p:nvSpPr>
          <p:cNvPr id="5" name="Slide Number Placeholder 4">
            <a:extLst>
              <a:ext uri="{FF2B5EF4-FFF2-40B4-BE49-F238E27FC236}">
                <a16:creationId xmlns:a16="http://schemas.microsoft.com/office/drawing/2014/main" id="{1186B389-12F7-D1A6-2CA9-CFB73EC30736}"/>
              </a:ext>
            </a:extLst>
          </p:cNvPr>
          <p:cNvSpPr>
            <a:spLocks noGrp="1"/>
          </p:cNvSpPr>
          <p:nvPr>
            <p:ph type="sldNum" sz="quarter" idx="12"/>
          </p:nvPr>
        </p:nvSpPr>
        <p:spPr/>
        <p:txBody>
          <a:bodyPr/>
          <a:lstStyle/>
          <a:p>
            <a:fld id="{1BEB7A16-2A17-4549-A1D9-B9B2F7AEB8FC}" type="slidenum">
              <a:rPr lang="en-GB" smtClean="0"/>
              <a:t>2</a:t>
            </a:fld>
            <a:endParaRPr lang="en-GB"/>
          </a:p>
        </p:txBody>
      </p:sp>
    </p:spTree>
    <p:extLst>
      <p:ext uri="{BB962C8B-B14F-4D97-AF65-F5344CB8AC3E}">
        <p14:creationId xmlns:p14="http://schemas.microsoft.com/office/powerpoint/2010/main" val="2506520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B8A91-7303-10B6-29F0-B0F074574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D5971-697B-16B2-00DD-E5345965C3D9}"/>
              </a:ext>
            </a:extLst>
          </p:cNvPr>
          <p:cNvSpPr>
            <a:spLocks noGrp="1"/>
          </p:cNvSpPr>
          <p:nvPr>
            <p:ph type="title"/>
          </p:nvPr>
        </p:nvSpPr>
        <p:spPr/>
        <p:txBody>
          <a:bodyPr/>
          <a:lstStyle/>
          <a:p>
            <a:r>
              <a:rPr lang="en-GB" dirty="0"/>
              <a:t>Course Objectives</a:t>
            </a:r>
          </a:p>
        </p:txBody>
      </p:sp>
      <p:sp>
        <p:nvSpPr>
          <p:cNvPr id="3" name="Content Placeholder 2">
            <a:extLst>
              <a:ext uri="{FF2B5EF4-FFF2-40B4-BE49-F238E27FC236}">
                <a16:creationId xmlns:a16="http://schemas.microsoft.com/office/drawing/2014/main" id="{AFA5A595-FFB0-54B1-62E1-D73E5A2AF10E}"/>
              </a:ext>
            </a:extLst>
          </p:cNvPr>
          <p:cNvSpPr>
            <a:spLocks noGrp="1"/>
          </p:cNvSpPr>
          <p:nvPr>
            <p:ph idx="1"/>
          </p:nvPr>
        </p:nvSpPr>
        <p:spPr>
          <a:xfrm>
            <a:off x="326571" y="1675793"/>
            <a:ext cx="10515600" cy="4351338"/>
          </a:xfrm>
        </p:spPr>
        <p:txBody>
          <a:bodyPr>
            <a:normAutofit/>
          </a:bodyPr>
          <a:lstStyle/>
          <a:p>
            <a:pPr marL="836295" lvl="1" indent="-367030" algn="just">
              <a:spcBef>
                <a:spcPts val="100"/>
              </a:spcBef>
              <a:buChar char="●"/>
              <a:tabLst>
                <a:tab pos="379095" algn="l"/>
                <a:tab pos="379730" algn="l"/>
              </a:tabLst>
            </a:pPr>
            <a:r>
              <a:rPr lang="en-US" b="1" spc="-5" dirty="0">
                <a:latin typeface="Arial"/>
                <a:cs typeface="Arial"/>
              </a:rPr>
              <a:t>Data Cleaning and Preprocessing</a:t>
            </a:r>
            <a:r>
              <a:rPr lang="en-US" spc="-5" dirty="0">
                <a:latin typeface="Arial"/>
                <a:cs typeface="Arial"/>
              </a:rPr>
              <a:t>: Learn techniques to clean, preprocess, and transform raw data into a format suitable for analysis. This includes handling missing values, dealing with outliers, and converting data types.</a:t>
            </a:r>
          </a:p>
          <a:p>
            <a:pPr marL="836295" lvl="1" indent="-367030" algn="just">
              <a:spcBef>
                <a:spcPts val="100"/>
              </a:spcBef>
              <a:buChar char="●"/>
              <a:tabLst>
                <a:tab pos="379095" algn="l"/>
                <a:tab pos="379730" algn="l"/>
              </a:tabLst>
            </a:pPr>
            <a:endParaRPr lang="en-US" spc="-5" dirty="0">
              <a:latin typeface="Arial"/>
              <a:cs typeface="Arial"/>
            </a:endParaRPr>
          </a:p>
          <a:p>
            <a:pPr marL="836295" lvl="1" indent="-367030" algn="just">
              <a:spcBef>
                <a:spcPts val="100"/>
              </a:spcBef>
              <a:buChar char="●"/>
              <a:tabLst>
                <a:tab pos="379095" algn="l"/>
                <a:tab pos="379730" algn="l"/>
              </a:tabLst>
            </a:pPr>
            <a:r>
              <a:rPr lang="en-US" b="1" spc="-5" dirty="0">
                <a:latin typeface="Arial"/>
                <a:cs typeface="Arial"/>
              </a:rPr>
              <a:t>Exploratory Data Analysis (EDA): </a:t>
            </a:r>
            <a:r>
              <a:rPr lang="en-US" spc="-5" dirty="0">
                <a:latin typeface="Arial"/>
                <a:cs typeface="Arial"/>
              </a:rPr>
              <a:t>Develop the ability to perform exploratory data analysis to uncover patterns, trends, and insights in data. Participants will learn how to create various types of plots and visualizations to aid in understanding data.</a:t>
            </a:r>
          </a:p>
          <a:p>
            <a:endParaRPr lang="en-GB" dirty="0"/>
          </a:p>
        </p:txBody>
      </p:sp>
      <p:sp>
        <p:nvSpPr>
          <p:cNvPr id="4" name="Footer Placeholder 3">
            <a:extLst>
              <a:ext uri="{FF2B5EF4-FFF2-40B4-BE49-F238E27FC236}">
                <a16:creationId xmlns:a16="http://schemas.microsoft.com/office/drawing/2014/main" id="{8EF1C8DF-FCE7-EA11-01CB-E4BA515229BA}"/>
              </a:ext>
            </a:extLst>
          </p:cNvPr>
          <p:cNvSpPr>
            <a:spLocks noGrp="1"/>
          </p:cNvSpPr>
          <p:nvPr>
            <p:ph type="ftr" sz="quarter" idx="11"/>
          </p:nvPr>
        </p:nvSpPr>
        <p:spPr/>
        <p:txBody>
          <a:bodyPr/>
          <a:lstStyle/>
          <a:p>
            <a:r>
              <a:rPr lang="en-US"/>
              <a:t>Data Science Fall 2025</a:t>
            </a:r>
            <a:endParaRPr lang="en-GB" dirty="0"/>
          </a:p>
        </p:txBody>
      </p:sp>
      <p:sp>
        <p:nvSpPr>
          <p:cNvPr id="5" name="Slide Number Placeholder 4">
            <a:extLst>
              <a:ext uri="{FF2B5EF4-FFF2-40B4-BE49-F238E27FC236}">
                <a16:creationId xmlns:a16="http://schemas.microsoft.com/office/drawing/2014/main" id="{9CB336EE-F482-0377-9666-0D37B522C816}"/>
              </a:ext>
            </a:extLst>
          </p:cNvPr>
          <p:cNvSpPr>
            <a:spLocks noGrp="1"/>
          </p:cNvSpPr>
          <p:nvPr>
            <p:ph type="sldNum" sz="quarter" idx="12"/>
          </p:nvPr>
        </p:nvSpPr>
        <p:spPr/>
        <p:txBody>
          <a:bodyPr/>
          <a:lstStyle/>
          <a:p>
            <a:fld id="{1BEB7A16-2A17-4549-A1D9-B9B2F7AEB8FC}" type="slidenum">
              <a:rPr lang="en-GB" smtClean="0"/>
              <a:t>3</a:t>
            </a:fld>
            <a:endParaRPr lang="en-GB"/>
          </a:p>
        </p:txBody>
      </p:sp>
    </p:spTree>
    <p:extLst>
      <p:ext uri="{BB962C8B-B14F-4D97-AF65-F5344CB8AC3E}">
        <p14:creationId xmlns:p14="http://schemas.microsoft.com/office/powerpoint/2010/main" val="3067709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485A1-D36F-27FA-E7F8-84C420C72B64}"/>
              </a:ext>
            </a:extLst>
          </p:cNvPr>
          <p:cNvSpPr>
            <a:spLocks noGrp="1"/>
          </p:cNvSpPr>
          <p:nvPr>
            <p:ph type="title"/>
          </p:nvPr>
        </p:nvSpPr>
        <p:spPr/>
        <p:txBody>
          <a:bodyPr/>
          <a:lstStyle/>
          <a:p>
            <a:r>
              <a:rPr lang="en-GB" dirty="0"/>
              <a:t>Course structure</a:t>
            </a:r>
          </a:p>
        </p:txBody>
      </p:sp>
      <p:sp>
        <p:nvSpPr>
          <p:cNvPr id="3" name="Content Placeholder 2">
            <a:extLst>
              <a:ext uri="{FF2B5EF4-FFF2-40B4-BE49-F238E27FC236}">
                <a16:creationId xmlns:a16="http://schemas.microsoft.com/office/drawing/2014/main" id="{F5B89938-1CAA-4766-9F08-D7B6F70DA2CD}"/>
              </a:ext>
            </a:extLst>
          </p:cNvPr>
          <p:cNvSpPr>
            <a:spLocks noGrp="1"/>
          </p:cNvSpPr>
          <p:nvPr>
            <p:ph idx="1"/>
          </p:nvPr>
        </p:nvSpPr>
        <p:spPr>
          <a:xfrm>
            <a:off x="838200" y="1545164"/>
            <a:ext cx="10515600" cy="4351338"/>
          </a:xfrm>
        </p:spPr>
        <p:txBody>
          <a:bodyPr>
            <a:normAutofit fontScale="92500" lnSpcReduction="10000"/>
          </a:bodyPr>
          <a:lstStyle/>
          <a:p>
            <a:pPr marL="12700">
              <a:lnSpc>
                <a:spcPct val="100000"/>
              </a:lnSpc>
              <a:spcBef>
                <a:spcPts val="100"/>
              </a:spcBef>
            </a:pPr>
            <a:r>
              <a:rPr lang="en-GB" b="1" spc="-5" dirty="0">
                <a:latin typeface="Arial"/>
                <a:cs typeface="Arial"/>
              </a:rPr>
              <a:t>Unit 01: Python for Data Science</a:t>
            </a:r>
            <a:endParaRPr lang="en-GB" dirty="0">
              <a:latin typeface="Arial"/>
              <a:cs typeface="Arial"/>
            </a:endParaRPr>
          </a:p>
          <a:p>
            <a:pPr marL="469265">
              <a:lnSpc>
                <a:spcPct val="100000"/>
              </a:lnSpc>
              <a:spcBef>
                <a:spcPts val="15"/>
              </a:spcBef>
            </a:pPr>
            <a:r>
              <a:rPr lang="en-GB" spc="-5" dirty="0">
                <a:latin typeface="Arial"/>
                <a:cs typeface="Arial"/>
              </a:rPr>
              <a:t>Data types, functions, </a:t>
            </a:r>
            <a:r>
              <a:rPr lang="en-GB" dirty="0" err="1">
                <a:latin typeface="Arial"/>
                <a:cs typeface="Arial"/>
              </a:rPr>
              <a:t>Jupyter</a:t>
            </a:r>
            <a:r>
              <a:rPr lang="en-GB" dirty="0">
                <a:latin typeface="Arial"/>
                <a:cs typeface="Arial"/>
              </a:rPr>
              <a:t>, classes, </a:t>
            </a:r>
            <a:r>
              <a:rPr lang="en-GB" spc="-5" dirty="0">
                <a:latin typeface="Arial"/>
                <a:cs typeface="Arial"/>
              </a:rPr>
              <a:t>objects, functional</a:t>
            </a:r>
            <a:r>
              <a:rPr lang="en-GB" spc="-85" dirty="0">
                <a:latin typeface="Arial"/>
                <a:cs typeface="Arial"/>
              </a:rPr>
              <a:t> </a:t>
            </a:r>
            <a:r>
              <a:rPr lang="en-GB" spc="-5" dirty="0">
                <a:latin typeface="Arial"/>
                <a:cs typeface="Arial"/>
              </a:rPr>
              <a:t>programming, </a:t>
            </a:r>
            <a:r>
              <a:rPr lang="en-GB" spc="-5" dirty="0" err="1">
                <a:latin typeface="Arial"/>
                <a:cs typeface="Arial"/>
              </a:rPr>
              <a:t>numpy</a:t>
            </a:r>
            <a:r>
              <a:rPr lang="en-GB" spc="-5" dirty="0">
                <a:latin typeface="Arial"/>
                <a:cs typeface="Arial"/>
              </a:rPr>
              <a:t>, </a:t>
            </a:r>
            <a:r>
              <a:rPr lang="en-GB" dirty="0" err="1">
                <a:latin typeface="Arial"/>
                <a:cs typeface="Arial"/>
              </a:rPr>
              <a:t>scipy</a:t>
            </a:r>
            <a:r>
              <a:rPr lang="en-GB" dirty="0">
                <a:latin typeface="Arial"/>
                <a:cs typeface="Arial"/>
              </a:rPr>
              <a:t>,</a:t>
            </a:r>
            <a:r>
              <a:rPr lang="en-GB" spc="-10" dirty="0">
                <a:latin typeface="Arial"/>
                <a:cs typeface="Arial"/>
              </a:rPr>
              <a:t> </a:t>
            </a:r>
            <a:r>
              <a:rPr lang="en-GB" dirty="0">
                <a:latin typeface="Arial"/>
                <a:cs typeface="Arial"/>
              </a:rPr>
              <a:t>matplotlib &amp; pandas</a:t>
            </a:r>
          </a:p>
          <a:p>
            <a:pPr marL="469265">
              <a:lnSpc>
                <a:spcPct val="100000"/>
              </a:lnSpc>
              <a:spcBef>
                <a:spcPts val="15"/>
              </a:spcBef>
            </a:pPr>
            <a:endParaRPr lang="en-GB" dirty="0">
              <a:latin typeface="Arial"/>
              <a:cs typeface="Arial"/>
            </a:endParaRPr>
          </a:p>
          <a:p>
            <a:pPr marL="469265">
              <a:lnSpc>
                <a:spcPct val="100000"/>
              </a:lnSpc>
              <a:spcBef>
                <a:spcPts val="15"/>
              </a:spcBef>
            </a:pPr>
            <a:r>
              <a:rPr lang="en-GB" dirty="0">
                <a:latin typeface="Arial"/>
                <a:cs typeface="Arial"/>
              </a:rPr>
              <a:t>Estimated time: 3 weeks</a:t>
            </a:r>
          </a:p>
          <a:p>
            <a:pPr marL="469265">
              <a:lnSpc>
                <a:spcPct val="100000"/>
              </a:lnSpc>
              <a:spcBef>
                <a:spcPts val="15"/>
              </a:spcBef>
            </a:pPr>
            <a:endParaRPr lang="en-GB" dirty="0">
              <a:latin typeface="Arial"/>
              <a:cs typeface="Arial"/>
            </a:endParaRPr>
          </a:p>
          <a:p>
            <a:pPr marL="12700">
              <a:lnSpc>
                <a:spcPct val="100000"/>
              </a:lnSpc>
              <a:spcBef>
                <a:spcPts val="990"/>
              </a:spcBef>
            </a:pPr>
            <a:r>
              <a:rPr lang="en-GB" b="1" spc="-5" dirty="0">
                <a:latin typeface="Arial"/>
                <a:cs typeface="Arial"/>
              </a:rPr>
              <a:t>Unit 02: Data Science</a:t>
            </a:r>
            <a:endParaRPr lang="en-GB" dirty="0">
              <a:latin typeface="Arial"/>
              <a:cs typeface="Arial"/>
            </a:endParaRPr>
          </a:p>
          <a:p>
            <a:pPr marL="469265">
              <a:lnSpc>
                <a:spcPct val="100000"/>
              </a:lnSpc>
              <a:spcBef>
                <a:spcPts val="15"/>
              </a:spcBef>
            </a:pPr>
            <a:r>
              <a:rPr lang="en-GB" dirty="0">
                <a:latin typeface="Arial"/>
                <a:cs typeface="Arial"/>
              </a:rPr>
              <a:t>Exploring Data Science with its implementation in Python programming language</a:t>
            </a:r>
          </a:p>
          <a:p>
            <a:pPr marL="469265">
              <a:spcBef>
                <a:spcPts val="15"/>
              </a:spcBef>
            </a:pPr>
            <a:endParaRPr lang="en-GB" dirty="0">
              <a:latin typeface="Arial"/>
              <a:cs typeface="Arial"/>
            </a:endParaRPr>
          </a:p>
          <a:p>
            <a:pPr marL="469265">
              <a:spcBef>
                <a:spcPts val="15"/>
              </a:spcBef>
            </a:pPr>
            <a:r>
              <a:rPr lang="en-GB" dirty="0">
                <a:latin typeface="Arial"/>
                <a:cs typeface="Arial"/>
              </a:rPr>
              <a:t>Estimated time: 12 weeks</a:t>
            </a:r>
          </a:p>
          <a:p>
            <a:pPr marL="469265">
              <a:lnSpc>
                <a:spcPct val="100000"/>
              </a:lnSpc>
              <a:spcBef>
                <a:spcPts val="15"/>
              </a:spcBef>
            </a:pPr>
            <a:endParaRPr lang="en-GB" dirty="0">
              <a:latin typeface="Arial"/>
              <a:cs typeface="Arial"/>
            </a:endParaRPr>
          </a:p>
          <a:p>
            <a:endParaRPr lang="en-GB" dirty="0"/>
          </a:p>
        </p:txBody>
      </p:sp>
      <p:sp>
        <p:nvSpPr>
          <p:cNvPr id="4" name="Footer Placeholder 3">
            <a:extLst>
              <a:ext uri="{FF2B5EF4-FFF2-40B4-BE49-F238E27FC236}">
                <a16:creationId xmlns:a16="http://schemas.microsoft.com/office/drawing/2014/main" id="{BB4B67D8-26A1-A2B5-996C-46A868B870AB}"/>
              </a:ext>
            </a:extLst>
          </p:cNvPr>
          <p:cNvSpPr>
            <a:spLocks noGrp="1"/>
          </p:cNvSpPr>
          <p:nvPr>
            <p:ph type="ftr" sz="quarter" idx="11"/>
          </p:nvPr>
        </p:nvSpPr>
        <p:spPr/>
        <p:txBody>
          <a:bodyPr/>
          <a:lstStyle/>
          <a:p>
            <a:r>
              <a:rPr lang="en-US"/>
              <a:t>Data Science Fall 2025</a:t>
            </a:r>
            <a:endParaRPr lang="en-GB" dirty="0"/>
          </a:p>
        </p:txBody>
      </p:sp>
      <p:sp>
        <p:nvSpPr>
          <p:cNvPr id="5" name="Slide Number Placeholder 4">
            <a:extLst>
              <a:ext uri="{FF2B5EF4-FFF2-40B4-BE49-F238E27FC236}">
                <a16:creationId xmlns:a16="http://schemas.microsoft.com/office/drawing/2014/main" id="{91A95269-469C-3362-275D-1B9A840D03FA}"/>
              </a:ext>
            </a:extLst>
          </p:cNvPr>
          <p:cNvSpPr>
            <a:spLocks noGrp="1"/>
          </p:cNvSpPr>
          <p:nvPr>
            <p:ph type="sldNum" sz="quarter" idx="12"/>
          </p:nvPr>
        </p:nvSpPr>
        <p:spPr/>
        <p:txBody>
          <a:bodyPr/>
          <a:lstStyle/>
          <a:p>
            <a:fld id="{1BEB7A16-2A17-4549-A1D9-B9B2F7AEB8FC}" type="slidenum">
              <a:rPr lang="en-GB" smtClean="0"/>
              <a:t>4</a:t>
            </a:fld>
            <a:endParaRPr lang="en-GB"/>
          </a:p>
        </p:txBody>
      </p:sp>
    </p:spTree>
    <p:extLst>
      <p:ext uri="{BB962C8B-B14F-4D97-AF65-F5344CB8AC3E}">
        <p14:creationId xmlns:p14="http://schemas.microsoft.com/office/powerpoint/2010/main" val="1052484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6D1A2-3AB2-BAAA-D417-515DDA372A3A}"/>
              </a:ext>
            </a:extLst>
          </p:cNvPr>
          <p:cNvSpPr>
            <a:spLocks noGrp="1"/>
          </p:cNvSpPr>
          <p:nvPr>
            <p:ph type="title"/>
          </p:nvPr>
        </p:nvSpPr>
        <p:spPr/>
        <p:txBody>
          <a:bodyPr/>
          <a:lstStyle/>
          <a:p>
            <a:r>
              <a:rPr lang="en-GB" dirty="0"/>
              <a:t>Prerequisites</a:t>
            </a:r>
          </a:p>
        </p:txBody>
      </p:sp>
      <p:sp>
        <p:nvSpPr>
          <p:cNvPr id="3" name="Content Placeholder 2">
            <a:extLst>
              <a:ext uri="{FF2B5EF4-FFF2-40B4-BE49-F238E27FC236}">
                <a16:creationId xmlns:a16="http://schemas.microsoft.com/office/drawing/2014/main" id="{DDAC4C7E-7DA0-81B2-F640-B44F6F94A74E}"/>
              </a:ext>
            </a:extLst>
          </p:cNvPr>
          <p:cNvSpPr>
            <a:spLocks noGrp="1"/>
          </p:cNvSpPr>
          <p:nvPr>
            <p:ph idx="1"/>
          </p:nvPr>
        </p:nvSpPr>
        <p:spPr>
          <a:xfrm>
            <a:off x="838200" y="1545164"/>
            <a:ext cx="10515600" cy="4351338"/>
          </a:xfrm>
        </p:spPr>
        <p:txBody>
          <a:bodyPr/>
          <a:lstStyle/>
          <a:p>
            <a:pPr>
              <a:lnSpc>
                <a:spcPct val="100000"/>
              </a:lnSpc>
              <a:spcBef>
                <a:spcPts val="100"/>
              </a:spcBef>
            </a:pPr>
            <a:r>
              <a:rPr lang="en-US" dirty="0">
                <a:latin typeface="Arial"/>
                <a:cs typeface="Arial"/>
              </a:rPr>
              <a:t>I </a:t>
            </a:r>
            <a:r>
              <a:rPr lang="en-US" spc="-5" dirty="0">
                <a:latin typeface="Arial"/>
                <a:cs typeface="Arial"/>
              </a:rPr>
              <a:t>assume that </a:t>
            </a:r>
            <a:r>
              <a:rPr lang="en-US" dirty="0">
                <a:latin typeface="Arial"/>
                <a:cs typeface="Arial"/>
              </a:rPr>
              <a:t>you </a:t>
            </a:r>
            <a:r>
              <a:rPr lang="en-US" spc="-5" dirty="0">
                <a:latin typeface="Arial"/>
                <a:cs typeface="Arial"/>
              </a:rPr>
              <a:t>have </a:t>
            </a:r>
            <a:r>
              <a:rPr lang="en-US" i="1" dirty="0">
                <a:latin typeface="Arial"/>
                <a:cs typeface="Arial"/>
              </a:rPr>
              <a:t>some </a:t>
            </a:r>
            <a:r>
              <a:rPr lang="en-US" spc="-5" dirty="0">
                <a:latin typeface="Arial"/>
                <a:cs typeface="Arial"/>
              </a:rPr>
              <a:t>background in programming and</a:t>
            </a:r>
            <a:r>
              <a:rPr lang="en-US" spc="-55" dirty="0">
                <a:latin typeface="Arial"/>
                <a:cs typeface="Arial"/>
              </a:rPr>
              <a:t> </a:t>
            </a:r>
            <a:r>
              <a:rPr lang="en-US" dirty="0">
                <a:latin typeface="Arial"/>
                <a:cs typeface="Arial"/>
              </a:rPr>
              <a:t>statistics</a:t>
            </a:r>
          </a:p>
          <a:p>
            <a:pPr>
              <a:lnSpc>
                <a:spcPct val="100000"/>
              </a:lnSpc>
              <a:spcBef>
                <a:spcPts val="50"/>
              </a:spcBef>
            </a:pPr>
            <a:endParaRPr lang="en-US" sz="2400" dirty="0">
              <a:latin typeface="Arial"/>
              <a:cs typeface="Arial"/>
            </a:endParaRPr>
          </a:p>
          <a:p>
            <a:pPr>
              <a:lnSpc>
                <a:spcPct val="100000"/>
              </a:lnSpc>
            </a:pPr>
            <a:r>
              <a:rPr lang="en-US" spc="-5" dirty="0">
                <a:latin typeface="Arial"/>
                <a:cs typeface="Arial"/>
              </a:rPr>
              <a:t>Come </a:t>
            </a:r>
            <a:r>
              <a:rPr lang="en-US" dirty="0">
                <a:latin typeface="Arial"/>
                <a:cs typeface="Arial"/>
              </a:rPr>
              <a:t>speak </a:t>
            </a:r>
            <a:r>
              <a:rPr lang="en-US" spc="-5" dirty="0">
                <a:latin typeface="Arial"/>
                <a:cs typeface="Arial"/>
              </a:rPr>
              <a:t>to </a:t>
            </a:r>
            <a:r>
              <a:rPr lang="en-US" dirty="0">
                <a:latin typeface="Arial"/>
                <a:cs typeface="Arial"/>
              </a:rPr>
              <a:t>me</a:t>
            </a:r>
            <a:r>
              <a:rPr lang="en-US" spc="-15" dirty="0">
                <a:latin typeface="Arial"/>
                <a:cs typeface="Arial"/>
              </a:rPr>
              <a:t> </a:t>
            </a:r>
            <a:r>
              <a:rPr lang="en-US" spc="-5" dirty="0">
                <a:latin typeface="Arial"/>
                <a:cs typeface="Arial"/>
              </a:rPr>
              <a:t>if:</a:t>
            </a:r>
            <a:endParaRPr lang="en-US" dirty="0">
              <a:latin typeface="Arial"/>
              <a:cs typeface="Arial"/>
            </a:endParaRPr>
          </a:p>
          <a:p>
            <a:pPr marL="1017270" indent="-457200">
              <a:lnSpc>
                <a:spcPct val="100000"/>
              </a:lnSpc>
              <a:spcBef>
                <a:spcPts val="15"/>
              </a:spcBef>
              <a:tabLst>
                <a:tab pos="926465" algn="l"/>
                <a:tab pos="927100" algn="l"/>
              </a:tabLst>
            </a:pPr>
            <a:r>
              <a:rPr lang="en-US" spc="-5" dirty="0">
                <a:latin typeface="Arial"/>
                <a:cs typeface="Arial"/>
              </a:rPr>
              <a:t>this is </a:t>
            </a:r>
            <a:r>
              <a:rPr lang="en-US" dirty="0">
                <a:latin typeface="Arial"/>
                <a:cs typeface="Arial"/>
              </a:rPr>
              <a:t>your </a:t>
            </a:r>
            <a:r>
              <a:rPr lang="en-US" spc="-5" dirty="0">
                <a:latin typeface="Arial"/>
                <a:cs typeface="Arial"/>
              </a:rPr>
              <a:t>first programming</a:t>
            </a:r>
            <a:r>
              <a:rPr lang="en-US" spc="-20" dirty="0">
                <a:latin typeface="Arial"/>
                <a:cs typeface="Arial"/>
              </a:rPr>
              <a:t> </a:t>
            </a:r>
            <a:r>
              <a:rPr lang="en-US" dirty="0">
                <a:latin typeface="Arial"/>
                <a:cs typeface="Arial"/>
              </a:rPr>
              <a:t>course</a:t>
            </a:r>
          </a:p>
          <a:p>
            <a:pPr marL="1017270" indent="-457200">
              <a:lnSpc>
                <a:spcPct val="100000"/>
              </a:lnSpc>
              <a:spcBef>
                <a:spcPts val="15"/>
              </a:spcBef>
              <a:tabLst>
                <a:tab pos="926465" algn="l"/>
                <a:tab pos="927100" algn="l"/>
              </a:tabLst>
            </a:pPr>
            <a:r>
              <a:rPr lang="en-US" dirty="0">
                <a:latin typeface="Arial"/>
                <a:cs typeface="Arial"/>
              </a:rPr>
              <a:t>you </a:t>
            </a:r>
            <a:r>
              <a:rPr lang="en-US" spc="-5" dirty="0">
                <a:latin typeface="Arial"/>
                <a:cs typeface="Arial"/>
              </a:rPr>
              <a:t>have never taken </a:t>
            </a:r>
            <a:r>
              <a:rPr lang="en-US" dirty="0">
                <a:latin typeface="Arial"/>
                <a:cs typeface="Arial"/>
              </a:rPr>
              <a:t>a </a:t>
            </a:r>
            <a:r>
              <a:rPr lang="en-US" spc="-5" dirty="0">
                <a:latin typeface="Arial"/>
                <a:cs typeface="Arial"/>
              </a:rPr>
              <a:t>probability or </a:t>
            </a:r>
            <a:r>
              <a:rPr lang="en-US" dirty="0">
                <a:latin typeface="Arial"/>
                <a:cs typeface="Arial"/>
              </a:rPr>
              <a:t>statistics</a:t>
            </a:r>
            <a:r>
              <a:rPr lang="en-US" spc="-45" dirty="0">
                <a:latin typeface="Arial"/>
                <a:cs typeface="Arial"/>
              </a:rPr>
              <a:t> </a:t>
            </a:r>
            <a:r>
              <a:rPr lang="en-US" dirty="0">
                <a:latin typeface="Arial"/>
                <a:cs typeface="Arial"/>
              </a:rPr>
              <a:t>course</a:t>
            </a:r>
          </a:p>
          <a:p>
            <a:pPr>
              <a:lnSpc>
                <a:spcPct val="100000"/>
              </a:lnSpc>
              <a:spcBef>
                <a:spcPts val="5"/>
              </a:spcBef>
              <a:buClr>
                <a:srgbClr val="595959"/>
              </a:buClr>
            </a:pPr>
            <a:endParaRPr lang="en-US" sz="3200" dirty="0">
              <a:latin typeface="Arial"/>
              <a:cs typeface="Arial"/>
            </a:endParaRPr>
          </a:p>
          <a:p>
            <a:pPr>
              <a:lnSpc>
                <a:spcPct val="100000"/>
              </a:lnSpc>
            </a:pPr>
            <a:r>
              <a:rPr lang="en-US" spc="-5" dirty="0">
                <a:latin typeface="Arial"/>
                <a:cs typeface="Arial"/>
              </a:rPr>
              <a:t>This </a:t>
            </a:r>
            <a:r>
              <a:rPr lang="en-US" dirty="0">
                <a:latin typeface="Arial"/>
                <a:cs typeface="Arial"/>
              </a:rPr>
              <a:t>course </a:t>
            </a:r>
            <a:r>
              <a:rPr lang="en-US" spc="-5" dirty="0">
                <a:latin typeface="Arial"/>
                <a:cs typeface="Arial"/>
              </a:rPr>
              <a:t>is probably not for </a:t>
            </a:r>
            <a:r>
              <a:rPr lang="en-US" dirty="0">
                <a:latin typeface="Arial"/>
                <a:cs typeface="Arial"/>
              </a:rPr>
              <a:t>you</a:t>
            </a:r>
            <a:r>
              <a:rPr lang="en-US" spc="-20" dirty="0">
                <a:latin typeface="Arial"/>
                <a:cs typeface="Arial"/>
              </a:rPr>
              <a:t> </a:t>
            </a:r>
            <a:r>
              <a:rPr lang="en-US" spc="-5" dirty="0">
                <a:latin typeface="Arial"/>
                <a:cs typeface="Arial"/>
              </a:rPr>
              <a:t>if:</a:t>
            </a:r>
            <a:endParaRPr lang="en-US" dirty="0">
              <a:latin typeface="Arial"/>
              <a:cs typeface="Arial"/>
            </a:endParaRPr>
          </a:p>
          <a:p>
            <a:pPr marL="1017270" indent="-457200">
              <a:lnSpc>
                <a:spcPct val="100000"/>
              </a:lnSpc>
              <a:spcBef>
                <a:spcPts val="15"/>
              </a:spcBef>
              <a:tabLst>
                <a:tab pos="926465" algn="l"/>
                <a:tab pos="927100" algn="l"/>
              </a:tabLst>
            </a:pPr>
            <a:r>
              <a:rPr lang="en-US" dirty="0">
                <a:latin typeface="Arial"/>
                <a:cs typeface="Arial"/>
              </a:rPr>
              <a:t>you </a:t>
            </a:r>
            <a:r>
              <a:rPr lang="en-US" spc="-5" dirty="0">
                <a:latin typeface="Arial"/>
                <a:cs typeface="Arial"/>
              </a:rPr>
              <a:t>have no programming</a:t>
            </a:r>
            <a:r>
              <a:rPr lang="en-US" spc="-20" dirty="0">
                <a:latin typeface="Arial"/>
                <a:cs typeface="Arial"/>
              </a:rPr>
              <a:t> </a:t>
            </a:r>
            <a:r>
              <a:rPr lang="en-US" spc="-5" dirty="0">
                <a:latin typeface="Arial"/>
                <a:cs typeface="Arial"/>
              </a:rPr>
              <a:t>background</a:t>
            </a:r>
            <a:endParaRPr lang="en-US" dirty="0">
              <a:latin typeface="Arial"/>
              <a:cs typeface="Arial"/>
            </a:endParaRPr>
          </a:p>
          <a:p>
            <a:endParaRPr lang="en-GB" dirty="0"/>
          </a:p>
        </p:txBody>
      </p:sp>
      <p:sp>
        <p:nvSpPr>
          <p:cNvPr id="4" name="Footer Placeholder 3">
            <a:extLst>
              <a:ext uri="{FF2B5EF4-FFF2-40B4-BE49-F238E27FC236}">
                <a16:creationId xmlns:a16="http://schemas.microsoft.com/office/drawing/2014/main" id="{16E8FED3-61B2-F919-E3E7-8FECCCC5FC1F}"/>
              </a:ext>
            </a:extLst>
          </p:cNvPr>
          <p:cNvSpPr>
            <a:spLocks noGrp="1"/>
          </p:cNvSpPr>
          <p:nvPr>
            <p:ph type="ftr" sz="quarter" idx="11"/>
          </p:nvPr>
        </p:nvSpPr>
        <p:spPr/>
        <p:txBody>
          <a:bodyPr/>
          <a:lstStyle/>
          <a:p>
            <a:r>
              <a:rPr lang="en-US"/>
              <a:t>Data Science Fall 2025</a:t>
            </a:r>
            <a:endParaRPr lang="en-GB" dirty="0"/>
          </a:p>
        </p:txBody>
      </p:sp>
      <p:sp>
        <p:nvSpPr>
          <p:cNvPr id="5" name="Slide Number Placeholder 4">
            <a:extLst>
              <a:ext uri="{FF2B5EF4-FFF2-40B4-BE49-F238E27FC236}">
                <a16:creationId xmlns:a16="http://schemas.microsoft.com/office/drawing/2014/main" id="{50E5178C-7390-4DE0-F02C-FA76A639B0A9}"/>
              </a:ext>
            </a:extLst>
          </p:cNvPr>
          <p:cNvSpPr>
            <a:spLocks noGrp="1"/>
          </p:cNvSpPr>
          <p:nvPr>
            <p:ph type="sldNum" sz="quarter" idx="12"/>
          </p:nvPr>
        </p:nvSpPr>
        <p:spPr/>
        <p:txBody>
          <a:bodyPr/>
          <a:lstStyle/>
          <a:p>
            <a:fld id="{1BEB7A16-2A17-4549-A1D9-B9B2F7AEB8FC}" type="slidenum">
              <a:rPr lang="en-GB" smtClean="0"/>
              <a:t>5</a:t>
            </a:fld>
            <a:endParaRPr lang="en-GB"/>
          </a:p>
        </p:txBody>
      </p:sp>
    </p:spTree>
    <p:extLst>
      <p:ext uri="{BB962C8B-B14F-4D97-AF65-F5344CB8AC3E}">
        <p14:creationId xmlns:p14="http://schemas.microsoft.com/office/powerpoint/2010/main" val="2039262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108B9-C575-EB1A-0126-68279B7AD39A}"/>
              </a:ext>
            </a:extLst>
          </p:cNvPr>
          <p:cNvSpPr>
            <a:spLocks noGrp="1"/>
          </p:cNvSpPr>
          <p:nvPr>
            <p:ph type="title"/>
          </p:nvPr>
        </p:nvSpPr>
        <p:spPr>
          <a:xfrm>
            <a:off x="-1" y="1"/>
            <a:ext cx="12192001" cy="990600"/>
          </a:xfrm>
        </p:spPr>
        <p:txBody>
          <a:bodyPr anchor="ctr">
            <a:normAutofit/>
          </a:bodyPr>
          <a:lstStyle/>
          <a:p>
            <a:r>
              <a:rPr lang="en-GB" dirty="0"/>
              <a:t>Course information</a:t>
            </a:r>
          </a:p>
        </p:txBody>
      </p:sp>
      <p:pic>
        <p:nvPicPr>
          <p:cNvPr id="8" name="Picture 7" descr="A book cover with a crab&#10;&#10;AI-generated content may be incorrect.">
            <a:extLst>
              <a:ext uri="{FF2B5EF4-FFF2-40B4-BE49-F238E27FC236}">
                <a16:creationId xmlns:a16="http://schemas.microsoft.com/office/drawing/2014/main" id="{D9B0826B-6B1A-8BDD-6105-464FB9798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990601"/>
            <a:ext cx="3820887" cy="4994624"/>
          </a:xfrm>
          <a:prstGeom prst="rect">
            <a:avLst/>
          </a:prstGeom>
          <a:noFill/>
        </p:spPr>
      </p:pic>
      <p:sp>
        <p:nvSpPr>
          <p:cNvPr id="3" name="Content Placeholder 2">
            <a:extLst>
              <a:ext uri="{FF2B5EF4-FFF2-40B4-BE49-F238E27FC236}">
                <a16:creationId xmlns:a16="http://schemas.microsoft.com/office/drawing/2014/main" id="{4B59A33E-1F88-EE40-C215-4E5A50A3B344}"/>
              </a:ext>
            </a:extLst>
          </p:cNvPr>
          <p:cNvSpPr>
            <a:spLocks noGrp="1"/>
          </p:cNvSpPr>
          <p:nvPr>
            <p:ph sz="half" idx="2"/>
          </p:nvPr>
        </p:nvSpPr>
        <p:spPr>
          <a:xfrm>
            <a:off x="4800600" y="1107168"/>
            <a:ext cx="7151914" cy="5141232"/>
          </a:xfrm>
        </p:spPr>
        <p:txBody>
          <a:bodyPr>
            <a:normAutofit/>
          </a:bodyPr>
          <a:lstStyle/>
          <a:p>
            <a:pPr marL="12700">
              <a:spcBef>
                <a:spcPts val="100"/>
              </a:spcBef>
            </a:pPr>
            <a:r>
              <a:rPr lang="en-US" sz="2400" b="1" spc="-5" dirty="0"/>
              <a:t>Textbooks for Data Science:</a:t>
            </a:r>
            <a:endParaRPr lang="en-US" sz="2400" dirty="0"/>
          </a:p>
          <a:p>
            <a:pPr marL="927100" indent="-367030">
              <a:spcBef>
                <a:spcPts val="15"/>
              </a:spcBef>
              <a:buFont typeface="Arial" panose="020B0604020202020204" pitchFamily="34" charset="0"/>
              <a:buChar char="●"/>
              <a:tabLst>
                <a:tab pos="926465" algn="l"/>
                <a:tab pos="927100" algn="l"/>
              </a:tabLst>
            </a:pPr>
            <a:r>
              <a:rPr lang="en-US" sz="2400" b="1" spc="-5" dirty="0">
                <a:solidFill>
                  <a:srgbClr val="7030A0"/>
                </a:solidFill>
              </a:rPr>
              <a:t>Practical Statistics for Data Scientists By </a:t>
            </a:r>
            <a:r>
              <a:rPr lang="en-US" sz="2400" b="1" spc="-5" dirty="0" err="1">
                <a:solidFill>
                  <a:srgbClr val="7030A0"/>
                </a:solidFill>
              </a:rPr>
              <a:t>by</a:t>
            </a:r>
            <a:r>
              <a:rPr lang="en-US" sz="2400" b="1" spc="-5" dirty="0">
                <a:solidFill>
                  <a:srgbClr val="7030A0"/>
                </a:solidFill>
              </a:rPr>
              <a:t> Peter Bruce, Andrew Bruce, and Peter </a:t>
            </a:r>
            <a:r>
              <a:rPr lang="en-US" sz="2400" b="1" spc="-5" dirty="0" err="1">
                <a:solidFill>
                  <a:srgbClr val="7030A0"/>
                </a:solidFill>
              </a:rPr>
              <a:t>Gedeck</a:t>
            </a:r>
            <a:endParaRPr lang="en-US" sz="2400" b="1" spc="-5" dirty="0">
              <a:solidFill>
                <a:srgbClr val="7030A0"/>
              </a:solidFill>
            </a:endParaRPr>
          </a:p>
          <a:p>
            <a:pPr marL="927100" indent="-367030">
              <a:spcBef>
                <a:spcPts val="15"/>
              </a:spcBef>
              <a:buChar char="●"/>
              <a:tabLst>
                <a:tab pos="926465" algn="l"/>
                <a:tab pos="927100" algn="l"/>
              </a:tabLst>
            </a:pPr>
            <a:r>
              <a:rPr lang="en-US" sz="2400" spc="-5" dirty="0"/>
              <a:t>Introduction to Data Science By Davy </a:t>
            </a:r>
            <a:r>
              <a:rPr lang="en-US" sz="2400" spc="-5" dirty="0" err="1"/>
              <a:t>Cielen</a:t>
            </a:r>
            <a:endParaRPr lang="en-US" sz="2400" spc="-5" dirty="0"/>
          </a:p>
          <a:p>
            <a:pPr marL="12700">
              <a:spcBef>
                <a:spcPts val="100"/>
              </a:spcBef>
            </a:pPr>
            <a:r>
              <a:rPr lang="en-US" sz="2400" b="1" spc="-5" dirty="0"/>
              <a:t>Textbooks and links for Python:</a:t>
            </a:r>
            <a:endParaRPr lang="en-US" sz="2400" dirty="0"/>
          </a:p>
          <a:p>
            <a:pPr marL="927100" indent="-367030">
              <a:spcBef>
                <a:spcPts val="15"/>
              </a:spcBef>
              <a:buChar char="●"/>
              <a:tabLst>
                <a:tab pos="926465" algn="l"/>
                <a:tab pos="927100" algn="l"/>
              </a:tabLst>
            </a:pPr>
            <a:r>
              <a:rPr lang="en-US" sz="2400" spc="-5" dirty="0"/>
              <a:t>Python for Data Analysis by Wes McKinney</a:t>
            </a:r>
          </a:p>
          <a:p>
            <a:pPr marL="927100" indent="-367030">
              <a:spcBef>
                <a:spcPts val="15"/>
              </a:spcBef>
              <a:buChar char="●"/>
              <a:tabLst>
                <a:tab pos="926465" algn="l"/>
                <a:tab pos="927100" algn="l"/>
              </a:tabLst>
            </a:pPr>
            <a:r>
              <a:rPr lang="en-US" sz="2400" spc="-5" dirty="0">
                <a:solidFill>
                  <a:srgbClr val="0563C1"/>
                </a:solidFill>
                <a:hlinkClick r:id="rId3"/>
              </a:rPr>
              <a:t>w3schools</a:t>
            </a:r>
            <a:endParaRPr lang="en-US" sz="2400" spc="-5" dirty="0"/>
          </a:p>
          <a:p>
            <a:pPr marL="927100" indent="-367030">
              <a:spcBef>
                <a:spcPts val="15"/>
              </a:spcBef>
              <a:buChar char="●"/>
              <a:tabLst>
                <a:tab pos="926465" algn="l"/>
                <a:tab pos="927100" algn="l"/>
              </a:tabLst>
            </a:pPr>
            <a:endParaRPr lang="en-US" sz="2400" spc="-5" dirty="0">
              <a:solidFill>
                <a:srgbClr val="0563C1"/>
              </a:solidFill>
              <a:hlinkClick r:id="rId4">
                <a:extLst>
                  <a:ext uri="{A12FA001-AC4F-418D-AE19-62706E023703}">
                    <ahyp:hlinkClr xmlns:ahyp="http://schemas.microsoft.com/office/drawing/2018/hyperlinkcolor" val="tx"/>
                  </a:ext>
                </a:extLst>
              </a:hlinkClick>
            </a:endParaRPr>
          </a:p>
          <a:p>
            <a:pPr marL="927100" indent="-367030">
              <a:spcBef>
                <a:spcPts val="15"/>
              </a:spcBef>
              <a:buChar char="●"/>
              <a:tabLst>
                <a:tab pos="926465" algn="l"/>
                <a:tab pos="927100" algn="l"/>
              </a:tabLst>
            </a:pPr>
            <a:r>
              <a:rPr lang="en-US" sz="2400" spc="-5" dirty="0" err="1">
                <a:solidFill>
                  <a:srgbClr val="0563C1"/>
                </a:solidFill>
                <a:hlinkClick r:id="rId4"/>
              </a:rPr>
              <a:t>geeksforgeeks</a:t>
            </a:r>
            <a:endParaRPr lang="en-US" sz="2400" spc="-5" dirty="0">
              <a:solidFill>
                <a:srgbClr val="0563C1"/>
              </a:solidFill>
            </a:endParaRPr>
          </a:p>
          <a:p>
            <a:pPr marL="927100" indent="-367030">
              <a:spcBef>
                <a:spcPts val="15"/>
              </a:spcBef>
              <a:buChar char="●"/>
              <a:tabLst>
                <a:tab pos="926465" algn="l"/>
                <a:tab pos="927100" algn="l"/>
              </a:tabLst>
            </a:pPr>
            <a:endParaRPr lang="en-US" sz="2400" spc="-5" dirty="0">
              <a:solidFill>
                <a:srgbClr val="0563C1"/>
              </a:solidFill>
              <a:hlinkClick r:id="rId5">
                <a:extLst>
                  <a:ext uri="{A12FA001-AC4F-418D-AE19-62706E023703}">
                    <ahyp:hlinkClr xmlns:ahyp="http://schemas.microsoft.com/office/drawing/2018/hyperlinkcolor" val="tx"/>
                  </a:ext>
                </a:extLst>
              </a:hlinkClick>
            </a:endParaRPr>
          </a:p>
          <a:p>
            <a:pPr marL="927100" indent="-367030">
              <a:spcBef>
                <a:spcPts val="15"/>
              </a:spcBef>
              <a:buChar char="●"/>
              <a:tabLst>
                <a:tab pos="926465" algn="l"/>
                <a:tab pos="927100" algn="l"/>
              </a:tabLst>
            </a:pPr>
            <a:r>
              <a:rPr lang="en-US" sz="2400" spc="-5" dirty="0" err="1">
                <a:solidFill>
                  <a:srgbClr val="0563C1"/>
                </a:solidFill>
                <a:hlinkClick r:id="rId5"/>
              </a:rPr>
              <a:t>ProgrammingwithMosh</a:t>
            </a:r>
            <a:endParaRPr lang="en-US" sz="2400" spc="-5" dirty="0">
              <a:solidFill>
                <a:srgbClr val="FF0000"/>
              </a:solidFill>
            </a:endParaRPr>
          </a:p>
          <a:p>
            <a:pPr marL="927100" indent="-367030">
              <a:spcBef>
                <a:spcPts val="15"/>
              </a:spcBef>
              <a:buChar char="●"/>
              <a:tabLst>
                <a:tab pos="926465" algn="l"/>
                <a:tab pos="927100" algn="l"/>
              </a:tabLst>
            </a:pPr>
            <a:endParaRPr lang="en-US" sz="2400" spc="-5" dirty="0"/>
          </a:p>
          <a:p>
            <a:pPr marL="927100" indent="-367030">
              <a:spcBef>
                <a:spcPts val="15"/>
              </a:spcBef>
              <a:buChar char="●"/>
              <a:tabLst>
                <a:tab pos="926465" algn="l"/>
                <a:tab pos="927100" algn="l"/>
              </a:tabLst>
            </a:pPr>
            <a:endParaRPr lang="en-US" sz="2400" spc="-5" dirty="0"/>
          </a:p>
          <a:p>
            <a:pPr marL="927100" indent="-367030">
              <a:spcBef>
                <a:spcPts val="15"/>
              </a:spcBef>
              <a:buChar char="●"/>
              <a:tabLst>
                <a:tab pos="926465" algn="l"/>
                <a:tab pos="927100" algn="l"/>
              </a:tabLst>
            </a:pPr>
            <a:endParaRPr lang="en-US" sz="2400" spc="-5" dirty="0"/>
          </a:p>
          <a:p>
            <a:pPr marL="560070">
              <a:spcBef>
                <a:spcPts val="15"/>
              </a:spcBef>
              <a:tabLst>
                <a:tab pos="926465" algn="l"/>
                <a:tab pos="927100" algn="l"/>
              </a:tabLst>
            </a:pPr>
            <a:endParaRPr lang="en-US" sz="2400" spc="-5" dirty="0"/>
          </a:p>
          <a:p>
            <a:endParaRPr lang="en-GB" sz="2400" dirty="0"/>
          </a:p>
        </p:txBody>
      </p:sp>
      <p:sp>
        <p:nvSpPr>
          <p:cNvPr id="4" name="Footer Placeholder 3">
            <a:extLst>
              <a:ext uri="{FF2B5EF4-FFF2-40B4-BE49-F238E27FC236}">
                <a16:creationId xmlns:a16="http://schemas.microsoft.com/office/drawing/2014/main" id="{09DF29DD-3009-557C-D0CC-186C440C009E}"/>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Data Science Fall 2025</a:t>
            </a:r>
            <a:endParaRPr lang="en-GB"/>
          </a:p>
        </p:txBody>
      </p:sp>
      <p:sp>
        <p:nvSpPr>
          <p:cNvPr id="5" name="Slide Number Placeholder 4">
            <a:extLst>
              <a:ext uri="{FF2B5EF4-FFF2-40B4-BE49-F238E27FC236}">
                <a16:creationId xmlns:a16="http://schemas.microsoft.com/office/drawing/2014/main" id="{13A2D7AE-0E2B-BFFF-5B38-7F99CD634EF6}"/>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1BEB7A16-2A17-4549-A1D9-B9B2F7AEB8FC}" type="slidenum">
              <a:rPr lang="en-GB" smtClean="0"/>
              <a:pPr>
                <a:spcAft>
                  <a:spcPts val="600"/>
                </a:spcAft>
              </a:pPr>
              <a:t>6</a:t>
            </a:fld>
            <a:endParaRPr lang="en-GB"/>
          </a:p>
        </p:txBody>
      </p:sp>
    </p:spTree>
    <p:extLst>
      <p:ext uri="{BB962C8B-B14F-4D97-AF65-F5344CB8AC3E}">
        <p14:creationId xmlns:p14="http://schemas.microsoft.com/office/powerpoint/2010/main" val="3460813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GB"/>
              <a:t>Commitment</a:t>
            </a:r>
          </a:p>
        </p:txBody>
      </p:sp>
      <p:sp>
        <p:nvSpPr>
          <p:cNvPr id="5123" name="Rectangle 3"/>
          <p:cNvSpPr>
            <a:spLocks noGrp="1" noChangeArrowheads="1"/>
          </p:cNvSpPr>
          <p:nvPr>
            <p:ph sz="quarter" idx="1"/>
          </p:nvPr>
        </p:nvSpPr>
        <p:spPr>
          <a:xfrm>
            <a:off x="740229" y="1920874"/>
            <a:ext cx="8229600" cy="4937125"/>
          </a:xfrm>
        </p:spPr>
        <p:txBody>
          <a:bodyPr>
            <a:normAutofit/>
          </a:bodyPr>
          <a:lstStyle/>
          <a:p>
            <a:pPr eaLnBrk="1" hangingPunct="1"/>
            <a:r>
              <a:rPr lang="en-GB" dirty="0">
                <a:latin typeface="Arial" panose="020B0604020202020204" pitchFamily="34" charset="0"/>
                <a:cs typeface="Arial" panose="020B0604020202020204" pitchFamily="34" charset="0"/>
              </a:rPr>
              <a:t>Weekly 3-hour lectures </a:t>
            </a:r>
          </a:p>
          <a:p>
            <a:pPr eaLnBrk="1" hangingPunct="1"/>
            <a:r>
              <a:rPr lang="en-US" dirty="0"/>
              <a:t>Credit hours are (3+0)</a:t>
            </a:r>
          </a:p>
          <a:p>
            <a:pPr eaLnBrk="1" hangingPunct="1"/>
            <a:r>
              <a:rPr lang="en-GB" dirty="0">
                <a:latin typeface="Arial" panose="020B0604020202020204" pitchFamily="34" charset="0"/>
                <a:cs typeface="Arial" panose="020B0604020202020204" pitchFamily="34" charset="0"/>
              </a:rPr>
              <a:t>Rest of time spent:</a:t>
            </a:r>
          </a:p>
          <a:p>
            <a:pPr lvl="1" eaLnBrk="1" hangingPunct="1"/>
            <a:r>
              <a:rPr lang="en-GB" dirty="0">
                <a:latin typeface="Arial" panose="020B0604020202020204" pitchFamily="34" charset="0"/>
                <a:cs typeface="Arial" panose="020B0604020202020204" pitchFamily="34" charset="0"/>
              </a:rPr>
              <a:t>Following links in the slides, reading book</a:t>
            </a:r>
          </a:p>
          <a:p>
            <a:pPr lvl="1" eaLnBrk="1" hangingPunct="1"/>
            <a:r>
              <a:rPr lang="en-GB" dirty="0">
                <a:latin typeface="Arial" panose="020B0604020202020204" pitchFamily="34" charset="0"/>
                <a:cs typeface="Arial" panose="020B0604020202020204" pitchFamily="34" charset="0"/>
              </a:rPr>
              <a:t>Background reading</a:t>
            </a:r>
          </a:p>
          <a:p>
            <a:pPr lvl="1" eaLnBrk="1" hangingPunct="1"/>
            <a:r>
              <a:rPr lang="en-GB" dirty="0">
                <a:latin typeface="Arial" panose="020B0604020202020204" pitchFamily="34" charset="0"/>
                <a:cs typeface="Arial" panose="020B0604020202020204" pitchFamily="34" charset="0"/>
              </a:rPr>
              <a:t>Using the material/exercises provided on LMS</a:t>
            </a:r>
          </a:p>
          <a:p>
            <a:pPr lvl="1" eaLnBrk="1" hangingPunct="1"/>
            <a:endParaRPr lang="en-GB" dirty="0">
              <a:latin typeface="Arial" panose="020B0604020202020204" pitchFamily="34" charset="0"/>
              <a:cs typeface="Arial" panose="020B0604020202020204" pitchFamily="34" charset="0"/>
            </a:endParaRPr>
          </a:p>
          <a:p>
            <a:pPr eaLnBrk="1" hangingPunct="1"/>
            <a:endParaRPr lang="en-GB" dirty="0">
              <a:latin typeface="Arial" panose="020B0604020202020204" pitchFamily="34" charset="0"/>
              <a:cs typeface="Arial" panose="020B0604020202020204" pitchFamily="34" charset="0"/>
            </a:endParaRPr>
          </a:p>
          <a:p>
            <a:pPr eaLnBrk="1" hangingPunct="1"/>
            <a:endParaRPr lang="en-GB" dirty="0">
              <a:latin typeface="Arial" panose="020B0604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r>
              <a:rPr lang="en-US"/>
              <a:t>Data Science Fall 2025</a:t>
            </a:r>
            <a:endParaRPr lang="en-GB" dirty="0"/>
          </a:p>
        </p:txBody>
      </p:sp>
      <p:sp>
        <p:nvSpPr>
          <p:cNvPr id="3" name="Slide Number Placeholder 2"/>
          <p:cNvSpPr>
            <a:spLocks noGrp="1"/>
          </p:cNvSpPr>
          <p:nvPr>
            <p:ph type="sldNum" sz="quarter" idx="12"/>
          </p:nvPr>
        </p:nvSpPr>
        <p:spPr/>
        <p:txBody>
          <a:bodyPr/>
          <a:lstStyle/>
          <a:p>
            <a:fld id="{1BEB7A16-2A17-4549-A1D9-B9B2F7AEB8FC}" type="slidenum">
              <a:rPr lang="en-GB" smtClean="0"/>
              <a:t>7</a:t>
            </a:fld>
            <a:endParaRPr lang="en-GB"/>
          </a:p>
        </p:txBody>
      </p:sp>
    </p:spTree>
    <p:extLst>
      <p:ext uri="{BB962C8B-B14F-4D97-AF65-F5344CB8AC3E}">
        <p14:creationId xmlns:p14="http://schemas.microsoft.com/office/powerpoint/2010/main" val="171422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Effect transition="in" filter="fade">
                                      <p:cBhvr>
                                        <p:cTn id="7" dur="1000"/>
                                        <p:tgtEl>
                                          <p:spTgt spid="51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3">
                                            <p:txEl>
                                              <p:pRg st="1" end="1"/>
                                            </p:txEl>
                                          </p:spTgt>
                                        </p:tgtEl>
                                        <p:attrNameLst>
                                          <p:attrName>style.visibility</p:attrName>
                                        </p:attrNameLst>
                                      </p:cBhvr>
                                      <p:to>
                                        <p:strVal val="visible"/>
                                      </p:to>
                                    </p:set>
                                    <p:animEffect transition="in" filter="fade">
                                      <p:cBhvr>
                                        <p:cTn id="12" dur="1000"/>
                                        <p:tgtEl>
                                          <p:spTgt spid="51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animEffect transition="in" filter="fade">
                                      <p:cBhvr>
                                        <p:cTn id="17" dur="1000"/>
                                        <p:tgtEl>
                                          <p:spTgt spid="512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123">
                                            <p:txEl>
                                              <p:pRg st="4" end="4"/>
                                            </p:txEl>
                                          </p:spTgt>
                                        </p:tgtEl>
                                        <p:attrNameLst>
                                          <p:attrName>style.visibility</p:attrName>
                                        </p:attrNameLst>
                                      </p:cBhvr>
                                      <p:to>
                                        <p:strVal val="visible"/>
                                      </p:to>
                                    </p:set>
                                    <p:animEffect transition="in" filter="fade">
                                      <p:cBhvr>
                                        <p:cTn id="20" dur="1000"/>
                                        <p:tgtEl>
                                          <p:spTgt spid="512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animEffect transition="in" filter="fade">
                                      <p:cBhvr>
                                        <p:cTn id="23" dur="1000"/>
                                        <p:tgtEl>
                                          <p:spTgt spid="5123">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123">
                                            <p:txEl>
                                              <p:pRg st="3" end="3"/>
                                            </p:txEl>
                                          </p:spTgt>
                                        </p:tgtEl>
                                        <p:attrNameLst>
                                          <p:attrName>style.visibility</p:attrName>
                                        </p:attrNameLst>
                                      </p:cBhvr>
                                      <p:to>
                                        <p:strVal val="visible"/>
                                      </p:to>
                                    </p:set>
                                    <p:animEffect transition="in" filter="fade">
                                      <p:cBhvr>
                                        <p:cTn id="26" dur="1000"/>
                                        <p:tgtEl>
                                          <p:spTgt spid="51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BB0C8-C483-A9DD-26FB-D33CBE1FABD1}"/>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435DB4F3-8FAE-465A-6EA7-5A5F8849DC0B}"/>
              </a:ext>
            </a:extLst>
          </p:cNvPr>
          <p:cNvSpPr>
            <a:spLocks noGrp="1" noChangeArrowheads="1"/>
          </p:cNvSpPr>
          <p:nvPr>
            <p:ph type="title"/>
          </p:nvPr>
        </p:nvSpPr>
        <p:spPr/>
        <p:txBody>
          <a:bodyPr/>
          <a:lstStyle/>
          <a:p>
            <a:pPr eaLnBrk="1" hangingPunct="1"/>
            <a:r>
              <a:rPr lang="en-GB" dirty="0"/>
              <a:t>Tentative marks distribution</a:t>
            </a:r>
          </a:p>
        </p:txBody>
      </p:sp>
      <p:sp>
        <p:nvSpPr>
          <p:cNvPr id="2" name="Footer Placeholder 1">
            <a:extLst>
              <a:ext uri="{FF2B5EF4-FFF2-40B4-BE49-F238E27FC236}">
                <a16:creationId xmlns:a16="http://schemas.microsoft.com/office/drawing/2014/main" id="{BB99A7E5-692D-5A76-EC43-9D40334E1329}"/>
              </a:ext>
            </a:extLst>
          </p:cNvPr>
          <p:cNvSpPr>
            <a:spLocks noGrp="1"/>
          </p:cNvSpPr>
          <p:nvPr>
            <p:ph type="ftr" sz="quarter" idx="11"/>
          </p:nvPr>
        </p:nvSpPr>
        <p:spPr/>
        <p:txBody>
          <a:bodyPr/>
          <a:lstStyle/>
          <a:p>
            <a:r>
              <a:rPr lang="en-US"/>
              <a:t>Data Science Fall 2025</a:t>
            </a:r>
            <a:endParaRPr lang="en-GB" dirty="0"/>
          </a:p>
        </p:txBody>
      </p:sp>
      <p:sp>
        <p:nvSpPr>
          <p:cNvPr id="3" name="Slide Number Placeholder 2">
            <a:extLst>
              <a:ext uri="{FF2B5EF4-FFF2-40B4-BE49-F238E27FC236}">
                <a16:creationId xmlns:a16="http://schemas.microsoft.com/office/drawing/2014/main" id="{D9930A04-646A-D1F6-D32A-CA3AB3357641}"/>
              </a:ext>
            </a:extLst>
          </p:cNvPr>
          <p:cNvSpPr>
            <a:spLocks noGrp="1"/>
          </p:cNvSpPr>
          <p:nvPr>
            <p:ph type="sldNum" sz="quarter" idx="12"/>
          </p:nvPr>
        </p:nvSpPr>
        <p:spPr/>
        <p:txBody>
          <a:bodyPr/>
          <a:lstStyle/>
          <a:p>
            <a:fld id="{1BEB7A16-2A17-4549-A1D9-B9B2F7AEB8FC}" type="slidenum">
              <a:rPr lang="en-GB" smtClean="0"/>
              <a:t>8</a:t>
            </a:fld>
            <a:endParaRPr lang="en-GB"/>
          </a:p>
        </p:txBody>
      </p:sp>
      <p:graphicFrame>
        <p:nvGraphicFramePr>
          <p:cNvPr id="7" name="Table 6">
            <a:extLst>
              <a:ext uri="{FF2B5EF4-FFF2-40B4-BE49-F238E27FC236}">
                <a16:creationId xmlns:a16="http://schemas.microsoft.com/office/drawing/2014/main" id="{70291FCC-C5CF-10AE-3473-01D03BFB81DE}"/>
              </a:ext>
            </a:extLst>
          </p:cNvPr>
          <p:cNvGraphicFramePr>
            <a:graphicFrameLocks noGrp="1"/>
          </p:cNvGraphicFramePr>
          <p:nvPr>
            <p:extLst>
              <p:ext uri="{D42A27DB-BD31-4B8C-83A1-F6EECF244321}">
                <p14:modId xmlns:p14="http://schemas.microsoft.com/office/powerpoint/2010/main" val="449056018"/>
              </p:ext>
            </p:extLst>
          </p:nvPr>
        </p:nvGraphicFramePr>
        <p:xfrm>
          <a:off x="2383970" y="1817763"/>
          <a:ext cx="6705601" cy="3974122"/>
        </p:xfrm>
        <a:graphic>
          <a:graphicData uri="http://schemas.openxmlformats.org/drawingml/2006/table">
            <a:tbl>
              <a:tblPr firstRow="1" bandRow="1">
                <a:tableStyleId>{5C22544A-7EE6-4342-B048-85BDC9FD1C3A}</a:tableStyleId>
              </a:tblPr>
              <a:tblGrid>
                <a:gridCol w="5466534">
                  <a:extLst>
                    <a:ext uri="{9D8B030D-6E8A-4147-A177-3AD203B41FA5}">
                      <a16:colId xmlns:a16="http://schemas.microsoft.com/office/drawing/2014/main" val="20000"/>
                    </a:ext>
                  </a:extLst>
                </a:gridCol>
                <a:gridCol w="1239067">
                  <a:extLst>
                    <a:ext uri="{9D8B030D-6E8A-4147-A177-3AD203B41FA5}">
                      <a16:colId xmlns:a16="http://schemas.microsoft.com/office/drawing/2014/main" val="20001"/>
                    </a:ext>
                  </a:extLst>
                </a:gridCol>
              </a:tblGrid>
              <a:tr h="484757">
                <a:tc>
                  <a:txBody>
                    <a:bodyPr/>
                    <a:lstStyle/>
                    <a:p>
                      <a:r>
                        <a:rPr lang="en-US" sz="2400" dirty="0"/>
                        <a:t>Description</a:t>
                      </a:r>
                    </a:p>
                  </a:txBody>
                  <a:tcPr/>
                </a:tc>
                <a:tc>
                  <a:txBody>
                    <a:bodyPr/>
                    <a:lstStyle/>
                    <a:p>
                      <a:r>
                        <a:rPr lang="en-US" sz="2400" dirty="0"/>
                        <a:t>Marks</a:t>
                      </a:r>
                    </a:p>
                  </a:txBody>
                  <a:tcPr/>
                </a:tc>
                <a:extLst>
                  <a:ext uri="{0D108BD9-81ED-4DB2-BD59-A6C34878D82A}">
                    <a16:rowId xmlns:a16="http://schemas.microsoft.com/office/drawing/2014/main" val="10000"/>
                  </a:ext>
                </a:extLst>
              </a:tr>
              <a:tr h="484757">
                <a:tc>
                  <a:txBody>
                    <a:bodyPr/>
                    <a:lstStyle/>
                    <a:p>
                      <a:r>
                        <a:rPr lang="en-US" sz="2400" dirty="0"/>
                        <a:t>Total marks</a:t>
                      </a:r>
                    </a:p>
                  </a:txBody>
                  <a:tcPr/>
                </a:tc>
                <a:tc>
                  <a:txBody>
                    <a:bodyPr/>
                    <a:lstStyle/>
                    <a:p>
                      <a:r>
                        <a:rPr lang="en-US" sz="2400" dirty="0"/>
                        <a:t>100</a:t>
                      </a:r>
                    </a:p>
                  </a:txBody>
                  <a:tcPr/>
                </a:tc>
                <a:extLst>
                  <a:ext uri="{0D108BD9-81ED-4DB2-BD59-A6C34878D82A}">
                    <a16:rowId xmlns:a16="http://schemas.microsoft.com/office/drawing/2014/main" val="10001"/>
                  </a:ext>
                </a:extLst>
              </a:tr>
              <a:tr h="484757">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2400" dirty="0"/>
                        <a:t>Final</a:t>
                      </a:r>
                      <a:r>
                        <a:rPr lang="en-US" sz="2400" baseline="0" dirty="0"/>
                        <a:t> examinations</a:t>
                      </a:r>
                      <a:endParaRPr lang="en-US" sz="2400" dirty="0"/>
                    </a:p>
                  </a:txBody>
                  <a:tcPr/>
                </a:tc>
                <a:tc>
                  <a:txBody>
                    <a:bodyPr/>
                    <a:lstStyle/>
                    <a:p>
                      <a:r>
                        <a:rPr lang="en-US" sz="2400" dirty="0"/>
                        <a:t>50</a:t>
                      </a:r>
                    </a:p>
                  </a:txBody>
                  <a:tcPr/>
                </a:tc>
                <a:extLst>
                  <a:ext uri="{0D108BD9-81ED-4DB2-BD59-A6C34878D82A}">
                    <a16:rowId xmlns:a16="http://schemas.microsoft.com/office/drawing/2014/main" val="10002"/>
                  </a:ext>
                </a:extLst>
              </a:tr>
              <a:tr h="484757">
                <a:tc>
                  <a:txBody>
                    <a:bodyPr/>
                    <a:lstStyle/>
                    <a:p>
                      <a:r>
                        <a:rPr lang="en-US" sz="2400" dirty="0"/>
                        <a:t>Mid term examinations</a:t>
                      </a:r>
                    </a:p>
                  </a:txBody>
                  <a:tcPr/>
                </a:tc>
                <a:tc>
                  <a:txBody>
                    <a:bodyPr/>
                    <a:lstStyle/>
                    <a:p>
                      <a:r>
                        <a:rPr lang="en-US" sz="2400" dirty="0"/>
                        <a:t>30</a:t>
                      </a:r>
                    </a:p>
                  </a:txBody>
                  <a:tcPr/>
                </a:tc>
                <a:extLst>
                  <a:ext uri="{0D108BD9-81ED-4DB2-BD59-A6C34878D82A}">
                    <a16:rowId xmlns:a16="http://schemas.microsoft.com/office/drawing/2014/main" val="10003"/>
                  </a:ext>
                </a:extLst>
              </a:tr>
              <a:tr h="484757">
                <a:tc>
                  <a:txBody>
                    <a:bodyPr/>
                    <a:lstStyle/>
                    <a:p>
                      <a:r>
                        <a:rPr lang="en-US" sz="2400" dirty="0"/>
                        <a:t>Practical</a:t>
                      </a:r>
                      <a:r>
                        <a:rPr lang="en-US" sz="2400" baseline="0" dirty="0"/>
                        <a:t> Home Tasks</a:t>
                      </a:r>
                      <a:endParaRPr lang="en-US" sz="2400" dirty="0"/>
                    </a:p>
                  </a:txBody>
                  <a:tcPr/>
                </a:tc>
                <a:tc>
                  <a:txBody>
                    <a:bodyPr/>
                    <a:lstStyle/>
                    <a:p>
                      <a:r>
                        <a:rPr lang="en-US" sz="2400" dirty="0"/>
                        <a:t>5</a:t>
                      </a:r>
                    </a:p>
                  </a:txBody>
                  <a:tcPr/>
                </a:tc>
                <a:extLst>
                  <a:ext uri="{0D108BD9-81ED-4DB2-BD59-A6C34878D82A}">
                    <a16:rowId xmlns:a16="http://schemas.microsoft.com/office/drawing/2014/main" val="10004"/>
                  </a:ext>
                </a:extLst>
              </a:tr>
              <a:tr h="580823">
                <a:tc>
                  <a:txBody>
                    <a:bodyPr/>
                    <a:lstStyle/>
                    <a:p>
                      <a:r>
                        <a:rPr lang="en-US" sz="2400" dirty="0"/>
                        <a:t>Class Tasks Performance  and Behavior</a:t>
                      </a:r>
                    </a:p>
                  </a:txBody>
                  <a:tcPr/>
                </a:tc>
                <a:tc>
                  <a:txBody>
                    <a:bodyPr/>
                    <a:lstStyle/>
                    <a:p>
                      <a:r>
                        <a:rPr lang="en-US" sz="2400" dirty="0"/>
                        <a:t>5</a:t>
                      </a:r>
                    </a:p>
                  </a:txBody>
                  <a:tcPr/>
                </a:tc>
                <a:extLst>
                  <a:ext uri="{0D108BD9-81ED-4DB2-BD59-A6C34878D82A}">
                    <a16:rowId xmlns:a16="http://schemas.microsoft.com/office/drawing/2014/main" val="10005"/>
                  </a:ext>
                </a:extLst>
              </a:tr>
              <a:tr h="484757">
                <a:tc>
                  <a:txBody>
                    <a:bodyPr/>
                    <a:lstStyle/>
                    <a:p>
                      <a:r>
                        <a:rPr lang="en-US" sz="2400" dirty="0"/>
                        <a:t>Quiz</a:t>
                      </a:r>
                    </a:p>
                  </a:txBody>
                  <a:tcPr/>
                </a:tc>
                <a:tc>
                  <a:txBody>
                    <a:bodyPr/>
                    <a:lstStyle/>
                    <a:p>
                      <a:r>
                        <a:rPr lang="en-US" sz="2400" dirty="0"/>
                        <a:t>5</a:t>
                      </a:r>
                    </a:p>
                  </a:txBody>
                  <a:tcPr/>
                </a:tc>
                <a:extLst>
                  <a:ext uri="{0D108BD9-81ED-4DB2-BD59-A6C34878D82A}">
                    <a16:rowId xmlns:a16="http://schemas.microsoft.com/office/drawing/2014/main" val="10006"/>
                  </a:ext>
                </a:extLst>
              </a:tr>
              <a:tr h="484757">
                <a:tc>
                  <a:txBody>
                    <a:bodyPr/>
                    <a:lstStyle/>
                    <a:p>
                      <a:r>
                        <a:rPr lang="en-US" sz="2400" dirty="0"/>
                        <a:t>Project / Presentation</a:t>
                      </a:r>
                    </a:p>
                  </a:txBody>
                  <a:tcPr/>
                </a:tc>
                <a:tc>
                  <a:txBody>
                    <a:bodyPr/>
                    <a:lstStyle/>
                    <a:p>
                      <a:r>
                        <a:rPr lang="en-US" sz="2400" dirty="0"/>
                        <a:t>5</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604063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B1841-F599-D4B9-6232-CD6CE3B20CE0}"/>
              </a:ext>
            </a:extLst>
          </p:cNvPr>
          <p:cNvSpPr>
            <a:spLocks noGrp="1"/>
          </p:cNvSpPr>
          <p:nvPr>
            <p:ph type="title"/>
          </p:nvPr>
        </p:nvSpPr>
        <p:spPr/>
        <p:txBody>
          <a:bodyPr/>
          <a:lstStyle/>
          <a:p>
            <a:r>
              <a:rPr lang="en-GB" dirty="0"/>
              <a:t>Course information</a:t>
            </a:r>
          </a:p>
        </p:txBody>
      </p:sp>
      <p:sp>
        <p:nvSpPr>
          <p:cNvPr id="3" name="Content Placeholder 2">
            <a:extLst>
              <a:ext uri="{FF2B5EF4-FFF2-40B4-BE49-F238E27FC236}">
                <a16:creationId xmlns:a16="http://schemas.microsoft.com/office/drawing/2014/main" id="{E2FBF446-BA5A-B06C-E7CE-4C495B39844E}"/>
              </a:ext>
            </a:extLst>
          </p:cNvPr>
          <p:cNvSpPr>
            <a:spLocks noGrp="1"/>
          </p:cNvSpPr>
          <p:nvPr>
            <p:ph idx="1"/>
          </p:nvPr>
        </p:nvSpPr>
        <p:spPr>
          <a:xfrm>
            <a:off x="598714" y="1368425"/>
            <a:ext cx="10515600" cy="4351338"/>
          </a:xfrm>
        </p:spPr>
        <p:txBody>
          <a:bodyPr>
            <a:normAutofit/>
          </a:bodyPr>
          <a:lstStyle/>
          <a:p>
            <a:pPr marL="12700">
              <a:lnSpc>
                <a:spcPct val="100000"/>
              </a:lnSpc>
              <a:spcBef>
                <a:spcPts val="100"/>
              </a:spcBef>
            </a:pPr>
            <a:r>
              <a:rPr lang="en-US" sz="2400" b="1" spc="-5" dirty="0">
                <a:latin typeface="Arial"/>
                <a:cs typeface="Arial"/>
              </a:rPr>
              <a:t>Enrollment on </a:t>
            </a:r>
            <a:r>
              <a:rPr lang="en-US" sz="2400" b="1" spc="-5" dirty="0" err="1">
                <a:latin typeface="Arial"/>
                <a:cs typeface="Arial"/>
              </a:rPr>
              <a:t>elearning</a:t>
            </a:r>
            <a:r>
              <a:rPr lang="en-US" sz="2400" b="1" spc="-5" dirty="0">
                <a:latin typeface="Arial"/>
                <a:cs typeface="Arial"/>
              </a:rPr>
              <a:t>:</a:t>
            </a:r>
          </a:p>
          <a:p>
            <a:pPr marL="12700">
              <a:lnSpc>
                <a:spcPct val="100000"/>
              </a:lnSpc>
              <a:spcBef>
                <a:spcPts val="100"/>
              </a:spcBef>
            </a:pPr>
            <a:endParaRPr lang="en-US" sz="2400" dirty="0">
              <a:latin typeface="Arial"/>
              <a:cs typeface="Arial"/>
            </a:endParaRPr>
          </a:p>
          <a:p>
            <a:pPr marL="927100" indent="-367030">
              <a:lnSpc>
                <a:spcPct val="100000"/>
              </a:lnSpc>
              <a:spcBef>
                <a:spcPts val="15"/>
              </a:spcBef>
              <a:buChar char="●"/>
              <a:tabLst>
                <a:tab pos="926465" algn="l"/>
                <a:tab pos="927100" algn="l"/>
              </a:tabLst>
            </a:pPr>
            <a:r>
              <a:rPr lang="en-US" sz="2400" spc="-5" dirty="0">
                <a:latin typeface="Arial"/>
                <a:cs typeface="Arial"/>
              </a:rPr>
              <a:t>Every student has to enroll themselves on </a:t>
            </a:r>
            <a:r>
              <a:rPr lang="en-US" sz="2400" spc="-5" dirty="0" err="1">
                <a:latin typeface="Arial"/>
                <a:cs typeface="Arial"/>
              </a:rPr>
              <a:t>elearning</a:t>
            </a:r>
            <a:r>
              <a:rPr lang="en-US" sz="2400" spc="-5" dirty="0">
                <a:latin typeface="Arial"/>
                <a:cs typeface="Arial"/>
              </a:rPr>
              <a:t> in the 1</a:t>
            </a:r>
            <a:r>
              <a:rPr lang="en-US" sz="2400" spc="-5" baseline="30000" dirty="0">
                <a:latin typeface="Arial"/>
                <a:cs typeface="Arial"/>
              </a:rPr>
              <a:t>st</a:t>
            </a:r>
            <a:r>
              <a:rPr lang="en-US" sz="2400" spc="-5" dirty="0">
                <a:latin typeface="Arial"/>
                <a:cs typeface="Arial"/>
              </a:rPr>
              <a:t> week</a:t>
            </a:r>
          </a:p>
          <a:p>
            <a:pPr marL="927100" indent="-367030">
              <a:lnSpc>
                <a:spcPct val="100000"/>
              </a:lnSpc>
              <a:spcBef>
                <a:spcPts val="15"/>
              </a:spcBef>
              <a:buChar char="●"/>
              <a:tabLst>
                <a:tab pos="926465" algn="l"/>
                <a:tab pos="927100" algn="l"/>
              </a:tabLst>
            </a:pPr>
            <a:endParaRPr lang="en-US" sz="2400" spc="-5" dirty="0">
              <a:latin typeface="Arial"/>
              <a:cs typeface="Arial"/>
            </a:endParaRPr>
          </a:p>
          <a:p>
            <a:endParaRPr lang="en-GB" sz="2400" dirty="0"/>
          </a:p>
        </p:txBody>
      </p:sp>
      <p:sp>
        <p:nvSpPr>
          <p:cNvPr id="4" name="Footer Placeholder 3">
            <a:extLst>
              <a:ext uri="{FF2B5EF4-FFF2-40B4-BE49-F238E27FC236}">
                <a16:creationId xmlns:a16="http://schemas.microsoft.com/office/drawing/2014/main" id="{A7CFEACC-BF0D-4712-5A38-FFA42C1C8A51}"/>
              </a:ext>
            </a:extLst>
          </p:cNvPr>
          <p:cNvSpPr>
            <a:spLocks noGrp="1"/>
          </p:cNvSpPr>
          <p:nvPr>
            <p:ph type="ftr" sz="quarter" idx="11"/>
          </p:nvPr>
        </p:nvSpPr>
        <p:spPr/>
        <p:txBody>
          <a:bodyPr/>
          <a:lstStyle/>
          <a:p>
            <a:r>
              <a:rPr lang="en-US"/>
              <a:t>Data Science Fall 2025</a:t>
            </a:r>
            <a:endParaRPr lang="en-GB" dirty="0"/>
          </a:p>
        </p:txBody>
      </p:sp>
      <p:sp>
        <p:nvSpPr>
          <p:cNvPr id="5" name="Slide Number Placeholder 4">
            <a:extLst>
              <a:ext uri="{FF2B5EF4-FFF2-40B4-BE49-F238E27FC236}">
                <a16:creationId xmlns:a16="http://schemas.microsoft.com/office/drawing/2014/main" id="{12275E35-1B81-43BB-A9EA-16E3E29EC08A}"/>
              </a:ext>
            </a:extLst>
          </p:cNvPr>
          <p:cNvSpPr>
            <a:spLocks noGrp="1"/>
          </p:cNvSpPr>
          <p:nvPr>
            <p:ph type="sldNum" sz="quarter" idx="12"/>
          </p:nvPr>
        </p:nvSpPr>
        <p:spPr/>
        <p:txBody>
          <a:bodyPr/>
          <a:lstStyle/>
          <a:p>
            <a:fld id="{1BEB7A16-2A17-4549-A1D9-B9B2F7AEB8FC}" type="slidenum">
              <a:rPr lang="en-GB" smtClean="0"/>
              <a:t>9</a:t>
            </a:fld>
            <a:endParaRPr lang="en-GB"/>
          </a:p>
        </p:txBody>
      </p:sp>
      <p:sp>
        <p:nvSpPr>
          <p:cNvPr id="6" name="object 9">
            <a:extLst>
              <a:ext uri="{FF2B5EF4-FFF2-40B4-BE49-F238E27FC236}">
                <a16:creationId xmlns:a16="http://schemas.microsoft.com/office/drawing/2014/main" id="{345C2E7D-C808-FBF5-B5C4-674D5F80F10D}"/>
              </a:ext>
            </a:extLst>
          </p:cNvPr>
          <p:cNvSpPr txBox="1"/>
          <p:nvPr/>
        </p:nvSpPr>
        <p:spPr>
          <a:xfrm>
            <a:off x="1077686" y="5304064"/>
            <a:ext cx="6472555" cy="641201"/>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595959"/>
                </a:solidFill>
                <a:latin typeface="Arial"/>
                <a:cs typeface="Arial"/>
              </a:rPr>
              <a:t>See </a:t>
            </a:r>
            <a:r>
              <a:rPr lang="en-US" sz="2000" b="1" spc="-5" dirty="0">
                <a:solidFill>
                  <a:srgbClr val="595959"/>
                </a:solidFill>
                <a:latin typeface="Arial"/>
                <a:cs typeface="Arial"/>
              </a:rPr>
              <a:t>Data Science course o</a:t>
            </a:r>
            <a:r>
              <a:rPr sz="2000" b="1" spc="-5" dirty="0">
                <a:solidFill>
                  <a:srgbClr val="595959"/>
                </a:solidFill>
                <a:latin typeface="Arial"/>
                <a:cs typeface="Arial"/>
              </a:rPr>
              <a:t>n </a:t>
            </a:r>
            <a:r>
              <a:rPr lang="en-US" sz="2000" b="1" spc="-5" dirty="0" err="1">
                <a:solidFill>
                  <a:srgbClr val="595959"/>
                </a:solidFill>
                <a:latin typeface="Arial"/>
                <a:cs typeface="Arial"/>
              </a:rPr>
              <a:t>elearning</a:t>
            </a:r>
            <a:r>
              <a:rPr sz="2000" b="1" spc="-5" dirty="0">
                <a:solidFill>
                  <a:srgbClr val="595959"/>
                </a:solidFill>
                <a:latin typeface="Arial"/>
                <a:cs typeface="Arial"/>
              </a:rPr>
              <a:t> </a:t>
            </a:r>
            <a:r>
              <a:rPr lang="en-US" sz="2000" b="1" spc="-5" dirty="0">
                <a:solidFill>
                  <a:srgbClr val="595959"/>
                </a:solidFill>
                <a:latin typeface="Arial"/>
                <a:cs typeface="Arial"/>
              </a:rPr>
              <a:t>at:</a:t>
            </a:r>
          </a:p>
          <a:p>
            <a:pPr marL="12700">
              <a:lnSpc>
                <a:spcPct val="100000"/>
              </a:lnSpc>
              <a:spcBef>
                <a:spcPts val="100"/>
              </a:spcBef>
            </a:pPr>
            <a:r>
              <a:rPr lang="en-GB" sz="2000" dirty="0">
                <a:latin typeface="Arial"/>
                <a:cs typeface="Arial"/>
                <a:hlinkClick r:id="rId2"/>
              </a:rPr>
              <a:t>https://elearning.iba-suk.edu.pk/course/view.php?id=943</a:t>
            </a:r>
            <a:endParaRPr lang="en-GB" sz="2000" dirty="0">
              <a:latin typeface="Arial"/>
              <a:cs typeface="Arial"/>
            </a:endParaRPr>
          </a:p>
        </p:txBody>
      </p:sp>
    </p:spTree>
    <p:extLst>
      <p:ext uri="{BB962C8B-B14F-4D97-AF65-F5344CB8AC3E}">
        <p14:creationId xmlns:p14="http://schemas.microsoft.com/office/powerpoint/2010/main" val="254358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FA39D-9E12-C53F-E4A6-2D10D2795D4A}"/>
              </a:ext>
            </a:extLst>
          </p:cNvPr>
          <p:cNvSpPr>
            <a:spLocks noGrp="1"/>
          </p:cNvSpPr>
          <p:nvPr>
            <p:ph type="title"/>
          </p:nvPr>
        </p:nvSpPr>
        <p:spPr/>
        <p:txBody>
          <a:bodyPr/>
          <a:lstStyle/>
          <a:p>
            <a:r>
              <a:rPr lang="en-US" dirty="0"/>
              <a:t>Late no more than 5 minutes</a:t>
            </a:r>
            <a:endParaRPr lang="en-GB" dirty="0"/>
          </a:p>
        </p:txBody>
      </p:sp>
      <p:sp>
        <p:nvSpPr>
          <p:cNvPr id="3" name="Content Placeholder 2">
            <a:extLst>
              <a:ext uri="{FF2B5EF4-FFF2-40B4-BE49-F238E27FC236}">
                <a16:creationId xmlns:a16="http://schemas.microsoft.com/office/drawing/2014/main" id="{9D84F528-311E-B2A2-8197-F59CDEB0AB02}"/>
              </a:ext>
            </a:extLst>
          </p:cNvPr>
          <p:cNvSpPr>
            <a:spLocks noGrp="1"/>
          </p:cNvSpPr>
          <p:nvPr>
            <p:ph idx="1"/>
          </p:nvPr>
        </p:nvSpPr>
        <p:spPr/>
        <p:txBody>
          <a:bodyPr/>
          <a:lstStyle/>
          <a:p>
            <a:r>
              <a:rPr lang="en-US" dirty="0">
                <a:latin typeface="Arial"/>
                <a:cs typeface="Arial"/>
              </a:rPr>
              <a:t>Major fine (financial or absence on CMS) will be imposed if you are late more than 5 minutes in the classroom</a:t>
            </a:r>
          </a:p>
          <a:p>
            <a:endParaRPr lang="en-GB" dirty="0"/>
          </a:p>
        </p:txBody>
      </p:sp>
      <p:sp>
        <p:nvSpPr>
          <p:cNvPr id="4" name="Footer Placeholder 3">
            <a:extLst>
              <a:ext uri="{FF2B5EF4-FFF2-40B4-BE49-F238E27FC236}">
                <a16:creationId xmlns:a16="http://schemas.microsoft.com/office/drawing/2014/main" id="{9447A2E9-1244-1CFC-CC74-062E7AD0AB52}"/>
              </a:ext>
            </a:extLst>
          </p:cNvPr>
          <p:cNvSpPr>
            <a:spLocks noGrp="1"/>
          </p:cNvSpPr>
          <p:nvPr>
            <p:ph type="ftr" sz="quarter" idx="11"/>
          </p:nvPr>
        </p:nvSpPr>
        <p:spPr/>
        <p:txBody>
          <a:bodyPr/>
          <a:lstStyle/>
          <a:p>
            <a:r>
              <a:rPr lang="en-US"/>
              <a:t>Data Science Fall 2025</a:t>
            </a:r>
            <a:endParaRPr lang="en-GB" dirty="0"/>
          </a:p>
        </p:txBody>
      </p:sp>
      <p:sp>
        <p:nvSpPr>
          <p:cNvPr id="5" name="Slide Number Placeholder 4">
            <a:extLst>
              <a:ext uri="{FF2B5EF4-FFF2-40B4-BE49-F238E27FC236}">
                <a16:creationId xmlns:a16="http://schemas.microsoft.com/office/drawing/2014/main" id="{1A3A81E1-F0AA-4C4E-D30E-AE8D8BD2DA40}"/>
              </a:ext>
            </a:extLst>
          </p:cNvPr>
          <p:cNvSpPr>
            <a:spLocks noGrp="1"/>
          </p:cNvSpPr>
          <p:nvPr>
            <p:ph type="sldNum" sz="quarter" idx="12"/>
          </p:nvPr>
        </p:nvSpPr>
        <p:spPr/>
        <p:txBody>
          <a:bodyPr/>
          <a:lstStyle/>
          <a:p>
            <a:fld id="{1BEB7A16-2A17-4549-A1D9-B9B2F7AEB8FC}" type="slidenum">
              <a:rPr lang="en-GB" smtClean="0"/>
              <a:t>10</a:t>
            </a:fld>
            <a:endParaRPr lang="en-GB"/>
          </a:p>
        </p:txBody>
      </p:sp>
    </p:spTree>
    <p:extLst>
      <p:ext uri="{BB962C8B-B14F-4D97-AF65-F5344CB8AC3E}">
        <p14:creationId xmlns:p14="http://schemas.microsoft.com/office/powerpoint/2010/main" val="560182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Me</a:t>
            </a:r>
            <a:endParaRPr lang="en-GB"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782504245"/>
              </p:ext>
            </p:extLst>
          </p:nvPr>
        </p:nvGraphicFramePr>
        <p:xfrm>
          <a:off x="1087120" y="1113244"/>
          <a:ext cx="10266679" cy="27373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2"/>
          </p:nvPr>
        </p:nvSpPr>
        <p:spPr/>
        <p:txBody>
          <a:bodyPr/>
          <a:lstStyle/>
          <a:p>
            <a:fld id="{1BEB7A16-2A17-4549-A1D9-B9B2F7AEB8FC}" type="slidenum">
              <a:rPr lang="en-GB" smtClean="0"/>
              <a:t>11</a:t>
            </a:fld>
            <a:endParaRPr lang="en-GB"/>
          </a:p>
        </p:txBody>
      </p:sp>
      <p:sp>
        <p:nvSpPr>
          <p:cNvPr id="3" name="Rectangle 2"/>
          <p:cNvSpPr/>
          <p:nvPr/>
        </p:nvSpPr>
        <p:spPr>
          <a:xfrm>
            <a:off x="833120" y="3953907"/>
            <a:ext cx="6096000" cy="2308324"/>
          </a:xfrm>
          <a:prstGeom prst="rect">
            <a:avLst/>
          </a:prstGeom>
        </p:spPr>
        <p:txBody>
          <a:bodyPr>
            <a:spAutoFit/>
          </a:bodyPr>
          <a:lstStyle/>
          <a:p>
            <a:pPr marL="285750" indent="-285750">
              <a:buFont typeface="Arial" panose="020B0604020202020204" pitchFamily="34" charset="0"/>
              <a:buChar char="•"/>
            </a:pPr>
            <a:r>
              <a:rPr lang="en-US" sz="2400" dirty="0"/>
              <a:t>Areas of Research</a:t>
            </a:r>
          </a:p>
          <a:p>
            <a:pPr marL="742950" lvl="1" indent="-285750">
              <a:buFont typeface="Arial" panose="020B0604020202020204" pitchFamily="34" charset="0"/>
              <a:buChar char="•"/>
            </a:pPr>
            <a:r>
              <a:rPr lang="en-US" sz="2400" dirty="0"/>
              <a:t>Computational intelligence, fuzzy systems</a:t>
            </a:r>
          </a:p>
          <a:p>
            <a:pPr marL="742950" lvl="1" indent="-285750">
              <a:buFont typeface="Arial" panose="020B0604020202020204" pitchFamily="34" charset="0"/>
              <a:buChar char="•"/>
            </a:pPr>
            <a:r>
              <a:rPr lang="en-US" sz="2400" dirty="0"/>
              <a:t>Image super resolution, ML</a:t>
            </a:r>
          </a:p>
          <a:p>
            <a:endParaRPr lang="en-US" sz="2400" dirty="0"/>
          </a:p>
          <a:p>
            <a:pPr marL="285750" indent="-285750">
              <a:buFont typeface="Arial" panose="020B0604020202020204" pitchFamily="34" charset="0"/>
              <a:buChar char="•"/>
            </a:pPr>
            <a:r>
              <a:rPr lang="en-US" sz="2400" dirty="0"/>
              <a:t>Office</a:t>
            </a:r>
          </a:p>
          <a:p>
            <a:pPr marL="742950" lvl="1" indent="-285750">
              <a:buFont typeface="Arial" panose="020B0604020202020204" pitchFamily="34" charset="0"/>
              <a:buChar char="•"/>
            </a:pPr>
            <a:r>
              <a:rPr lang="en-US" sz="2400" dirty="0"/>
              <a:t>CS Coordinator Office, Room # 08, AB-I</a:t>
            </a:r>
          </a:p>
        </p:txBody>
      </p:sp>
      <p:sp>
        <p:nvSpPr>
          <p:cNvPr id="7" name="Footer Placeholder 6"/>
          <p:cNvSpPr>
            <a:spLocks noGrp="1"/>
          </p:cNvSpPr>
          <p:nvPr>
            <p:ph type="ftr" sz="quarter" idx="11"/>
          </p:nvPr>
        </p:nvSpPr>
        <p:spPr/>
        <p:txBody>
          <a:bodyPr/>
          <a:lstStyle/>
          <a:p>
            <a:r>
              <a:rPr lang="en-US"/>
              <a:t>Data Science Fall 2025</a:t>
            </a:r>
            <a:endParaRPr lang="en-GB" dirty="0"/>
          </a:p>
        </p:txBody>
      </p:sp>
    </p:spTree>
    <p:extLst>
      <p:ext uri="{BB962C8B-B14F-4D97-AF65-F5344CB8AC3E}">
        <p14:creationId xmlns:p14="http://schemas.microsoft.com/office/powerpoint/2010/main" val="359509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People Raising Their Hands">
            <a:extLst>
              <a:ext uri="{FF2B5EF4-FFF2-40B4-BE49-F238E27FC236}">
                <a16:creationId xmlns:a16="http://schemas.microsoft.com/office/drawing/2014/main" id="{563A7AB7-88B0-84A6-4924-A9700D3E5838}"/>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t="210" r="1" b="75"/>
          <a:stretch>
            <a:fillRect/>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A6FD80-1D85-9AB8-CB2A-6F5683C54232}"/>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chor="ctr">
            <a:normAutofit/>
          </a:bodyPr>
          <a:lstStyle/>
          <a:p>
            <a:r>
              <a:rPr lang="en-US" sz="5200" b="1" dirty="0">
                <a:ln w="22225">
                  <a:solidFill>
                    <a:schemeClr val="accent2"/>
                  </a:solidFill>
                  <a:prstDash val="solid"/>
                </a:ln>
                <a:solidFill>
                  <a:schemeClr val="accent2">
                    <a:lumMod val="40000"/>
                    <a:lumOff val="60000"/>
                  </a:schemeClr>
                </a:solidFill>
              </a:rPr>
              <a:t>Introduce Yourself</a:t>
            </a:r>
            <a:endParaRPr lang="en-GB" sz="5200" b="1" dirty="0">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93589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green snake with a black background&#10;&#10;AI-generated content may be incorrect.">
            <a:extLst>
              <a:ext uri="{FF2B5EF4-FFF2-40B4-BE49-F238E27FC236}">
                <a16:creationId xmlns:a16="http://schemas.microsoft.com/office/drawing/2014/main" id="{9DC6AD7E-F812-9F0F-4981-4BED34CD11F5}"/>
              </a:ext>
            </a:extLst>
          </p:cNvPr>
          <p:cNvPicPr>
            <a:picLocks noChangeAspect="1"/>
          </p:cNvPicPr>
          <p:nvPr/>
        </p:nvPicPr>
        <p:blipFill>
          <a:blip r:embed="rId2">
            <a:alphaModFix amt="50000"/>
          </a:blip>
          <a:srcRect/>
          <a:stretch>
            <a:fillRect/>
          </a:stretch>
        </p:blipFill>
        <p:spPr>
          <a:xfrm>
            <a:off x="20" y="1"/>
            <a:ext cx="12191980" cy="6857999"/>
          </a:xfrm>
          <a:prstGeom prst="rect">
            <a:avLst/>
          </a:prstGeom>
        </p:spPr>
      </p:pic>
      <p:sp>
        <p:nvSpPr>
          <p:cNvPr id="3" name="object 3"/>
          <p:cNvSpPr txBox="1"/>
          <p:nvPr/>
        </p:nvSpPr>
        <p:spPr>
          <a:xfrm>
            <a:off x="1524000" y="1122362"/>
            <a:ext cx="9144000" cy="2900518"/>
          </a:xfrm>
          <a:prstGeom prst="rect">
            <a:avLst/>
          </a:prstGeom>
        </p:spPr>
        <p:txBody>
          <a:bodyPr vert="horz" lIns="91440" tIns="45720" rIns="91440" bIns="45720" rtlCol="0" anchor="b">
            <a:normAutofit/>
          </a:bodyPr>
          <a:lstStyle/>
          <a:p>
            <a:pPr marL="16933" algn="ctr">
              <a:lnSpc>
                <a:spcPct val="90000"/>
              </a:lnSpc>
              <a:spcBef>
                <a:spcPct val="0"/>
              </a:spcBef>
              <a:spcAft>
                <a:spcPts val="600"/>
              </a:spcAft>
            </a:pPr>
            <a:r>
              <a:rPr lang="en-US" sz="6000" spc="-7">
                <a:solidFill>
                  <a:srgbClr val="FFFFFF"/>
                </a:solidFill>
                <a:latin typeface="+mj-lt"/>
                <a:ea typeface="+mj-ea"/>
                <a:cs typeface="+mj-cs"/>
              </a:rPr>
              <a:t>Lecture 1: Python for Data Science</a:t>
            </a:r>
            <a:endParaRPr lang="en-US" sz="6000">
              <a:solidFill>
                <a:srgbClr val="FFFFFF"/>
              </a:solidFill>
              <a:latin typeface="+mj-lt"/>
              <a:ea typeface="+mj-ea"/>
              <a:cs typeface="+mj-cs"/>
            </a:endParaRPr>
          </a:p>
        </p:txBody>
      </p:sp>
    </p:spTree>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95080"/>
            <a:ext cx="7115153" cy="694207"/>
          </a:xfrm>
          <a:prstGeom prst="rect">
            <a:avLst/>
          </a:prstGeom>
        </p:spPr>
        <p:txBody>
          <a:bodyPr vert="horz" wrap="square" lIns="0" tIns="16933" rIns="0" bIns="0" rtlCol="0" anchor="ctr">
            <a:spAutoFit/>
          </a:bodyPr>
          <a:lstStyle/>
          <a:p>
            <a:pPr marL="16933">
              <a:lnSpc>
                <a:spcPct val="100000"/>
              </a:lnSpc>
              <a:spcBef>
                <a:spcPts val="133"/>
              </a:spcBef>
            </a:pPr>
            <a:r>
              <a:rPr lang="en-US" spc="-13" dirty="0"/>
              <a:t>Why Python for Data Science</a:t>
            </a:r>
            <a:endParaRPr spc="-7" dirty="0"/>
          </a:p>
        </p:txBody>
      </p:sp>
      <p:sp>
        <p:nvSpPr>
          <p:cNvPr id="4" name="object 4"/>
          <p:cNvSpPr/>
          <p:nvPr/>
        </p:nvSpPr>
        <p:spPr>
          <a:xfrm>
            <a:off x="7336970" y="65874"/>
            <a:ext cx="4690367" cy="1392812"/>
          </a:xfrm>
          <a:prstGeom prst="rect">
            <a:avLst/>
          </a:prstGeom>
          <a:blipFill>
            <a:blip r:embed="rId2" cstate="print"/>
            <a:stretch>
              <a:fillRect/>
            </a:stretch>
          </a:blipFill>
        </p:spPr>
        <p:txBody>
          <a:bodyPr wrap="square" lIns="0" tIns="0" rIns="0" bIns="0" rtlCol="0"/>
          <a:lstStyle/>
          <a:p>
            <a:endParaRPr sz="2400"/>
          </a:p>
        </p:txBody>
      </p:sp>
      <p:sp>
        <p:nvSpPr>
          <p:cNvPr id="5" name="object 5"/>
          <p:cNvSpPr txBox="1"/>
          <p:nvPr/>
        </p:nvSpPr>
        <p:spPr>
          <a:xfrm>
            <a:off x="7745913" y="6475518"/>
            <a:ext cx="4144433" cy="222219"/>
          </a:xfrm>
          <a:prstGeom prst="rect">
            <a:avLst/>
          </a:prstGeom>
        </p:spPr>
        <p:txBody>
          <a:bodyPr vert="horz" wrap="square" lIns="0" tIns="16933" rIns="0" bIns="0" rtlCol="0">
            <a:spAutoFit/>
          </a:bodyPr>
          <a:lstStyle/>
          <a:p>
            <a:pPr marL="16933">
              <a:spcBef>
                <a:spcPts val="133"/>
              </a:spcBef>
            </a:pPr>
            <a:r>
              <a:rPr sz="1333" spc="-7" dirty="0">
                <a:latin typeface="Arial"/>
                <a:cs typeface="Arial"/>
              </a:rPr>
              <a:t>Image </a:t>
            </a:r>
            <a:r>
              <a:rPr sz="1333" dirty="0">
                <a:latin typeface="Arial"/>
                <a:cs typeface="Arial"/>
              </a:rPr>
              <a:t>credit:</a:t>
            </a:r>
            <a:r>
              <a:rPr sz="1333" spc="-93" dirty="0">
                <a:latin typeface="Arial"/>
                <a:cs typeface="Arial"/>
                <a:hlinkClick r:id="rId3"/>
              </a:rPr>
              <a:t> </a:t>
            </a:r>
            <a:r>
              <a:rPr sz="1333" spc="-7" dirty="0">
                <a:latin typeface="Arial"/>
                <a:cs typeface="Arial"/>
                <a:hlinkClick r:id="rId3"/>
              </a:rPr>
              <a:t>https://www.python.org/community/logos/</a:t>
            </a:r>
            <a:endParaRPr sz="1333">
              <a:latin typeface="Arial"/>
              <a:cs typeface="Arial"/>
            </a:endParaRPr>
          </a:p>
        </p:txBody>
      </p:sp>
      <p:sp>
        <p:nvSpPr>
          <p:cNvPr id="10" name="Rectangle 5">
            <a:extLst>
              <a:ext uri="{FF2B5EF4-FFF2-40B4-BE49-F238E27FC236}">
                <a16:creationId xmlns:a16="http://schemas.microsoft.com/office/drawing/2014/main" id="{6DE714F1-F211-69DB-FF90-64DBF4D1A190}"/>
              </a:ext>
            </a:extLst>
          </p:cNvPr>
          <p:cNvSpPr>
            <a:spLocks noChangeArrowheads="1"/>
          </p:cNvSpPr>
          <p:nvPr/>
        </p:nvSpPr>
        <p:spPr bwMode="auto">
          <a:xfrm>
            <a:off x="587828" y="1622870"/>
            <a:ext cx="957024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effectLst/>
                <a:latin typeface="Arial" panose="020B0604020202020204" pitchFamily="34" charset="0"/>
              </a:rPr>
              <a:t>Python in Data Science</a:t>
            </a:r>
            <a:endParaRPr kumimoji="0" lang="en-US" altLang="en-US" sz="2400" b="0" i="0" u="none" strike="noStrike" cap="none" normalizeH="0" baseline="0" dirty="0">
              <a:ln>
                <a:noFill/>
              </a:ln>
              <a:effectLst/>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effectLst/>
                <a:latin typeface="Arial" panose="020B0604020202020204" pitchFamily="34" charset="0"/>
              </a:rPr>
              <a:t>Used for data analysis, interactive computing, and visualization</a:t>
            </a:r>
          </a:p>
          <a:p>
            <a:pPr marL="800100" lvl="1"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effectLst/>
                <a:latin typeface="Arial" panose="020B0604020202020204" pitchFamily="34" charset="0"/>
              </a:rPr>
              <a:t>Often compared with R, MATLAB, SAS, Stata, etc.</a:t>
            </a:r>
          </a:p>
          <a:p>
            <a:pPr marL="800100" lvl="1" indent="-342900" eaLnBrk="0" fontAlgn="base" hangingPunct="0">
              <a:spcBef>
                <a:spcPct val="0"/>
              </a:spcBef>
              <a:spcAft>
                <a:spcPct val="0"/>
              </a:spcAft>
              <a:buFont typeface="Arial" panose="020B0604020202020204" pitchFamily="34" charset="0"/>
              <a:buChar char="•"/>
            </a:pPr>
            <a:endParaRPr kumimoji="0" lang="en-US" altLang="en-US" sz="2400" b="0" i="0" u="none" strike="noStrike" cap="none" normalizeH="0" baseline="0" dirty="0">
              <a:ln>
                <a:noFill/>
              </a:ln>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1" i="0" u="none" strike="noStrike" cap="none" normalizeH="0" baseline="0" dirty="0">
                <a:ln>
                  <a:noFill/>
                </a:ln>
                <a:effectLst/>
                <a:latin typeface="Arial" panose="020B0604020202020204" pitchFamily="34" charset="0"/>
              </a:rPr>
              <a:t>Why Python is Popular</a:t>
            </a:r>
            <a:endParaRPr kumimoji="0" lang="en-US" altLang="en-US" sz="2400" b="0" i="0" u="none" strike="noStrike" cap="none" normalizeH="0" baseline="0" dirty="0">
              <a:ln>
                <a:noFill/>
              </a:ln>
              <a:effectLst/>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effectLst/>
                <a:latin typeface="Arial" panose="020B0604020202020204" pitchFamily="34" charset="0"/>
              </a:rPr>
              <a:t>Strong libraries: </a:t>
            </a:r>
            <a:r>
              <a:rPr kumimoji="0" lang="en-US" altLang="en-US" sz="2400" b="1" i="0" u="none" strike="noStrike" cap="none" normalizeH="0" baseline="0" dirty="0">
                <a:ln>
                  <a:noFill/>
                </a:ln>
                <a:effectLst/>
                <a:latin typeface="Arial" panose="020B0604020202020204" pitchFamily="34" charset="0"/>
              </a:rPr>
              <a:t>pandas</a:t>
            </a:r>
            <a:r>
              <a:rPr kumimoji="0" lang="en-US" altLang="en-US" sz="2400" b="0" i="0" u="none" strike="noStrike" cap="none" normalizeH="0" baseline="0" dirty="0">
                <a:ln>
                  <a:noFill/>
                </a:ln>
                <a:effectLst/>
                <a:latin typeface="Arial" panose="020B0604020202020204" pitchFamily="34" charset="0"/>
              </a:rPr>
              <a:t>, </a:t>
            </a:r>
            <a:r>
              <a:rPr kumimoji="0" lang="en-US" altLang="en-US" sz="2400" b="1" i="0" u="none" strike="noStrike" cap="none" normalizeH="0" baseline="0" dirty="0">
                <a:ln>
                  <a:noFill/>
                </a:ln>
                <a:effectLst/>
                <a:latin typeface="Arial" panose="020B0604020202020204" pitchFamily="34" charset="0"/>
              </a:rPr>
              <a:t>scikit-learn</a:t>
            </a:r>
            <a:r>
              <a:rPr kumimoji="0" lang="en-US" altLang="en-US" sz="2400" b="0" i="0" u="none" strike="noStrike" cap="none" normalizeH="0" baseline="0" dirty="0">
                <a:ln>
                  <a:noFill/>
                </a:ln>
                <a:effectLst/>
                <a:latin typeface="Arial" panose="020B0604020202020204" pitchFamily="34" charset="0"/>
              </a:rPr>
              <a:t>, </a:t>
            </a:r>
            <a:r>
              <a:rPr kumimoji="0" lang="en-US" altLang="en-US" sz="2400" b="1" i="0" u="none" strike="noStrike" cap="none" normalizeH="0" baseline="0" dirty="0" err="1">
                <a:ln>
                  <a:noFill/>
                </a:ln>
                <a:effectLst/>
                <a:latin typeface="Arial" panose="020B0604020202020204" pitchFamily="34" charset="0"/>
              </a:rPr>
              <a:t>numpy</a:t>
            </a:r>
            <a:r>
              <a:rPr kumimoji="0" lang="en-US" altLang="en-US" sz="2400" b="0" i="0" u="none" strike="noStrike" cap="none" normalizeH="0" baseline="0" dirty="0">
                <a:ln>
                  <a:noFill/>
                </a:ln>
                <a:effectLst/>
                <a:latin typeface="Arial" panose="020B0604020202020204" pitchFamily="34" charset="0"/>
              </a:rPr>
              <a:t>, and more</a:t>
            </a:r>
          </a:p>
          <a:p>
            <a:pPr marL="800100" lvl="1"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effectLst/>
                <a:latin typeface="Arial" panose="020B0604020202020204" pitchFamily="34" charset="0"/>
              </a:rPr>
              <a:t>Easy to learn and versatile</a:t>
            </a:r>
          </a:p>
          <a:p>
            <a:pPr marL="800100" lvl="1" indent="-3429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a:ln>
                  <a:noFill/>
                </a:ln>
                <a:effectLst/>
                <a:latin typeface="Arial" panose="020B0604020202020204" pitchFamily="34" charset="0"/>
              </a:rPr>
              <a:t>Suitable for both </a:t>
            </a:r>
            <a:r>
              <a:rPr kumimoji="0" lang="en-US" altLang="en-US" sz="2400" b="1" i="0" u="none" strike="noStrike" cap="none" normalizeH="0" baseline="0" dirty="0">
                <a:ln>
                  <a:noFill/>
                </a:ln>
                <a:effectLst/>
                <a:latin typeface="Arial" panose="020B0604020202020204" pitchFamily="34" charset="0"/>
              </a:rPr>
              <a:t>data tasks</a:t>
            </a:r>
            <a:r>
              <a:rPr kumimoji="0" lang="en-US" altLang="en-US" sz="2400" b="0" i="0" u="none" strike="noStrike" cap="none" normalizeH="0" baseline="0" dirty="0">
                <a:ln>
                  <a:noFill/>
                </a:ln>
                <a:effectLst/>
                <a:latin typeface="Arial" panose="020B0604020202020204" pitchFamily="34" charset="0"/>
              </a:rPr>
              <a:t> and </a:t>
            </a:r>
            <a:r>
              <a:rPr kumimoji="0" lang="en-US" altLang="en-US" sz="2400" b="1" i="0" u="none" strike="noStrike" cap="none" normalizeH="0" baseline="0" dirty="0">
                <a:ln>
                  <a:noFill/>
                </a:ln>
                <a:effectLst/>
                <a:latin typeface="Arial" panose="020B0604020202020204" pitchFamily="34" charset="0"/>
              </a:rPr>
              <a:t>full-scale applications</a:t>
            </a:r>
            <a:endParaRPr kumimoji="0" lang="en-US" altLang="en-US" sz="2400" b="0" i="0" u="none" strike="noStrike" cap="none" normalizeH="0" baseline="0" dirty="0">
              <a:ln>
                <a:noFill/>
              </a:ln>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5EC8F-84E8-1F15-8636-993C6DBB19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3B9F62D-1A28-DF3A-D6C4-624BD5F0ED73}"/>
              </a:ext>
            </a:extLst>
          </p:cNvPr>
          <p:cNvSpPr txBox="1">
            <a:spLocks noGrp="1"/>
          </p:cNvSpPr>
          <p:nvPr>
            <p:ph type="title"/>
          </p:nvPr>
        </p:nvSpPr>
        <p:spPr>
          <a:xfrm>
            <a:off x="838200" y="365125"/>
            <a:ext cx="10515600" cy="1325563"/>
          </a:xfrm>
        </p:spPr>
        <p:txBody>
          <a:bodyPr vert="horz" lIns="91440" tIns="45720" rIns="91440" bIns="45720" rtlCol="0" anchor="ctr">
            <a:normAutofit/>
          </a:bodyPr>
          <a:lstStyle/>
          <a:p>
            <a:pPr marL="16933"/>
            <a:r>
              <a:rPr lang="en-US" kern="1200" spc="-13">
                <a:latin typeface="+mj-lt"/>
                <a:ea typeface="+mj-ea"/>
                <a:cs typeface="+mj-cs"/>
              </a:rPr>
              <a:t>Python Libraries for this course</a:t>
            </a:r>
            <a:endParaRPr lang="en-US" kern="1200" spc="-7">
              <a:latin typeface="+mj-lt"/>
              <a:ea typeface="+mj-ea"/>
              <a:cs typeface="+mj-cs"/>
            </a:endParaRPr>
          </a:p>
        </p:txBody>
      </p:sp>
      <p:sp>
        <p:nvSpPr>
          <p:cNvPr id="11" name="TextBox 10">
            <a:extLst>
              <a:ext uri="{FF2B5EF4-FFF2-40B4-BE49-F238E27FC236}">
                <a16:creationId xmlns:a16="http://schemas.microsoft.com/office/drawing/2014/main" id="{F8DF456C-5F4E-35D1-AD39-19726ACA1BF7}"/>
              </a:ext>
            </a:extLst>
          </p:cNvPr>
          <p:cNvSpPr txBox="1"/>
          <p:nvPr/>
        </p:nvSpPr>
        <p:spPr>
          <a:xfrm>
            <a:off x="838200" y="1825625"/>
            <a:ext cx="5181600" cy="4351338"/>
          </a:xfrm>
          <a:prstGeom prst="rect">
            <a:avLst/>
          </a:prstGeom>
        </p:spPr>
        <p:txBody>
          <a:bodyPr vert="horz" lIns="91440" tIns="45720" rIns="91440" bIns="45720" rtlCol="0">
            <a:normAutofit fontScale="92500" lnSpcReduction="10000"/>
          </a:bodyPr>
          <a:lstStyle/>
          <a:p>
            <a:pPr>
              <a:lnSpc>
                <a:spcPct val="90000"/>
              </a:lnSpc>
              <a:spcBef>
                <a:spcPts val="1000"/>
              </a:spcBef>
            </a:pPr>
            <a:r>
              <a:rPr lang="en-US" sz="2600" b="1" dirty="0"/>
              <a:t>NumPy (Numerical Python):</a:t>
            </a:r>
          </a:p>
          <a:p>
            <a:pPr marL="228600" indent="-228600">
              <a:lnSpc>
                <a:spcPct val="90000"/>
              </a:lnSpc>
              <a:spcBef>
                <a:spcPts val="1000"/>
              </a:spcBef>
              <a:buFont typeface="Arial" panose="020B0604020202020204" pitchFamily="34" charset="0"/>
              <a:buChar char="•"/>
            </a:pPr>
            <a:r>
              <a:rPr lang="en-US" sz="2000" b="1" dirty="0"/>
              <a:t>Efficient data handling</a:t>
            </a:r>
            <a:r>
              <a:rPr lang="en-US" sz="2000" dirty="0"/>
              <a:t> with multidimensional arrays (</a:t>
            </a:r>
            <a:r>
              <a:rPr lang="en-US" sz="2000" dirty="0" err="1"/>
              <a:t>ndarray</a:t>
            </a:r>
            <a:r>
              <a:rPr lang="en-US" sz="2000" dirty="0"/>
              <a:t>)</a:t>
            </a:r>
          </a:p>
          <a:p>
            <a:pPr marL="228600" indent="-228600">
              <a:lnSpc>
                <a:spcPct val="90000"/>
              </a:lnSpc>
              <a:spcBef>
                <a:spcPts val="1000"/>
              </a:spcBef>
              <a:buFont typeface="Arial" panose="020B0604020202020204" pitchFamily="34" charset="0"/>
              <a:buChar char="•"/>
            </a:pPr>
            <a:r>
              <a:rPr lang="en-US" sz="2000" b="1" dirty="0"/>
              <a:t>Fast computations:</a:t>
            </a:r>
            <a:r>
              <a:rPr lang="en-US" sz="2000" dirty="0"/>
              <a:t> element-wise &amp; mathematical operations</a:t>
            </a:r>
          </a:p>
          <a:p>
            <a:pPr marL="228600" indent="-228600">
              <a:lnSpc>
                <a:spcPct val="90000"/>
              </a:lnSpc>
              <a:spcBef>
                <a:spcPts val="1000"/>
              </a:spcBef>
              <a:buFont typeface="Arial" panose="020B0604020202020204" pitchFamily="34" charset="0"/>
              <a:buChar char="•"/>
            </a:pPr>
            <a:r>
              <a:rPr lang="en-US" sz="2000" b="1" dirty="0"/>
              <a:t>Data I/O:</a:t>
            </a:r>
            <a:r>
              <a:rPr lang="en-US" sz="2000" dirty="0"/>
              <a:t> read/write array datasets to disk</a:t>
            </a:r>
          </a:p>
          <a:p>
            <a:pPr marL="228600" indent="-228600">
              <a:lnSpc>
                <a:spcPct val="90000"/>
              </a:lnSpc>
              <a:spcBef>
                <a:spcPts val="1000"/>
              </a:spcBef>
              <a:buFont typeface="Arial" panose="020B0604020202020204" pitchFamily="34" charset="0"/>
              <a:buChar char="•"/>
            </a:pPr>
            <a:r>
              <a:rPr lang="en-US" sz="2000" b="1" dirty="0"/>
              <a:t>Advanced features:</a:t>
            </a:r>
            <a:r>
              <a:rPr lang="en-US" sz="2000" dirty="0"/>
              <a:t> linear algebra, Fourier transform, random numbers</a:t>
            </a:r>
          </a:p>
          <a:p>
            <a:pPr marL="228600" indent="-228600">
              <a:lnSpc>
                <a:spcPct val="90000"/>
              </a:lnSpc>
              <a:spcBef>
                <a:spcPts val="1000"/>
              </a:spcBef>
              <a:buFont typeface="Arial" panose="020B0604020202020204" pitchFamily="34" charset="0"/>
              <a:buChar char="•"/>
            </a:pPr>
            <a:r>
              <a:rPr lang="en-US" sz="2000" b="1" dirty="0"/>
              <a:t>High performance:</a:t>
            </a:r>
            <a:r>
              <a:rPr lang="en-US" sz="2000" dirty="0"/>
              <a:t> C API for integration with C/C++</a:t>
            </a:r>
          </a:p>
          <a:p>
            <a:pPr marL="228600" indent="-228600">
              <a:lnSpc>
                <a:spcPct val="90000"/>
              </a:lnSpc>
              <a:spcBef>
                <a:spcPts val="1000"/>
              </a:spcBef>
              <a:buFont typeface="Arial" panose="020B0604020202020204" pitchFamily="34" charset="0"/>
              <a:buChar char="•"/>
            </a:pPr>
            <a:r>
              <a:rPr lang="en-US" sz="2000" b="1" dirty="0"/>
              <a:t>Memory efficiency:</a:t>
            </a:r>
            <a:r>
              <a:rPr lang="en-US" sz="2000" dirty="0"/>
              <a:t> better than built-in Python structures for numerical data</a:t>
            </a:r>
          </a:p>
          <a:p>
            <a:pPr marL="228600" indent="-228600">
              <a:lnSpc>
                <a:spcPct val="90000"/>
              </a:lnSpc>
              <a:spcBef>
                <a:spcPts val="1000"/>
              </a:spcBef>
              <a:buFont typeface="Arial" panose="020B0604020202020204" pitchFamily="34" charset="0"/>
              <a:buChar char="•"/>
            </a:pPr>
            <a:r>
              <a:rPr lang="en-US" sz="2000" b="1" dirty="0"/>
              <a:t>Compatibility:</a:t>
            </a:r>
            <a:r>
              <a:rPr lang="en-US" sz="2000" dirty="0"/>
              <a:t> works directly with C/Fortran libraries without extra copying</a:t>
            </a:r>
          </a:p>
        </p:txBody>
      </p:sp>
      <p:pic>
        <p:nvPicPr>
          <p:cNvPr id="13" name="Picture 12" descr="A diagram of a computer program&#10;&#10;AI-generated content may be incorrect.">
            <a:extLst>
              <a:ext uri="{FF2B5EF4-FFF2-40B4-BE49-F238E27FC236}">
                <a16:creationId xmlns:a16="http://schemas.microsoft.com/office/drawing/2014/main" id="{7634CA01-600A-B143-CF9D-684BA9A2A758}"/>
              </a:ext>
            </a:extLst>
          </p:cNvPr>
          <p:cNvPicPr>
            <a:picLocks noChangeAspect="1"/>
          </p:cNvPicPr>
          <p:nvPr/>
        </p:nvPicPr>
        <p:blipFill>
          <a:blip r:embed="rId2"/>
          <a:stretch>
            <a:fillRect/>
          </a:stretch>
        </p:blipFill>
        <p:spPr>
          <a:xfrm>
            <a:off x="6172200" y="2271935"/>
            <a:ext cx="5181600" cy="3458717"/>
          </a:xfrm>
          <a:prstGeom prst="rect">
            <a:avLst/>
          </a:prstGeom>
          <a:noFill/>
        </p:spPr>
      </p:pic>
      <p:sp>
        <p:nvSpPr>
          <p:cNvPr id="18" name="Footer Placeholder 4">
            <a:extLst>
              <a:ext uri="{FF2B5EF4-FFF2-40B4-BE49-F238E27FC236}">
                <a16:creationId xmlns:a16="http://schemas.microsoft.com/office/drawing/2014/main" id="{81BFC0C4-87A6-B3D9-644F-BD12D7E0E5CF}"/>
              </a:ext>
            </a:extLst>
          </p:cNvPr>
          <p:cNvSpPr>
            <a:spLocks noGrp="1"/>
          </p:cNvSpPr>
          <p:nvPr>
            <p:ph type="ftr" sz="quarter" idx="11"/>
          </p:nvPr>
        </p:nvSpPr>
        <p:spPr>
          <a:xfrm>
            <a:off x="4038600" y="6356350"/>
            <a:ext cx="4114800" cy="365125"/>
          </a:xfrm>
        </p:spPr>
        <p:txBody>
          <a:bodyPr/>
          <a:lstStyle/>
          <a:p>
            <a:pPr>
              <a:spcAft>
                <a:spcPts val="600"/>
              </a:spcAft>
            </a:pPr>
            <a:r>
              <a:rPr lang="en-GB"/>
              <a:t>Data Science Fall 2025</a:t>
            </a:r>
          </a:p>
        </p:txBody>
      </p:sp>
      <p:sp>
        <p:nvSpPr>
          <p:cNvPr id="20" name="Slide Number Placeholder 5">
            <a:extLst>
              <a:ext uri="{FF2B5EF4-FFF2-40B4-BE49-F238E27FC236}">
                <a16:creationId xmlns:a16="http://schemas.microsoft.com/office/drawing/2014/main" id="{D751F31B-1C24-CCCC-FB89-F8BC4DC7BA84}"/>
              </a:ext>
            </a:extLst>
          </p:cNvPr>
          <p:cNvSpPr>
            <a:spLocks noGrp="1"/>
          </p:cNvSpPr>
          <p:nvPr>
            <p:ph type="sldNum" sz="quarter" idx="12"/>
          </p:nvPr>
        </p:nvSpPr>
        <p:spPr>
          <a:xfrm>
            <a:off x="8610600" y="6356350"/>
            <a:ext cx="2743200" cy="365125"/>
          </a:xfrm>
        </p:spPr>
        <p:txBody>
          <a:bodyPr/>
          <a:lstStyle/>
          <a:p>
            <a:pPr>
              <a:spcAft>
                <a:spcPts val="600"/>
              </a:spcAft>
            </a:pPr>
            <a:fld id="{1BEB7A16-2A17-4549-A1D9-B9B2F7AEB8FC}" type="slidenum">
              <a:rPr lang="en-GB" smtClean="0"/>
              <a:pPr>
                <a:spcAft>
                  <a:spcPts val="600"/>
                </a:spcAft>
              </a:pPr>
              <a:t>15</a:t>
            </a:fld>
            <a:endParaRPr lang="en-GB"/>
          </a:p>
        </p:txBody>
      </p:sp>
      <p:sp>
        <p:nvSpPr>
          <p:cNvPr id="3" name="object 3">
            <a:extLst>
              <a:ext uri="{FF2B5EF4-FFF2-40B4-BE49-F238E27FC236}">
                <a16:creationId xmlns:a16="http://schemas.microsoft.com/office/drawing/2014/main" id="{A39A32BB-098E-16C5-F90A-963A28CE6B5E}"/>
              </a:ext>
            </a:extLst>
          </p:cNvPr>
          <p:cNvSpPr txBox="1"/>
          <p:nvPr/>
        </p:nvSpPr>
        <p:spPr>
          <a:xfrm>
            <a:off x="512966" y="1550370"/>
            <a:ext cx="9248140" cy="325453"/>
          </a:xfrm>
          <a:prstGeom prst="rect">
            <a:avLst/>
          </a:prstGeom>
        </p:spPr>
        <p:txBody>
          <a:bodyPr vert="horz" wrap="square" lIns="0" tIns="14393" rIns="0" bIns="0" rtlCol="0">
            <a:spAutoFit/>
          </a:bodyPr>
          <a:lstStyle/>
          <a:p>
            <a:pPr marL="625671" marR="6773" indent="-609585">
              <a:lnSpc>
                <a:spcPct val="100699"/>
              </a:lnSpc>
              <a:spcBef>
                <a:spcPts val="113"/>
              </a:spcBef>
            </a:pPr>
            <a:endParaRPr lang="en-US" sz="2133" spc="-7" dirty="0">
              <a:latin typeface="Arial"/>
              <a:cs typeface="Arial"/>
            </a:endParaRPr>
          </a:p>
        </p:txBody>
      </p:sp>
    </p:spTree>
    <p:extLst>
      <p:ext uri="{BB962C8B-B14F-4D97-AF65-F5344CB8AC3E}">
        <p14:creationId xmlns:p14="http://schemas.microsoft.com/office/powerpoint/2010/main" val="2691303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787402"/>
            <a:ext cx="10358235" cy="509541"/>
          </a:xfrm>
          <a:prstGeom prst="rect">
            <a:avLst/>
          </a:prstGeom>
        </p:spPr>
        <p:txBody>
          <a:bodyPr vert="horz" wrap="square" lIns="0" tIns="16933" rIns="0" bIns="0" rtlCol="0" anchor="ctr">
            <a:spAutoFit/>
          </a:bodyPr>
          <a:lstStyle/>
          <a:p>
            <a:pPr marL="16933">
              <a:lnSpc>
                <a:spcPct val="100000"/>
              </a:lnSpc>
              <a:spcBef>
                <a:spcPts val="133"/>
              </a:spcBef>
            </a:pPr>
            <a:r>
              <a:rPr lang="en-US" sz="3200" spc="-13" dirty="0"/>
              <a:t>Python Libraries for this course</a:t>
            </a:r>
            <a:endParaRPr sz="3200" spc="-7" dirty="0"/>
          </a:p>
        </p:txBody>
      </p:sp>
      <p:sp>
        <p:nvSpPr>
          <p:cNvPr id="3" name="object 3"/>
          <p:cNvSpPr txBox="1"/>
          <p:nvPr/>
        </p:nvSpPr>
        <p:spPr>
          <a:xfrm>
            <a:off x="512966" y="1550369"/>
            <a:ext cx="11385120" cy="2679622"/>
          </a:xfrm>
          <a:prstGeom prst="rect">
            <a:avLst/>
          </a:prstGeom>
        </p:spPr>
        <p:txBody>
          <a:bodyPr vert="horz" wrap="square" lIns="0" tIns="14393" rIns="0" bIns="0" rtlCol="0">
            <a:spAutoFit/>
          </a:bodyPr>
          <a:lstStyle/>
          <a:p>
            <a:pPr marL="16086" marR="6773">
              <a:lnSpc>
                <a:spcPct val="100699"/>
              </a:lnSpc>
              <a:spcBef>
                <a:spcPts val="113"/>
              </a:spcBef>
            </a:pPr>
            <a:endParaRPr lang="en-US" sz="2400" b="1" spc="-7" dirty="0">
              <a:latin typeface="Arial"/>
              <a:cs typeface="Arial"/>
            </a:endParaRPr>
          </a:p>
          <a:p>
            <a:pPr marL="16086" marR="6773">
              <a:lnSpc>
                <a:spcPct val="100699"/>
              </a:lnSpc>
              <a:spcBef>
                <a:spcPts val="113"/>
              </a:spcBef>
            </a:pPr>
            <a:r>
              <a:rPr lang="en-US" sz="2400" b="1" spc="-7" dirty="0">
                <a:latin typeface="Arial"/>
                <a:cs typeface="Arial"/>
              </a:rPr>
              <a:t>Pandas</a:t>
            </a:r>
          </a:p>
          <a:p>
            <a:pPr marL="358986" marR="6773" indent="-342900">
              <a:lnSpc>
                <a:spcPct val="100699"/>
              </a:lnSpc>
              <a:spcBef>
                <a:spcPts val="113"/>
              </a:spcBef>
              <a:buFont typeface="Arial" panose="020B0604020202020204" pitchFamily="34" charset="0"/>
              <a:buChar char="•"/>
            </a:pPr>
            <a:r>
              <a:rPr lang="en-US" sz="2400" spc="-7" dirty="0">
                <a:latin typeface="Arial"/>
                <a:cs typeface="Arial"/>
              </a:rPr>
              <a:t>High-level </a:t>
            </a:r>
            <a:r>
              <a:rPr lang="en-US" sz="2400" b="1" spc="-7" dirty="0">
                <a:latin typeface="Arial"/>
                <a:cs typeface="Arial"/>
              </a:rPr>
              <a:t>data structures </a:t>
            </a:r>
            <a:r>
              <a:rPr lang="en-US" sz="2400" spc="-7" dirty="0">
                <a:latin typeface="Arial"/>
                <a:cs typeface="Arial"/>
              </a:rPr>
              <a:t>for structured/tabular data</a:t>
            </a:r>
          </a:p>
          <a:p>
            <a:pPr marL="358986" marR="6773" indent="-342900">
              <a:lnSpc>
                <a:spcPct val="100699"/>
              </a:lnSpc>
              <a:spcBef>
                <a:spcPts val="113"/>
              </a:spcBef>
              <a:buFont typeface="Arial" panose="020B0604020202020204" pitchFamily="34" charset="0"/>
              <a:buChar char="•"/>
            </a:pPr>
            <a:r>
              <a:rPr lang="en-US" sz="2400" spc="-7" dirty="0">
                <a:latin typeface="Arial"/>
                <a:cs typeface="Arial"/>
              </a:rPr>
              <a:t>Fast, easy, and expressive data handling</a:t>
            </a:r>
          </a:p>
          <a:p>
            <a:pPr marL="358986" marR="6773" indent="-342900">
              <a:lnSpc>
                <a:spcPct val="100699"/>
              </a:lnSpc>
              <a:spcBef>
                <a:spcPts val="113"/>
              </a:spcBef>
              <a:buFont typeface="Arial" panose="020B0604020202020204" pitchFamily="34" charset="0"/>
              <a:buChar char="•"/>
            </a:pPr>
            <a:r>
              <a:rPr lang="en-US" sz="2400" spc="-7" dirty="0">
                <a:latin typeface="Arial"/>
                <a:cs typeface="Arial"/>
              </a:rPr>
              <a:t>Combines </a:t>
            </a:r>
            <a:r>
              <a:rPr lang="en-US" sz="2400" b="1" spc="-7" dirty="0">
                <a:latin typeface="Arial"/>
                <a:cs typeface="Arial"/>
              </a:rPr>
              <a:t>NumPy’s performance</a:t>
            </a:r>
            <a:r>
              <a:rPr lang="en-US" sz="2400" spc="-7" dirty="0">
                <a:latin typeface="Arial"/>
                <a:cs typeface="Arial"/>
              </a:rPr>
              <a:t> with </a:t>
            </a:r>
            <a:r>
              <a:rPr lang="en-US" sz="2400" b="1" spc="-7" dirty="0">
                <a:latin typeface="Arial"/>
                <a:cs typeface="Arial"/>
              </a:rPr>
              <a:t>spreadsheet/SQL flexibility</a:t>
            </a:r>
          </a:p>
          <a:p>
            <a:pPr marL="358986" marR="6773" indent="-342900">
              <a:lnSpc>
                <a:spcPct val="100699"/>
              </a:lnSpc>
              <a:spcBef>
                <a:spcPts val="113"/>
              </a:spcBef>
              <a:buFont typeface="Arial" panose="020B0604020202020204" pitchFamily="34" charset="0"/>
              <a:buChar char="•"/>
            </a:pPr>
            <a:r>
              <a:rPr lang="en-US" sz="2400" spc="-7" dirty="0">
                <a:latin typeface="Arial"/>
                <a:cs typeface="Arial"/>
              </a:rPr>
              <a:t>Powerful </a:t>
            </a:r>
            <a:r>
              <a:rPr lang="en-US" sz="2400" b="1" spc="-7" dirty="0">
                <a:latin typeface="Arial"/>
                <a:cs typeface="Arial"/>
              </a:rPr>
              <a:t>indexing</a:t>
            </a:r>
            <a:r>
              <a:rPr lang="en-US" sz="2400" spc="-7" dirty="0">
                <a:latin typeface="Arial"/>
                <a:cs typeface="Arial"/>
              </a:rPr>
              <a:t> for reshaping, slicing, aggregations, and </a:t>
            </a:r>
            <a:r>
              <a:rPr lang="en-US" sz="2400" spc="-7" dirty="0" err="1">
                <a:latin typeface="Arial"/>
                <a:cs typeface="Arial"/>
              </a:rPr>
              <a:t>subsetting</a:t>
            </a:r>
            <a:endParaRPr lang="en-US" sz="2400" spc="-7" dirty="0">
              <a:latin typeface="Arial"/>
              <a:cs typeface="Arial"/>
            </a:endParaRPr>
          </a:p>
          <a:p>
            <a:pPr marL="358986" marR="6773" indent="-342900">
              <a:lnSpc>
                <a:spcPct val="100699"/>
              </a:lnSpc>
              <a:spcBef>
                <a:spcPts val="113"/>
              </a:spcBef>
              <a:buFont typeface="Arial" panose="020B0604020202020204" pitchFamily="34" charset="0"/>
              <a:buChar char="•"/>
            </a:pPr>
            <a:r>
              <a:rPr lang="en-US" sz="2400" spc="-7" dirty="0">
                <a:latin typeface="Arial"/>
                <a:cs typeface="Arial"/>
              </a:rPr>
              <a:t>Ideal for </a:t>
            </a:r>
            <a:r>
              <a:rPr lang="en-US" sz="2400" b="1" spc="-7" dirty="0">
                <a:latin typeface="Arial"/>
                <a:cs typeface="Arial"/>
              </a:rPr>
              <a:t>data cleaning</a:t>
            </a:r>
            <a:r>
              <a:rPr lang="en-US" sz="2400" spc="-7" dirty="0">
                <a:latin typeface="Arial"/>
                <a:cs typeface="Arial"/>
              </a:rPr>
              <a:t>, </a:t>
            </a:r>
            <a:r>
              <a:rPr lang="en-US" sz="2400" b="1" spc="-7" dirty="0">
                <a:latin typeface="Arial"/>
                <a:cs typeface="Arial"/>
              </a:rPr>
              <a:t>preparation</a:t>
            </a:r>
            <a:r>
              <a:rPr lang="en-US" sz="2400" spc="-7" dirty="0">
                <a:latin typeface="Arial"/>
                <a:cs typeface="Arial"/>
              </a:rPr>
              <a:t>, and </a:t>
            </a:r>
            <a:r>
              <a:rPr lang="en-US" sz="2400" b="1" spc="-7" dirty="0">
                <a:latin typeface="Arial"/>
                <a:cs typeface="Arial"/>
              </a:rPr>
              <a:t>manipulation</a:t>
            </a:r>
          </a:p>
        </p:txBody>
      </p:sp>
      <p:sp>
        <p:nvSpPr>
          <p:cNvPr id="4" name="object 4"/>
          <p:cNvSpPr/>
          <p:nvPr/>
        </p:nvSpPr>
        <p:spPr>
          <a:xfrm>
            <a:off x="9042401" y="60765"/>
            <a:ext cx="3082908" cy="828235"/>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990170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F0428-66A8-FC9D-6355-5743D1EA69B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7504E49-2BB5-8724-6DBA-019D03FC19F2}"/>
              </a:ext>
            </a:extLst>
          </p:cNvPr>
          <p:cNvSpPr txBox="1">
            <a:spLocks noGrp="1"/>
          </p:cNvSpPr>
          <p:nvPr>
            <p:ph type="title"/>
          </p:nvPr>
        </p:nvSpPr>
        <p:spPr>
          <a:xfrm>
            <a:off x="609600" y="787402"/>
            <a:ext cx="10358235" cy="509541"/>
          </a:xfrm>
          <a:prstGeom prst="rect">
            <a:avLst/>
          </a:prstGeom>
        </p:spPr>
        <p:txBody>
          <a:bodyPr vert="horz" wrap="square" lIns="0" tIns="16933" rIns="0" bIns="0" rtlCol="0" anchor="ctr">
            <a:spAutoFit/>
          </a:bodyPr>
          <a:lstStyle/>
          <a:p>
            <a:pPr marL="16933">
              <a:lnSpc>
                <a:spcPct val="100000"/>
              </a:lnSpc>
              <a:spcBef>
                <a:spcPts val="133"/>
              </a:spcBef>
            </a:pPr>
            <a:r>
              <a:rPr lang="en-US" sz="3200" spc="-13" dirty="0"/>
              <a:t>Python Libraries for this course</a:t>
            </a:r>
            <a:endParaRPr sz="3200" spc="-7" dirty="0"/>
          </a:p>
        </p:txBody>
      </p:sp>
      <p:sp>
        <p:nvSpPr>
          <p:cNvPr id="4" name="object 4">
            <a:extLst>
              <a:ext uri="{FF2B5EF4-FFF2-40B4-BE49-F238E27FC236}">
                <a16:creationId xmlns:a16="http://schemas.microsoft.com/office/drawing/2014/main" id="{7A7571CA-B532-183D-1EEE-261B28D0812E}"/>
              </a:ext>
            </a:extLst>
          </p:cNvPr>
          <p:cNvSpPr/>
          <p:nvPr/>
        </p:nvSpPr>
        <p:spPr>
          <a:xfrm>
            <a:off x="9042401" y="60765"/>
            <a:ext cx="3082908" cy="828235"/>
          </a:xfrm>
          <a:prstGeom prst="rect">
            <a:avLst/>
          </a:prstGeom>
          <a:blipFill>
            <a:blip r:embed="rId2" cstate="print"/>
            <a:stretch>
              <a:fillRect/>
            </a:stretch>
          </a:blipFill>
        </p:spPr>
        <p:txBody>
          <a:bodyPr wrap="square" lIns="0" tIns="0" rIns="0" bIns="0" rtlCol="0"/>
          <a:lstStyle/>
          <a:p>
            <a:endParaRPr sz="2400"/>
          </a:p>
        </p:txBody>
      </p:sp>
      <p:sp>
        <p:nvSpPr>
          <p:cNvPr id="6" name="TextBox 5">
            <a:extLst>
              <a:ext uri="{FF2B5EF4-FFF2-40B4-BE49-F238E27FC236}">
                <a16:creationId xmlns:a16="http://schemas.microsoft.com/office/drawing/2014/main" id="{6C7B0279-C7A7-B3F0-B9EE-149332BAB59B}"/>
              </a:ext>
            </a:extLst>
          </p:cNvPr>
          <p:cNvSpPr txBox="1"/>
          <p:nvPr/>
        </p:nvSpPr>
        <p:spPr>
          <a:xfrm>
            <a:off x="609600" y="1729377"/>
            <a:ext cx="9982200" cy="2000548"/>
          </a:xfrm>
          <a:prstGeom prst="rect">
            <a:avLst/>
          </a:prstGeom>
          <a:noFill/>
        </p:spPr>
        <p:txBody>
          <a:bodyPr wrap="square">
            <a:spAutoFit/>
          </a:bodyPr>
          <a:lstStyle/>
          <a:p>
            <a:r>
              <a:rPr lang="en-US" sz="2800" b="1" dirty="0"/>
              <a:t>Matplotlib</a:t>
            </a:r>
          </a:p>
          <a:p>
            <a:pPr marL="342900" indent="-342900">
              <a:buFont typeface="Arial" panose="020B0604020202020204" pitchFamily="34" charset="0"/>
              <a:buChar char="•"/>
            </a:pPr>
            <a:r>
              <a:rPr lang="en-US" sz="2400" dirty="0"/>
              <a:t>Most popular Python library for </a:t>
            </a:r>
            <a:r>
              <a:rPr lang="en-US" sz="2400" b="1" dirty="0"/>
              <a:t>2D data visualizations</a:t>
            </a:r>
          </a:p>
          <a:p>
            <a:pPr marL="342900" indent="-342900">
              <a:buFont typeface="Arial" panose="020B0604020202020204" pitchFamily="34" charset="0"/>
              <a:buChar char="•"/>
            </a:pPr>
            <a:r>
              <a:rPr lang="en-US" sz="2400" dirty="0"/>
              <a:t>Creates </a:t>
            </a:r>
            <a:r>
              <a:rPr lang="en-US" sz="2400" b="1" dirty="0"/>
              <a:t>publication-quality plots</a:t>
            </a:r>
          </a:p>
          <a:p>
            <a:pPr marL="342900" indent="-342900">
              <a:buFont typeface="Arial" panose="020B0604020202020204" pitchFamily="34" charset="0"/>
              <a:buChar char="•"/>
            </a:pPr>
            <a:r>
              <a:rPr lang="en-US" sz="2400" dirty="0"/>
              <a:t>Widely used and considered the </a:t>
            </a:r>
            <a:r>
              <a:rPr lang="en-US" sz="2400" b="1" dirty="0"/>
              <a:t>default</a:t>
            </a:r>
            <a:r>
              <a:rPr lang="en-US" sz="2400" dirty="0"/>
              <a:t> visualization tool in Python</a:t>
            </a:r>
          </a:p>
          <a:p>
            <a:pPr marL="342900" indent="-342900">
              <a:buFont typeface="Arial" panose="020B0604020202020204" pitchFamily="34" charset="0"/>
              <a:buChar char="•"/>
            </a:pPr>
            <a:r>
              <a:rPr lang="en-US" sz="2400" dirty="0"/>
              <a:t>Supports a variety of chart types (line, bar, scatter, etc.)</a:t>
            </a:r>
            <a:endParaRPr lang="en-GB" sz="2400" dirty="0"/>
          </a:p>
        </p:txBody>
      </p:sp>
    </p:spTree>
    <p:extLst>
      <p:ext uri="{BB962C8B-B14F-4D97-AF65-F5344CB8AC3E}">
        <p14:creationId xmlns:p14="http://schemas.microsoft.com/office/powerpoint/2010/main" val="3851458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300116"/>
            <a:ext cx="10358235" cy="509541"/>
          </a:xfrm>
          <a:prstGeom prst="rect">
            <a:avLst/>
          </a:prstGeom>
        </p:spPr>
        <p:txBody>
          <a:bodyPr vert="horz" wrap="square" lIns="0" tIns="16933" rIns="0" bIns="0" rtlCol="0" anchor="ctr">
            <a:spAutoFit/>
          </a:bodyPr>
          <a:lstStyle/>
          <a:p>
            <a:pPr marL="16933">
              <a:lnSpc>
                <a:spcPct val="100000"/>
              </a:lnSpc>
              <a:spcBef>
                <a:spcPts val="133"/>
              </a:spcBef>
            </a:pPr>
            <a:r>
              <a:rPr sz="3200" spc="-13" dirty="0"/>
              <a:t>Python</a:t>
            </a:r>
            <a:r>
              <a:rPr lang="en-US" sz="3200" spc="-13" dirty="0"/>
              <a:t> Libraries for this course</a:t>
            </a:r>
            <a:endParaRPr sz="3200" spc="-7" dirty="0"/>
          </a:p>
        </p:txBody>
      </p:sp>
      <p:sp>
        <p:nvSpPr>
          <p:cNvPr id="4" name="object 4"/>
          <p:cNvSpPr/>
          <p:nvPr/>
        </p:nvSpPr>
        <p:spPr>
          <a:xfrm>
            <a:off x="9031515" y="5852705"/>
            <a:ext cx="3082908" cy="828235"/>
          </a:xfrm>
          <a:prstGeom prst="rect">
            <a:avLst/>
          </a:prstGeom>
          <a:blipFill>
            <a:blip r:embed="rId2" cstate="print"/>
            <a:stretch>
              <a:fillRect/>
            </a:stretch>
          </a:blipFill>
        </p:spPr>
        <p:txBody>
          <a:bodyPr wrap="square" lIns="0" tIns="0" rIns="0" bIns="0" rtlCol="0"/>
          <a:lstStyle/>
          <a:p>
            <a:endParaRPr sz="2400"/>
          </a:p>
        </p:txBody>
      </p:sp>
      <p:sp>
        <p:nvSpPr>
          <p:cNvPr id="6" name="TextBox 5">
            <a:extLst>
              <a:ext uri="{FF2B5EF4-FFF2-40B4-BE49-F238E27FC236}">
                <a16:creationId xmlns:a16="http://schemas.microsoft.com/office/drawing/2014/main" id="{DEF08C10-562B-DC6B-C98F-3DF5DC664B16}"/>
              </a:ext>
            </a:extLst>
          </p:cNvPr>
          <p:cNvSpPr txBox="1"/>
          <p:nvPr/>
        </p:nvSpPr>
        <p:spPr>
          <a:xfrm>
            <a:off x="512965" y="1251581"/>
            <a:ext cx="8881405" cy="4216539"/>
          </a:xfrm>
          <a:prstGeom prst="rect">
            <a:avLst/>
          </a:prstGeom>
          <a:noFill/>
        </p:spPr>
        <p:txBody>
          <a:bodyPr wrap="square">
            <a:spAutoFit/>
          </a:bodyPr>
          <a:lstStyle/>
          <a:p>
            <a:r>
              <a:rPr lang="en-GB" sz="2800" b="1" dirty="0"/>
              <a:t>scikit-learn </a:t>
            </a:r>
          </a:p>
          <a:p>
            <a:pPr marL="342900" indent="-342900">
              <a:buFont typeface="Arial" panose="020B0604020202020204" pitchFamily="34" charset="0"/>
              <a:buChar char="•"/>
            </a:pPr>
            <a:r>
              <a:rPr lang="en-GB" sz="2400" b="1" dirty="0"/>
              <a:t>Leading machine learning toolkit</a:t>
            </a:r>
            <a:r>
              <a:rPr lang="en-GB" sz="2400" dirty="0"/>
              <a:t> for Python</a:t>
            </a:r>
          </a:p>
          <a:p>
            <a:pPr marL="342900" indent="-342900">
              <a:buFont typeface="Arial" panose="020B0604020202020204" pitchFamily="34" charset="0"/>
              <a:buChar char="•"/>
            </a:pPr>
            <a:r>
              <a:rPr lang="en-GB" sz="2400" dirty="0"/>
              <a:t>1,500+ contributors worldwide</a:t>
            </a:r>
          </a:p>
          <a:p>
            <a:pPr marL="342900" indent="-342900">
              <a:buFont typeface="Arial" panose="020B0604020202020204" pitchFamily="34" charset="0"/>
              <a:buChar char="•"/>
            </a:pPr>
            <a:r>
              <a:rPr lang="en-GB" sz="2400" dirty="0"/>
              <a:t>Key modules:</a:t>
            </a:r>
          </a:p>
          <a:p>
            <a:pPr marL="800100" lvl="1" indent="-342900">
              <a:buFont typeface="Arial" panose="020B0604020202020204" pitchFamily="34" charset="0"/>
              <a:buChar char="•"/>
            </a:pPr>
            <a:r>
              <a:rPr lang="en-GB" sz="2400" b="1" dirty="0"/>
              <a:t>Classification:</a:t>
            </a:r>
            <a:r>
              <a:rPr lang="en-GB" sz="2400" dirty="0"/>
              <a:t> SVM, k-NN, random forest, logistic regression</a:t>
            </a:r>
          </a:p>
          <a:p>
            <a:pPr marL="800100" lvl="1" indent="-342900">
              <a:buFont typeface="Arial" panose="020B0604020202020204" pitchFamily="34" charset="0"/>
              <a:buChar char="•"/>
            </a:pPr>
            <a:r>
              <a:rPr lang="en-GB" sz="2400" b="1" dirty="0"/>
              <a:t>Regression:</a:t>
            </a:r>
            <a:r>
              <a:rPr lang="en-GB" sz="2400" dirty="0"/>
              <a:t> Lasso, ridge regression</a:t>
            </a:r>
          </a:p>
          <a:p>
            <a:pPr marL="800100" lvl="1" indent="-342900">
              <a:buFont typeface="Arial" panose="020B0604020202020204" pitchFamily="34" charset="0"/>
              <a:buChar char="•"/>
            </a:pPr>
            <a:r>
              <a:rPr lang="en-GB" sz="2400" b="1" dirty="0"/>
              <a:t>Clustering:</a:t>
            </a:r>
            <a:r>
              <a:rPr lang="en-GB" sz="2400" dirty="0"/>
              <a:t> k-means, spectral clustering</a:t>
            </a:r>
          </a:p>
          <a:p>
            <a:pPr marL="800100" lvl="1" indent="-342900">
              <a:buFont typeface="Arial" panose="020B0604020202020204" pitchFamily="34" charset="0"/>
              <a:buChar char="•"/>
            </a:pPr>
            <a:r>
              <a:rPr lang="en-GB" sz="2400" b="1" dirty="0"/>
              <a:t>Dimensionality reduction:</a:t>
            </a:r>
            <a:r>
              <a:rPr lang="en-GB" sz="2400" dirty="0"/>
              <a:t> PCA, feature selection, matrix factorization</a:t>
            </a:r>
          </a:p>
          <a:p>
            <a:pPr marL="800100" lvl="1" indent="-342900">
              <a:buFont typeface="Arial" panose="020B0604020202020204" pitchFamily="34" charset="0"/>
              <a:buChar char="•"/>
            </a:pPr>
            <a:r>
              <a:rPr lang="en-GB" sz="2400" b="1" dirty="0"/>
              <a:t>Model selection:</a:t>
            </a:r>
            <a:r>
              <a:rPr lang="en-GB" sz="2400" dirty="0"/>
              <a:t> Grid search, cross-validation, metrics</a:t>
            </a:r>
          </a:p>
          <a:p>
            <a:pPr marL="800100" lvl="1" indent="-342900">
              <a:buFont typeface="Arial" panose="020B0604020202020204" pitchFamily="34" charset="0"/>
              <a:buChar char="•"/>
            </a:pPr>
            <a:r>
              <a:rPr lang="en-GB" sz="2400" b="1" dirty="0"/>
              <a:t>Preprocessing:</a:t>
            </a:r>
            <a:r>
              <a:rPr lang="en-GB" sz="2400" dirty="0"/>
              <a:t> Feature extraction, normalization</a:t>
            </a:r>
          </a:p>
        </p:txBody>
      </p:sp>
    </p:spTree>
    <p:extLst>
      <p:ext uri="{BB962C8B-B14F-4D97-AF65-F5344CB8AC3E}">
        <p14:creationId xmlns:p14="http://schemas.microsoft.com/office/powerpoint/2010/main" val="2389834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311" y="272061"/>
            <a:ext cx="10358235" cy="509541"/>
          </a:xfrm>
          <a:prstGeom prst="rect">
            <a:avLst/>
          </a:prstGeom>
        </p:spPr>
        <p:txBody>
          <a:bodyPr vert="horz" wrap="square" lIns="0" tIns="16933" rIns="0" bIns="0" rtlCol="0" anchor="ctr">
            <a:spAutoFit/>
          </a:bodyPr>
          <a:lstStyle/>
          <a:p>
            <a:pPr marL="16933">
              <a:lnSpc>
                <a:spcPct val="100000"/>
              </a:lnSpc>
              <a:spcBef>
                <a:spcPts val="133"/>
              </a:spcBef>
            </a:pPr>
            <a:r>
              <a:rPr lang="en-US" sz="3200" spc="-13" dirty="0"/>
              <a:t>Python 2 and Python 3</a:t>
            </a:r>
            <a:endParaRPr sz="3200" spc="-7" dirty="0"/>
          </a:p>
        </p:txBody>
      </p:sp>
      <p:sp>
        <p:nvSpPr>
          <p:cNvPr id="3" name="object 3"/>
          <p:cNvSpPr txBox="1"/>
          <p:nvPr/>
        </p:nvSpPr>
        <p:spPr>
          <a:xfrm>
            <a:off x="512966" y="1550370"/>
            <a:ext cx="9248140" cy="1869400"/>
          </a:xfrm>
          <a:prstGeom prst="rect">
            <a:avLst/>
          </a:prstGeom>
        </p:spPr>
        <p:txBody>
          <a:bodyPr vert="horz" wrap="square" lIns="0" tIns="14393" rIns="0" bIns="0" rtlCol="0">
            <a:spAutoFit/>
          </a:bodyPr>
          <a:lstStyle/>
          <a:p>
            <a:pPr marL="625671" marR="6773" indent="-609585">
              <a:lnSpc>
                <a:spcPct val="100699"/>
              </a:lnSpc>
              <a:spcBef>
                <a:spcPts val="113"/>
              </a:spcBef>
              <a:buFont typeface="Arial" panose="020B0604020202020204" pitchFamily="34" charset="0"/>
              <a:buChar char="•"/>
            </a:pPr>
            <a:r>
              <a:rPr lang="en-US" sz="2400" b="1" spc="-7" dirty="0">
                <a:latin typeface="Arial"/>
                <a:cs typeface="Arial"/>
              </a:rPr>
              <a:t>Python 2.x</a:t>
            </a:r>
            <a:r>
              <a:rPr lang="en-US" sz="2400" spc="-7" dirty="0">
                <a:latin typeface="Arial"/>
                <a:cs typeface="Arial"/>
              </a:rPr>
              <a:t> reached its development </a:t>
            </a:r>
            <a:r>
              <a:rPr lang="en-US" sz="2400" b="1" spc="-7" dirty="0">
                <a:latin typeface="Arial"/>
                <a:cs typeface="Arial"/>
              </a:rPr>
              <a:t>end of life in 2020</a:t>
            </a:r>
            <a:r>
              <a:rPr lang="en-US" sz="2400" spc="-7" dirty="0">
                <a:latin typeface="Arial"/>
                <a:cs typeface="Arial"/>
              </a:rPr>
              <a:t> (including critical security patches), and so it is no longer a good idea to start new projects in Python 2.7. </a:t>
            </a:r>
          </a:p>
          <a:p>
            <a:pPr marL="625671" marR="6773" indent="-609585">
              <a:lnSpc>
                <a:spcPct val="100699"/>
              </a:lnSpc>
              <a:spcBef>
                <a:spcPts val="113"/>
              </a:spcBef>
              <a:buFont typeface="Arial" panose="020B0604020202020204" pitchFamily="34" charset="0"/>
              <a:buChar char="•"/>
            </a:pPr>
            <a:r>
              <a:rPr lang="en-US" sz="2400" spc="-7" dirty="0">
                <a:latin typeface="Arial"/>
                <a:cs typeface="Arial"/>
              </a:rPr>
              <a:t>Therefore, use </a:t>
            </a:r>
            <a:r>
              <a:rPr lang="en-US" sz="2400" b="1" spc="-7" dirty="0">
                <a:latin typeface="Arial"/>
                <a:cs typeface="Arial"/>
              </a:rPr>
              <a:t>Python 3.12 (3.9/3.10/3.11)</a:t>
            </a:r>
            <a:r>
              <a:rPr lang="en-US" sz="2400" spc="-7" dirty="0">
                <a:latin typeface="Arial"/>
                <a:cs typeface="Arial"/>
              </a:rPr>
              <a:t>, a widely deployed, well-supported stable release. </a:t>
            </a:r>
          </a:p>
        </p:txBody>
      </p:sp>
      <p:sp>
        <p:nvSpPr>
          <p:cNvPr id="4" name="object 4"/>
          <p:cNvSpPr/>
          <p:nvPr/>
        </p:nvSpPr>
        <p:spPr>
          <a:xfrm>
            <a:off x="9109092" y="4698079"/>
            <a:ext cx="3082908" cy="828235"/>
          </a:xfrm>
          <a:prstGeom prst="rect">
            <a:avLst/>
          </a:prstGeom>
          <a:blipFill>
            <a:blip r:embed="rId2" cstate="print"/>
            <a:stretch>
              <a:fillRect/>
            </a:stretch>
          </a:blipFill>
        </p:spPr>
        <p:txBody>
          <a:bodyPr wrap="square" lIns="0" tIns="0" rIns="0" bIns="0" rtlCol="0"/>
          <a:lstStyle/>
          <a:p>
            <a:endParaRPr sz="2400"/>
          </a:p>
        </p:txBody>
      </p:sp>
    </p:spTree>
    <p:extLst>
      <p:ext uri="{BB962C8B-B14F-4D97-AF65-F5344CB8AC3E}">
        <p14:creationId xmlns:p14="http://schemas.microsoft.com/office/powerpoint/2010/main" val="279668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468567"/>
            <a:ext cx="11475835" cy="386430"/>
          </a:xfrm>
          <a:prstGeom prst="rect">
            <a:avLst/>
          </a:prstGeom>
        </p:spPr>
        <p:txBody>
          <a:bodyPr vert="horz" wrap="square" lIns="0" tIns="16933" rIns="0" bIns="0" rtlCol="0" anchor="ctr">
            <a:spAutoFit/>
          </a:bodyPr>
          <a:lstStyle/>
          <a:p>
            <a:pPr marL="16933">
              <a:lnSpc>
                <a:spcPct val="100000"/>
              </a:lnSpc>
              <a:spcBef>
                <a:spcPts val="133"/>
              </a:spcBef>
            </a:pPr>
            <a:r>
              <a:rPr lang="en-US" sz="2400" spc="-7" dirty="0"/>
              <a:t>Integrated Development Environments (IDEs) and Text Editors</a:t>
            </a:r>
            <a:endParaRPr sz="2400" dirty="0"/>
          </a:p>
        </p:txBody>
      </p:sp>
      <p:sp>
        <p:nvSpPr>
          <p:cNvPr id="3" name="object 3"/>
          <p:cNvSpPr txBox="1"/>
          <p:nvPr/>
        </p:nvSpPr>
        <p:spPr>
          <a:xfrm>
            <a:off x="512965" y="1099003"/>
            <a:ext cx="11374235" cy="4705945"/>
          </a:xfrm>
          <a:prstGeom prst="rect">
            <a:avLst/>
          </a:prstGeom>
        </p:spPr>
        <p:txBody>
          <a:bodyPr vert="horz" wrap="square" lIns="0" tIns="70272" rIns="0" bIns="0" rtlCol="0">
            <a:spAutoFit/>
          </a:bodyPr>
          <a:lstStyle/>
          <a:p>
            <a:pPr marL="16933">
              <a:spcBef>
                <a:spcPts val="552"/>
              </a:spcBef>
            </a:pPr>
            <a:r>
              <a:rPr sz="2400" b="1" spc="-7" dirty="0">
                <a:latin typeface="Arial"/>
                <a:cs typeface="Arial"/>
              </a:rPr>
              <a:t>Pick an editor/IDE </a:t>
            </a:r>
            <a:r>
              <a:rPr sz="2400" b="1" dirty="0">
                <a:latin typeface="Arial"/>
                <a:cs typeface="Arial"/>
              </a:rPr>
              <a:t>for</a:t>
            </a:r>
            <a:r>
              <a:rPr sz="2400" b="1" spc="-20" dirty="0">
                <a:latin typeface="Arial"/>
                <a:cs typeface="Arial"/>
              </a:rPr>
              <a:t> </a:t>
            </a:r>
            <a:r>
              <a:rPr sz="2400" b="1" spc="-7" dirty="0">
                <a:latin typeface="Arial"/>
                <a:cs typeface="Arial"/>
              </a:rPr>
              <a:t>python</a:t>
            </a:r>
            <a:endParaRPr sz="2400" dirty="0">
              <a:latin typeface="Arial"/>
              <a:cs typeface="Arial"/>
            </a:endParaRPr>
          </a:p>
          <a:p>
            <a:pPr marL="625671">
              <a:spcBef>
                <a:spcPts val="420"/>
              </a:spcBef>
            </a:pPr>
            <a:r>
              <a:rPr sz="1600" spc="-7" dirty="0">
                <a:latin typeface="Arial"/>
                <a:cs typeface="Arial"/>
              </a:rPr>
              <a:t>or just use a text editor, or just write directly in </a:t>
            </a:r>
            <a:r>
              <a:rPr sz="1600" spc="-7" dirty="0" err="1">
                <a:latin typeface="Arial"/>
                <a:cs typeface="Arial"/>
              </a:rPr>
              <a:t>jupyter</a:t>
            </a:r>
            <a:endParaRPr lang="en-US" sz="1600" spc="-7" dirty="0">
              <a:latin typeface="Arial"/>
              <a:cs typeface="Arial"/>
            </a:endParaRPr>
          </a:p>
          <a:p>
            <a:pPr marL="16933">
              <a:spcBef>
                <a:spcPts val="1753"/>
              </a:spcBef>
            </a:pPr>
            <a:r>
              <a:rPr lang="en-US" sz="1867" spc="-7" dirty="0">
                <a:latin typeface="Arial"/>
                <a:cs typeface="Arial"/>
              </a:rPr>
              <a:t>Here are some that you can explore:</a:t>
            </a:r>
          </a:p>
          <a:p>
            <a:pPr marL="626518" lvl="1">
              <a:spcBef>
                <a:spcPts val="1753"/>
              </a:spcBef>
            </a:pPr>
            <a:r>
              <a:rPr lang="en-US" sz="1867" spc="-7" dirty="0">
                <a:latin typeface="Arial"/>
                <a:cs typeface="Arial"/>
              </a:rPr>
              <a:t>• </a:t>
            </a:r>
            <a:r>
              <a:rPr lang="en-US" sz="1867" spc="-7" dirty="0" err="1">
                <a:latin typeface="Arial"/>
                <a:cs typeface="Arial"/>
              </a:rPr>
              <a:t>PyDev</a:t>
            </a:r>
            <a:r>
              <a:rPr lang="en-US" sz="1867" spc="-7" dirty="0">
                <a:latin typeface="Arial"/>
                <a:cs typeface="Arial"/>
              </a:rPr>
              <a:t> (free), an IDE built on the Eclipse platform</a:t>
            </a:r>
          </a:p>
          <a:p>
            <a:pPr marL="626518" lvl="1">
              <a:spcBef>
                <a:spcPts val="1753"/>
              </a:spcBef>
            </a:pPr>
            <a:r>
              <a:rPr lang="en-US" sz="1867" spc="-7" dirty="0">
                <a:latin typeface="Arial"/>
                <a:cs typeface="Arial"/>
              </a:rPr>
              <a:t>• </a:t>
            </a:r>
            <a:r>
              <a:rPr lang="en-US" sz="1867" spc="-7" dirty="0" err="1">
                <a:latin typeface="Arial"/>
                <a:cs typeface="Arial"/>
              </a:rPr>
              <a:t>PyCharm</a:t>
            </a:r>
            <a:r>
              <a:rPr lang="en-US" sz="1867" spc="-7" dirty="0">
                <a:latin typeface="Arial"/>
                <a:cs typeface="Arial"/>
              </a:rPr>
              <a:t> from </a:t>
            </a:r>
            <a:r>
              <a:rPr lang="en-US" sz="1867" spc="-7" dirty="0" err="1">
                <a:latin typeface="Arial"/>
                <a:cs typeface="Arial"/>
              </a:rPr>
              <a:t>JetBrains</a:t>
            </a:r>
            <a:r>
              <a:rPr lang="en-US" sz="1867" spc="-7" dirty="0">
                <a:latin typeface="Arial"/>
                <a:cs typeface="Arial"/>
              </a:rPr>
              <a:t> (subscription-based for commercial users, free for open</a:t>
            </a:r>
          </a:p>
          <a:p>
            <a:pPr marL="626518" lvl="1">
              <a:spcBef>
                <a:spcPts val="1753"/>
              </a:spcBef>
            </a:pPr>
            <a:r>
              <a:rPr lang="en-US" sz="1867" spc="-7" dirty="0">
                <a:latin typeface="Arial"/>
                <a:cs typeface="Arial"/>
              </a:rPr>
              <a:t>source developers)</a:t>
            </a:r>
          </a:p>
          <a:p>
            <a:pPr marL="626518" lvl="1">
              <a:spcBef>
                <a:spcPts val="1753"/>
              </a:spcBef>
            </a:pPr>
            <a:r>
              <a:rPr lang="en-US" sz="1867" spc="-7" dirty="0">
                <a:latin typeface="Arial"/>
                <a:cs typeface="Arial"/>
              </a:rPr>
              <a:t>• Python Tools for Visual Studio (for Windows users)</a:t>
            </a:r>
          </a:p>
          <a:p>
            <a:pPr marL="626518" lvl="1">
              <a:spcBef>
                <a:spcPts val="1753"/>
              </a:spcBef>
            </a:pPr>
            <a:r>
              <a:rPr lang="en-US" sz="1867" spc="-7" dirty="0">
                <a:latin typeface="Arial"/>
                <a:cs typeface="Arial"/>
              </a:rPr>
              <a:t>• </a:t>
            </a:r>
            <a:r>
              <a:rPr lang="en-US" sz="1867" spc="-7" dirty="0" err="1">
                <a:latin typeface="Arial"/>
                <a:cs typeface="Arial"/>
              </a:rPr>
              <a:t>Spyder</a:t>
            </a:r>
            <a:r>
              <a:rPr lang="en-US" sz="1867" spc="-7" dirty="0">
                <a:latin typeface="Arial"/>
                <a:cs typeface="Arial"/>
              </a:rPr>
              <a:t> (free), an IDE currently shipped with Anaconda</a:t>
            </a:r>
          </a:p>
          <a:p>
            <a:pPr marL="626518" lvl="1">
              <a:spcBef>
                <a:spcPts val="1753"/>
              </a:spcBef>
            </a:pPr>
            <a:r>
              <a:rPr lang="en-US" sz="1867" spc="-7" dirty="0">
                <a:latin typeface="Arial"/>
                <a:cs typeface="Arial"/>
              </a:rPr>
              <a:t>• Komodo IDE (commercial)</a:t>
            </a:r>
          </a:p>
          <a:p>
            <a:pPr>
              <a:spcBef>
                <a:spcPts val="67"/>
              </a:spcBef>
            </a:pPr>
            <a:endParaRPr sz="2133" dirty="0">
              <a:latin typeface="Arial"/>
              <a:cs typeface="Arial"/>
            </a:endParaRPr>
          </a:p>
        </p:txBody>
      </p:sp>
      <p:sp>
        <p:nvSpPr>
          <p:cNvPr id="4" name="object 4"/>
          <p:cNvSpPr txBox="1"/>
          <p:nvPr/>
        </p:nvSpPr>
        <p:spPr>
          <a:xfrm>
            <a:off x="101600" y="6375400"/>
            <a:ext cx="11887200" cy="368585"/>
          </a:xfrm>
          <a:prstGeom prst="rect">
            <a:avLst/>
          </a:prstGeom>
          <a:solidFill>
            <a:srgbClr val="F4CCCC"/>
          </a:solidFill>
          <a:ln w="76199">
            <a:solidFill>
              <a:srgbClr val="FF0000"/>
            </a:solidFill>
          </a:ln>
        </p:spPr>
        <p:txBody>
          <a:bodyPr vert="horz" wrap="square" lIns="0" tIns="153247" rIns="0" bIns="0" rtlCol="0">
            <a:spAutoFit/>
          </a:bodyPr>
          <a:lstStyle/>
          <a:p>
            <a:pPr marL="578259" marR="454649" indent="-126997">
              <a:lnSpc>
                <a:spcPct val="100699"/>
              </a:lnSpc>
              <a:spcBef>
                <a:spcPts val="1207"/>
              </a:spcBef>
            </a:pPr>
            <a:r>
              <a:rPr sz="1467" b="1" spc="-7" dirty="0">
                <a:latin typeface="Arial"/>
                <a:cs typeface="Arial"/>
              </a:rPr>
              <a:t>Note: </a:t>
            </a:r>
            <a:r>
              <a:rPr sz="1467" spc="-7" dirty="0">
                <a:latin typeface="Arial"/>
                <a:cs typeface="Arial"/>
              </a:rPr>
              <a:t>we will use only Python </a:t>
            </a:r>
            <a:r>
              <a:rPr sz="1467" dirty="0">
                <a:latin typeface="Arial"/>
                <a:cs typeface="Arial"/>
              </a:rPr>
              <a:t>3 </a:t>
            </a:r>
            <a:r>
              <a:rPr sz="1467" spc="-7" dirty="0">
                <a:latin typeface="Arial"/>
                <a:cs typeface="Arial"/>
              </a:rPr>
              <a:t>in this </a:t>
            </a:r>
            <a:r>
              <a:rPr sz="1467" dirty="0">
                <a:latin typeface="Arial"/>
                <a:cs typeface="Arial"/>
              </a:rPr>
              <a:t>course. </a:t>
            </a:r>
            <a:r>
              <a:rPr sz="1467" spc="-7" dirty="0">
                <a:latin typeface="Arial"/>
                <a:cs typeface="Arial"/>
              </a:rPr>
              <a:t>Check that </a:t>
            </a:r>
            <a:r>
              <a:rPr sz="1467" dirty="0">
                <a:latin typeface="Arial"/>
                <a:cs typeface="Arial"/>
              </a:rPr>
              <a:t>you </a:t>
            </a:r>
            <a:r>
              <a:rPr sz="1467" spc="-7" dirty="0">
                <a:latin typeface="Arial"/>
                <a:cs typeface="Arial"/>
              </a:rPr>
              <a:t>have  Python </a:t>
            </a:r>
            <a:r>
              <a:rPr sz="1467" dirty="0">
                <a:latin typeface="Arial"/>
                <a:cs typeface="Arial"/>
              </a:rPr>
              <a:t>3 </a:t>
            </a:r>
            <a:r>
              <a:rPr sz="1467" spc="-7" dirty="0">
                <a:latin typeface="Arial"/>
                <a:cs typeface="Arial"/>
              </a:rPr>
              <a:t>installed on </a:t>
            </a:r>
            <a:r>
              <a:rPr sz="1467" dirty="0">
                <a:latin typeface="Arial"/>
                <a:cs typeface="Arial"/>
              </a:rPr>
              <a:t>your machine </a:t>
            </a:r>
            <a:r>
              <a:rPr sz="1467" spc="-7" dirty="0">
                <a:latin typeface="Arial"/>
                <a:cs typeface="Arial"/>
              </a:rPr>
              <a:t>and that it is </a:t>
            </a:r>
            <a:r>
              <a:rPr sz="1467" dirty="0">
                <a:latin typeface="Arial"/>
                <a:cs typeface="Arial"/>
              </a:rPr>
              <a:t>running</a:t>
            </a:r>
            <a:r>
              <a:rPr sz="1467" spc="-113" dirty="0">
                <a:latin typeface="Arial"/>
                <a:cs typeface="Arial"/>
              </a:rPr>
              <a:t> </a:t>
            </a:r>
            <a:r>
              <a:rPr sz="1467" spc="-7" dirty="0">
                <a:latin typeface="Arial"/>
                <a:cs typeface="Arial"/>
              </a:rPr>
              <a:t>properly.</a:t>
            </a:r>
            <a:endParaRPr sz="1467" dirty="0">
              <a:latin typeface="Arial"/>
              <a:cs typeface="Arial"/>
            </a:endParaRPr>
          </a:p>
        </p:txBody>
      </p:sp>
      <p:pic>
        <p:nvPicPr>
          <p:cNvPr id="5" name="Picture 4"/>
          <p:cNvPicPr>
            <a:picLocks noChangeAspect="1"/>
          </p:cNvPicPr>
          <p:nvPr/>
        </p:nvPicPr>
        <p:blipFill>
          <a:blip r:embed="rId2"/>
          <a:stretch>
            <a:fillRect/>
          </a:stretch>
        </p:blipFill>
        <p:spPr>
          <a:xfrm>
            <a:off x="9081871" y="148980"/>
            <a:ext cx="3080779" cy="829128"/>
          </a:xfrm>
          <a:prstGeom prst="rect">
            <a:avLst/>
          </a:prstGeom>
        </p:spPr>
      </p:pic>
    </p:spTree>
    <p:extLst>
      <p:ext uri="{BB962C8B-B14F-4D97-AF65-F5344CB8AC3E}">
        <p14:creationId xmlns:p14="http://schemas.microsoft.com/office/powerpoint/2010/main" val="1108433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468567"/>
            <a:ext cx="11475835" cy="386430"/>
          </a:xfrm>
          <a:prstGeom prst="rect">
            <a:avLst/>
          </a:prstGeom>
        </p:spPr>
        <p:txBody>
          <a:bodyPr vert="horz" wrap="square" lIns="0" tIns="16933" rIns="0" bIns="0" rtlCol="0" anchor="ctr">
            <a:spAutoFit/>
          </a:bodyPr>
          <a:lstStyle/>
          <a:p>
            <a:pPr marL="16933">
              <a:lnSpc>
                <a:spcPct val="100000"/>
              </a:lnSpc>
              <a:spcBef>
                <a:spcPts val="133"/>
              </a:spcBef>
            </a:pPr>
            <a:r>
              <a:rPr lang="en-US" sz="2400" spc="-7" dirty="0"/>
              <a:t>Integrated Development Environments (IDEs) and Text Editors</a:t>
            </a:r>
            <a:endParaRPr sz="2400" dirty="0"/>
          </a:p>
        </p:txBody>
      </p:sp>
      <p:sp>
        <p:nvSpPr>
          <p:cNvPr id="3" name="object 3"/>
          <p:cNvSpPr txBox="1"/>
          <p:nvPr/>
        </p:nvSpPr>
        <p:spPr>
          <a:xfrm>
            <a:off x="512965" y="1099003"/>
            <a:ext cx="11374235" cy="5875368"/>
          </a:xfrm>
          <a:prstGeom prst="rect">
            <a:avLst/>
          </a:prstGeom>
        </p:spPr>
        <p:txBody>
          <a:bodyPr vert="horz" wrap="square" lIns="0" tIns="70272" rIns="0" bIns="0" rtlCol="0">
            <a:spAutoFit/>
          </a:bodyPr>
          <a:lstStyle/>
          <a:p>
            <a:pPr marL="16933">
              <a:spcBef>
                <a:spcPts val="800"/>
              </a:spcBef>
            </a:pPr>
            <a:r>
              <a:rPr lang="en-US" sz="2400" b="1" spc="-7" dirty="0">
                <a:latin typeface="Arial"/>
                <a:cs typeface="Arial"/>
              </a:rPr>
              <a:t>Anaconda Navigator (Installed in the Computers of AB-01)</a:t>
            </a:r>
          </a:p>
          <a:p>
            <a:pPr marL="16933">
              <a:spcBef>
                <a:spcPts val="800"/>
              </a:spcBef>
            </a:pPr>
            <a:r>
              <a:rPr lang="en-US" sz="1867" spc="-7" dirty="0">
                <a:latin typeface="Arial"/>
                <a:cs typeface="Arial"/>
              </a:rPr>
              <a:t>Anaconda Navigator is a desktop graphical user interface (GUI) included in Anaconda distribution that allows users to launch applications and manage </a:t>
            </a:r>
            <a:r>
              <a:rPr lang="en-US" sz="1867" spc="-7" dirty="0" err="1">
                <a:latin typeface="Arial"/>
                <a:cs typeface="Arial"/>
              </a:rPr>
              <a:t>conda</a:t>
            </a:r>
            <a:r>
              <a:rPr lang="en-US" sz="1867" spc="-7" dirty="0">
                <a:latin typeface="Arial"/>
                <a:cs typeface="Arial"/>
              </a:rPr>
              <a:t> packages, environments and channels without using command-line commands. Navigator can search for packages on Anaconda Cloud or in a local Anaconda Repository, install them in an environment, run the packages and update them. It is available for Windows, </a:t>
            </a:r>
            <a:r>
              <a:rPr lang="en-US" sz="1867" spc="-7" dirty="0" err="1">
                <a:latin typeface="Arial"/>
                <a:cs typeface="Arial"/>
              </a:rPr>
              <a:t>macOS</a:t>
            </a:r>
            <a:r>
              <a:rPr lang="en-US" sz="1867" spc="-7" dirty="0">
                <a:latin typeface="Arial"/>
                <a:cs typeface="Arial"/>
              </a:rPr>
              <a:t> and Linux. The following applications are default in Navigator:</a:t>
            </a:r>
          </a:p>
          <a:p>
            <a:pPr marL="815980" lvl="1" indent="-228594">
              <a:lnSpc>
                <a:spcPct val="150000"/>
              </a:lnSpc>
              <a:buFont typeface="Arial" panose="020B0604020202020204" pitchFamily="34" charset="0"/>
              <a:buChar char="•"/>
            </a:pPr>
            <a:r>
              <a:rPr lang="en-US" sz="1600" spc="-7" dirty="0" err="1">
                <a:latin typeface="Arial"/>
                <a:cs typeface="Arial"/>
              </a:rPr>
              <a:t>JupyterLab</a:t>
            </a:r>
            <a:endParaRPr lang="en-US" sz="1600" spc="-7" dirty="0">
              <a:latin typeface="Arial"/>
              <a:cs typeface="Arial"/>
            </a:endParaRPr>
          </a:p>
          <a:p>
            <a:pPr marL="815980" lvl="1" indent="-228594">
              <a:lnSpc>
                <a:spcPct val="150000"/>
              </a:lnSpc>
              <a:buFont typeface="Arial" panose="020B0604020202020204" pitchFamily="34" charset="0"/>
              <a:buChar char="•"/>
            </a:pPr>
            <a:r>
              <a:rPr lang="en-US" sz="1600" b="1" spc="-7" dirty="0" err="1">
                <a:latin typeface="Arial"/>
                <a:cs typeface="Arial"/>
              </a:rPr>
              <a:t>Jupyter</a:t>
            </a:r>
            <a:r>
              <a:rPr lang="en-US" sz="1600" b="1" spc="-7" dirty="0">
                <a:latin typeface="Arial"/>
                <a:cs typeface="Arial"/>
              </a:rPr>
              <a:t> Notebook</a:t>
            </a:r>
          </a:p>
          <a:p>
            <a:pPr marL="815980" lvl="1" indent="-228594">
              <a:lnSpc>
                <a:spcPct val="150000"/>
              </a:lnSpc>
              <a:buFont typeface="Arial" panose="020B0604020202020204" pitchFamily="34" charset="0"/>
              <a:buChar char="•"/>
            </a:pPr>
            <a:r>
              <a:rPr lang="en-US" sz="1600" spc="-7" dirty="0" err="1">
                <a:latin typeface="Arial"/>
                <a:cs typeface="Arial"/>
              </a:rPr>
              <a:t>QtConsole</a:t>
            </a:r>
            <a:endParaRPr lang="en-US" sz="1600" spc="-7" dirty="0">
              <a:latin typeface="Arial"/>
              <a:cs typeface="Arial"/>
            </a:endParaRPr>
          </a:p>
          <a:p>
            <a:pPr marL="815980" lvl="1" indent="-228594">
              <a:lnSpc>
                <a:spcPct val="150000"/>
              </a:lnSpc>
              <a:buFont typeface="Arial" panose="020B0604020202020204" pitchFamily="34" charset="0"/>
              <a:buChar char="•"/>
            </a:pPr>
            <a:r>
              <a:rPr lang="en-US" sz="1600" b="1" spc="-7" dirty="0" err="1">
                <a:latin typeface="Arial"/>
                <a:cs typeface="Arial"/>
              </a:rPr>
              <a:t>Spyder</a:t>
            </a:r>
            <a:endParaRPr lang="en-US" sz="1600" b="1" spc="-7" dirty="0">
              <a:latin typeface="Arial"/>
              <a:cs typeface="Arial"/>
            </a:endParaRPr>
          </a:p>
          <a:p>
            <a:pPr marL="815980" lvl="1" indent="-228594">
              <a:lnSpc>
                <a:spcPct val="150000"/>
              </a:lnSpc>
              <a:buFont typeface="Arial" panose="020B0604020202020204" pitchFamily="34" charset="0"/>
              <a:buChar char="•"/>
            </a:pPr>
            <a:r>
              <a:rPr lang="en-US" sz="1600" spc="-7" dirty="0">
                <a:latin typeface="Arial"/>
                <a:cs typeface="Arial"/>
              </a:rPr>
              <a:t>Glue</a:t>
            </a:r>
          </a:p>
          <a:p>
            <a:pPr marL="815980" lvl="1" indent="-228594">
              <a:lnSpc>
                <a:spcPct val="150000"/>
              </a:lnSpc>
              <a:buFont typeface="Arial" panose="020B0604020202020204" pitchFamily="34" charset="0"/>
              <a:buChar char="•"/>
            </a:pPr>
            <a:r>
              <a:rPr lang="en-US" sz="1600" spc="-7" dirty="0">
                <a:latin typeface="Arial"/>
                <a:cs typeface="Arial"/>
              </a:rPr>
              <a:t>Orange</a:t>
            </a:r>
          </a:p>
          <a:p>
            <a:pPr marL="815980" lvl="1" indent="-228594">
              <a:lnSpc>
                <a:spcPct val="150000"/>
              </a:lnSpc>
              <a:buFont typeface="Arial" panose="020B0604020202020204" pitchFamily="34" charset="0"/>
              <a:buChar char="•"/>
            </a:pPr>
            <a:r>
              <a:rPr lang="en-US" sz="1600" spc="-7" dirty="0" err="1">
                <a:latin typeface="Arial"/>
                <a:cs typeface="Arial"/>
              </a:rPr>
              <a:t>RStudio</a:t>
            </a:r>
            <a:endParaRPr lang="en-US" sz="1600" spc="-7" dirty="0">
              <a:latin typeface="Arial"/>
              <a:cs typeface="Arial"/>
            </a:endParaRPr>
          </a:p>
          <a:p>
            <a:pPr marL="815980" lvl="1" indent="-228594">
              <a:lnSpc>
                <a:spcPct val="150000"/>
              </a:lnSpc>
              <a:buFont typeface="Arial" panose="020B0604020202020204" pitchFamily="34" charset="0"/>
              <a:buChar char="•"/>
            </a:pPr>
            <a:r>
              <a:rPr lang="en-US" sz="1600" spc="-7" dirty="0">
                <a:latin typeface="Arial"/>
                <a:cs typeface="Arial"/>
              </a:rPr>
              <a:t>Visual Studio Code</a:t>
            </a:r>
          </a:p>
          <a:p>
            <a:pPr marL="16933">
              <a:spcBef>
                <a:spcPts val="1753"/>
              </a:spcBef>
            </a:pPr>
            <a:endParaRPr lang="en-US" sz="2400" spc="-7" dirty="0">
              <a:latin typeface="Arial"/>
              <a:cs typeface="Arial"/>
            </a:endParaRPr>
          </a:p>
          <a:p>
            <a:pPr>
              <a:spcBef>
                <a:spcPts val="67"/>
              </a:spcBef>
            </a:pPr>
            <a:endParaRPr sz="2133" dirty="0">
              <a:latin typeface="Arial"/>
              <a:cs typeface="Arial"/>
            </a:endParaRPr>
          </a:p>
        </p:txBody>
      </p:sp>
      <p:sp>
        <p:nvSpPr>
          <p:cNvPr id="4" name="object 4"/>
          <p:cNvSpPr txBox="1"/>
          <p:nvPr/>
        </p:nvSpPr>
        <p:spPr>
          <a:xfrm>
            <a:off x="101600" y="6375400"/>
            <a:ext cx="11887200" cy="368585"/>
          </a:xfrm>
          <a:prstGeom prst="rect">
            <a:avLst/>
          </a:prstGeom>
          <a:solidFill>
            <a:srgbClr val="F4CCCC"/>
          </a:solidFill>
          <a:ln w="76199">
            <a:solidFill>
              <a:srgbClr val="FF0000"/>
            </a:solidFill>
          </a:ln>
        </p:spPr>
        <p:txBody>
          <a:bodyPr vert="horz" wrap="square" lIns="0" tIns="153247" rIns="0" bIns="0" rtlCol="0">
            <a:spAutoFit/>
          </a:bodyPr>
          <a:lstStyle/>
          <a:p>
            <a:pPr marL="578259" marR="454649" indent="-126997">
              <a:lnSpc>
                <a:spcPct val="100699"/>
              </a:lnSpc>
              <a:spcBef>
                <a:spcPts val="1207"/>
              </a:spcBef>
            </a:pPr>
            <a:r>
              <a:rPr sz="1467" b="1" spc="-7" dirty="0">
                <a:latin typeface="Arial"/>
                <a:cs typeface="Arial"/>
              </a:rPr>
              <a:t>Note: </a:t>
            </a:r>
            <a:r>
              <a:rPr sz="1467" spc="-7" dirty="0">
                <a:latin typeface="Arial"/>
                <a:cs typeface="Arial"/>
              </a:rPr>
              <a:t>we will use only Python </a:t>
            </a:r>
            <a:r>
              <a:rPr sz="1467" dirty="0">
                <a:latin typeface="Arial"/>
                <a:cs typeface="Arial"/>
              </a:rPr>
              <a:t>3 </a:t>
            </a:r>
            <a:r>
              <a:rPr sz="1467" spc="-7" dirty="0">
                <a:latin typeface="Arial"/>
                <a:cs typeface="Arial"/>
              </a:rPr>
              <a:t>in this </a:t>
            </a:r>
            <a:r>
              <a:rPr sz="1467" dirty="0">
                <a:latin typeface="Arial"/>
                <a:cs typeface="Arial"/>
              </a:rPr>
              <a:t>course. </a:t>
            </a:r>
            <a:r>
              <a:rPr sz="1467" spc="-7" dirty="0">
                <a:latin typeface="Arial"/>
                <a:cs typeface="Arial"/>
              </a:rPr>
              <a:t>Check that </a:t>
            </a:r>
            <a:r>
              <a:rPr sz="1467" dirty="0">
                <a:latin typeface="Arial"/>
                <a:cs typeface="Arial"/>
              </a:rPr>
              <a:t>you </a:t>
            </a:r>
            <a:r>
              <a:rPr sz="1467" spc="-7" dirty="0">
                <a:latin typeface="Arial"/>
                <a:cs typeface="Arial"/>
              </a:rPr>
              <a:t>have  Python </a:t>
            </a:r>
            <a:r>
              <a:rPr sz="1467" dirty="0">
                <a:latin typeface="Arial"/>
                <a:cs typeface="Arial"/>
              </a:rPr>
              <a:t>3 </a:t>
            </a:r>
            <a:r>
              <a:rPr sz="1467" spc="-7" dirty="0">
                <a:latin typeface="Arial"/>
                <a:cs typeface="Arial"/>
              </a:rPr>
              <a:t>installed on </a:t>
            </a:r>
            <a:r>
              <a:rPr sz="1467" dirty="0">
                <a:latin typeface="Arial"/>
                <a:cs typeface="Arial"/>
              </a:rPr>
              <a:t>your machine </a:t>
            </a:r>
            <a:r>
              <a:rPr sz="1467" spc="-7" dirty="0">
                <a:latin typeface="Arial"/>
                <a:cs typeface="Arial"/>
              </a:rPr>
              <a:t>and that it is </a:t>
            </a:r>
            <a:r>
              <a:rPr sz="1467" dirty="0">
                <a:latin typeface="Arial"/>
                <a:cs typeface="Arial"/>
              </a:rPr>
              <a:t>running</a:t>
            </a:r>
            <a:r>
              <a:rPr sz="1467" spc="-113" dirty="0">
                <a:latin typeface="Arial"/>
                <a:cs typeface="Arial"/>
              </a:rPr>
              <a:t> </a:t>
            </a:r>
            <a:r>
              <a:rPr sz="1467" spc="-7" dirty="0">
                <a:latin typeface="Arial"/>
                <a:cs typeface="Arial"/>
              </a:rPr>
              <a:t>properly.</a:t>
            </a:r>
            <a:endParaRPr sz="1467" dirty="0">
              <a:latin typeface="Arial"/>
              <a:cs typeface="Arial"/>
            </a:endParaRPr>
          </a:p>
        </p:txBody>
      </p:sp>
      <p:pic>
        <p:nvPicPr>
          <p:cNvPr id="5" name="Picture 4"/>
          <p:cNvPicPr>
            <a:picLocks noChangeAspect="1"/>
          </p:cNvPicPr>
          <p:nvPr/>
        </p:nvPicPr>
        <p:blipFill>
          <a:blip r:embed="rId2"/>
          <a:stretch>
            <a:fillRect/>
          </a:stretch>
        </p:blipFill>
        <p:spPr>
          <a:xfrm>
            <a:off x="9111221" y="148980"/>
            <a:ext cx="3080779" cy="829128"/>
          </a:xfrm>
          <a:prstGeom prst="rect">
            <a:avLst/>
          </a:prstGeom>
        </p:spPr>
      </p:pic>
    </p:spTree>
    <p:extLst>
      <p:ext uri="{BB962C8B-B14F-4D97-AF65-F5344CB8AC3E}">
        <p14:creationId xmlns:p14="http://schemas.microsoft.com/office/powerpoint/2010/main" val="185894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468567"/>
            <a:ext cx="11475835" cy="386430"/>
          </a:xfrm>
          <a:prstGeom prst="rect">
            <a:avLst/>
          </a:prstGeom>
        </p:spPr>
        <p:txBody>
          <a:bodyPr vert="horz" wrap="square" lIns="0" tIns="16933" rIns="0" bIns="0" rtlCol="0" anchor="ctr">
            <a:spAutoFit/>
          </a:bodyPr>
          <a:lstStyle/>
          <a:p>
            <a:pPr marL="16933">
              <a:lnSpc>
                <a:spcPct val="100000"/>
              </a:lnSpc>
              <a:spcBef>
                <a:spcPts val="133"/>
              </a:spcBef>
            </a:pPr>
            <a:r>
              <a:rPr lang="en-US" sz="2400" spc="-7" dirty="0"/>
              <a:t>Integrated Development Environments (IDEs) and Text Editors</a:t>
            </a:r>
            <a:endParaRPr sz="2400" dirty="0"/>
          </a:p>
        </p:txBody>
      </p:sp>
      <p:sp>
        <p:nvSpPr>
          <p:cNvPr id="4" name="object 4"/>
          <p:cNvSpPr txBox="1"/>
          <p:nvPr/>
        </p:nvSpPr>
        <p:spPr>
          <a:xfrm>
            <a:off x="101600" y="6375400"/>
            <a:ext cx="11887200" cy="368585"/>
          </a:xfrm>
          <a:prstGeom prst="rect">
            <a:avLst/>
          </a:prstGeom>
          <a:solidFill>
            <a:srgbClr val="F4CCCC"/>
          </a:solidFill>
          <a:ln w="76199">
            <a:solidFill>
              <a:srgbClr val="FF0000"/>
            </a:solidFill>
          </a:ln>
        </p:spPr>
        <p:txBody>
          <a:bodyPr vert="horz" wrap="square" lIns="0" tIns="153247" rIns="0" bIns="0" rtlCol="0">
            <a:spAutoFit/>
          </a:bodyPr>
          <a:lstStyle/>
          <a:p>
            <a:pPr marL="578259" marR="454649" indent="-126997">
              <a:lnSpc>
                <a:spcPct val="100699"/>
              </a:lnSpc>
              <a:spcBef>
                <a:spcPts val="1207"/>
              </a:spcBef>
            </a:pPr>
            <a:r>
              <a:rPr sz="1467" b="1" spc="-7" dirty="0">
                <a:latin typeface="Arial"/>
                <a:cs typeface="Arial"/>
              </a:rPr>
              <a:t>Note: </a:t>
            </a:r>
            <a:r>
              <a:rPr sz="1467" spc="-7" dirty="0">
                <a:latin typeface="Arial"/>
                <a:cs typeface="Arial"/>
              </a:rPr>
              <a:t>we will use only Python </a:t>
            </a:r>
            <a:r>
              <a:rPr sz="1467" dirty="0">
                <a:latin typeface="Arial"/>
                <a:cs typeface="Arial"/>
              </a:rPr>
              <a:t>3 </a:t>
            </a:r>
            <a:r>
              <a:rPr sz="1467" spc="-7" dirty="0">
                <a:latin typeface="Arial"/>
                <a:cs typeface="Arial"/>
              </a:rPr>
              <a:t>in this </a:t>
            </a:r>
            <a:r>
              <a:rPr sz="1467" dirty="0">
                <a:latin typeface="Arial"/>
                <a:cs typeface="Arial"/>
              </a:rPr>
              <a:t>course. </a:t>
            </a:r>
            <a:r>
              <a:rPr sz="1467" spc="-7" dirty="0">
                <a:latin typeface="Arial"/>
                <a:cs typeface="Arial"/>
              </a:rPr>
              <a:t>Check that </a:t>
            </a:r>
            <a:r>
              <a:rPr sz="1467" dirty="0">
                <a:latin typeface="Arial"/>
                <a:cs typeface="Arial"/>
              </a:rPr>
              <a:t>you </a:t>
            </a:r>
            <a:r>
              <a:rPr sz="1467" spc="-7" dirty="0">
                <a:latin typeface="Arial"/>
                <a:cs typeface="Arial"/>
              </a:rPr>
              <a:t>have  Python </a:t>
            </a:r>
            <a:r>
              <a:rPr sz="1467" dirty="0">
                <a:latin typeface="Arial"/>
                <a:cs typeface="Arial"/>
              </a:rPr>
              <a:t>3 </a:t>
            </a:r>
            <a:r>
              <a:rPr sz="1467" spc="-7" dirty="0">
                <a:latin typeface="Arial"/>
                <a:cs typeface="Arial"/>
              </a:rPr>
              <a:t>installed on </a:t>
            </a:r>
            <a:r>
              <a:rPr sz="1467" dirty="0">
                <a:latin typeface="Arial"/>
                <a:cs typeface="Arial"/>
              </a:rPr>
              <a:t>your machine </a:t>
            </a:r>
            <a:r>
              <a:rPr sz="1467" spc="-7" dirty="0">
                <a:latin typeface="Arial"/>
                <a:cs typeface="Arial"/>
              </a:rPr>
              <a:t>and that it is </a:t>
            </a:r>
            <a:r>
              <a:rPr sz="1467" dirty="0">
                <a:latin typeface="Arial"/>
                <a:cs typeface="Arial"/>
              </a:rPr>
              <a:t>running</a:t>
            </a:r>
            <a:r>
              <a:rPr sz="1467" spc="-113" dirty="0">
                <a:latin typeface="Arial"/>
                <a:cs typeface="Arial"/>
              </a:rPr>
              <a:t> </a:t>
            </a:r>
            <a:r>
              <a:rPr sz="1467" spc="-7" dirty="0">
                <a:latin typeface="Arial"/>
                <a:cs typeface="Arial"/>
              </a:rPr>
              <a:t>properly.</a:t>
            </a:r>
            <a:endParaRPr sz="1467" dirty="0">
              <a:latin typeface="Arial"/>
              <a:cs typeface="Arial"/>
            </a:endParaRPr>
          </a:p>
        </p:txBody>
      </p:sp>
      <p:pic>
        <p:nvPicPr>
          <p:cNvPr id="5" name="Picture 4"/>
          <p:cNvPicPr>
            <a:picLocks noChangeAspect="1"/>
          </p:cNvPicPr>
          <p:nvPr/>
        </p:nvPicPr>
        <p:blipFill>
          <a:blip r:embed="rId2"/>
          <a:stretch>
            <a:fillRect/>
          </a:stretch>
        </p:blipFill>
        <p:spPr>
          <a:xfrm>
            <a:off x="9111221" y="148980"/>
            <a:ext cx="3080779" cy="829128"/>
          </a:xfrm>
          <a:prstGeom prst="rect">
            <a:avLst/>
          </a:prstGeom>
        </p:spPr>
      </p:pic>
      <p:sp>
        <p:nvSpPr>
          <p:cNvPr id="6" name="object 4"/>
          <p:cNvSpPr txBox="1"/>
          <p:nvPr/>
        </p:nvSpPr>
        <p:spPr>
          <a:xfrm>
            <a:off x="512965" y="1497031"/>
            <a:ext cx="11377507" cy="2969702"/>
          </a:xfrm>
          <a:prstGeom prst="rect">
            <a:avLst/>
          </a:prstGeom>
        </p:spPr>
        <p:txBody>
          <a:bodyPr vert="horz" wrap="square" lIns="0" tIns="16933" rIns="0" bIns="0" rtlCol="0">
            <a:spAutoFit/>
          </a:bodyPr>
          <a:lstStyle/>
          <a:p>
            <a:pPr marL="625671" marR="4228148" indent="-609585">
              <a:lnSpc>
                <a:spcPct val="114599"/>
              </a:lnSpc>
              <a:spcBef>
                <a:spcPts val="133"/>
              </a:spcBef>
            </a:pPr>
            <a:r>
              <a:rPr sz="2400" spc="-7" dirty="0">
                <a:latin typeface="Arial"/>
                <a:cs typeface="Arial"/>
              </a:rPr>
              <a:t>Several options for </a:t>
            </a:r>
            <a:r>
              <a:rPr sz="2400" dirty="0">
                <a:latin typeface="Arial"/>
                <a:cs typeface="Arial"/>
              </a:rPr>
              <a:t>running </a:t>
            </a:r>
            <a:r>
              <a:rPr sz="2400" spc="-7" dirty="0">
                <a:latin typeface="Arial"/>
                <a:cs typeface="Arial"/>
              </a:rPr>
              <a:t>Python on </a:t>
            </a:r>
            <a:r>
              <a:rPr sz="2400" dirty="0">
                <a:latin typeface="Arial"/>
                <a:cs typeface="Arial"/>
              </a:rPr>
              <a:t>your</a:t>
            </a:r>
            <a:r>
              <a:rPr sz="2400" spc="-127" dirty="0">
                <a:latin typeface="Arial"/>
                <a:cs typeface="Arial"/>
              </a:rPr>
              <a:t> </a:t>
            </a:r>
            <a:r>
              <a:rPr sz="2400" dirty="0">
                <a:latin typeface="Arial"/>
                <a:cs typeface="Arial"/>
              </a:rPr>
              <a:t>computer  </a:t>
            </a:r>
            <a:r>
              <a:rPr sz="2400" spc="-7" dirty="0">
                <a:latin typeface="Arial"/>
                <a:cs typeface="Arial"/>
              </a:rPr>
              <a:t>Python</a:t>
            </a:r>
            <a:r>
              <a:rPr sz="2400" spc="-20" dirty="0">
                <a:latin typeface="Arial"/>
                <a:cs typeface="Arial"/>
              </a:rPr>
              <a:t> </a:t>
            </a:r>
            <a:r>
              <a:rPr sz="2400" spc="-7" dirty="0">
                <a:latin typeface="Arial"/>
                <a:cs typeface="Arial"/>
              </a:rPr>
              <a:t>interpreter</a:t>
            </a:r>
            <a:endParaRPr lang="en-US" sz="2400" spc="-7" dirty="0">
              <a:latin typeface="Arial"/>
              <a:cs typeface="Arial"/>
            </a:endParaRPr>
          </a:p>
          <a:p>
            <a:pPr marL="625671">
              <a:spcBef>
                <a:spcPts val="420"/>
              </a:spcBef>
            </a:pPr>
            <a:r>
              <a:rPr sz="2400" dirty="0" err="1">
                <a:latin typeface="Arial"/>
                <a:cs typeface="Arial"/>
              </a:rPr>
              <a:t>Jupyter</a:t>
            </a:r>
            <a:r>
              <a:rPr sz="2400" dirty="0">
                <a:latin typeface="Arial"/>
                <a:cs typeface="Arial"/>
              </a:rPr>
              <a:t>:</a:t>
            </a:r>
            <a:r>
              <a:rPr sz="2400" spc="-7" dirty="0">
                <a:latin typeface="Arial"/>
                <a:cs typeface="Arial"/>
              </a:rPr>
              <a:t> </a:t>
            </a:r>
            <a:r>
              <a:rPr sz="2400" u="heavy" spc="-7" dirty="0">
                <a:uFill>
                  <a:solidFill>
                    <a:srgbClr val="0097A7"/>
                  </a:solidFill>
                </a:uFill>
                <a:latin typeface="Arial"/>
                <a:cs typeface="Arial"/>
                <a:hlinkClick r:id="rId3">
                  <a:extLst>
                    <a:ext uri="{A12FA001-AC4F-418D-AE19-62706E023703}">
                      <ahyp:hlinkClr xmlns:ahyp="http://schemas.microsoft.com/office/drawing/2018/hyperlinkcolor" val="tx"/>
                    </a:ext>
                  </a:extLst>
                </a:hlinkClick>
              </a:rPr>
              <a:t>https://jupyter.org/</a:t>
            </a:r>
            <a:endParaRPr lang="en-US" sz="2400" u="heavy" spc="-7" dirty="0">
              <a:uFill>
                <a:solidFill>
                  <a:srgbClr val="0097A7"/>
                </a:solidFill>
              </a:uFill>
              <a:latin typeface="Arial"/>
              <a:cs typeface="Arial"/>
            </a:endParaRPr>
          </a:p>
          <a:p>
            <a:pPr marL="625671">
              <a:spcBef>
                <a:spcPts val="420"/>
              </a:spcBef>
            </a:pPr>
            <a:r>
              <a:rPr lang="en-US" sz="2400" spc="-7" dirty="0">
                <a:latin typeface="Arial"/>
                <a:cs typeface="Arial"/>
              </a:rPr>
              <a:t>You can also used Google </a:t>
            </a:r>
            <a:r>
              <a:rPr lang="en-US" sz="2400" b="1" spc="-7" dirty="0" err="1">
                <a:latin typeface="Arial"/>
                <a:cs typeface="Arial"/>
              </a:rPr>
              <a:t>Colab</a:t>
            </a:r>
            <a:endParaRPr lang="en-US" sz="2400" b="1" spc="-7" dirty="0">
              <a:latin typeface="Arial"/>
              <a:cs typeface="Arial"/>
            </a:endParaRPr>
          </a:p>
          <a:p>
            <a:pPr marL="625671">
              <a:spcBef>
                <a:spcPts val="420"/>
              </a:spcBef>
            </a:pPr>
            <a:r>
              <a:rPr lang="en-US" sz="2400" dirty="0">
                <a:latin typeface="Arial"/>
                <a:cs typeface="Arial"/>
              </a:rPr>
              <a:t> If you need GPUs hours then use Google </a:t>
            </a:r>
            <a:r>
              <a:rPr lang="en-US" sz="2400" dirty="0" err="1">
                <a:latin typeface="Arial"/>
                <a:cs typeface="Arial"/>
              </a:rPr>
              <a:t>CoLab</a:t>
            </a:r>
            <a:endParaRPr lang="en-US" sz="2400" dirty="0">
              <a:latin typeface="Arial"/>
              <a:cs typeface="Arial"/>
            </a:endParaRPr>
          </a:p>
          <a:p>
            <a:pPr marL="625671">
              <a:spcBef>
                <a:spcPts val="420"/>
              </a:spcBef>
            </a:pPr>
            <a:r>
              <a:rPr lang="en-US" sz="2400" dirty="0">
                <a:latin typeface="Arial"/>
                <a:cs typeface="Arial"/>
              </a:rPr>
              <a:t> </a:t>
            </a:r>
            <a:r>
              <a:rPr lang="en-US" sz="2400" u="heavy" spc="-7" dirty="0">
                <a:uFill>
                  <a:solidFill>
                    <a:srgbClr val="0097A7"/>
                  </a:solidFill>
                </a:uFill>
                <a:latin typeface="Arial"/>
                <a:cs typeface="Arial"/>
              </a:rPr>
              <a:t>https://colab.research.google.com/</a:t>
            </a:r>
          </a:p>
          <a:p>
            <a:pPr marL="625671">
              <a:spcBef>
                <a:spcPts val="420"/>
              </a:spcBef>
            </a:pPr>
            <a:endParaRPr sz="2400" dirty="0">
              <a:latin typeface="Arial"/>
              <a:cs typeface="Arial"/>
            </a:endParaRPr>
          </a:p>
        </p:txBody>
      </p:sp>
    </p:spTree>
    <p:extLst>
      <p:ext uri="{BB962C8B-B14F-4D97-AF65-F5344CB8AC3E}">
        <p14:creationId xmlns:p14="http://schemas.microsoft.com/office/powerpoint/2010/main" val="1766555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326767"/>
            <a:ext cx="5953148" cy="694207"/>
          </a:xfrm>
          <a:prstGeom prst="rect">
            <a:avLst/>
          </a:prstGeom>
        </p:spPr>
        <p:txBody>
          <a:bodyPr vert="horz" wrap="square" lIns="0" tIns="16933" rIns="0" bIns="0" rtlCol="0" anchor="ctr">
            <a:spAutoFit/>
          </a:bodyPr>
          <a:lstStyle/>
          <a:p>
            <a:pPr marL="16933">
              <a:lnSpc>
                <a:spcPct val="100000"/>
              </a:lnSpc>
              <a:spcBef>
                <a:spcPts val="133"/>
              </a:spcBef>
            </a:pPr>
            <a:r>
              <a:rPr spc="-13" dirty="0"/>
              <a:t>Python:</a:t>
            </a:r>
            <a:r>
              <a:rPr spc="-113" dirty="0"/>
              <a:t> </a:t>
            </a:r>
            <a:r>
              <a:rPr spc="-7" dirty="0"/>
              <a:t>Overview</a:t>
            </a:r>
          </a:p>
        </p:txBody>
      </p:sp>
      <p:sp>
        <p:nvSpPr>
          <p:cNvPr id="3" name="object 3"/>
          <p:cNvSpPr txBox="1"/>
          <p:nvPr/>
        </p:nvSpPr>
        <p:spPr>
          <a:xfrm>
            <a:off x="512966" y="1550370"/>
            <a:ext cx="9248140" cy="1129967"/>
          </a:xfrm>
          <a:prstGeom prst="rect">
            <a:avLst/>
          </a:prstGeom>
        </p:spPr>
        <p:txBody>
          <a:bodyPr vert="horz" wrap="square" lIns="0" tIns="14393" rIns="0" bIns="0" rtlCol="0">
            <a:spAutoFit/>
          </a:bodyPr>
          <a:lstStyle/>
          <a:p>
            <a:pPr marL="625671" marR="6773" indent="-609585">
              <a:lnSpc>
                <a:spcPct val="100699"/>
              </a:lnSpc>
              <a:spcBef>
                <a:spcPts val="113"/>
              </a:spcBef>
            </a:pPr>
            <a:r>
              <a:rPr sz="2400" spc="-7" dirty="0">
                <a:latin typeface="Arial"/>
                <a:cs typeface="Arial"/>
              </a:rPr>
              <a:t>Python is </a:t>
            </a:r>
            <a:r>
              <a:rPr sz="2400" dirty="0">
                <a:latin typeface="Arial"/>
                <a:cs typeface="Arial"/>
              </a:rPr>
              <a:t>a </a:t>
            </a:r>
            <a:r>
              <a:rPr sz="2400" b="1" spc="-7" dirty="0">
                <a:latin typeface="Arial"/>
                <a:cs typeface="Arial"/>
              </a:rPr>
              <a:t>dynamically </a:t>
            </a:r>
            <a:r>
              <a:rPr sz="2400" b="1" spc="7" dirty="0">
                <a:latin typeface="Arial"/>
                <a:cs typeface="Arial"/>
              </a:rPr>
              <a:t>typed</a:t>
            </a:r>
            <a:r>
              <a:rPr sz="2400" spc="7" dirty="0">
                <a:latin typeface="Arial"/>
                <a:cs typeface="Arial"/>
              </a:rPr>
              <a:t>, </a:t>
            </a:r>
            <a:r>
              <a:rPr sz="2400" b="1" spc="-7" dirty="0">
                <a:latin typeface="Arial"/>
                <a:cs typeface="Arial"/>
              </a:rPr>
              <a:t>interpreted </a:t>
            </a:r>
            <a:r>
              <a:rPr sz="2400" spc="-7" dirty="0">
                <a:latin typeface="Arial"/>
                <a:cs typeface="Arial"/>
              </a:rPr>
              <a:t>programming language  Created by Guido </a:t>
            </a:r>
            <a:r>
              <a:rPr sz="2400" dirty="0">
                <a:latin typeface="Arial"/>
                <a:cs typeface="Arial"/>
              </a:rPr>
              <a:t>van </a:t>
            </a:r>
            <a:r>
              <a:rPr sz="2400" spc="-7" dirty="0">
                <a:latin typeface="Arial"/>
                <a:cs typeface="Arial"/>
              </a:rPr>
              <a:t>Rossum in</a:t>
            </a:r>
            <a:r>
              <a:rPr sz="2400" spc="-27" dirty="0">
                <a:latin typeface="Arial"/>
                <a:cs typeface="Arial"/>
              </a:rPr>
              <a:t> </a:t>
            </a:r>
            <a:r>
              <a:rPr sz="2400" spc="-7" dirty="0">
                <a:latin typeface="Arial"/>
                <a:cs typeface="Arial"/>
              </a:rPr>
              <a:t>1991</a:t>
            </a:r>
            <a:endParaRPr sz="2400" dirty="0">
              <a:latin typeface="Arial"/>
              <a:cs typeface="Arial"/>
            </a:endParaRPr>
          </a:p>
          <a:p>
            <a:pPr marL="625671">
              <a:spcBef>
                <a:spcPts val="20"/>
              </a:spcBef>
            </a:pPr>
            <a:r>
              <a:rPr sz="2400" dirty="0">
                <a:latin typeface="Arial"/>
                <a:cs typeface="Arial"/>
              </a:rPr>
              <a:t>Maintained </a:t>
            </a:r>
            <a:r>
              <a:rPr sz="2400" spc="-7" dirty="0">
                <a:latin typeface="Arial"/>
                <a:cs typeface="Arial"/>
              </a:rPr>
              <a:t>by the Python Software</a:t>
            </a:r>
            <a:r>
              <a:rPr sz="2400" spc="-47" dirty="0">
                <a:latin typeface="Arial"/>
                <a:cs typeface="Arial"/>
              </a:rPr>
              <a:t> </a:t>
            </a:r>
            <a:r>
              <a:rPr sz="2400" spc="-7" dirty="0">
                <a:latin typeface="Arial"/>
                <a:cs typeface="Arial"/>
              </a:rPr>
              <a:t>Foundation</a:t>
            </a:r>
            <a:endParaRPr sz="2400" dirty="0">
              <a:latin typeface="Arial"/>
              <a:cs typeface="Arial"/>
            </a:endParaRPr>
          </a:p>
        </p:txBody>
      </p:sp>
      <p:sp>
        <p:nvSpPr>
          <p:cNvPr id="4" name="object 4"/>
          <p:cNvSpPr txBox="1"/>
          <p:nvPr/>
        </p:nvSpPr>
        <p:spPr>
          <a:xfrm>
            <a:off x="512966" y="3023567"/>
            <a:ext cx="5673513" cy="386430"/>
          </a:xfrm>
          <a:prstGeom prst="rect">
            <a:avLst/>
          </a:prstGeom>
        </p:spPr>
        <p:txBody>
          <a:bodyPr vert="horz" wrap="square" lIns="0" tIns="16933" rIns="0" bIns="0" rtlCol="0">
            <a:spAutoFit/>
          </a:bodyPr>
          <a:lstStyle/>
          <a:p>
            <a:pPr marL="16933">
              <a:spcBef>
                <a:spcPts val="133"/>
              </a:spcBef>
            </a:pPr>
            <a:r>
              <a:rPr sz="2400" spc="-7" dirty="0">
                <a:latin typeface="Arial"/>
                <a:cs typeface="Arial"/>
              </a:rPr>
              <a:t>Design philosophy: </a:t>
            </a:r>
            <a:r>
              <a:rPr sz="2400" dirty="0">
                <a:latin typeface="Arial"/>
                <a:cs typeface="Arial"/>
              </a:rPr>
              <a:t>simple, readable</a:t>
            </a:r>
            <a:r>
              <a:rPr sz="2400" spc="-127" dirty="0">
                <a:latin typeface="Arial"/>
                <a:cs typeface="Arial"/>
              </a:rPr>
              <a:t> </a:t>
            </a:r>
            <a:r>
              <a:rPr sz="2400" dirty="0">
                <a:latin typeface="Arial"/>
                <a:cs typeface="Arial"/>
              </a:rPr>
              <a:t>code</a:t>
            </a:r>
          </a:p>
        </p:txBody>
      </p:sp>
      <p:sp>
        <p:nvSpPr>
          <p:cNvPr id="5" name="object 5"/>
          <p:cNvSpPr txBox="1"/>
          <p:nvPr/>
        </p:nvSpPr>
        <p:spPr>
          <a:xfrm>
            <a:off x="512966" y="3760166"/>
            <a:ext cx="7106073" cy="1129967"/>
          </a:xfrm>
          <a:prstGeom prst="rect">
            <a:avLst/>
          </a:prstGeom>
        </p:spPr>
        <p:txBody>
          <a:bodyPr vert="horz" wrap="square" lIns="0" tIns="14393" rIns="0" bIns="0" rtlCol="0">
            <a:spAutoFit/>
          </a:bodyPr>
          <a:lstStyle/>
          <a:p>
            <a:pPr marL="625671" marR="6773" indent="-609585">
              <a:lnSpc>
                <a:spcPct val="100699"/>
              </a:lnSpc>
              <a:spcBef>
                <a:spcPts val="113"/>
              </a:spcBef>
            </a:pPr>
            <a:r>
              <a:rPr sz="2400" spc="-7" dirty="0">
                <a:latin typeface="Arial"/>
                <a:cs typeface="Arial"/>
              </a:rPr>
              <a:t>Python </a:t>
            </a:r>
            <a:r>
              <a:rPr sz="2400" dirty="0">
                <a:latin typeface="Arial"/>
                <a:cs typeface="Arial"/>
              </a:rPr>
              <a:t>syntax </a:t>
            </a:r>
            <a:r>
              <a:rPr sz="2400" spc="-7" dirty="0">
                <a:latin typeface="Arial"/>
                <a:cs typeface="Arial"/>
              </a:rPr>
              <a:t>differs from R, </a:t>
            </a:r>
            <a:r>
              <a:rPr sz="2400" dirty="0">
                <a:latin typeface="Arial"/>
                <a:cs typeface="Arial"/>
              </a:rPr>
              <a:t>Java, </a:t>
            </a:r>
            <a:r>
              <a:rPr sz="2400" spc="-7" dirty="0">
                <a:latin typeface="Arial"/>
                <a:cs typeface="Arial"/>
              </a:rPr>
              <a:t>C/C++, </a:t>
            </a:r>
            <a:r>
              <a:rPr sz="2400" dirty="0">
                <a:latin typeface="Arial"/>
                <a:cs typeface="Arial"/>
              </a:rPr>
              <a:t>MATLAB  </a:t>
            </a:r>
            <a:r>
              <a:rPr sz="2400" spc="-7" dirty="0">
                <a:latin typeface="Arial"/>
                <a:cs typeface="Arial"/>
              </a:rPr>
              <a:t>whitespace</a:t>
            </a:r>
            <a:r>
              <a:rPr sz="2400" spc="-13" dirty="0">
                <a:latin typeface="Arial"/>
                <a:cs typeface="Arial"/>
              </a:rPr>
              <a:t> </a:t>
            </a:r>
            <a:r>
              <a:rPr sz="2400" spc="-7" dirty="0">
                <a:latin typeface="Arial"/>
                <a:cs typeface="Arial"/>
              </a:rPr>
              <a:t>delimited</a:t>
            </a:r>
            <a:endParaRPr sz="2400" dirty="0">
              <a:latin typeface="Arial"/>
              <a:cs typeface="Arial"/>
            </a:endParaRPr>
          </a:p>
          <a:p>
            <a:pPr marL="625671">
              <a:spcBef>
                <a:spcPts val="20"/>
              </a:spcBef>
            </a:pPr>
            <a:r>
              <a:rPr sz="2400" spc="-7" dirty="0">
                <a:latin typeface="Arial"/>
                <a:cs typeface="Arial"/>
              </a:rPr>
              <a:t>limited use of brackets, </a:t>
            </a:r>
            <a:r>
              <a:rPr sz="2400" dirty="0">
                <a:latin typeface="Arial"/>
                <a:cs typeface="Arial"/>
              </a:rPr>
              <a:t>semicolons,</a:t>
            </a:r>
            <a:r>
              <a:rPr sz="2400" spc="-40" dirty="0">
                <a:latin typeface="Arial"/>
                <a:cs typeface="Arial"/>
              </a:rPr>
              <a:t> </a:t>
            </a:r>
            <a:r>
              <a:rPr sz="2400" spc="-7" dirty="0">
                <a:latin typeface="Arial"/>
                <a:cs typeface="Arial"/>
              </a:rPr>
              <a:t>etc</a:t>
            </a:r>
            <a:endParaRPr sz="2400" dirty="0">
              <a:latin typeface="Arial"/>
              <a:cs typeface="Arial"/>
            </a:endParaRPr>
          </a:p>
        </p:txBody>
      </p:sp>
      <p:sp>
        <p:nvSpPr>
          <p:cNvPr id="8" name="object 8"/>
          <p:cNvSpPr/>
          <p:nvPr/>
        </p:nvSpPr>
        <p:spPr>
          <a:xfrm>
            <a:off x="2155371" y="1514464"/>
            <a:ext cx="2788844" cy="437148"/>
          </a:xfrm>
          <a:custGeom>
            <a:avLst/>
            <a:gdLst/>
            <a:ahLst/>
            <a:cxnLst/>
            <a:rect l="l" t="t" r="r" b="b"/>
            <a:pathLst>
              <a:path w="2218690" h="386080">
                <a:moveTo>
                  <a:pt x="0" y="0"/>
                </a:moveTo>
                <a:lnTo>
                  <a:pt x="2218195" y="0"/>
                </a:lnTo>
                <a:lnTo>
                  <a:pt x="2218195" y="385799"/>
                </a:lnTo>
                <a:lnTo>
                  <a:pt x="0" y="385799"/>
                </a:lnTo>
                <a:lnTo>
                  <a:pt x="0" y="0"/>
                </a:lnTo>
                <a:close/>
              </a:path>
            </a:pathLst>
          </a:custGeom>
          <a:ln w="76199">
            <a:solidFill>
              <a:srgbClr val="0B5293"/>
            </a:solidFill>
          </a:ln>
        </p:spPr>
        <p:txBody>
          <a:bodyPr wrap="square" lIns="0" tIns="0" rIns="0" bIns="0" rtlCol="0"/>
          <a:lstStyle/>
          <a:p>
            <a:endParaRPr sz="2400"/>
          </a:p>
        </p:txBody>
      </p:sp>
      <p:sp>
        <p:nvSpPr>
          <p:cNvPr id="9" name="object 9"/>
          <p:cNvSpPr txBox="1"/>
          <p:nvPr/>
        </p:nvSpPr>
        <p:spPr>
          <a:xfrm>
            <a:off x="8169250" y="2633929"/>
            <a:ext cx="3600873" cy="1516655"/>
          </a:xfrm>
          <a:prstGeom prst="rect">
            <a:avLst/>
          </a:prstGeom>
          <a:solidFill>
            <a:srgbClr val="CFE1F2"/>
          </a:solidFill>
          <a:ln w="76199">
            <a:solidFill>
              <a:srgbClr val="073662"/>
            </a:solidFill>
          </a:ln>
        </p:spPr>
        <p:txBody>
          <a:bodyPr vert="horz" wrap="square" lIns="0" tIns="117687" rIns="0" bIns="0" rtlCol="0">
            <a:spAutoFit/>
          </a:bodyPr>
          <a:lstStyle/>
          <a:p>
            <a:pPr marL="113450" marR="117684">
              <a:lnSpc>
                <a:spcPts val="2200"/>
              </a:lnSpc>
              <a:spcBef>
                <a:spcPts val="927"/>
              </a:spcBef>
            </a:pPr>
            <a:r>
              <a:rPr sz="1867" spc="-7" dirty="0">
                <a:latin typeface="Arial"/>
                <a:cs typeface="Arial"/>
              </a:rPr>
              <a:t>In </a:t>
            </a:r>
            <a:r>
              <a:rPr sz="1867" dirty="0">
                <a:latin typeface="Arial"/>
                <a:cs typeface="Arial"/>
              </a:rPr>
              <a:t>many </a:t>
            </a:r>
            <a:r>
              <a:rPr sz="1867" spc="-7" dirty="0">
                <a:latin typeface="Arial"/>
                <a:cs typeface="Arial"/>
              </a:rPr>
              <a:t>languages, when </a:t>
            </a:r>
            <a:r>
              <a:rPr sz="1867" dirty="0">
                <a:latin typeface="Arial"/>
                <a:cs typeface="Arial"/>
              </a:rPr>
              <a:t>you  </a:t>
            </a:r>
            <a:r>
              <a:rPr sz="1867" spc="-7" dirty="0">
                <a:latin typeface="Arial"/>
                <a:cs typeface="Arial"/>
              </a:rPr>
              <a:t>declare </a:t>
            </a:r>
            <a:r>
              <a:rPr sz="1867" dirty="0">
                <a:latin typeface="Arial"/>
                <a:cs typeface="Arial"/>
              </a:rPr>
              <a:t>a variable, you must  specify </a:t>
            </a:r>
            <a:r>
              <a:rPr sz="1867" spc="-7" dirty="0">
                <a:latin typeface="Arial"/>
                <a:cs typeface="Arial"/>
              </a:rPr>
              <a:t>the </a:t>
            </a:r>
            <a:r>
              <a:rPr sz="1867" dirty="0">
                <a:latin typeface="Arial"/>
                <a:cs typeface="Arial"/>
              </a:rPr>
              <a:t>variable’s </a:t>
            </a:r>
            <a:r>
              <a:rPr sz="1867" b="1" dirty="0">
                <a:latin typeface="Arial"/>
                <a:cs typeface="Arial"/>
              </a:rPr>
              <a:t>type</a:t>
            </a:r>
            <a:r>
              <a:rPr sz="1867" b="1" spc="-140" dirty="0">
                <a:latin typeface="Arial"/>
                <a:cs typeface="Arial"/>
              </a:rPr>
              <a:t> </a:t>
            </a:r>
            <a:r>
              <a:rPr sz="1867" dirty="0">
                <a:latin typeface="Arial"/>
                <a:cs typeface="Arial"/>
              </a:rPr>
              <a:t>(e.g.,  </a:t>
            </a:r>
            <a:r>
              <a:rPr sz="1867" spc="-7" dirty="0">
                <a:latin typeface="Arial"/>
                <a:cs typeface="Arial"/>
              </a:rPr>
              <a:t>int, double, Boolean,</a:t>
            </a:r>
            <a:r>
              <a:rPr sz="1867" spc="-47" dirty="0">
                <a:latin typeface="Arial"/>
                <a:cs typeface="Arial"/>
              </a:rPr>
              <a:t> </a:t>
            </a:r>
            <a:r>
              <a:rPr sz="1867" dirty="0">
                <a:latin typeface="Arial"/>
                <a:cs typeface="Arial"/>
              </a:rPr>
              <a:t>string).</a:t>
            </a:r>
            <a:endParaRPr sz="1867">
              <a:latin typeface="Arial"/>
              <a:cs typeface="Arial"/>
            </a:endParaRPr>
          </a:p>
          <a:p>
            <a:pPr marL="113450">
              <a:lnSpc>
                <a:spcPts val="2133"/>
              </a:lnSpc>
            </a:pPr>
            <a:r>
              <a:rPr sz="1867" spc="-7" dirty="0">
                <a:latin typeface="Arial"/>
                <a:cs typeface="Arial"/>
              </a:rPr>
              <a:t>Python does not </a:t>
            </a:r>
            <a:r>
              <a:rPr sz="1867" dirty="0">
                <a:latin typeface="Arial"/>
                <a:cs typeface="Arial"/>
              </a:rPr>
              <a:t>require</a:t>
            </a:r>
            <a:r>
              <a:rPr sz="1867" spc="-47" dirty="0">
                <a:latin typeface="Arial"/>
                <a:cs typeface="Arial"/>
              </a:rPr>
              <a:t> </a:t>
            </a:r>
            <a:r>
              <a:rPr sz="1867" spc="-7" dirty="0">
                <a:latin typeface="Arial"/>
                <a:cs typeface="Arial"/>
              </a:rPr>
              <a:t>this.</a:t>
            </a:r>
            <a:endParaRPr sz="1867">
              <a:latin typeface="Arial"/>
              <a:cs typeface="Arial"/>
            </a:endParaRPr>
          </a:p>
        </p:txBody>
      </p:sp>
      <p:sp>
        <p:nvSpPr>
          <p:cNvPr id="10" name="object 10"/>
          <p:cNvSpPr/>
          <p:nvPr/>
        </p:nvSpPr>
        <p:spPr>
          <a:xfrm>
            <a:off x="5503055" y="2162680"/>
            <a:ext cx="2667000" cy="1304713"/>
          </a:xfrm>
          <a:custGeom>
            <a:avLst/>
            <a:gdLst/>
            <a:ahLst/>
            <a:cxnLst/>
            <a:rect l="l" t="t" r="r" b="b"/>
            <a:pathLst>
              <a:path w="2000250" h="978535">
                <a:moveTo>
                  <a:pt x="1999645" y="978335"/>
                </a:moveTo>
                <a:lnTo>
                  <a:pt x="0" y="0"/>
                </a:lnTo>
              </a:path>
            </a:pathLst>
          </a:custGeom>
          <a:ln w="38099">
            <a:solidFill>
              <a:srgbClr val="073662"/>
            </a:solidFill>
          </a:ln>
        </p:spPr>
        <p:txBody>
          <a:bodyPr wrap="square" lIns="0" tIns="0" rIns="0" bIns="0" rtlCol="0"/>
          <a:lstStyle/>
          <a:p>
            <a:endParaRPr sz="2400"/>
          </a:p>
        </p:txBody>
      </p:sp>
      <p:sp>
        <p:nvSpPr>
          <p:cNvPr id="11" name="object 11"/>
          <p:cNvSpPr/>
          <p:nvPr/>
        </p:nvSpPr>
        <p:spPr>
          <a:xfrm>
            <a:off x="5270555" y="2035966"/>
            <a:ext cx="294765" cy="227485"/>
          </a:xfrm>
          <a:prstGeom prst="rect">
            <a:avLst/>
          </a:prstGeom>
          <a:blipFill>
            <a:blip r:embed="rId2" cstate="print"/>
            <a:stretch>
              <a:fillRect/>
            </a:stretch>
          </a:blipFill>
        </p:spPr>
        <p:txBody>
          <a:bodyPr wrap="square" lIns="0" tIns="0" rIns="0" bIns="0" rtlCol="0"/>
          <a:lstStyle/>
          <a:p>
            <a:endParaRPr sz="2400"/>
          </a:p>
        </p:txBody>
      </p:sp>
      <p:pic>
        <p:nvPicPr>
          <p:cNvPr id="12" name="Picture 11"/>
          <p:cNvPicPr>
            <a:picLocks noChangeAspect="1"/>
          </p:cNvPicPr>
          <p:nvPr/>
        </p:nvPicPr>
        <p:blipFill>
          <a:blip r:embed="rId3"/>
          <a:stretch>
            <a:fillRect/>
          </a:stretch>
        </p:blipFill>
        <p:spPr>
          <a:xfrm>
            <a:off x="9111221" y="148980"/>
            <a:ext cx="3080779" cy="82912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626078"/>
            <a:ext cx="6561026" cy="694207"/>
          </a:xfrm>
          <a:prstGeom prst="rect">
            <a:avLst/>
          </a:prstGeom>
        </p:spPr>
        <p:txBody>
          <a:bodyPr vert="horz" wrap="square" lIns="0" tIns="16933" rIns="0" bIns="0" rtlCol="0" anchor="ctr">
            <a:spAutoFit/>
          </a:bodyPr>
          <a:lstStyle/>
          <a:p>
            <a:pPr marL="16933">
              <a:lnSpc>
                <a:spcPct val="100000"/>
              </a:lnSpc>
              <a:spcBef>
                <a:spcPts val="133"/>
              </a:spcBef>
            </a:pPr>
            <a:r>
              <a:rPr spc="-13" dirty="0"/>
              <a:t>Python:</a:t>
            </a:r>
            <a:r>
              <a:rPr spc="-113" dirty="0"/>
              <a:t> </a:t>
            </a:r>
            <a:r>
              <a:rPr spc="-7" dirty="0"/>
              <a:t>Overview</a:t>
            </a:r>
          </a:p>
        </p:txBody>
      </p:sp>
      <p:sp>
        <p:nvSpPr>
          <p:cNvPr id="3" name="object 3"/>
          <p:cNvSpPr txBox="1"/>
          <p:nvPr/>
        </p:nvSpPr>
        <p:spPr>
          <a:xfrm>
            <a:off x="512966" y="1550370"/>
            <a:ext cx="9248140" cy="1129967"/>
          </a:xfrm>
          <a:prstGeom prst="rect">
            <a:avLst/>
          </a:prstGeom>
        </p:spPr>
        <p:txBody>
          <a:bodyPr vert="horz" wrap="square" lIns="0" tIns="14393" rIns="0" bIns="0" rtlCol="0">
            <a:spAutoFit/>
          </a:bodyPr>
          <a:lstStyle/>
          <a:p>
            <a:pPr marL="625671" marR="6773" indent="-609585">
              <a:lnSpc>
                <a:spcPct val="100699"/>
              </a:lnSpc>
              <a:spcBef>
                <a:spcPts val="113"/>
              </a:spcBef>
            </a:pPr>
            <a:r>
              <a:rPr sz="2400" spc="-7" dirty="0">
                <a:latin typeface="Arial"/>
                <a:cs typeface="Arial"/>
              </a:rPr>
              <a:t>Python is </a:t>
            </a:r>
            <a:r>
              <a:rPr sz="2400" dirty="0">
                <a:latin typeface="Arial"/>
                <a:cs typeface="Arial"/>
              </a:rPr>
              <a:t>a </a:t>
            </a:r>
            <a:r>
              <a:rPr sz="2400" b="1" spc="-7" dirty="0">
                <a:latin typeface="Arial"/>
                <a:cs typeface="Arial"/>
              </a:rPr>
              <a:t>dynamically </a:t>
            </a:r>
            <a:r>
              <a:rPr sz="2400" b="1" spc="7" dirty="0">
                <a:latin typeface="Arial"/>
                <a:cs typeface="Arial"/>
              </a:rPr>
              <a:t>typed</a:t>
            </a:r>
            <a:r>
              <a:rPr sz="2400" spc="7" dirty="0">
                <a:latin typeface="Arial"/>
                <a:cs typeface="Arial"/>
              </a:rPr>
              <a:t>, </a:t>
            </a:r>
            <a:r>
              <a:rPr sz="2400" b="1" spc="-7" dirty="0">
                <a:latin typeface="Arial"/>
                <a:cs typeface="Arial"/>
              </a:rPr>
              <a:t>interpreted </a:t>
            </a:r>
            <a:r>
              <a:rPr sz="2400" spc="-7" dirty="0">
                <a:latin typeface="Arial"/>
                <a:cs typeface="Arial"/>
              </a:rPr>
              <a:t>programming language  Created by Guido </a:t>
            </a:r>
            <a:r>
              <a:rPr sz="2400" dirty="0">
                <a:latin typeface="Arial"/>
                <a:cs typeface="Arial"/>
              </a:rPr>
              <a:t>van </a:t>
            </a:r>
            <a:r>
              <a:rPr sz="2400" spc="-7" dirty="0">
                <a:latin typeface="Arial"/>
                <a:cs typeface="Arial"/>
              </a:rPr>
              <a:t>Rossum in</a:t>
            </a:r>
            <a:r>
              <a:rPr sz="2400" spc="-27" dirty="0">
                <a:latin typeface="Arial"/>
                <a:cs typeface="Arial"/>
              </a:rPr>
              <a:t> </a:t>
            </a:r>
            <a:r>
              <a:rPr sz="2400" spc="-7" dirty="0">
                <a:latin typeface="Arial"/>
                <a:cs typeface="Arial"/>
              </a:rPr>
              <a:t>1991</a:t>
            </a:r>
            <a:endParaRPr sz="2400" dirty="0">
              <a:latin typeface="Arial"/>
              <a:cs typeface="Arial"/>
            </a:endParaRPr>
          </a:p>
          <a:p>
            <a:pPr marL="625671">
              <a:spcBef>
                <a:spcPts val="20"/>
              </a:spcBef>
            </a:pPr>
            <a:r>
              <a:rPr sz="2400" dirty="0">
                <a:latin typeface="Arial"/>
                <a:cs typeface="Arial"/>
              </a:rPr>
              <a:t>Maintained </a:t>
            </a:r>
            <a:r>
              <a:rPr sz="2400" spc="-7" dirty="0">
                <a:latin typeface="Arial"/>
                <a:cs typeface="Arial"/>
              </a:rPr>
              <a:t>by the Python Software</a:t>
            </a:r>
            <a:r>
              <a:rPr sz="2400" spc="-47" dirty="0">
                <a:latin typeface="Arial"/>
                <a:cs typeface="Arial"/>
              </a:rPr>
              <a:t> </a:t>
            </a:r>
            <a:r>
              <a:rPr sz="2400" spc="-7" dirty="0">
                <a:latin typeface="Arial"/>
                <a:cs typeface="Arial"/>
              </a:rPr>
              <a:t>Foundation</a:t>
            </a:r>
            <a:endParaRPr sz="2400" dirty="0">
              <a:latin typeface="Arial"/>
              <a:cs typeface="Arial"/>
            </a:endParaRPr>
          </a:p>
        </p:txBody>
      </p:sp>
      <p:sp>
        <p:nvSpPr>
          <p:cNvPr id="4" name="object 4"/>
          <p:cNvSpPr txBox="1"/>
          <p:nvPr/>
        </p:nvSpPr>
        <p:spPr>
          <a:xfrm>
            <a:off x="512966" y="3023567"/>
            <a:ext cx="5673513" cy="386430"/>
          </a:xfrm>
          <a:prstGeom prst="rect">
            <a:avLst/>
          </a:prstGeom>
        </p:spPr>
        <p:txBody>
          <a:bodyPr vert="horz" wrap="square" lIns="0" tIns="16933" rIns="0" bIns="0" rtlCol="0">
            <a:spAutoFit/>
          </a:bodyPr>
          <a:lstStyle/>
          <a:p>
            <a:pPr marL="16933">
              <a:spcBef>
                <a:spcPts val="133"/>
              </a:spcBef>
            </a:pPr>
            <a:r>
              <a:rPr sz="2400" spc="-7" dirty="0">
                <a:latin typeface="Arial"/>
                <a:cs typeface="Arial"/>
              </a:rPr>
              <a:t>Design philosophy: </a:t>
            </a:r>
            <a:r>
              <a:rPr sz="2400" dirty="0">
                <a:latin typeface="Arial"/>
                <a:cs typeface="Arial"/>
              </a:rPr>
              <a:t>simple, readable</a:t>
            </a:r>
            <a:r>
              <a:rPr sz="2400" spc="-127" dirty="0">
                <a:latin typeface="Arial"/>
                <a:cs typeface="Arial"/>
              </a:rPr>
              <a:t> </a:t>
            </a:r>
            <a:r>
              <a:rPr sz="2400" dirty="0">
                <a:latin typeface="Arial"/>
                <a:cs typeface="Arial"/>
              </a:rPr>
              <a:t>code</a:t>
            </a:r>
          </a:p>
        </p:txBody>
      </p:sp>
      <p:sp>
        <p:nvSpPr>
          <p:cNvPr id="5" name="object 5"/>
          <p:cNvSpPr txBox="1"/>
          <p:nvPr/>
        </p:nvSpPr>
        <p:spPr>
          <a:xfrm>
            <a:off x="512966" y="3760166"/>
            <a:ext cx="7106073" cy="1129967"/>
          </a:xfrm>
          <a:prstGeom prst="rect">
            <a:avLst/>
          </a:prstGeom>
        </p:spPr>
        <p:txBody>
          <a:bodyPr vert="horz" wrap="square" lIns="0" tIns="14393" rIns="0" bIns="0" rtlCol="0">
            <a:spAutoFit/>
          </a:bodyPr>
          <a:lstStyle/>
          <a:p>
            <a:pPr marL="625671" marR="6773" indent="-609585">
              <a:lnSpc>
                <a:spcPct val="100699"/>
              </a:lnSpc>
              <a:spcBef>
                <a:spcPts val="113"/>
              </a:spcBef>
            </a:pPr>
            <a:r>
              <a:rPr sz="2400" spc="-7" dirty="0">
                <a:latin typeface="Arial"/>
                <a:cs typeface="Arial"/>
              </a:rPr>
              <a:t>Python </a:t>
            </a:r>
            <a:r>
              <a:rPr sz="2400" dirty="0">
                <a:latin typeface="Arial"/>
                <a:cs typeface="Arial"/>
              </a:rPr>
              <a:t>syntax </a:t>
            </a:r>
            <a:r>
              <a:rPr sz="2400" spc="-7" dirty="0">
                <a:latin typeface="Arial"/>
                <a:cs typeface="Arial"/>
              </a:rPr>
              <a:t>differs from R, </a:t>
            </a:r>
            <a:r>
              <a:rPr sz="2400" dirty="0">
                <a:latin typeface="Arial"/>
                <a:cs typeface="Arial"/>
              </a:rPr>
              <a:t>Java, </a:t>
            </a:r>
            <a:r>
              <a:rPr sz="2400" spc="-7" dirty="0">
                <a:latin typeface="Arial"/>
                <a:cs typeface="Arial"/>
              </a:rPr>
              <a:t>C/C++, </a:t>
            </a:r>
            <a:r>
              <a:rPr sz="2400" dirty="0">
                <a:latin typeface="Arial"/>
                <a:cs typeface="Arial"/>
              </a:rPr>
              <a:t>MATLAB  </a:t>
            </a:r>
            <a:r>
              <a:rPr sz="2400" spc="-7" dirty="0">
                <a:latin typeface="Arial"/>
                <a:cs typeface="Arial"/>
              </a:rPr>
              <a:t>whitespace</a:t>
            </a:r>
            <a:r>
              <a:rPr sz="2400" spc="-13" dirty="0">
                <a:latin typeface="Arial"/>
                <a:cs typeface="Arial"/>
              </a:rPr>
              <a:t> </a:t>
            </a:r>
            <a:r>
              <a:rPr sz="2400" spc="-7" dirty="0">
                <a:latin typeface="Arial"/>
                <a:cs typeface="Arial"/>
              </a:rPr>
              <a:t>delimited</a:t>
            </a:r>
            <a:endParaRPr sz="2400" dirty="0">
              <a:latin typeface="Arial"/>
              <a:cs typeface="Arial"/>
            </a:endParaRPr>
          </a:p>
          <a:p>
            <a:pPr marL="625671">
              <a:spcBef>
                <a:spcPts val="20"/>
              </a:spcBef>
            </a:pPr>
            <a:r>
              <a:rPr sz="2400" spc="-7" dirty="0">
                <a:latin typeface="Arial"/>
                <a:cs typeface="Arial"/>
              </a:rPr>
              <a:t>limited use of brackets, </a:t>
            </a:r>
            <a:r>
              <a:rPr sz="2400" dirty="0">
                <a:latin typeface="Arial"/>
                <a:cs typeface="Arial"/>
              </a:rPr>
              <a:t>semicolons,</a:t>
            </a:r>
            <a:r>
              <a:rPr sz="2400" spc="-40" dirty="0">
                <a:latin typeface="Arial"/>
                <a:cs typeface="Arial"/>
              </a:rPr>
              <a:t> </a:t>
            </a:r>
            <a:r>
              <a:rPr sz="2400" spc="-7" dirty="0">
                <a:latin typeface="Arial"/>
                <a:cs typeface="Arial"/>
              </a:rPr>
              <a:t>etc</a:t>
            </a:r>
            <a:endParaRPr sz="2400" dirty="0">
              <a:latin typeface="Arial"/>
              <a:cs typeface="Arial"/>
            </a:endParaRPr>
          </a:p>
        </p:txBody>
      </p:sp>
      <p:sp>
        <p:nvSpPr>
          <p:cNvPr id="8" name="object 8"/>
          <p:cNvSpPr/>
          <p:nvPr/>
        </p:nvSpPr>
        <p:spPr>
          <a:xfrm>
            <a:off x="4830757" y="1514463"/>
            <a:ext cx="1856740" cy="514773"/>
          </a:xfrm>
          <a:custGeom>
            <a:avLst/>
            <a:gdLst/>
            <a:ahLst/>
            <a:cxnLst/>
            <a:rect l="l" t="t" r="r" b="b"/>
            <a:pathLst>
              <a:path w="1392554" h="386080">
                <a:moveTo>
                  <a:pt x="0" y="0"/>
                </a:moveTo>
                <a:lnTo>
                  <a:pt x="1391997" y="0"/>
                </a:lnTo>
                <a:lnTo>
                  <a:pt x="1391997" y="385799"/>
                </a:lnTo>
                <a:lnTo>
                  <a:pt x="0" y="385799"/>
                </a:lnTo>
                <a:lnTo>
                  <a:pt x="0" y="0"/>
                </a:lnTo>
                <a:close/>
              </a:path>
            </a:pathLst>
          </a:custGeom>
          <a:ln w="76199">
            <a:solidFill>
              <a:srgbClr val="0B5293"/>
            </a:solidFill>
          </a:ln>
        </p:spPr>
        <p:txBody>
          <a:bodyPr wrap="square" lIns="0" tIns="0" rIns="0" bIns="0" rtlCol="0"/>
          <a:lstStyle/>
          <a:p>
            <a:endParaRPr sz="2400"/>
          </a:p>
        </p:txBody>
      </p:sp>
      <p:sp>
        <p:nvSpPr>
          <p:cNvPr id="9" name="object 9"/>
          <p:cNvSpPr txBox="1"/>
          <p:nvPr/>
        </p:nvSpPr>
        <p:spPr>
          <a:xfrm>
            <a:off x="7829551" y="2633928"/>
            <a:ext cx="4086860" cy="2093736"/>
          </a:xfrm>
          <a:prstGeom prst="rect">
            <a:avLst/>
          </a:prstGeom>
          <a:solidFill>
            <a:srgbClr val="CFE1F2"/>
          </a:solidFill>
          <a:ln w="76199">
            <a:solidFill>
              <a:srgbClr val="073662"/>
            </a:solidFill>
          </a:ln>
        </p:spPr>
        <p:txBody>
          <a:bodyPr vert="horz" wrap="square" lIns="0" tIns="117687" rIns="0" bIns="0" rtlCol="0">
            <a:spAutoFit/>
          </a:bodyPr>
          <a:lstStyle/>
          <a:p>
            <a:pPr marL="113450" marR="222668">
              <a:lnSpc>
                <a:spcPts val="2200"/>
              </a:lnSpc>
              <a:spcBef>
                <a:spcPts val="927"/>
              </a:spcBef>
            </a:pPr>
            <a:r>
              <a:rPr sz="1867" spc="-7" dirty="0">
                <a:latin typeface="Arial"/>
                <a:cs typeface="Arial"/>
              </a:rPr>
              <a:t>Some languages </a:t>
            </a:r>
            <a:r>
              <a:rPr sz="1867" dirty="0">
                <a:latin typeface="Arial"/>
                <a:cs typeface="Arial"/>
              </a:rPr>
              <a:t>(e.g., </a:t>
            </a:r>
            <a:r>
              <a:rPr sz="1867" spc="-7" dirty="0">
                <a:latin typeface="Arial"/>
                <a:cs typeface="Arial"/>
              </a:rPr>
              <a:t>C/C++ and  </a:t>
            </a:r>
            <a:r>
              <a:rPr sz="1867" dirty="0">
                <a:latin typeface="Arial"/>
                <a:cs typeface="Arial"/>
              </a:rPr>
              <a:t>Java) </a:t>
            </a:r>
            <a:r>
              <a:rPr sz="1867" spc="-7" dirty="0">
                <a:latin typeface="Arial"/>
                <a:cs typeface="Arial"/>
              </a:rPr>
              <a:t>are </a:t>
            </a:r>
            <a:r>
              <a:rPr sz="1867" b="1" spc="-7" dirty="0">
                <a:latin typeface="Arial"/>
                <a:cs typeface="Arial"/>
              </a:rPr>
              <a:t>compiled</a:t>
            </a:r>
            <a:r>
              <a:rPr sz="1867" spc="-7" dirty="0">
                <a:latin typeface="Arial"/>
                <a:cs typeface="Arial"/>
              </a:rPr>
              <a:t>: we write </a:t>
            </a:r>
            <a:r>
              <a:rPr sz="1867" dirty="0">
                <a:latin typeface="Arial"/>
                <a:cs typeface="Arial"/>
              </a:rPr>
              <a:t>code,  </a:t>
            </a:r>
            <a:r>
              <a:rPr sz="1867" spc="-7" dirty="0">
                <a:latin typeface="Arial"/>
                <a:cs typeface="Arial"/>
              </a:rPr>
              <a:t>from which we get </a:t>
            </a:r>
            <a:r>
              <a:rPr sz="1867" dirty="0">
                <a:latin typeface="Arial"/>
                <a:cs typeface="Arial"/>
              </a:rPr>
              <a:t>a runnable  </a:t>
            </a:r>
            <a:r>
              <a:rPr sz="1867" spc="-7" dirty="0">
                <a:latin typeface="Arial"/>
                <a:cs typeface="Arial"/>
              </a:rPr>
              <a:t>program </a:t>
            </a:r>
            <a:r>
              <a:rPr sz="1867" dirty="0">
                <a:latin typeface="Arial"/>
                <a:cs typeface="Arial"/>
              </a:rPr>
              <a:t>via </a:t>
            </a:r>
            <a:r>
              <a:rPr sz="1867" b="1" spc="-7" dirty="0">
                <a:latin typeface="Arial"/>
                <a:cs typeface="Arial"/>
              </a:rPr>
              <a:t>compilation</a:t>
            </a:r>
            <a:r>
              <a:rPr sz="1867" spc="-7" dirty="0">
                <a:latin typeface="Arial"/>
                <a:cs typeface="Arial"/>
              </a:rPr>
              <a:t>. In  </a:t>
            </a:r>
            <a:r>
              <a:rPr sz="1867" dirty="0">
                <a:latin typeface="Arial"/>
                <a:cs typeface="Arial"/>
              </a:rPr>
              <a:t>contrast, </a:t>
            </a:r>
            <a:r>
              <a:rPr sz="1867" spc="-7" dirty="0">
                <a:latin typeface="Arial"/>
                <a:cs typeface="Arial"/>
              </a:rPr>
              <a:t>Python is </a:t>
            </a:r>
            <a:r>
              <a:rPr sz="1867" b="1" spc="-7" dirty="0">
                <a:latin typeface="Arial"/>
                <a:cs typeface="Arial"/>
              </a:rPr>
              <a:t>interpreted</a:t>
            </a:r>
            <a:r>
              <a:rPr sz="1867" spc="-7" dirty="0">
                <a:latin typeface="Arial"/>
                <a:cs typeface="Arial"/>
              </a:rPr>
              <a:t>: </a:t>
            </a:r>
            <a:r>
              <a:rPr sz="1867" dirty="0">
                <a:latin typeface="Arial"/>
                <a:cs typeface="Arial"/>
              </a:rPr>
              <a:t>A  </a:t>
            </a:r>
            <a:r>
              <a:rPr sz="1867" spc="-7" dirty="0">
                <a:latin typeface="Arial"/>
                <a:cs typeface="Arial"/>
              </a:rPr>
              <a:t>program, </a:t>
            </a:r>
            <a:r>
              <a:rPr sz="1867" dirty="0">
                <a:latin typeface="Arial"/>
                <a:cs typeface="Arial"/>
              </a:rPr>
              <a:t>called </a:t>
            </a:r>
            <a:r>
              <a:rPr sz="1867" spc="-7" dirty="0">
                <a:latin typeface="Arial"/>
                <a:cs typeface="Arial"/>
              </a:rPr>
              <a:t>the </a:t>
            </a:r>
            <a:r>
              <a:rPr sz="1867" b="1" spc="-7" dirty="0">
                <a:latin typeface="Arial"/>
                <a:cs typeface="Arial"/>
              </a:rPr>
              <a:t>interpreter</a:t>
            </a:r>
            <a:r>
              <a:rPr sz="1867" spc="-7" dirty="0">
                <a:latin typeface="Arial"/>
                <a:cs typeface="Arial"/>
              </a:rPr>
              <a:t>,  </a:t>
            </a:r>
            <a:r>
              <a:rPr sz="1867" dirty="0">
                <a:latin typeface="Arial"/>
                <a:cs typeface="Arial"/>
              </a:rPr>
              <a:t>runs </a:t>
            </a:r>
            <a:r>
              <a:rPr sz="1867" spc="-7" dirty="0">
                <a:latin typeface="Arial"/>
                <a:cs typeface="Arial"/>
              </a:rPr>
              <a:t>our </a:t>
            </a:r>
            <a:r>
              <a:rPr sz="1867" dirty="0">
                <a:latin typeface="Arial"/>
                <a:cs typeface="Arial"/>
              </a:rPr>
              <a:t>code </a:t>
            </a:r>
            <a:r>
              <a:rPr sz="1867" spc="-7" dirty="0">
                <a:latin typeface="Arial"/>
                <a:cs typeface="Arial"/>
              </a:rPr>
              <a:t>directly, line by</a:t>
            </a:r>
            <a:r>
              <a:rPr sz="1867" spc="-93" dirty="0">
                <a:latin typeface="Arial"/>
                <a:cs typeface="Arial"/>
              </a:rPr>
              <a:t> </a:t>
            </a:r>
            <a:r>
              <a:rPr sz="1867" spc="-7" dirty="0">
                <a:latin typeface="Arial"/>
                <a:cs typeface="Arial"/>
              </a:rPr>
              <a:t>line.</a:t>
            </a:r>
            <a:endParaRPr sz="1867">
              <a:latin typeface="Arial"/>
              <a:cs typeface="Arial"/>
            </a:endParaRPr>
          </a:p>
        </p:txBody>
      </p:sp>
      <p:grpSp>
        <p:nvGrpSpPr>
          <p:cNvPr id="10" name="object 10"/>
          <p:cNvGrpSpPr/>
          <p:nvPr/>
        </p:nvGrpSpPr>
        <p:grpSpPr>
          <a:xfrm>
            <a:off x="6075054" y="2256639"/>
            <a:ext cx="1780540" cy="1500293"/>
            <a:chOff x="4556290" y="1692479"/>
            <a:chExt cx="1335405" cy="1125220"/>
          </a:xfrm>
        </p:grpSpPr>
        <p:sp>
          <p:nvSpPr>
            <p:cNvPr id="11" name="object 11"/>
            <p:cNvSpPr/>
            <p:nvPr/>
          </p:nvSpPr>
          <p:spPr>
            <a:xfrm>
              <a:off x="4707840" y="1822606"/>
              <a:ext cx="1164590" cy="976630"/>
            </a:xfrm>
            <a:custGeom>
              <a:avLst/>
              <a:gdLst/>
              <a:ahLst/>
              <a:cxnLst/>
              <a:rect l="l" t="t" r="r" b="b"/>
              <a:pathLst>
                <a:path w="1164589" h="976630">
                  <a:moveTo>
                    <a:pt x="1164322" y="976038"/>
                  </a:moveTo>
                  <a:lnTo>
                    <a:pt x="0" y="0"/>
                  </a:lnTo>
                </a:path>
              </a:pathLst>
            </a:custGeom>
            <a:ln w="38099">
              <a:solidFill>
                <a:srgbClr val="073662"/>
              </a:solidFill>
            </a:ln>
          </p:spPr>
          <p:txBody>
            <a:bodyPr wrap="square" lIns="0" tIns="0" rIns="0" bIns="0" rtlCol="0"/>
            <a:lstStyle/>
            <a:p>
              <a:endParaRPr sz="2400"/>
            </a:p>
          </p:txBody>
        </p:sp>
        <p:sp>
          <p:nvSpPr>
            <p:cNvPr id="12" name="object 12"/>
            <p:cNvSpPr/>
            <p:nvPr/>
          </p:nvSpPr>
          <p:spPr>
            <a:xfrm>
              <a:off x="4556290" y="1692479"/>
              <a:ext cx="211049" cy="197402"/>
            </a:xfrm>
            <a:prstGeom prst="rect">
              <a:avLst/>
            </a:prstGeom>
            <a:blipFill>
              <a:blip r:embed="rId2" cstate="print"/>
              <a:stretch>
                <a:fillRect/>
              </a:stretch>
            </a:blipFill>
          </p:spPr>
          <p:txBody>
            <a:bodyPr wrap="square" lIns="0" tIns="0" rIns="0" bIns="0" rtlCol="0"/>
            <a:lstStyle/>
            <a:p>
              <a:endParaRPr sz="2400"/>
            </a:p>
          </p:txBody>
        </p:sp>
      </p:grpSp>
      <p:sp>
        <p:nvSpPr>
          <p:cNvPr id="13" name="object 13"/>
          <p:cNvSpPr txBox="1"/>
          <p:nvPr/>
        </p:nvSpPr>
        <p:spPr>
          <a:xfrm>
            <a:off x="341299" y="5440622"/>
            <a:ext cx="6732693" cy="965222"/>
          </a:xfrm>
          <a:prstGeom prst="rect">
            <a:avLst/>
          </a:prstGeom>
          <a:solidFill>
            <a:srgbClr val="D8E9D3"/>
          </a:solidFill>
          <a:ln w="76199">
            <a:solidFill>
              <a:srgbClr val="38751C"/>
            </a:solidFill>
          </a:ln>
        </p:spPr>
        <p:txBody>
          <a:bodyPr vert="horz" wrap="square" lIns="0" tIns="117687" rIns="0" bIns="0" rtlCol="0">
            <a:spAutoFit/>
          </a:bodyPr>
          <a:lstStyle/>
          <a:p>
            <a:pPr marL="113450" marR="306486">
              <a:lnSpc>
                <a:spcPts val="2200"/>
              </a:lnSpc>
              <a:spcBef>
                <a:spcPts val="927"/>
              </a:spcBef>
            </a:pPr>
            <a:r>
              <a:rPr sz="1867" b="1" spc="-7" dirty="0">
                <a:latin typeface="Arial"/>
                <a:cs typeface="Arial"/>
              </a:rPr>
              <a:t>Compiled vs interpreted languages: </a:t>
            </a:r>
            <a:r>
              <a:rPr sz="1867" dirty="0">
                <a:latin typeface="Arial"/>
                <a:cs typeface="Arial"/>
              </a:rPr>
              <a:t>compiled </a:t>
            </a:r>
            <a:r>
              <a:rPr sz="1867" spc="-7" dirty="0">
                <a:latin typeface="Arial"/>
                <a:cs typeface="Arial"/>
              </a:rPr>
              <a:t>languages  are </a:t>
            </a:r>
            <a:r>
              <a:rPr sz="1867" dirty="0">
                <a:latin typeface="Arial"/>
                <a:cs typeface="Arial"/>
              </a:rPr>
              <a:t>(generally) </a:t>
            </a:r>
            <a:r>
              <a:rPr sz="1867" spc="-7" dirty="0">
                <a:latin typeface="Arial"/>
                <a:cs typeface="Arial"/>
              </a:rPr>
              <a:t>faster than interpreted languages, typically at  the </a:t>
            </a:r>
            <a:r>
              <a:rPr sz="1867" dirty="0">
                <a:latin typeface="Arial"/>
                <a:cs typeface="Arial"/>
              </a:rPr>
              <a:t>cost </a:t>
            </a:r>
            <a:r>
              <a:rPr sz="1867" spc="-7" dirty="0">
                <a:latin typeface="Arial"/>
                <a:cs typeface="Arial"/>
              </a:rPr>
              <a:t>of being </a:t>
            </a:r>
            <a:r>
              <a:rPr sz="1867" dirty="0">
                <a:latin typeface="Arial"/>
                <a:cs typeface="Arial"/>
              </a:rPr>
              <a:t>more</a:t>
            </a:r>
            <a:r>
              <a:rPr sz="1867" spc="-27" dirty="0">
                <a:latin typeface="Arial"/>
                <a:cs typeface="Arial"/>
              </a:rPr>
              <a:t> </a:t>
            </a:r>
            <a:r>
              <a:rPr sz="1867" dirty="0">
                <a:latin typeface="Arial"/>
                <a:cs typeface="Arial"/>
              </a:rPr>
              <a:t>complicated.</a:t>
            </a:r>
            <a:endParaRPr sz="1867">
              <a:latin typeface="Arial"/>
              <a:cs typeface="Arial"/>
            </a:endParaRPr>
          </a:p>
        </p:txBody>
      </p:sp>
      <p:pic>
        <p:nvPicPr>
          <p:cNvPr id="14" name="Picture 13"/>
          <p:cNvPicPr>
            <a:picLocks noChangeAspect="1"/>
          </p:cNvPicPr>
          <p:nvPr/>
        </p:nvPicPr>
        <p:blipFill>
          <a:blip r:embed="rId3"/>
          <a:stretch>
            <a:fillRect/>
          </a:stretch>
        </p:blipFill>
        <p:spPr>
          <a:xfrm>
            <a:off x="9111221" y="148980"/>
            <a:ext cx="3080779" cy="82912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626078"/>
            <a:ext cx="9730491" cy="694207"/>
          </a:xfrm>
          <a:prstGeom prst="rect">
            <a:avLst/>
          </a:prstGeom>
        </p:spPr>
        <p:txBody>
          <a:bodyPr vert="horz" wrap="square" lIns="0" tIns="16933" rIns="0" bIns="0" rtlCol="0" anchor="ctr">
            <a:spAutoFit/>
          </a:bodyPr>
          <a:lstStyle/>
          <a:p>
            <a:pPr marL="16933">
              <a:lnSpc>
                <a:spcPct val="100000"/>
              </a:lnSpc>
              <a:spcBef>
                <a:spcPts val="133"/>
              </a:spcBef>
            </a:pPr>
            <a:r>
              <a:rPr spc="-13" dirty="0"/>
              <a:t>Python </a:t>
            </a:r>
            <a:r>
              <a:rPr spc="-7" dirty="0"/>
              <a:t>Interpreter on the Command</a:t>
            </a:r>
            <a:r>
              <a:rPr spc="-113" dirty="0"/>
              <a:t> </a:t>
            </a:r>
            <a:r>
              <a:rPr spc="-7" dirty="0"/>
              <a:t>Line</a:t>
            </a:r>
          </a:p>
        </p:txBody>
      </p:sp>
      <p:grpSp>
        <p:nvGrpSpPr>
          <p:cNvPr id="3" name="object 3"/>
          <p:cNvGrpSpPr/>
          <p:nvPr/>
        </p:nvGrpSpPr>
        <p:grpSpPr>
          <a:xfrm>
            <a:off x="649299" y="1600197"/>
            <a:ext cx="10932160" cy="3909060"/>
            <a:chOff x="486974" y="1200147"/>
            <a:chExt cx="8199120" cy="2931795"/>
          </a:xfrm>
        </p:grpSpPr>
        <p:sp>
          <p:nvSpPr>
            <p:cNvPr id="4" name="object 4"/>
            <p:cNvSpPr/>
            <p:nvPr/>
          </p:nvSpPr>
          <p:spPr>
            <a:xfrm>
              <a:off x="525073" y="1238247"/>
              <a:ext cx="8122920" cy="2855595"/>
            </a:xfrm>
            <a:custGeom>
              <a:avLst/>
              <a:gdLst/>
              <a:ahLst/>
              <a:cxnLst/>
              <a:rect l="l" t="t" r="r" b="b"/>
              <a:pathLst>
                <a:path w="8122920" h="2855595">
                  <a:moveTo>
                    <a:pt x="8122483" y="2855094"/>
                  </a:moveTo>
                  <a:lnTo>
                    <a:pt x="0" y="2855094"/>
                  </a:lnTo>
                  <a:lnTo>
                    <a:pt x="0" y="0"/>
                  </a:lnTo>
                  <a:lnTo>
                    <a:pt x="8122483" y="0"/>
                  </a:lnTo>
                  <a:lnTo>
                    <a:pt x="8122483" y="2855094"/>
                  </a:lnTo>
                  <a:close/>
                </a:path>
              </a:pathLst>
            </a:custGeom>
            <a:solidFill>
              <a:srgbClr val="000000"/>
            </a:solidFill>
          </p:spPr>
          <p:txBody>
            <a:bodyPr wrap="square" lIns="0" tIns="0" rIns="0" bIns="0" rtlCol="0"/>
            <a:lstStyle/>
            <a:p>
              <a:endParaRPr sz="2400"/>
            </a:p>
          </p:txBody>
        </p:sp>
        <p:sp>
          <p:nvSpPr>
            <p:cNvPr id="5" name="object 5"/>
            <p:cNvSpPr/>
            <p:nvPr/>
          </p:nvSpPr>
          <p:spPr>
            <a:xfrm>
              <a:off x="525073" y="1238247"/>
              <a:ext cx="8122920" cy="2855595"/>
            </a:xfrm>
            <a:custGeom>
              <a:avLst/>
              <a:gdLst/>
              <a:ahLst/>
              <a:cxnLst/>
              <a:rect l="l" t="t" r="r" b="b"/>
              <a:pathLst>
                <a:path w="8122920" h="2855595">
                  <a:moveTo>
                    <a:pt x="0" y="0"/>
                  </a:moveTo>
                  <a:lnTo>
                    <a:pt x="8122483" y="0"/>
                  </a:lnTo>
                  <a:lnTo>
                    <a:pt x="8122483" y="2855094"/>
                  </a:lnTo>
                  <a:lnTo>
                    <a:pt x="0" y="2855094"/>
                  </a:lnTo>
                  <a:lnTo>
                    <a:pt x="0" y="0"/>
                  </a:lnTo>
                  <a:close/>
                </a:path>
              </a:pathLst>
            </a:custGeom>
            <a:ln w="76199">
              <a:solidFill>
                <a:srgbClr val="595959"/>
              </a:solidFill>
            </a:ln>
          </p:spPr>
          <p:txBody>
            <a:bodyPr wrap="square" lIns="0" tIns="0" rIns="0" bIns="0" rtlCol="0"/>
            <a:lstStyle/>
            <a:p>
              <a:endParaRPr sz="2400"/>
            </a:p>
          </p:txBody>
        </p:sp>
      </p:grpSp>
      <p:sp>
        <p:nvSpPr>
          <p:cNvPr id="6" name="object 6"/>
          <p:cNvSpPr txBox="1"/>
          <p:nvPr/>
        </p:nvSpPr>
        <p:spPr>
          <a:xfrm>
            <a:off x="797465" y="1738879"/>
            <a:ext cx="10274300" cy="3403923"/>
          </a:xfrm>
          <a:prstGeom prst="rect">
            <a:avLst/>
          </a:prstGeom>
        </p:spPr>
        <p:txBody>
          <a:bodyPr vert="horz" wrap="square" lIns="0" tIns="16933" rIns="0" bIns="0" rtlCol="0">
            <a:spAutoFit/>
          </a:bodyPr>
          <a:lstStyle/>
          <a:p>
            <a:pPr marL="16933">
              <a:lnSpc>
                <a:spcPts val="2219"/>
              </a:lnSpc>
              <a:spcBef>
                <a:spcPts val="133"/>
              </a:spcBef>
            </a:pPr>
            <a:r>
              <a:rPr sz="1867" spc="-7" dirty="0">
                <a:solidFill>
                  <a:srgbClr val="00FF00"/>
                </a:solidFill>
                <a:latin typeface="Courier New"/>
                <a:cs typeface="Courier New"/>
              </a:rPr>
              <a:t>keith@Steinhaus:~/demo$</a:t>
            </a:r>
            <a:r>
              <a:rPr sz="1867" spc="-13" dirty="0">
                <a:solidFill>
                  <a:srgbClr val="00FF00"/>
                </a:solidFill>
                <a:latin typeface="Courier New"/>
                <a:cs typeface="Courier New"/>
              </a:rPr>
              <a:t> </a:t>
            </a:r>
            <a:r>
              <a:rPr sz="1867" spc="-7" dirty="0">
                <a:solidFill>
                  <a:srgbClr val="00FF00"/>
                </a:solidFill>
                <a:latin typeface="Courier New"/>
                <a:cs typeface="Courier New"/>
              </a:rPr>
              <a:t>python3</a:t>
            </a:r>
            <a:endParaRPr sz="1867">
              <a:latin typeface="Courier New"/>
              <a:cs typeface="Courier New"/>
            </a:endParaRPr>
          </a:p>
          <a:p>
            <a:pPr marL="16933">
              <a:lnSpc>
                <a:spcPts val="2200"/>
              </a:lnSpc>
              <a:tabLst>
                <a:tab pos="3998707" algn="l"/>
              </a:tabLst>
            </a:pPr>
            <a:r>
              <a:rPr sz="1867" spc="-7" dirty="0">
                <a:solidFill>
                  <a:srgbClr val="00FF00"/>
                </a:solidFill>
                <a:latin typeface="Courier New"/>
                <a:cs typeface="Courier New"/>
              </a:rPr>
              <a:t>Python 3.6.3</a:t>
            </a:r>
            <a:r>
              <a:rPr sz="1867" spc="7" dirty="0">
                <a:solidFill>
                  <a:srgbClr val="00FF00"/>
                </a:solidFill>
                <a:latin typeface="Courier New"/>
                <a:cs typeface="Courier New"/>
              </a:rPr>
              <a:t> </a:t>
            </a:r>
            <a:r>
              <a:rPr sz="1867" spc="-7" dirty="0">
                <a:solidFill>
                  <a:srgbClr val="00FF00"/>
                </a:solidFill>
                <a:latin typeface="Courier New"/>
                <a:cs typeface="Courier New"/>
              </a:rPr>
              <a:t>(default,</a:t>
            </a:r>
            <a:r>
              <a:rPr sz="1867" dirty="0">
                <a:solidFill>
                  <a:srgbClr val="00FF00"/>
                </a:solidFill>
                <a:latin typeface="Courier New"/>
                <a:cs typeface="Courier New"/>
              </a:rPr>
              <a:t> </a:t>
            </a:r>
            <a:r>
              <a:rPr sz="1867" spc="-7" dirty="0">
                <a:solidFill>
                  <a:srgbClr val="00FF00"/>
                </a:solidFill>
                <a:latin typeface="Courier New"/>
                <a:cs typeface="Courier New"/>
              </a:rPr>
              <a:t>Oct	</a:t>
            </a:r>
            <a:r>
              <a:rPr sz="1867" dirty="0">
                <a:solidFill>
                  <a:srgbClr val="00FF00"/>
                </a:solidFill>
                <a:latin typeface="Courier New"/>
                <a:cs typeface="Courier New"/>
              </a:rPr>
              <a:t>4 </a:t>
            </a:r>
            <a:r>
              <a:rPr sz="1867" spc="-7" dirty="0">
                <a:solidFill>
                  <a:srgbClr val="00FF00"/>
                </a:solidFill>
                <a:latin typeface="Courier New"/>
                <a:cs typeface="Courier New"/>
              </a:rPr>
              <a:t>2017,</a:t>
            </a:r>
            <a:r>
              <a:rPr sz="1867" spc="-27" dirty="0">
                <a:solidFill>
                  <a:srgbClr val="00FF00"/>
                </a:solidFill>
                <a:latin typeface="Courier New"/>
                <a:cs typeface="Courier New"/>
              </a:rPr>
              <a:t> </a:t>
            </a:r>
            <a:r>
              <a:rPr sz="1867" spc="-7" dirty="0">
                <a:solidFill>
                  <a:srgbClr val="00FF00"/>
                </a:solidFill>
                <a:latin typeface="Courier New"/>
                <a:cs typeface="Courier New"/>
              </a:rPr>
              <a:t>06:09:05)</a:t>
            </a:r>
            <a:endParaRPr sz="1867">
              <a:latin typeface="Courier New"/>
              <a:cs typeface="Courier New"/>
            </a:endParaRPr>
          </a:p>
          <a:p>
            <a:pPr marL="16933" marR="290398">
              <a:lnSpc>
                <a:spcPts val="2200"/>
              </a:lnSpc>
              <a:spcBef>
                <a:spcPts val="87"/>
              </a:spcBef>
            </a:pPr>
            <a:r>
              <a:rPr sz="1867" spc="-7" dirty="0">
                <a:solidFill>
                  <a:srgbClr val="00FF00"/>
                </a:solidFill>
                <a:latin typeface="Courier New"/>
                <a:cs typeface="Courier New"/>
              </a:rPr>
              <a:t>[GCC 4.2.1 Compatible Apple LLVM 8.0.0 (clang-800.0.42.1)] on darwin  Type "help", "copyright", "credits" or "license" for more</a:t>
            </a:r>
            <a:r>
              <a:rPr sz="1867" spc="-87" dirty="0">
                <a:solidFill>
                  <a:srgbClr val="00FF00"/>
                </a:solidFill>
                <a:latin typeface="Courier New"/>
                <a:cs typeface="Courier New"/>
              </a:rPr>
              <a:t> </a:t>
            </a:r>
            <a:r>
              <a:rPr sz="1867" spc="-7" dirty="0">
                <a:solidFill>
                  <a:srgbClr val="00FF00"/>
                </a:solidFill>
                <a:latin typeface="Courier New"/>
                <a:cs typeface="Courier New"/>
              </a:rPr>
              <a:t>information.</a:t>
            </a:r>
            <a:endParaRPr sz="1867">
              <a:latin typeface="Courier New"/>
              <a:cs typeface="Courier New"/>
            </a:endParaRPr>
          </a:p>
          <a:p>
            <a:pPr marL="16933">
              <a:lnSpc>
                <a:spcPts val="2113"/>
              </a:lnSpc>
            </a:pPr>
            <a:r>
              <a:rPr sz="1867" spc="-7" dirty="0">
                <a:solidFill>
                  <a:srgbClr val="00FF00"/>
                </a:solidFill>
                <a:latin typeface="Courier New"/>
                <a:cs typeface="Courier New"/>
              </a:rPr>
              <a:t>&gt;&gt;&gt;</a:t>
            </a:r>
            <a:endParaRPr sz="1867">
              <a:latin typeface="Courier New"/>
              <a:cs typeface="Courier New"/>
            </a:endParaRPr>
          </a:p>
          <a:p>
            <a:pPr marL="16933">
              <a:lnSpc>
                <a:spcPts val="2200"/>
              </a:lnSpc>
            </a:pPr>
            <a:r>
              <a:rPr sz="1867" spc="-7" dirty="0">
                <a:solidFill>
                  <a:srgbClr val="00FF00"/>
                </a:solidFill>
                <a:latin typeface="Courier New"/>
                <a:cs typeface="Courier New"/>
              </a:rPr>
              <a:t>keith@Steinhaus:~/demo$</a:t>
            </a:r>
            <a:r>
              <a:rPr sz="1867" spc="-13" dirty="0">
                <a:solidFill>
                  <a:srgbClr val="00FF00"/>
                </a:solidFill>
                <a:latin typeface="Courier New"/>
                <a:cs typeface="Courier New"/>
              </a:rPr>
              <a:t> </a:t>
            </a:r>
            <a:r>
              <a:rPr sz="1867" spc="-7" dirty="0">
                <a:solidFill>
                  <a:srgbClr val="00FF00"/>
                </a:solidFill>
                <a:latin typeface="Courier New"/>
                <a:cs typeface="Courier New"/>
              </a:rPr>
              <a:t>python</a:t>
            </a:r>
            <a:endParaRPr sz="1867">
              <a:latin typeface="Courier New"/>
              <a:cs typeface="Courier New"/>
            </a:endParaRPr>
          </a:p>
          <a:p>
            <a:pPr marL="16933" marR="6773">
              <a:lnSpc>
                <a:spcPts val="2200"/>
              </a:lnSpc>
              <a:spcBef>
                <a:spcPts val="87"/>
              </a:spcBef>
            </a:pPr>
            <a:r>
              <a:rPr sz="1867" spc="-7" dirty="0">
                <a:solidFill>
                  <a:srgbClr val="00FF00"/>
                </a:solidFill>
                <a:latin typeface="Courier New"/>
                <a:cs typeface="Courier New"/>
              </a:rPr>
              <a:t>Python 2.7.13 |Anaconda 4.4.0 (x86_64)| (default, Dec 20 2016, 23:05:08)  [GCC 4.2.1 Compatible Apple LLVM 6.0 (clang-600.0.57)] on</a:t>
            </a:r>
            <a:r>
              <a:rPr sz="1867" spc="-47" dirty="0">
                <a:solidFill>
                  <a:srgbClr val="00FF00"/>
                </a:solidFill>
                <a:latin typeface="Courier New"/>
                <a:cs typeface="Courier New"/>
              </a:rPr>
              <a:t> </a:t>
            </a:r>
            <a:r>
              <a:rPr sz="1867" spc="-7" dirty="0">
                <a:solidFill>
                  <a:srgbClr val="00FF00"/>
                </a:solidFill>
                <a:latin typeface="Courier New"/>
                <a:cs typeface="Courier New"/>
              </a:rPr>
              <a:t>darwin</a:t>
            </a:r>
            <a:endParaRPr sz="1867">
              <a:latin typeface="Courier New"/>
              <a:cs typeface="Courier New"/>
            </a:endParaRPr>
          </a:p>
          <a:p>
            <a:pPr marL="16933" marR="290398">
              <a:lnSpc>
                <a:spcPts val="2200"/>
              </a:lnSpc>
            </a:pPr>
            <a:r>
              <a:rPr sz="1867" spc="-7" dirty="0">
                <a:solidFill>
                  <a:srgbClr val="00FF00"/>
                </a:solidFill>
                <a:latin typeface="Courier New"/>
                <a:cs typeface="Courier New"/>
              </a:rPr>
              <a:t>Type "help", "copyright", "credits" or "license" for more information.  Anaconda is brought to you by Continuum</a:t>
            </a:r>
            <a:r>
              <a:rPr sz="1867" spc="-33" dirty="0">
                <a:solidFill>
                  <a:srgbClr val="00FF00"/>
                </a:solidFill>
                <a:latin typeface="Courier New"/>
                <a:cs typeface="Courier New"/>
              </a:rPr>
              <a:t> </a:t>
            </a:r>
            <a:r>
              <a:rPr sz="1867" spc="-7" dirty="0">
                <a:solidFill>
                  <a:srgbClr val="00FF00"/>
                </a:solidFill>
                <a:latin typeface="Courier New"/>
                <a:cs typeface="Courier New"/>
              </a:rPr>
              <a:t>Analytics.</a:t>
            </a:r>
            <a:endParaRPr sz="1867">
              <a:latin typeface="Courier New"/>
              <a:cs typeface="Courier New"/>
            </a:endParaRPr>
          </a:p>
          <a:p>
            <a:pPr marL="16933">
              <a:lnSpc>
                <a:spcPts val="2113"/>
              </a:lnSpc>
            </a:pPr>
            <a:r>
              <a:rPr sz="1867" spc="-7" dirty="0">
                <a:solidFill>
                  <a:srgbClr val="00FF00"/>
                </a:solidFill>
                <a:latin typeface="Courier New"/>
                <a:cs typeface="Courier New"/>
              </a:rPr>
              <a:t>Please check out:</a:t>
            </a:r>
            <a:r>
              <a:rPr sz="1867" spc="-7" dirty="0">
                <a:solidFill>
                  <a:srgbClr val="00FF00"/>
                </a:solidFill>
                <a:latin typeface="Courier New"/>
                <a:cs typeface="Courier New"/>
                <a:hlinkClick r:id="rId2"/>
              </a:rPr>
              <a:t> http://continuum.io/thanks </a:t>
            </a:r>
            <a:r>
              <a:rPr sz="1867" spc="-7" dirty="0">
                <a:solidFill>
                  <a:srgbClr val="00FF00"/>
                </a:solidFill>
                <a:latin typeface="Courier New"/>
                <a:cs typeface="Courier New"/>
              </a:rPr>
              <a:t>and</a:t>
            </a:r>
            <a:r>
              <a:rPr sz="1867" spc="-67" dirty="0">
                <a:solidFill>
                  <a:srgbClr val="00FF00"/>
                </a:solidFill>
                <a:latin typeface="Courier New"/>
                <a:cs typeface="Courier New"/>
              </a:rPr>
              <a:t> </a:t>
            </a:r>
            <a:r>
              <a:rPr sz="1867" spc="-7" dirty="0">
                <a:solidFill>
                  <a:srgbClr val="00FF00"/>
                </a:solidFill>
                <a:latin typeface="Courier New"/>
                <a:cs typeface="Courier New"/>
              </a:rPr>
              <a:t>https://anaconda.org</a:t>
            </a:r>
            <a:endParaRPr sz="1867">
              <a:latin typeface="Courier New"/>
              <a:cs typeface="Courier New"/>
            </a:endParaRPr>
          </a:p>
          <a:p>
            <a:pPr marL="16933">
              <a:lnSpc>
                <a:spcPts val="2219"/>
              </a:lnSpc>
            </a:pPr>
            <a:r>
              <a:rPr sz="1867" spc="-7" dirty="0">
                <a:solidFill>
                  <a:srgbClr val="00FF00"/>
                </a:solidFill>
                <a:latin typeface="Courier New"/>
                <a:cs typeface="Courier New"/>
              </a:rPr>
              <a:t>&gt;&gt;&gt;</a:t>
            </a:r>
            <a:endParaRPr sz="1867">
              <a:latin typeface="Courier New"/>
              <a:cs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omputer screen with text and arrows pointing to a black screen&#10;&#10;AI-generated content may be incorrect.">
            <a:extLst>
              <a:ext uri="{FF2B5EF4-FFF2-40B4-BE49-F238E27FC236}">
                <a16:creationId xmlns:a16="http://schemas.microsoft.com/office/drawing/2014/main" id="{A013081D-8BFD-0FEB-FF91-4FC43154318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876" r="1348" b="1"/>
          <a:stretch>
            <a:fillRect/>
          </a:stretch>
        </p:blipFill>
        <p:spPr>
          <a:xfrm>
            <a:off x="20" y="10"/>
            <a:ext cx="12191980" cy="6857990"/>
          </a:xfrm>
          <a:noFill/>
        </p:spPr>
      </p:pic>
      <p:sp>
        <p:nvSpPr>
          <p:cNvPr id="4" name="Footer Placeholder 3">
            <a:extLst>
              <a:ext uri="{FF2B5EF4-FFF2-40B4-BE49-F238E27FC236}">
                <a16:creationId xmlns:a16="http://schemas.microsoft.com/office/drawing/2014/main" id="{509EFEBC-A8F8-A0D4-877D-1DDC684E3AF4}"/>
              </a:ext>
            </a:extLst>
          </p:cNvPr>
          <p:cNvSpPr>
            <a:spLocks noGrp="1"/>
          </p:cNvSpPr>
          <p:nvPr>
            <p:ph type="ftr" sz="quarter" idx="11"/>
          </p:nvPr>
        </p:nvSpPr>
        <p:spPr/>
        <p:txBody>
          <a:bodyPr/>
          <a:lstStyle/>
          <a:p>
            <a:pPr>
              <a:spcAft>
                <a:spcPts val="600"/>
              </a:spcAft>
            </a:pPr>
            <a:r>
              <a:rPr lang="en-US"/>
              <a:t>Data Science Fall 2025</a:t>
            </a:r>
            <a:endParaRPr lang="en-GB"/>
          </a:p>
        </p:txBody>
      </p:sp>
      <p:sp>
        <p:nvSpPr>
          <p:cNvPr id="5" name="Slide Number Placeholder 4" hidden="1">
            <a:extLst>
              <a:ext uri="{FF2B5EF4-FFF2-40B4-BE49-F238E27FC236}">
                <a16:creationId xmlns:a16="http://schemas.microsoft.com/office/drawing/2014/main" id="{E0B3DDD1-30F0-A9C4-8E24-1E0C0F900C33}"/>
              </a:ext>
            </a:extLst>
          </p:cNvPr>
          <p:cNvSpPr>
            <a:spLocks noGrp="1"/>
          </p:cNvSpPr>
          <p:nvPr>
            <p:ph type="sldNum" sz="quarter" idx="12"/>
          </p:nvPr>
        </p:nvSpPr>
        <p:spPr/>
        <p:txBody>
          <a:bodyPr/>
          <a:lstStyle/>
          <a:p>
            <a:pPr>
              <a:spcAft>
                <a:spcPts val="600"/>
              </a:spcAft>
            </a:pPr>
            <a:fld id="{1BEB7A16-2A17-4549-A1D9-B9B2F7AEB8FC}" type="slidenum">
              <a:rPr lang="en-GB" smtClean="0"/>
              <a:pPr>
                <a:spcAft>
                  <a:spcPts val="600"/>
                </a:spcAft>
              </a:pPr>
              <a:t>26</a:t>
            </a:fld>
            <a:endParaRPr lang="en-GB"/>
          </a:p>
        </p:txBody>
      </p:sp>
    </p:spTree>
    <p:extLst>
      <p:ext uri="{BB962C8B-B14F-4D97-AF65-F5344CB8AC3E}">
        <p14:creationId xmlns:p14="http://schemas.microsoft.com/office/powerpoint/2010/main" val="14006071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481255"/>
            <a:ext cx="9708720" cy="694207"/>
          </a:xfrm>
          <a:prstGeom prst="rect">
            <a:avLst/>
          </a:prstGeom>
        </p:spPr>
        <p:txBody>
          <a:bodyPr vert="horz" wrap="square" lIns="0" tIns="16933" rIns="0" bIns="0" rtlCol="0" anchor="ctr">
            <a:spAutoFit/>
          </a:bodyPr>
          <a:lstStyle/>
          <a:p>
            <a:pPr marL="16933">
              <a:lnSpc>
                <a:spcPct val="100000"/>
              </a:lnSpc>
              <a:spcBef>
                <a:spcPts val="133"/>
              </a:spcBef>
            </a:pPr>
            <a:r>
              <a:rPr spc="-13" dirty="0"/>
              <a:t>Python </a:t>
            </a:r>
            <a:r>
              <a:rPr spc="-7" dirty="0"/>
              <a:t>Interpreter on the Command</a:t>
            </a:r>
            <a:r>
              <a:rPr spc="-113" dirty="0"/>
              <a:t> </a:t>
            </a:r>
            <a:r>
              <a:rPr spc="-7" dirty="0"/>
              <a:t>Line</a:t>
            </a:r>
          </a:p>
        </p:txBody>
      </p:sp>
      <p:grpSp>
        <p:nvGrpSpPr>
          <p:cNvPr id="3" name="object 3"/>
          <p:cNvGrpSpPr/>
          <p:nvPr/>
        </p:nvGrpSpPr>
        <p:grpSpPr>
          <a:xfrm>
            <a:off x="649297" y="1600197"/>
            <a:ext cx="10932160" cy="3909060"/>
            <a:chOff x="486973" y="1200147"/>
            <a:chExt cx="8199120" cy="2931795"/>
          </a:xfrm>
        </p:grpSpPr>
        <p:sp>
          <p:nvSpPr>
            <p:cNvPr id="4" name="object 4"/>
            <p:cNvSpPr/>
            <p:nvPr/>
          </p:nvSpPr>
          <p:spPr>
            <a:xfrm>
              <a:off x="525073" y="1238247"/>
              <a:ext cx="8122920" cy="2855595"/>
            </a:xfrm>
            <a:custGeom>
              <a:avLst/>
              <a:gdLst/>
              <a:ahLst/>
              <a:cxnLst/>
              <a:rect l="l" t="t" r="r" b="b"/>
              <a:pathLst>
                <a:path w="8122920" h="2855595">
                  <a:moveTo>
                    <a:pt x="8122483" y="2855094"/>
                  </a:moveTo>
                  <a:lnTo>
                    <a:pt x="0" y="2855094"/>
                  </a:lnTo>
                  <a:lnTo>
                    <a:pt x="0" y="0"/>
                  </a:lnTo>
                  <a:lnTo>
                    <a:pt x="8122483" y="0"/>
                  </a:lnTo>
                  <a:lnTo>
                    <a:pt x="8122483" y="2855094"/>
                  </a:lnTo>
                  <a:close/>
                </a:path>
              </a:pathLst>
            </a:custGeom>
            <a:solidFill>
              <a:srgbClr val="000000"/>
            </a:solidFill>
          </p:spPr>
          <p:txBody>
            <a:bodyPr wrap="square" lIns="0" tIns="0" rIns="0" bIns="0" rtlCol="0"/>
            <a:lstStyle/>
            <a:p>
              <a:endParaRPr sz="2400"/>
            </a:p>
          </p:txBody>
        </p:sp>
        <p:sp>
          <p:nvSpPr>
            <p:cNvPr id="5" name="object 5"/>
            <p:cNvSpPr/>
            <p:nvPr/>
          </p:nvSpPr>
          <p:spPr>
            <a:xfrm>
              <a:off x="525073" y="1238247"/>
              <a:ext cx="8122920" cy="2855595"/>
            </a:xfrm>
            <a:custGeom>
              <a:avLst/>
              <a:gdLst/>
              <a:ahLst/>
              <a:cxnLst/>
              <a:rect l="l" t="t" r="r" b="b"/>
              <a:pathLst>
                <a:path w="8122920" h="2855595">
                  <a:moveTo>
                    <a:pt x="0" y="0"/>
                  </a:moveTo>
                  <a:lnTo>
                    <a:pt x="8122483" y="0"/>
                  </a:lnTo>
                  <a:lnTo>
                    <a:pt x="8122483" y="2855094"/>
                  </a:lnTo>
                  <a:lnTo>
                    <a:pt x="0" y="2855094"/>
                  </a:lnTo>
                  <a:lnTo>
                    <a:pt x="0" y="0"/>
                  </a:lnTo>
                  <a:close/>
                </a:path>
              </a:pathLst>
            </a:custGeom>
            <a:ln w="76199">
              <a:solidFill>
                <a:srgbClr val="595959"/>
              </a:solidFill>
            </a:ln>
          </p:spPr>
          <p:txBody>
            <a:bodyPr wrap="square" lIns="0" tIns="0" rIns="0" bIns="0" rtlCol="0"/>
            <a:lstStyle/>
            <a:p>
              <a:endParaRPr sz="2400"/>
            </a:p>
          </p:txBody>
        </p:sp>
      </p:grpSp>
      <p:sp>
        <p:nvSpPr>
          <p:cNvPr id="6" name="object 6"/>
          <p:cNvSpPr txBox="1"/>
          <p:nvPr/>
        </p:nvSpPr>
        <p:spPr>
          <a:xfrm>
            <a:off x="797465" y="1738879"/>
            <a:ext cx="9989820" cy="1159719"/>
          </a:xfrm>
          <a:prstGeom prst="rect">
            <a:avLst/>
          </a:prstGeom>
        </p:spPr>
        <p:txBody>
          <a:bodyPr vert="horz" wrap="square" lIns="0" tIns="16933" rIns="0" bIns="0" rtlCol="0">
            <a:spAutoFit/>
          </a:bodyPr>
          <a:lstStyle/>
          <a:p>
            <a:pPr marL="16933">
              <a:lnSpc>
                <a:spcPts val="2219"/>
              </a:lnSpc>
              <a:spcBef>
                <a:spcPts val="133"/>
              </a:spcBef>
            </a:pPr>
            <a:r>
              <a:rPr sz="1867" spc="-7" dirty="0">
                <a:solidFill>
                  <a:srgbClr val="00FF00"/>
                </a:solidFill>
                <a:latin typeface="Courier New"/>
                <a:cs typeface="Courier New"/>
              </a:rPr>
              <a:t>keith@Steinhaus:~/demo$</a:t>
            </a:r>
            <a:r>
              <a:rPr sz="1867" spc="-13" dirty="0">
                <a:solidFill>
                  <a:srgbClr val="00FF00"/>
                </a:solidFill>
                <a:latin typeface="Courier New"/>
                <a:cs typeface="Courier New"/>
              </a:rPr>
              <a:t> </a:t>
            </a:r>
            <a:r>
              <a:rPr sz="1867" spc="-7" dirty="0">
                <a:solidFill>
                  <a:srgbClr val="00FF00"/>
                </a:solidFill>
                <a:latin typeface="Courier New"/>
                <a:cs typeface="Courier New"/>
              </a:rPr>
              <a:t>python3</a:t>
            </a:r>
            <a:endParaRPr sz="1867" dirty="0">
              <a:latin typeface="Courier New"/>
              <a:cs typeface="Courier New"/>
            </a:endParaRPr>
          </a:p>
          <a:p>
            <a:pPr marL="16933">
              <a:lnSpc>
                <a:spcPts val="2200"/>
              </a:lnSpc>
              <a:tabLst>
                <a:tab pos="3998707" algn="l"/>
              </a:tabLst>
            </a:pPr>
            <a:r>
              <a:rPr sz="1867" spc="-7" dirty="0">
                <a:solidFill>
                  <a:srgbClr val="00FF00"/>
                </a:solidFill>
                <a:latin typeface="Courier New"/>
                <a:cs typeface="Courier New"/>
              </a:rPr>
              <a:t>Python 3.6.3</a:t>
            </a:r>
            <a:r>
              <a:rPr sz="1867" spc="7" dirty="0">
                <a:solidFill>
                  <a:srgbClr val="00FF00"/>
                </a:solidFill>
                <a:latin typeface="Courier New"/>
                <a:cs typeface="Courier New"/>
              </a:rPr>
              <a:t> </a:t>
            </a:r>
            <a:r>
              <a:rPr sz="1867" spc="-7" dirty="0">
                <a:solidFill>
                  <a:srgbClr val="00FF00"/>
                </a:solidFill>
                <a:latin typeface="Courier New"/>
                <a:cs typeface="Courier New"/>
              </a:rPr>
              <a:t>(default,</a:t>
            </a:r>
            <a:r>
              <a:rPr sz="1867" dirty="0">
                <a:solidFill>
                  <a:srgbClr val="00FF00"/>
                </a:solidFill>
                <a:latin typeface="Courier New"/>
                <a:cs typeface="Courier New"/>
              </a:rPr>
              <a:t> </a:t>
            </a:r>
            <a:r>
              <a:rPr sz="1867" spc="-7" dirty="0">
                <a:solidFill>
                  <a:srgbClr val="00FF00"/>
                </a:solidFill>
                <a:latin typeface="Courier New"/>
                <a:cs typeface="Courier New"/>
              </a:rPr>
              <a:t>Oct	</a:t>
            </a:r>
            <a:r>
              <a:rPr sz="1867" dirty="0">
                <a:solidFill>
                  <a:srgbClr val="00FF00"/>
                </a:solidFill>
                <a:latin typeface="Courier New"/>
                <a:cs typeface="Courier New"/>
              </a:rPr>
              <a:t>4 </a:t>
            </a:r>
            <a:r>
              <a:rPr sz="1867" spc="-7" dirty="0">
                <a:solidFill>
                  <a:srgbClr val="00FF00"/>
                </a:solidFill>
                <a:latin typeface="Courier New"/>
                <a:cs typeface="Courier New"/>
              </a:rPr>
              <a:t>2017,</a:t>
            </a:r>
            <a:r>
              <a:rPr sz="1867" spc="-27" dirty="0">
                <a:solidFill>
                  <a:srgbClr val="00FF00"/>
                </a:solidFill>
                <a:latin typeface="Courier New"/>
                <a:cs typeface="Courier New"/>
              </a:rPr>
              <a:t> </a:t>
            </a:r>
            <a:r>
              <a:rPr sz="1867" spc="-7" dirty="0">
                <a:solidFill>
                  <a:srgbClr val="00FF00"/>
                </a:solidFill>
                <a:latin typeface="Courier New"/>
                <a:cs typeface="Courier New"/>
              </a:rPr>
              <a:t>06:09:05)</a:t>
            </a:r>
            <a:endParaRPr sz="1867" dirty="0">
              <a:latin typeface="Courier New"/>
              <a:cs typeface="Courier New"/>
            </a:endParaRPr>
          </a:p>
          <a:p>
            <a:pPr marL="16933" marR="6773">
              <a:lnSpc>
                <a:spcPts val="2200"/>
              </a:lnSpc>
              <a:spcBef>
                <a:spcPts val="87"/>
              </a:spcBef>
            </a:pPr>
            <a:r>
              <a:rPr sz="1867" spc="-7" dirty="0">
                <a:solidFill>
                  <a:srgbClr val="00FF00"/>
                </a:solidFill>
                <a:latin typeface="Courier New"/>
                <a:cs typeface="Courier New"/>
              </a:rPr>
              <a:t>[GCC 4.2.1 Compatible Apple LLVM 8.0.0 (clang-800.0.42.1)] on darwin  Type "help", "copyright", "credits" or "license" for more</a:t>
            </a:r>
            <a:r>
              <a:rPr sz="1867" spc="-87" dirty="0">
                <a:solidFill>
                  <a:srgbClr val="00FF00"/>
                </a:solidFill>
                <a:latin typeface="Courier New"/>
                <a:cs typeface="Courier New"/>
              </a:rPr>
              <a:t> </a:t>
            </a:r>
            <a:r>
              <a:rPr sz="1867" spc="-7" dirty="0">
                <a:solidFill>
                  <a:srgbClr val="00FF00"/>
                </a:solidFill>
                <a:latin typeface="Courier New"/>
                <a:cs typeface="Courier New"/>
              </a:rPr>
              <a:t>information.</a:t>
            </a:r>
            <a:endParaRPr sz="1867" dirty="0">
              <a:latin typeface="Courier New"/>
              <a:cs typeface="Courier New"/>
            </a:endParaRPr>
          </a:p>
        </p:txBody>
      </p:sp>
      <p:sp>
        <p:nvSpPr>
          <p:cNvPr id="7" name="object 7"/>
          <p:cNvSpPr txBox="1"/>
          <p:nvPr/>
        </p:nvSpPr>
        <p:spPr>
          <a:xfrm>
            <a:off x="797464" y="2856477"/>
            <a:ext cx="4301067" cy="582638"/>
          </a:xfrm>
          <a:prstGeom prst="rect">
            <a:avLst/>
          </a:prstGeom>
        </p:spPr>
        <p:txBody>
          <a:bodyPr vert="horz" wrap="square" lIns="0" tIns="16933" rIns="0" bIns="0" rtlCol="0">
            <a:spAutoFit/>
          </a:bodyPr>
          <a:lstStyle/>
          <a:p>
            <a:pPr marL="16933">
              <a:lnSpc>
                <a:spcPts val="2219"/>
              </a:lnSpc>
              <a:spcBef>
                <a:spcPts val="133"/>
              </a:spcBef>
            </a:pPr>
            <a:r>
              <a:rPr sz="1867" spc="-7" dirty="0">
                <a:solidFill>
                  <a:srgbClr val="00FF00"/>
                </a:solidFill>
                <a:latin typeface="Courier New"/>
                <a:cs typeface="Courier New"/>
              </a:rPr>
              <a:t>&gt;&gt;&gt;</a:t>
            </a:r>
            <a:endParaRPr sz="1867">
              <a:latin typeface="Courier New"/>
              <a:cs typeface="Courier New"/>
            </a:endParaRPr>
          </a:p>
          <a:p>
            <a:pPr marL="16933">
              <a:lnSpc>
                <a:spcPts val="2219"/>
              </a:lnSpc>
            </a:pPr>
            <a:r>
              <a:rPr sz="1867" spc="-7" dirty="0">
                <a:solidFill>
                  <a:srgbClr val="00FF00"/>
                </a:solidFill>
                <a:latin typeface="Courier New"/>
                <a:cs typeface="Courier New"/>
              </a:rPr>
              <a:t>keith@Steinhaus:~/demo$</a:t>
            </a:r>
            <a:r>
              <a:rPr sz="1867" spc="-107" dirty="0">
                <a:solidFill>
                  <a:srgbClr val="00FF00"/>
                </a:solidFill>
                <a:latin typeface="Courier New"/>
                <a:cs typeface="Courier New"/>
              </a:rPr>
              <a:t> </a:t>
            </a:r>
            <a:r>
              <a:rPr sz="1867" spc="-7" dirty="0">
                <a:solidFill>
                  <a:srgbClr val="00FF00"/>
                </a:solidFill>
                <a:latin typeface="Courier New"/>
                <a:cs typeface="Courier New"/>
              </a:rPr>
              <a:t>python</a:t>
            </a:r>
            <a:endParaRPr sz="1867">
              <a:latin typeface="Courier New"/>
              <a:cs typeface="Courier New"/>
            </a:endParaRPr>
          </a:p>
        </p:txBody>
      </p:sp>
      <p:sp>
        <p:nvSpPr>
          <p:cNvPr id="9" name="object 9"/>
          <p:cNvSpPr txBox="1"/>
          <p:nvPr/>
        </p:nvSpPr>
        <p:spPr>
          <a:xfrm>
            <a:off x="5645155" y="2866794"/>
            <a:ext cx="5558367" cy="392480"/>
          </a:xfrm>
          <a:prstGeom prst="rect">
            <a:avLst/>
          </a:prstGeom>
          <a:solidFill>
            <a:srgbClr val="FFF2CC"/>
          </a:solidFill>
          <a:ln w="76199">
            <a:solidFill>
              <a:srgbClr val="FFAA3F"/>
            </a:solidFill>
          </a:ln>
        </p:spPr>
        <p:txBody>
          <a:bodyPr vert="horz" wrap="square" lIns="0" tIns="104140" rIns="0" bIns="0" rtlCol="0">
            <a:spAutoFit/>
          </a:bodyPr>
          <a:lstStyle/>
          <a:p>
            <a:pPr marL="113450">
              <a:spcBef>
                <a:spcPts val="820"/>
              </a:spcBef>
            </a:pPr>
            <a:r>
              <a:rPr sz="1867" spc="-7" dirty="0">
                <a:latin typeface="Arial"/>
                <a:cs typeface="Arial"/>
              </a:rPr>
              <a:t>Write Python </a:t>
            </a:r>
            <a:r>
              <a:rPr sz="1867" dirty="0">
                <a:latin typeface="Arial"/>
                <a:cs typeface="Arial"/>
              </a:rPr>
              <a:t>commands (code) </a:t>
            </a:r>
            <a:r>
              <a:rPr sz="1867" spc="-7" dirty="0">
                <a:latin typeface="Arial"/>
                <a:cs typeface="Arial"/>
              </a:rPr>
              <a:t>at the</a:t>
            </a:r>
            <a:r>
              <a:rPr sz="1867" spc="-60" dirty="0">
                <a:latin typeface="Arial"/>
                <a:cs typeface="Arial"/>
              </a:rPr>
              <a:t> </a:t>
            </a:r>
            <a:r>
              <a:rPr sz="1867" spc="-7" dirty="0">
                <a:latin typeface="Arial"/>
                <a:cs typeface="Arial"/>
              </a:rPr>
              <a:t>prompt</a:t>
            </a:r>
            <a:endParaRPr sz="1867">
              <a:latin typeface="Arial"/>
              <a:cs typeface="Arial"/>
            </a:endParaRPr>
          </a:p>
        </p:txBody>
      </p:sp>
      <p:sp>
        <p:nvSpPr>
          <p:cNvPr id="10" name="object 10"/>
          <p:cNvSpPr/>
          <p:nvPr/>
        </p:nvSpPr>
        <p:spPr>
          <a:xfrm>
            <a:off x="1790706" y="3049314"/>
            <a:ext cx="3854873" cy="1797473"/>
          </a:xfrm>
          <a:custGeom>
            <a:avLst/>
            <a:gdLst/>
            <a:ahLst/>
            <a:cxnLst/>
            <a:rect l="l" t="t" r="r" b="b"/>
            <a:pathLst>
              <a:path w="2891154" h="1348104">
                <a:moveTo>
                  <a:pt x="2890836" y="56159"/>
                </a:moveTo>
                <a:lnTo>
                  <a:pt x="0" y="0"/>
                </a:lnTo>
              </a:path>
              <a:path w="2891154" h="1348104">
                <a:moveTo>
                  <a:pt x="2890836" y="56159"/>
                </a:moveTo>
                <a:lnTo>
                  <a:pt x="43822" y="1347707"/>
                </a:lnTo>
              </a:path>
            </a:pathLst>
          </a:custGeom>
          <a:ln w="38099">
            <a:solidFill>
              <a:srgbClr val="FFAA3F"/>
            </a:solidFill>
          </a:ln>
        </p:spPr>
        <p:txBody>
          <a:bodyPr wrap="square" lIns="0" tIns="0" rIns="0" bIns="0" rtlCol="0"/>
          <a:lstStyle/>
          <a:p>
            <a:endParaRPr sz="2400"/>
          </a:p>
        </p:txBody>
      </p:sp>
      <p:grpSp>
        <p:nvGrpSpPr>
          <p:cNvPr id="11" name="object 11"/>
          <p:cNvGrpSpPr/>
          <p:nvPr/>
        </p:nvGrpSpPr>
        <p:grpSpPr>
          <a:xfrm>
            <a:off x="1534814" y="2940020"/>
            <a:ext cx="375073" cy="2026920"/>
            <a:chOff x="1151110" y="2205015"/>
            <a:chExt cx="281305" cy="1520190"/>
          </a:xfrm>
        </p:grpSpPr>
        <p:sp>
          <p:nvSpPr>
            <p:cNvPr id="12" name="object 12"/>
            <p:cNvSpPr/>
            <p:nvPr/>
          </p:nvSpPr>
          <p:spPr>
            <a:xfrm>
              <a:off x="1151110" y="2205015"/>
              <a:ext cx="212192" cy="163939"/>
            </a:xfrm>
            <a:prstGeom prst="rect">
              <a:avLst/>
            </a:prstGeom>
            <a:blipFill>
              <a:blip r:embed="rId3" cstate="print"/>
              <a:stretch>
                <a:fillRect/>
              </a:stretch>
            </a:blipFill>
          </p:spPr>
          <p:txBody>
            <a:bodyPr wrap="square" lIns="0" tIns="0" rIns="0" bIns="0" rtlCol="0"/>
            <a:lstStyle/>
            <a:p>
              <a:endParaRPr sz="2400"/>
            </a:p>
          </p:txBody>
        </p:sp>
        <p:sp>
          <p:nvSpPr>
            <p:cNvPr id="13" name="object 13"/>
            <p:cNvSpPr/>
            <p:nvPr/>
          </p:nvSpPr>
          <p:spPr>
            <a:xfrm>
              <a:off x="1210345" y="3558342"/>
              <a:ext cx="221554" cy="166849"/>
            </a:xfrm>
            <a:prstGeom prst="rect">
              <a:avLst/>
            </a:prstGeom>
            <a:blipFill>
              <a:blip r:embed="rId4" cstate="print"/>
              <a:stretch>
                <a:fillRect/>
              </a:stretch>
            </a:blipFill>
          </p:spPr>
          <p:txBody>
            <a:bodyPr wrap="square" lIns="0" tIns="0" rIns="0" bIns="0" rtlCol="0"/>
            <a:lstStyle/>
            <a:p>
              <a:endParaRPr sz="240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626078"/>
            <a:ext cx="4494463" cy="694207"/>
          </a:xfrm>
          <a:prstGeom prst="rect">
            <a:avLst/>
          </a:prstGeom>
        </p:spPr>
        <p:txBody>
          <a:bodyPr vert="horz" wrap="square" lIns="0" tIns="16933" rIns="0" bIns="0" rtlCol="0" anchor="ctr">
            <a:spAutoFit/>
          </a:bodyPr>
          <a:lstStyle/>
          <a:p>
            <a:pPr marL="16933">
              <a:lnSpc>
                <a:spcPct val="100000"/>
              </a:lnSpc>
              <a:spcBef>
                <a:spcPts val="133"/>
              </a:spcBef>
            </a:pPr>
            <a:r>
              <a:rPr spc="-7" dirty="0"/>
              <a:t>Running</a:t>
            </a:r>
            <a:r>
              <a:rPr spc="-120" dirty="0"/>
              <a:t> </a:t>
            </a:r>
            <a:r>
              <a:rPr dirty="0"/>
              <a:t>Jupyter</a:t>
            </a:r>
          </a:p>
        </p:txBody>
      </p:sp>
      <p:graphicFrame>
        <p:nvGraphicFramePr>
          <p:cNvPr id="3" name="object 3"/>
          <p:cNvGraphicFramePr>
            <a:graphicFrameLocks noGrp="1"/>
          </p:cNvGraphicFramePr>
          <p:nvPr/>
        </p:nvGraphicFramePr>
        <p:xfrm>
          <a:off x="649300" y="1650997"/>
          <a:ext cx="10829713" cy="5004955"/>
        </p:xfrm>
        <a:graphic>
          <a:graphicData uri="http://schemas.openxmlformats.org/drawingml/2006/table">
            <a:tbl>
              <a:tblPr firstRow="1" bandRow="1">
                <a:tableStyleId>{2D5ABB26-0587-4C30-8999-92F81FD0307C}</a:tableStyleId>
              </a:tblPr>
              <a:tblGrid>
                <a:gridCol w="2460413">
                  <a:extLst>
                    <a:ext uri="{9D8B030D-6E8A-4147-A177-3AD203B41FA5}">
                      <a16:colId xmlns:a16="http://schemas.microsoft.com/office/drawing/2014/main" val="20000"/>
                    </a:ext>
                  </a:extLst>
                </a:gridCol>
                <a:gridCol w="4163907">
                  <a:extLst>
                    <a:ext uri="{9D8B030D-6E8A-4147-A177-3AD203B41FA5}">
                      <a16:colId xmlns:a16="http://schemas.microsoft.com/office/drawing/2014/main" val="20001"/>
                    </a:ext>
                  </a:extLst>
                </a:gridCol>
                <a:gridCol w="4205393">
                  <a:extLst>
                    <a:ext uri="{9D8B030D-6E8A-4147-A177-3AD203B41FA5}">
                      <a16:colId xmlns:a16="http://schemas.microsoft.com/office/drawing/2014/main" val="20002"/>
                    </a:ext>
                  </a:extLst>
                </a:gridCol>
              </a:tblGrid>
              <a:tr h="4100157">
                <a:tc gridSpan="3">
                  <a:txBody>
                    <a:bodyPr/>
                    <a:lstStyle/>
                    <a:p>
                      <a:pPr marL="85090">
                        <a:lnSpc>
                          <a:spcPts val="1670"/>
                        </a:lnSpc>
                        <a:spcBef>
                          <a:spcPts val="615"/>
                        </a:spcBef>
                      </a:pPr>
                      <a:r>
                        <a:rPr sz="1900" spc="-5" dirty="0">
                          <a:solidFill>
                            <a:srgbClr val="00FF00"/>
                          </a:solidFill>
                          <a:latin typeface="Courier New"/>
                          <a:cs typeface="Courier New"/>
                        </a:rPr>
                        <a:t>keith@Steinhaus:~/demo$ jupyter</a:t>
                      </a:r>
                      <a:r>
                        <a:rPr sz="1900" spc="-10" dirty="0">
                          <a:solidFill>
                            <a:srgbClr val="00FF00"/>
                          </a:solidFill>
                          <a:latin typeface="Courier New"/>
                          <a:cs typeface="Courier New"/>
                        </a:rPr>
                        <a:t> </a:t>
                      </a:r>
                      <a:r>
                        <a:rPr sz="1900" spc="-5" dirty="0">
                          <a:solidFill>
                            <a:srgbClr val="00FF00"/>
                          </a:solidFill>
                          <a:latin typeface="Courier New"/>
                          <a:cs typeface="Courier New"/>
                        </a:rPr>
                        <a:t>notebook</a:t>
                      </a:r>
                      <a:endParaRPr sz="1900">
                        <a:latin typeface="Courier New"/>
                        <a:cs typeface="Courier New"/>
                      </a:endParaRPr>
                    </a:p>
                    <a:p>
                      <a:pPr marL="85090">
                        <a:lnSpc>
                          <a:spcPts val="1420"/>
                        </a:lnSpc>
                      </a:pPr>
                      <a:r>
                        <a:rPr sz="1600" spc="-5" dirty="0">
                          <a:solidFill>
                            <a:srgbClr val="00FF00"/>
                          </a:solidFill>
                          <a:latin typeface="Courier New"/>
                          <a:cs typeface="Courier New"/>
                        </a:rPr>
                        <a:t>[I 17:11:41.129 NotebookApp] Serving notebooks from local</a:t>
                      </a:r>
                      <a:r>
                        <a:rPr sz="1600" spc="-25" dirty="0">
                          <a:solidFill>
                            <a:srgbClr val="00FF00"/>
                          </a:solidFill>
                          <a:latin typeface="Courier New"/>
                          <a:cs typeface="Courier New"/>
                        </a:rPr>
                        <a:t> </a:t>
                      </a:r>
                      <a:r>
                        <a:rPr sz="1600" spc="-5" dirty="0">
                          <a:solidFill>
                            <a:srgbClr val="00FF00"/>
                          </a:solidFill>
                          <a:latin typeface="Courier New"/>
                          <a:cs typeface="Courier New"/>
                        </a:rPr>
                        <a:t>directory:</a:t>
                      </a:r>
                      <a:endParaRPr sz="1600">
                        <a:latin typeface="Courier New"/>
                        <a:cs typeface="Courier New"/>
                      </a:endParaRPr>
                    </a:p>
                    <a:p>
                      <a:pPr marL="85090" marR="2085339">
                        <a:lnSpc>
                          <a:spcPts val="1420"/>
                        </a:lnSpc>
                        <a:spcBef>
                          <a:spcPts val="60"/>
                        </a:spcBef>
                      </a:pPr>
                      <a:r>
                        <a:rPr sz="1600" spc="-5" dirty="0">
                          <a:solidFill>
                            <a:srgbClr val="00FF00"/>
                          </a:solidFill>
                          <a:latin typeface="Courier New"/>
                          <a:cs typeface="Courier New"/>
                        </a:rPr>
                        <a:t>/Users/keith/Dropbox/Academe/Teaching/STATS507/Lecs/L1_AdminIntro  [I 17:11:41.129 NotebookApp] </a:t>
                      </a:r>
                      <a:r>
                        <a:rPr sz="1600" dirty="0">
                          <a:solidFill>
                            <a:srgbClr val="00FF00"/>
                          </a:solidFill>
                          <a:latin typeface="Courier New"/>
                          <a:cs typeface="Courier New"/>
                        </a:rPr>
                        <a:t>0 </a:t>
                      </a:r>
                      <a:r>
                        <a:rPr sz="1600" spc="-5" dirty="0">
                          <a:solidFill>
                            <a:srgbClr val="00FF00"/>
                          </a:solidFill>
                          <a:latin typeface="Courier New"/>
                          <a:cs typeface="Courier New"/>
                        </a:rPr>
                        <a:t>active</a:t>
                      </a:r>
                      <a:r>
                        <a:rPr sz="1600" spc="-30" dirty="0">
                          <a:solidFill>
                            <a:srgbClr val="00FF00"/>
                          </a:solidFill>
                          <a:latin typeface="Courier New"/>
                          <a:cs typeface="Courier New"/>
                        </a:rPr>
                        <a:t> </a:t>
                      </a:r>
                      <a:r>
                        <a:rPr sz="1600" spc="-5" dirty="0">
                          <a:solidFill>
                            <a:srgbClr val="00FF00"/>
                          </a:solidFill>
                          <a:latin typeface="Courier New"/>
                          <a:cs typeface="Courier New"/>
                        </a:rPr>
                        <a:t>kernels</a:t>
                      </a:r>
                      <a:endParaRPr sz="1600">
                        <a:latin typeface="Courier New"/>
                        <a:cs typeface="Courier New"/>
                      </a:endParaRPr>
                    </a:p>
                    <a:p>
                      <a:pPr marL="85090" marR="714375">
                        <a:lnSpc>
                          <a:spcPts val="1420"/>
                        </a:lnSpc>
                        <a:spcBef>
                          <a:spcPts val="10"/>
                        </a:spcBef>
                      </a:pPr>
                      <a:r>
                        <a:rPr sz="1600" spc="-5" dirty="0">
                          <a:solidFill>
                            <a:srgbClr val="00FF00"/>
                          </a:solidFill>
                          <a:latin typeface="Courier New"/>
                          <a:cs typeface="Courier New"/>
                        </a:rPr>
                        <a:t>[I 17:11:41.129 NotebookApp] The Jupyter Notebook is running at:  http://localhost:8888/?token=452d6d4b227f306f5bb57e72f5d4722fcbadf47d1d794441  [I 17:11:41.129 NotebookApp] Use Control-C to stop this server and shut down all  kernels (twice to skip</a:t>
                      </a:r>
                      <a:r>
                        <a:rPr sz="1600" spc="-15" dirty="0">
                          <a:solidFill>
                            <a:srgbClr val="00FF00"/>
                          </a:solidFill>
                          <a:latin typeface="Courier New"/>
                          <a:cs typeface="Courier New"/>
                        </a:rPr>
                        <a:t> </a:t>
                      </a:r>
                      <a:r>
                        <a:rPr sz="1600" spc="-5" dirty="0">
                          <a:solidFill>
                            <a:srgbClr val="00FF00"/>
                          </a:solidFill>
                          <a:latin typeface="Courier New"/>
                          <a:cs typeface="Courier New"/>
                        </a:rPr>
                        <a:t>confirmation).</a:t>
                      </a:r>
                      <a:endParaRPr sz="1600">
                        <a:latin typeface="Courier New"/>
                        <a:cs typeface="Courier New"/>
                      </a:endParaRPr>
                    </a:p>
                    <a:p>
                      <a:pPr marL="85090">
                        <a:lnSpc>
                          <a:spcPts val="1395"/>
                        </a:lnSpc>
                      </a:pPr>
                      <a:r>
                        <a:rPr sz="1600" spc="-5" dirty="0">
                          <a:solidFill>
                            <a:srgbClr val="00FF00"/>
                          </a:solidFill>
                          <a:latin typeface="Courier New"/>
                          <a:cs typeface="Courier New"/>
                        </a:rPr>
                        <a:t>[C 17:11:41.132</a:t>
                      </a:r>
                      <a:r>
                        <a:rPr sz="1600" spc="-10" dirty="0">
                          <a:solidFill>
                            <a:srgbClr val="00FF00"/>
                          </a:solidFill>
                          <a:latin typeface="Courier New"/>
                          <a:cs typeface="Courier New"/>
                        </a:rPr>
                        <a:t> </a:t>
                      </a:r>
                      <a:r>
                        <a:rPr sz="1600" spc="-5" dirty="0">
                          <a:solidFill>
                            <a:srgbClr val="00FF00"/>
                          </a:solidFill>
                          <a:latin typeface="Courier New"/>
                          <a:cs typeface="Courier New"/>
                        </a:rPr>
                        <a:t>NotebookApp]</a:t>
                      </a:r>
                      <a:endParaRPr sz="1600">
                        <a:latin typeface="Courier New"/>
                        <a:cs typeface="Courier New"/>
                      </a:endParaRPr>
                    </a:p>
                    <a:p>
                      <a:pPr>
                        <a:lnSpc>
                          <a:spcPct val="100000"/>
                        </a:lnSpc>
                        <a:spcBef>
                          <a:spcPts val="35"/>
                        </a:spcBef>
                      </a:pPr>
                      <a:endParaRPr sz="1700">
                        <a:latin typeface="Times New Roman"/>
                        <a:cs typeface="Times New Roman"/>
                      </a:endParaRPr>
                    </a:p>
                    <a:p>
                      <a:pPr marL="542290" marR="805815">
                        <a:lnSpc>
                          <a:spcPts val="1420"/>
                        </a:lnSpc>
                      </a:pPr>
                      <a:r>
                        <a:rPr sz="1600" spc="-5" dirty="0">
                          <a:solidFill>
                            <a:srgbClr val="00FF00"/>
                          </a:solidFill>
                          <a:latin typeface="Courier New"/>
                          <a:cs typeface="Courier New"/>
                        </a:rPr>
                        <a:t>Copy/paste this URL into your browser when you connect for the first time,  to login with </a:t>
                      </a:r>
                      <a:r>
                        <a:rPr sz="1600" dirty="0">
                          <a:solidFill>
                            <a:srgbClr val="00FF00"/>
                          </a:solidFill>
                          <a:latin typeface="Courier New"/>
                          <a:cs typeface="Courier New"/>
                        </a:rPr>
                        <a:t>a</a:t>
                      </a:r>
                      <a:r>
                        <a:rPr sz="1600" spc="-15" dirty="0">
                          <a:solidFill>
                            <a:srgbClr val="00FF00"/>
                          </a:solidFill>
                          <a:latin typeface="Courier New"/>
                          <a:cs typeface="Courier New"/>
                        </a:rPr>
                        <a:t> </a:t>
                      </a:r>
                      <a:r>
                        <a:rPr sz="1600" spc="-5" dirty="0">
                          <a:solidFill>
                            <a:srgbClr val="00FF00"/>
                          </a:solidFill>
                          <a:latin typeface="Courier New"/>
                          <a:cs typeface="Courier New"/>
                        </a:rPr>
                        <a:t>token:</a:t>
                      </a:r>
                      <a:endParaRPr sz="1600">
                        <a:latin typeface="Courier New"/>
                        <a:cs typeface="Courier New"/>
                      </a:endParaRPr>
                    </a:p>
                    <a:p>
                      <a:pPr marL="85090" marR="440690" indent="457200">
                        <a:lnSpc>
                          <a:spcPts val="1420"/>
                        </a:lnSpc>
                        <a:spcBef>
                          <a:spcPts val="10"/>
                        </a:spcBef>
                      </a:pPr>
                      <a:r>
                        <a:rPr sz="1600" spc="-5" dirty="0">
                          <a:solidFill>
                            <a:srgbClr val="00FF00"/>
                          </a:solidFill>
                          <a:latin typeface="Courier New"/>
                          <a:cs typeface="Courier New"/>
                        </a:rPr>
                        <a:t>http://localhost:8888/?token=452d6d4b227f306f5bb57e72f5d4722fcbadf47d1d794441  [I 17:11:41.635 NotebookApp] Accepting one-time-token-authenticated connection</a:t>
                      </a:r>
                      <a:r>
                        <a:rPr sz="1600" spc="-70" dirty="0">
                          <a:solidFill>
                            <a:srgbClr val="00FF00"/>
                          </a:solidFill>
                          <a:latin typeface="Courier New"/>
                          <a:cs typeface="Courier New"/>
                        </a:rPr>
                        <a:t> </a:t>
                      </a:r>
                      <a:r>
                        <a:rPr sz="1600" spc="-5" dirty="0">
                          <a:solidFill>
                            <a:srgbClr val="00FF00"/>
                          </a:solidFill>
                          <a:latin typeface="Courier New"/>
                          <a:cs typeface="Courier New"/>
                        </a:rPr>
                        <a:t>from</a:t>
                      </a:r>
                      <a:endParaRPr sz="1600">
                        <a:latin typeface="Courier New"/>
                        <a:cs typeface="Courier New"/>
                      </a:endParaRPr>
                    </a:p>
                    <a:p>
                      <a:pPr marL="85090">
                        <a:lnSpc>
                          <a:spcPts val="1385"/>
                        </a:lnSpc>
                      </a:pPr>
                      <a:r>
                        <a:rPr sz="1600" spc="-5" dirty="0">
                          <a:solidFill>
                            <a:srgbClr val="00FF00"/>
                          </a:solidFill>
                          <a:latin typeface="Courier New"/>
                          <a:cs typeface="Courier New"/>
                        </a:rPr>
                        <a:t>::1</a:t>
                      </a:r>
                      <a:endParaRPr sz="1600">
                        <a:latin typeface="Courier New"/>
                        <a:cs typeface="Courier New"/>
                      </a:endParaRPr>
                    </a:p>
                  </a:txBody>
                  <a:tcPr marL="0" marR="0" marT="104140" marB="0">
                    <a:lnL w="76200">
                      <a:solidFill>
                        <a:srgbClr val="595959"/>
                      </a:solidFill>
                      <a:prstDash val="solid"/>
                    </a:lnL>
                    <a:lnR w="76200">
                      <a:solidFill>
                        <a:srgbClr val="595959"/>
                      </a:solidFill>
                      <a:prstDash val="solid"/>
                    </a:lnR>
                    <a:lnB w="76200">
                      <a:solidFill>
                        <a:srgbClr val="FFAA3F"/>
                      </a:solidFill>
                      <a:prstDash val="solid"/>
                    </a:lnB>
                    <a:solidFill>
                      <a:srgbClr val="000000"/>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676233">
                <a:tc>
                  <a:txBody>
                    <a:bodyPr/>
                    <a:lstStyle/>
                    <a:p>
                      <a:pPr>
                        <a:lnSpc>
                          <a:spcPct val="100000"/>
                        </a:lnSpc>
                      </a:pPr>
                      <a:endParaRPr sz="1600">
                        <a:latin typeface="Times New Roman"/>
                        <a:cs typeface="Times New Roman"/>
                      </a:endParaRPr>
                    </a:p>
                  </a:txBody>
                  <a:tcPr marL="0" marR="0" marT="0" marB="0">
                    <a:lnL w="76200">
                      <a:solidFill>
                        <a:srgbClr val="595959"/>
                      </a:solidFill>
                      <a:prstDash val="solid"/>
                    </a:lnL>
                    <a:lnR w="76200">
                      <a:solidFill>
                        <a:srgbClr val="FFAA3F"/>
                      </a:solidFill>
                      <a:prstDash val="solid"/>
                    </a:lnR>
                    <a:lnT w="76200">
                      <a:solidFill>
                        <a:srgbClr val="FFAA3F"/>
                      </a:solidFill>
                      <a:prstDash val="solid"/>
                    </a:lnT>
                    <a:solidFill>
                      <a:srgbClr val="000000"/>
                    </a:solidFill>
                  </a:tcPr>
                </a:tc>
                <a:tc>
                  <a:txBody>
                    <a:bodyPr/>
                    <a:lstStyle/>
                    <a:p>
                      <a:pPr marL="85090" marR="156210">
                        <a:lnSpc>
                          <a:spcPts val="1650"/>
                        </a:lnSpc>
                        <a:spcBef>
                          <a:spcPts val="700"/>
                        </a:spcBef>
                      </a:pPr>
                      <a:r>
                        <a:rPr sz="1900" dirty="0">
                          <a:latin typeface="Arial"/>
                          <a:cs typeface="Arial"/>
                        </a:rPr>
                        <a:t>Jupyter </a:t>
                      </a:r>
                      <a:r>
                        <a:rPr sz="1900" spc="-5" dirty="0">
                          <a:latin typeface="Arial"/>
                          <a:cs typeface="Arial"/>
                        </a:rPr>
                        <a:t>provides </a:t>
                      </a:r>
                      <a:r>
                        <a:rPr sz="1900" dirty="0">
                          <a:latin typeface="Arial"/>
                          <a:cs typeface="Arial"/>
                        </a:rPr>
                        <a:t>some </a:t>
                      </a:r>
                      <a:r>
                        <a:rPr sz="1900" spc="-5" dirty="0">
                          <a:latin typeface="Arial"/>
                          <a:cs typeface="Arial"/>
                        </a:rPr>
                        <a:t>information  about its </a:t>
                      </a:r>
                      <a:r>
                        <a:rPr sz="1900" dirty="0">
                          <a:latin typeface="Arial"/>
                          <a:cs typeface="Arial"/>
                        </a:rPr>
                        <a:t>startup </a:t>
                      </a:r>
                      <a:r>
                        <a:rPr sz="1900" spc="-5" dirty="0">
                          <a:latin typeface="Arial"/>
                          <a:cs typeface="Arial"/>
                        </a:rPr>
                        <a:t>process, and</a:t>
                      </a:r>
                      <a:r>
                        <a:rPr sz="1900" spc="-85" dirty="0">
                          <a:latin typeface="Arial"/>
                          <a:cs typeface="Arial"/>
                        </a:rPr>
                        <a:t> </a:t>
                      </a:r>
                      <a:r>
                        <a:rPr sz="1900" spc="-5" dirty="0">
                          <a:latin typeface="Arial"/>
                          <a:cs typeface="Arial"/>
                        </a:rPr>
                        <a:t>then...</a:t>
                      </a:r>
                      <a:endParaRPr sz="1900">
                        <a:latin typeface="Arial"/>
                        <a:cs typeface="Arial"/>
                      </a:endParaRPr>
                    </a:p>
                  </a:txBody>
                  <a:tcPr marL="0" marR="0" marT="118533" marB="0">
                    <a:lnL w="76200">
                      <a:solidFill>
                        <a:srgbClr val="FFAA3F"/>
                      </a:solidFill>
                      <a:prstDash val="solid"/>
                    </a:lnL>
                    <a:lnR w="76200">
                      <a:solidFill>
                        <a:srgbClr val="FFAA3F"/>
                      </a:solidFill>
                      <a:prstDash val="solid"/>
                    </a:lnR>
                    <a:lnT w="76200">
                      <a:solidFill>
                        <a:srgbClr val="FFAA3F"/>
                      </a:solidFill>
                      <a:prstDash val="solid"/>
                    </a:lnT>
                    <a:solidFill>
                      <a:srgbClr val="FFF2CC"/>
                    </a:solidFill>
                  </a:tcPr>
                </a:tc>
                <a:tc>
                  <a:txBody>
                    <a:bodyPr/>
                    <a:lstStyle/>
                    <a:p>
                      <a:pPr>
                        <a:lnSpc>
                          <a:spcPct val="100000"/>
                        </a:lnSpc>
                      </a:pPr>
                      <a:endParaRPr sz="1600">
                        <a:latin typeface="Times New Roman"/>
                        <a:cs typeface="Times New Roman"/>
                      </a:endParaRPr>
                    </a:p>
                  </a:txBody>
                  <a:tcPr marL="0" marR="0" marT="0" marB="0">
                    <a:lnL w="76200">
                      <a:solidFill>
                        <a:srgbClr val="FFAA3F"/>
                      </a:solidFill>
                      <a:prstDash val="solid"/>
                    </a:lnL>
                    <a:lnR w="76200">
                      <a:solidFill>
                        <a:srgbClr val="595959"/>
                      </a:solidFill>
                      <a:prstDash val="solid"/>
                    </a:lnR>
                    <a:lnT w="76200">
                      <a:solidFill>
                        <a:srgbClr val="FFAA3F"/>
                      </a:solidFill>
                      <a:prstDash val="solid"/>
                    </a:lnT>
                    <a:solidFill>
                      <a:srgbClr val="000000"/>
                    </a:solidFill>
                  </a:tcPr>
                </a:tc>
                <a:extLst>
                  <a:ext uri="{0D108BD9-81ED-4DB2-BD59-A6C34878D82A}">
                    <a16:rowId xmlns:a16="http://schemas.microsoft.com/office/drawing/2014/main" val="10001"/>
                  </a:ext>
                </a:extLst>
              </a:tr>
              <a:tr h="228565">
                <a:tc>
                  <a:txBody>
                    <a:bodyPr/>
                    <a:lstStyle/>
                    <a:p>
                      <a:pPr>
                        <a:lnSpc>
                          <a:spcPct val="100000"/>
                        </a:lnSpc>
                      </a:pPr>
                      <a:endParaRPr sz="1300">
                        <a:latin typeface="Times New Roman"/>
                        <a:cs typeface="Times New Roman"/>
                      </a:endParaRPr>
                    </a:p>
                  </a:txBody>
                  <a:tcPr marL="0" marR="0" marT="0" marB="0">
                    <a:lnR w="76200">
                      <a:solidFill>
                        <a:srgbClr val="FFAA3F"/>
                      </a:solidFill>
                      <a:prstDash val="solid"/>
                    </a:lnR>
                    <a:lnB w="76200">
                      <a:solidFill>
                        <a:srgbClr val="FFAA3F"/>
                      </a:solidFill>
                      <a:prstDash val="solid"/>
                    </a:lnB>
                  </a:tcPr>
                </a:tc>
                <a:tc>
                  <a:txBody>
                    <a:bodyPr/>
                    <a:lstStyle/>
                    <a:p>
                      <a:pPr>
                        <a:lnSpc>
                          <a:spcPct val="100000"/>
                        </a:lnSpc>
                      </a:pPr>
                      <a:endParaRPr sz="1300">
                        <a:latin typeface="Times New Roman"/>
                        <a:cs typeface="Times New Roman"/>
                      </a:endParaRPr>
                    </a:p>
                  </a:txBody>
                  <a:tcPr marL="0" marR="0" marT="0" marB="0">
                    <a:lnL w="76200">
                      <a:solidFill>
                        <a:srgbClr val="FFAA3F"/>
                      </a:solidFill>
                      <a:prstDash val="solid"/>
                    </a:lnL>
                    <a:lnR w="76200">
                      <a:solidFill>
                        <a:srgbClr val="FFAA3F"/>
                      </a:solidFill>
                      <a:prstDash val="solid"/>
                    </a:lnR>
                    <a:lnB w="76200">
                      <a:solidFill>
                        <a:srgbClr val="FFAA3F"/>
                      </a:solidFill>
                      <a:prstDash val="solid"/>
                    </a:lnB>
                    <a:solidFill>
                      <a:srgbClr val="FFF2CC"/>
                    </a:solidFill>
                  </a:tcPr>
                </a:tc>
                <a:tc>
                  <a:txBody>
                    <a:bodyPr/>
                    <a:lstStyle/>
                    <a:p>
                      <a:pPr>
                        <a:lnSpc>
                          <a:spcPct val="100000"/>
                        </a:lnSpc>
                      </a:pPr>
                      <a:endParaRPr sz="1300">
                        <a:latin typeface="Times New Roman"/>
                        <a:cs typeface="Times New Roman"/>
                      </a:endParaRPr>
                    </a:p>
                  </a:txBody>
                  <a:tcPr marL="0" marR="0" marT="0" marB="0">
                    <a:lnL w="76200">
                      <a:solidFill>
                        <a:srgbClr val="FFAA3F"/>
                      </a:solidFill>
                      <a:prstDash val="solid"/>
                    </a:lnL>
                    <a:lnB w="76200">
                      <a:solidFill>
                        <a:srgbClr val="FFAA3F"/>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626078"/>
            <a:ext cx="5016977" cy="694207"/>
          </a:xfrm>
          <a:prstGeom prst="rect">
            <a:avLst/>
          </a:prstGeom>
        </p:spPr>
        <p:txBody>
          <a:bodyPr vert="horz" wrap="square" lIns="0" tIns="16933" rIns="0" bIns="0" rtlCol="0" anchor="ctr">
            <a:spAutoFit/>
          </a:bodyPr>
          <a:lstStyle/>
          <a:p>
            <a:pPr marL="16933">
              <a:lnSpc>
                <a:spcPct val="100000"/>
              </a:lnSpc>
              <a:spcBef>
                <a:spcPts val="133"/>
              </a:spcBef>
            </a:pPr>
            <a:r>
              <a:rPr spc="-7" dirty="0"/>
              <a:t>Running</a:t>
            </a:r>
            <a:r>
              <a:rPr spc="-120" dirty="0"/>
              <a:t> </a:t>
            </a:r>
            <a:r>
              <a:rPr dirty="0"/>
              <a:t>Jupyter</a:t>
            </a:r>
          </a:p>
        </p:txBody>
      </p:sp>
      <p:grpSp>
        <p:nvGrpSpPr>
          <p:cNvPr id="3" name="object 3"/>
          <p:cNvGrpSpPr/>
          <p:nvPr/>
        </p:nvGrpSpPr>
        <p:grpSpPr>
          <a:xfrm>
            <a:off x="649297" y="1600196"/>
            <a:ext cx="10932160" cy="4809067"/>
            <a:chOff x="486973" y="1200147"/>
            <a:chExt cx="8199120" cy="3606800"/>
          </a:xfrm>
        </p:grpSpPr>
        <p:sp>
          <p:nvSpPr>
            <p:cNvPr id="4" name="object 4"/>
            <p:cNvSpPr/>
            <p:nvPr/>
          </p:nvSpPr>
          <p:spPr>
            <a:xfrm>
              <a:off x="525073" y="1238247"/>
              <a:ext cx="8122920" cy="3530600"/>
            </a:xfrm>
            <a:custGeom>
              <a:avLst/>
              <a:gdLst/>
              <a:ahLst/>
              <a:cxnLst/>
              <a:rect l="l" t="t" r="r" b="b"/>
              <a:pathLst>
                <a:path w="8122920" h="3530600">
                  <a:moveTo>
                    <a:pt x="8122483" y="3530092"/>
                  </a:moveTo>
                  <a:lnTo>
                    <a:pt x="0" y="3530092"/>
                  </a:lnTo>
                  <a:lnTo>
                    <a:pt x="0" y="0"/>
                  </a:lnTo>
                  <a:lnTo>
                    <a:pt x="8122483" y="0"/>
                  </a:lnTo>
                  <a:lnTo>
                    <a:pt x="8122483" y="3530092"/>
                  </a:lnTo>
                  <a:close/>
                </a:path>
              </a:pathLst>
            </a:custGeom>
            <a:solidFill>
              <a:srgbClr val="000000"/>
            </a:solidFill>
          </p:spPr>
          <p:txBody>
            <a:bodyPr wrap="square" lIns="0" tIns="0" rIns="0" bIns="0" rtlCol="0"/>
            <a:lstStyle/>
            <a:p>
              <a:endParaRPr sz="2400"/>
            </a:p>
          </p:txBody>
        </p:sp>
        <p:sp>
          <p:nvSpPr>
            <p:cNvPr id="5" name="object 5"/>
            <p:cNvSpPr/>
            <p:nvPr/>
          </p:nvSpPr>
          <p:spPr>
            <a:xfrm>
              <a:off x="525073" y="1238247"/>
              <a:ext cx="8122920" cy="3530600"/>
            </a:xfrm>
            <a:custGeom>
              <a:avLst/>
              <a:gdLst/>
              <a:ahLst/>
              <a:cxnLst/>
              <a:rect l="l" t="t" r="r" b="b"/>
              <a:pathLst>
                <a:path w="8122920" h="3530600">
                  <a:moveTo>
                    <a:pt x="0" y="0"/>
                  </a:moveTo>
                  <a:lnTo>
                    <a:pt x="8122483" y="0"/>
                  </a:lnTo>
                  <a:lnTo>
                    <a:pt x="8122483" y="3530092"/>
                  </a:lnTo>
                  <a:lnTo>
                    <a:pt x="0" y="3530092"/>
                  </a:lnTo>
                  <a:lnTo>
                    <a:pt x="0" y="0"/>
                  </a:lnTo>
                  <a:close/>
                </a:path>
              </a:pathLst>
            </a:custGeom>
            <a:ln w="76199">
              <a:solidFill>
                <a:srgbClr val="595959"/>
              </a:solidFill>
            </a:ln>
          </p:spPr>
          <p:txBody>
            <a:bodyPr wrap="square" lIns="0" tIns="0" rIns="0" bIns="0" rtlCol="0"/>
            <a:lstStyle/>
            <a:p>
              <a:endParaRPr sz="2400"/>
            </a:p>
          </p:txBody>
        </p:sp>
      </p:grpSp>
      <p:sp>
        <p:nvSpPr>
          <p:cNvPr id="6" name="object 6"/>
          <p:cNvSpPr txBox="1"/>
          <p:nvPr/>
        </p:nvSpPr>
        <p:spPr>
          <a:xfrm>
            <a:off x="797465" y="1738879"/>
            <a:ext cx="9786620" cy="1774631"/>
          </a:xfrm>
          <a:prstGeom prst="rect">
            <a:avLst/>
          </a:prstGeom>
        </p:spPr>
        <p:txBody>
          <a:bodyPr vert="horz" wrap="square" lIns="0" tIns="16933" rIns="0" bIns="0" rtlCol="0">
            <a:spAutoFit/>
          </a:bodyPr>
          <a:lstStyle/>
          <a:p>
            <a:pPr marL="16933">
              <a:lnSpc>
                <a:spcPts val="2227"/>
              </a:lnSpc>
              <a:spcBef>
                <a:spcPts val="133"/>
              </a:spcBef>
            </a:pPr>
            <a:r>
              <a:rPr sz="1867" spc="-7" dirty="0">
                <a:solidFill>
                  <a:srgbClr val="00FF00"/>
                </a:solidFill>
                <a:latin typeface="Courier New"/>
                <a:cs typeface="Courier New"/>
              </a:rPr>
              <a:t>keith@Steinhaus:~/demo$ jupyter</a:t>
            </a:r>
            <a:r>
              <a:rPr sz="1867" spc="-20" dirty="0">
                <a:solidFill>
                  <a:srgbClr val="00FF00"/>
                </a:solidFill>
                <a:latin typeface="Courier New"/>
                <a:cs typeface="Courier New"/>
              </a:rPr>
              <a:t> </a:t>
            </a:r>
            <a:r>
              <a:rPr sz="1867" spc="-7" dirty="0">
                <a:solidFill>
                  <a:srgbClr val="00FF00"/>
                </a:solidFill>
                <a:latin typeface="Courier New"/>
                <a:cs typeface="Courier New"/>
              </a:rPr>
              <a:t>notebook</a:t>
            </a:r>
            <a:endParaRPr sz="1867">
              <a:latin typeface="Courier New"/>
              <a:cs typeface="Courier New"/>
            </a:endParaRPr>
          </a:p>
          <a:p>
            <a:pPr marL="16933">
              <a:lnSpc>
                <a:spcPts val="1893"/>
              </a:lnSpc>
            </a:pPr>
            <a:r>
              <a:rPr sz="1600" spc="-7" dirty="0">
                <a:solidFill>
                  <a:srgbClr val="00FF00"/>
                </a:solidFill>
                <a:latin typeface="Courier New"/>
                <a:cs typeface="Courier New"/>
              </a:rPr>
              <a:t>[I 17:11:41.129 NotebookApp] Serving notebooks from local</a:t>
            </a:r>
            <a:r>
              <a:rPr sz="1600" spc="-40" dirty="0">
                <a:solidFill>
                  <a:srgbClr val="00FF00"/>
                </a:solidFill>
                <a:latin typeface="Courier New"/>
                <a:cs typeface="Courier New"/>
              </a:rPr>
              <a:t> </a:t>
            </a:r>
            <a:r>
              <a:rPr sz="1600" spc="-7" dirty="0">
                <a:solidFill>
                  <a:srgbClr val="00FF00"/>
                </a:solidFill>
                <a:latin typeface="Courier New"/>
                <a:cs typeface="Courier New"/>
              </a:rPr>
              <a:t>directory:</a:t>
            </a:r>
            <a:endParaRPr sz="1600">
              <a:latin typeface="Courier New"/>
              <a:cs typeface="Courier New"/>
            </a:endParaRPr>
          </a:p>
          <a:p>
            <a:pPr marL="16933" marR="1833834">
              <a:lnSpc>
                <a:spcPts val="1893"/>
              </a:lnSpc>
              <a:spcBef>
                <a:spcPts val="73"/>
              </a:spcBef>
            </a:pPr>
            <a:r>
              <a:rPr sz="1600" spc="-7" dirty="0">
                <a:solidFill>
                  <a:srgbClr val="00FF00"/>
                </a:solidFill>
                <a:latin typeface="Courier New"/>
                <a:cs typeface="Courier New"/>
              </a:rPr>
              <a:t>/Users/keith/Dropbox/Academe/Teaching/STATS507/Lecs/L1_AdminIntro  [I 17:11:41.129 NotebookApp] </a:t>
            </a:r>
            <a:r>
              <a:rPr sz="1600" dirty="0">
                <a:solidFill>
                  <a:srgbClr val="00FF00"/>
                </a:solidFill>
                <a:latin typeface="Courier New"/>
                <a:cs typeface="Courier New"/>
              </a:rPr>
              <a:t>0 </a:t>
            </a:r>
            <a:r>
              <a:rPr sz="1600" spc="-7" dirty="0">
                <a:solidFill>
                  <a:srgbClr val="00FF00"/>
                </a:solidFill>
                <a:latin typeface="Courier New"/>
                <a:cs typeface="Courier New"/>
              </a:rPr>
              <a:t>active</a:t>
            </a:r>
            <a:r>
              <a:rPr sz="1600" spc="-40" dirty="0">
                <a:solidFill>
                  <a:srgbClr val="00FF00"/>
                </a:solidFill>
                <a:latin typeface="Courier New"/>
                <a:cs typeface="Courier New"/>
              </a:rPr>
              <a:t> </a:t>
            </a:r>
            <a:r>
              <a:rPr sz="1600" spc="-7" dirty="0">
                <a:solidFill>
                  <a:srgbClr val="00FF00"/>
                </a:solidFill>
                <a:latin typeface="Courier New"/>
                <a:cs typeface="Courier New"/>
              </a:rPr>
              <a:t>kernels</a:t>
            </a:r>
            <a:endParaRPr sz="1600">
              <a:latin typeface="Courier New"/>
              <a:cs typeface="Courier New"/>
            </a:endParaRPr>
          </a:p>
          <a:p>
            <a:pPr marL="16933" marR="6773">
              <a:lnSpc>
                <a:spcPts val="1893"/>
              </a:lnSpc>
              <a:spcBef>
                <a:spcPts val="13"/>
              </a:spcBef>
            </a:pPr>
            <a:r>
              <a:rPr sz="1600" spc="-7" dirty="0">
                <a:solidFill>
                  <a:srgbClr val="00FF00"/>
                </a:solidFill>
                <a:latin typeface="Courier New"/>
                <a:cs typeface="Courier New"/>
              </a:rPr>
              <a:t>[I 17:11:41.129 NotebookApp] The Jupyter Notebook is running at:  http://localhost:8888/?token=452d6d4b227f306f5bb57e72f5d4722fcbadf47d1d794441  [I 17:11:41.129 NotebookApp] Use Control-C to stop this server and shut down</a:t>
            </a:r>
            <a:r>
              <a:rPr sz="1600" spc="-60" dirty="0">
                <a:solidFill>
                  <a:srgbClr val="00FF00"/>
                </a:solidFill>
                <a:latin typeface="Courier New"/>
                <a:cs typeface="Courier New"/>
              </a:rPr>
              <a:t> </a:t>
            </a:r>
            <a:r>
              <a:rPr sz="1600" spc="-7" dirty="0">
                <a:solidFill>
                  <a:srgbClr val="00FF00"/>
                </a:solidFill>
                <a:latin typeface="Courier New"/>
                <a:cs typeface="Courier New"/>
              </a:rPr>
              <a:t>all</a:t>
            </a:r>
            <a:endParaRPr sz="1600">
              <a:latin typeface="Courier New"/>
              <a:cs typeface="Courier New"/>
            </a:endParaRPr>
          </a:p>
        </p:txBody>
      </p:sp>
      <p:sp>
        <p:nvSpPr>
          <p:cNvPr id="7" name="object 7"/>
          <p:cNvSpPr txBox="1"/>
          <p:nvPr/>
        </p:nvSpPr>
        <p:spPr>
          <a:xfrm>
            <a:off x="797465" y="3467431"/>
            <a:ext cx="4544905" cy="515312"/>
          </a:xfrm>
          <a:prstGeom prst="rect">
            <a:avLst/>
          </a:prstGeom>
        </p:spPr>
        <p:txBody>
          <a:bodyPr vert="horz" wrap="square" lIns="0" tIns="27093" rIns="0" bIns="0" rtlCol="0">
            <a:spAutoFit/>
          </a:bodyPr>
          <a:lstStyle/>
          <a:p>
            <a:pPr marL="16933" marR="6773">
              <a:lnSpc>
                <a:spcPts val="1893"/>
              </a:lnSpc>
              <a:spcBef>
                <a:spcPts val="213"/>
              </a:spcBef>
            </a:pPr>
            <a:r>
              <a:rPr sz="1600" spc="-7" dirty="0">
                <a:solidFill>
                  <a:srgbClr val="00FF00"/>
                </a:solidFill>
                <a:latin typeface="Courier New"/>
                <a:cs typeface="Courier New"/>
              </a:rPr>
              <a:t>kernels (twice to skip confirmation).  [C 17:11:41.132</a:t>
            </a:r>
            <a:r>
              <a:rPr sz="1600" spc="-33" dirty="0">
                <a:solidFill>
                  <a:srgbClr val="00FF00"/>
                </a:solidFill>
                <a:latin typeface="Courier New"/>
                <a:cs typeface="Courier New"/>
              </a:rPr>
              <a:t> </a:t>
            </a:r>
            <a:r>
              <a:rPr sz="1600" spc="-7" dirty="0">
                <a:solidFill>
                  <a:srgbClr val="00FF00"/>
                </a:solidFill>
                <a:latin typeface="Courier New"/>
                <a:cs typeface="Courier New"/>
              </a:rPr>
              <a:t>NotebookApp]</a:t>
            </a:r>
            <a:endParaRPr sz="1600">
              <a:latin typeface="Courier New"/>
              <a:cs typeface="Courier New"/>
            </a:endParaRPr>
          </a:p>
        </p:txBody>
      </p:sp>
      <p:sp>
        <p:nvSpPr>
          <p:cNvPr id="8" name="object 8"/>
          <p:cNvSpPr txBox="1"/>
          <p:nvPr/>
        </p:nvSpPr>
        <p:spPr>
          <a:xfrm>
            <a:off x="814397" y="4242295"/>
            <a:ext cx="10118512" cy="1180451"/>
          </a:xfrm>
          <a:prstGeom prst="rect">
            <a:avLst/>
          </a:prstGeom>
        </p:spPr>
        <p:txBody>
          <a:bodyPr vert="horz" wrap="square" lIns="0" tIns="0" rIns="0" bIns="0" rtlCol="0">
            <a:spAutoFit/>
          </a:bodyPr>
          <a:lstStyle/>
          <a:p>
            <a:pPr marL="608738">
              <a:lnSpc>
                <a:spcPts val="1640"/>
              </a:lnSpc>
            </a:pPr>
            <a:r>
              <a:rPr sz="1600" spc="-7" dirty="0">
                <a:solidFill>
                  <a:srgbClr val="00FF00"/>
                </a:solidFill>
                <a:latin typeface="Courier New"/>
                <a:cs typeface="Courier New"/>
              </a:rPr>
              <a:t>Copy/paste this URL into your browser when you connect for the first</a:t>
            </a:r>
            <a:r>
              <a:rPr sz="1600" spc="-47" dirty="0">
                <a:solidFill>
                  <a:srgbClr val="00FF00"/>
                </a:solidFill>
                <a:latin typeface="Courier New"/>
                <a:cs typeface="Courier New"/>
              </a:rPr>
              <a:t> </a:t>
            </a:r>
            <a:r>
              <a:rPr sz="1600" spc="-7" dirty="0">
                <a:solidFill>
                  <a:srgbClr val="00FF00"/>
                </a:solidFill>
                <a:latin typeface="Courier New"/>
                <a:cs typeface="Courier New"/>
              </a:rPr>
              <a:t>time,</a:t>
            </a:r>
            <a:endParaRPr sz="1600">
              <a:latin typeface="Courier New"/>
              <a:cs typeface="Courier New"/>
            </a:endParaRPr>
          </a:p>
          <a:p>
            <a:pPr marL="608738" marR="110064">
              <a:lnSpc>
                <a:spcPts val="1893"/>
              </a:lnSpc>
              <a:spcBef>
                <a:spcPts val="73"/>
              </a:spcBef>
            </a:pPr>
            <a:r>
              <a:rPr sz="1600" spc="-7" dirty="0">
                <a:solidFill>
                  <a:srgbClr val="00FF00"/>
                </a:solidFill>
                <a:latin typeface="Courier New"/>
                <a:cs typeface="Courier New"/>
              </a:rPr>
              <a:t>to login with </a:t>
            </a:r>
            <a:r>
              <a:rPr sz="1600" dirty="0">
                <a:solidFill>
                  <a:srgbClr val="00FF00"/>
                </a:solidFill>
                <a:latin typeface="Courier New"/>
                <a:cs typeface="Courier New"/>
              </a:rPr>
              <a:t>a </a:t>
            </a:r>
            <a:r>
              <a:rPr sz="1600" spc="-7" dirty="0">
                <a:solidFill>
                  <a:srgbClr val="00FF00"/>
                </a:solidFill>
                <a:latin typeface="Courier New"/>
                <a:cs typeface="Courier New"/>
              </a:rPr>
              <a:t>token:  http://localhost:8888/?token=452d6d4b227f306f5bb57e72f5d4722fcbadf47d1d794441</a:t>
            </a:r>
            <a:endParaRPr sz="1600">
              <a:latin typeface="Courier New"/>
              <a:cs typeface="Courier New"/>
            </a:endParaRPr>
          </a:p>
          <a:p>
            <a:pPr>
              <a:lnSpc>
                <a:spcPts val="1840"/>
              </a:lnSpc>
            </a:pPr>
            <a:r>
              <a:rPr sz="1600" spc="-7" dirty="0">
                <a:solidFill>
                  <a:srgbClr val="00FF00"/>
                </a:solidFill>
                <a:latin typeface="Courier New"/>
                <a:cs typeface="Courier New"/>
              </a:rPr>
              <a:t>[I 17:11:41.635 NotebookApp] Accepting one-time-token-authenticated connection</a:t>
            </a:r>
            <a:r>
              <a:rPr sz="1600" spc="-93" dirty="0">
                <a:solidFill>
                  <a:srgbClr val="00FF00"/>
                </a:solidFill>
                <a:latin typeface="Courier New"/>
                <a:cs typeface="Courier New"/>
              </a:rPr>
              <a:t> </a:t>
            </a:r>
            <a:r>
              <a:rPr sz="1600" spc="-7" dirty="0">
                <a:solidFill>
                  <a:srgbClr val="00FF00"/>
                </a:solidFill>
                <a:latin typeface="Courier New"/>
                <a:cs typeface="Courier New"/>
              </a:rPr>
              <a:t>from</a:t>
            </a:r>
            <a:endParaRPr sz="1600">
              <a:latin typeface="Courier New"/>
              <a:cs typeface="Courier New"/>
            </a:endParaRPr>
          </a:p>
          <a:p>
            <a:pPr>
              <a:lnSpc>
                <a:spcPts val="1907"/>
              </a:lnSpc>
            </a:pPr>
            <a:r>
              <a:rPr sz="1600" spc="-7" dirty="0">
                <a:solidFill>
                  <a:srgbClr val="00FF00"/>
                </a:solidFill>
                <a:latin typeface="Courier New"/>
                <a:cs typeface="Courier New"/>
              </a:rPr>
              <a:t>::1</a:t>
            </a:r>
            <a:endParaRPr sz="1600">
              <a:latin typeface="Courier New"/>
              <a:cs typeface="Courier New"/>
            </a:endParaRPr>
          </a:p>
        </p:txBody>
      </p:sp>
      <p:sp>
        <p:nvSpPr>
          <p:cNvPr id="9" name="object 9"/>
          <p:cNvSpPr/>
          <p:nvPr/>
        </p:nvSpPr>
        <p:spPr>
          <a:xfrm>
            <a:off x="1" y="3973259"/>
            <a:ext cx="12191975" cy="2569061"/>
          </a:xfrm>
          <a:prstGeom prst="rect">
            <a:avLst/>
          </a:prstGeom>
          <a:blipFill>
            <a:blip r:embed="rId2" cstate="print"/>
            <a:stretch>
              <a:fillRect/>
            </a:stretch>
          </a:blipFill>
        </p:spPr>
        <p:txBody>
          <a:bodyPr wrap="square" lIns="0" tIns="0" rIns="0" bIns="0" rtlCol="0"/>
          <a:lstStyle/>
          <a:p>
            <a:endParaRPr sz="2400"/>
          </a:p>
        </p:txBody>
      </p:sp>
      <p:sp>
        <p:nvSpPr>
          <p:cNvPr id="10" name="object 10"/>
          <p:cNvSpPr txBox="1"/>
          <p:nvPr/>
        </p:nvSpPr>
        <p:spPr>
          <a:xfrm>
            <a:off x="5880088" y="3719159"/>
            <a:ext cx="4014893" cy="966076"/>
          </a:xfrm>
          <a:prstGeom prst="rect">
            <a:avLst/>
          </a:prstGeom>
          <a:solidFill>
            <a:srgbClr val="FFF2CC"/>
          </a:solidFill>
          <a:ln w="76199">
            <a:solidFill>
              <a:srgbClr val="FFAA3F"/>
            </a:solidFill>
          </a:ln>
        </p:spPr>
        <p:txBody>
          <a:bodyPr vert="horz" wrap="square" lIns="0" tIns="118533" rIns="0" bIns="0" rtlCol="0">
            <a:spAutoFit/>
          </a:bodyPr>
          <a:lstStyle/>
          <a:p>
            <a:pPr marL="113450" marR="246374">
              <a:lnSpc>
                <a:spcPts val="2200"/>
              </a:lnSpc>
              <a:spcBef>
                <a:spcPts val="933"/>
              </a:spcBef>
            </a:pPr>
            <a:r>
              <a:rPr sz="1867" spc="-7" dirty="0">
                <a:latin typeface="Arial"/>
                <a:cs typeface="Arial"/>
              </a:rPr>
              <a:t>...Jupyter opens </a:t>
            </a:r>
            <a:r>
              <a:rPr sz="1867" dirty="0">
                <a:latin typeface="Arial"/>
                <a:cs typeface="Arial"/>
              </a:rPr>
              <a:t>a </a:t>
            </a:r>
            <a:r>
              <a:rPr sz="1867" spc="-7" dirty="0">
                <a:latin typeface="Arial"/>
                <a:cs typeface="Arial"/>
              </a:rPr>
              <a:t>browser window  in which </a:t>
            </a:r>
            <a:r>
              <a:rPr sz="1867" dirty="0">
                <a:latin typeface="Arial"/>
                <a:cs typeface="Arial"/>
              </a:rPr>
              <a:t>you can </a:t>
            </a:r>
            <a:r>
              <a:rPr sz="1867" spc="-7" dirty="0">
                <a:latin typeface="Arial"/>
                <a:cs typeface="Arial"/>
              </a:rPr>
              <a:t>launch </a:t>
            </a:r>
            <a:r>
              <a:rPr sz="1867" dirty="0">
                <a:latin typeface="Arial"/>
                <a:cs typeface="Arial"/>
              </a:rPr>
              <a:t>a </a:t>
            </a:r>
            <a:r>
              <a:rPr sz="1867" spc="-7" dirty="0">
                <a:latin typeface="Arial"/>
                <a:cs typeface="Arial"/>
              </a:rPr>
              <a:t>new  notebook or open an existing</a:t>
            </a:r>
            <a:r>
              <a:rPr sz="1867" spc="-87" dirty="0">
                <a:latin typeface="Arial"/>
                <a:cs typeface="Arial"/>
              </a:rPr>
              <a:t> </a:t>
            </a:r>
            <a:r>
              <a:rPr sz="1867" spc="-7" dirty="0">
                <a:latin typeface="Arial"/>
                <a:cs typeface="Arial"/>
              </a:rPr>
              <a:t>one.</a:t>
            </a:r>
            <a:endParaRPr sz="1867">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406672" y="488975"/>
            <a:ext cx="6643793" cy="2778760"/>
            <a:chOff x="1805003" y="366731"/>
            <a:chExt cx="4982845" cy="2084070"/>
          </a:xfrm>
        </p:grpSpPr>
        <p:sp>
          <p:nvSpPr>
            <p:cNvPr id="3" name="object 3"/>
            <p:cNvSpPr/>
            <p:nvPr/>
          </p:nvSpPr>
          <p:spPr>
            <a:xfrm>
              <a:off x="1814528" y="610528"/>
              <a:ext cx="4802594" cy="1639903"/>
            </a:xfrm>
            <a:prstGeom prst="rect">
              <a:avLst/>
            </a:prstGeom>
            <a:blipFill>
              <a:blip r:embed="rId2" cstate="print"/>
              <a:stretch>
                <a:fillRect/>
              </a:stretch>
            </a:blipFill>
          </p:spPr>
          <p:txBody>
            <a:bodyPr wrap="square" lIns="0" tIns="0" rIns="0" bIns="0" rtlCol="0"/>
            <a:lstStyle/>
            <a:p>
              <a:endParaRPr sz="2400"/>
            </a:p>
          </p:txBody>
        </p:sp>
        <p:sp>
          <p:nvSpPr>
            <p:cNvPr id="4" name="object 4"/>
            <p:cNvSpPr/>
            <p:nvPr/>
          </p:nvSpPr>
          <p:spPr>
            <a:xfrm>
              <a:off x="1809766" y="371494"/>
              <a:ext cx="4973320" cy="2074545"/>
            </a:xfrm>
            <a:custGeom>
              <a:avLst/>
              <a:gdLst/>
              <a:ahLst/>
              <a:cxnLst/>
              <a:rect l="l" t="t" r="r" b="b"/>
              <a:pathLst>
                <a:path w="4973320" h="2074545">
                  <a:moveTo>
                    <a:pt x="0" y="0"/>
                  </a:moveTo>
                  <a:lnTo>
                    <a:pt x="4973194" y="0"/>
                  </a:lnTo>
                  <a:lnTo>
                    <a:pt x="4973194" y="2074045"/>
                  </a:lnTo>
                  <a:lnTo>
                    <a:pt x="0" y="2074045"/>
                  </a:lnTo>
                  <a:lnTo>
                    <a:pt x="0" y="0"/>
                  </a:lnTo>
                  <a:close/>
                </a:path>
              </a:pathLst>
            </a:custGeom>
            <a:ln w="9524">
              <a:solidFill>
                <a:srgbClr val="595959"/>
              </a:solidFill>
            </a:ln>
          </p:spPr>
          <p:txBody>
            <a:bodyPr wrap="square" lIns="0" tIns="0" rIns="0" bIns="0" rtlCol="0"/>
            <a:lstStyle/>
            <a:p>
              <a:endParaRPr sz="2400"/>
            </a:p>
          </p:txBody>
        </p:sp>
      </p:grpSp>
      <p:grpSp>
        <p:nvGrpSpPr>
          <p:cNvPr id="5" name="object 5"/>
          <p:cNvGrpSpPr/>
          <p:nvPr/>
        </p:nvGrpSpPr>
        <p:grpSpPr>
          <a:xfrm>
            <a:off x="0" y="30399"/>
            <a:ext cx="12192000" cy="6448213"/>
            <a:chOff x="0" y="22799"/>
            <a:chExt cx="9144000" cy="4836160"/>
          </a:xfrm>
        </p:grpSpPr>
        <p:sp>
          <p:nvSpPr>
            <p:cNvPr id="6" name="object 6"/>
            <p:cNvSpPr/>
            <p:nvPr/>
          </p:nvSpPr>
          <p:spPr>
            <a:xfrm>
              <a:off x="0" y="2979944"/>
              <a:ext cx="9143981" cy="1826092"/>
            </a:xfrm>
            <a:prstGeom prst="rect">
              <a:avLst/>
            </a:prstGeom>
            <a:blipFill>
              <a:blip r:embed="rId3" cstate="print"/>
              <a:stretch>
                <a:fillRect/>
              </a:stretch>
            </a:blipFill>
          </p:spPr>
          <p:txBody>
            <a:bodyPr wrap="square" lIns="0" tIns="0" rIns="0" bIns="0" rtlCol="0"/>
            <a:lstStyle/>
            <a:p>
              <a:endParaRPr sz="2400"/>
            </a:p>
          </p:txBody>
        </p:sp>
        <p:sp>
          <p:nvSpPr>
            <p:cNvPr id="7" name="object 7"/>
            <p:cNvSpPr/>
            <p:nvPr/>
          </p:nvSpPr>
          <p:spPr>
            <a:xfrm>
              <a:off x="1821646" y="375049"/>
              <a:ext cx="6665595" cy="4479290"/>
            </a:xfrm>
            <a:custGeom>
              <a:avLst/>
              <a:gdLst/>
              <a:ahLst/>
              <a:cxnLst/>
              <a:rect l="l" t="t" r="r" b="b"/>
              <a:pathLst>
                <a:path w="6665595" h="4479290">
                  <a:moveTo>
                    <a:pt x="4972039" y="0"/>
                  </a:moveTo>
                  <a:lnTo>
                    <a:pt x="6665236" y="3664792"/>
                  </a:lnTo>
                </a:path>
                <a:path w="6665595" h="4479290">
                  <a:moveTo>
                    <a:pt x="0" y="2089545"/>
                  </a:moveTo>
                  <a:lnTo>
                    <a:pt x="5154289" y="4479040"/>
                  </a:lnTo>
                </a:path>
                <a:path w="6665595" h="4479290">
                  <a:moveTo>
                    <a:pt x="5143489" y="3643292"/>
                  </a:moveTo>
                  <a:lnTo>
                    <a:pt x="6654286" y="3643292"/>
                  </a:lnTo>
                  <a:lnTo>
                    <a:pt x="6654286" y="4479090"/>
                  </a:lnTo>
                  <a:lnTo>
                    <a:pt x="5143489" y="4479090"/>
                  </a:lnTo>
                  <a:lnTo>
                    <a:pt x="5143489" y="3643292"/>
                  </a:lnTo>
                  <a:close/>
                </a:path>
              </a:pathLst>
            </a:custGeom>
            <a:ln w="9524">
              <a:solidFill>
                <a:srgbClr val="595959"/>
              </a:solidFill>
            </a:ln>
          </p:spPr>
          <p:txBody>
            <a:bodyPr wrap="square" lIns="0" tIns="0" rIns="0" bIns="0" rtlCol="0"/>
            <a:lstStyle/>
            <a:p>
              <a:endParaRPr sz="2400"/>
            </a:p>
          </p:txBody>
        </p:sp>
        <p:sp>
          <p:nvSpPr>
            <p:cNvPr id="8" name="object 8"/>
            <p:cNvSpPr/>
            <p:nvPr/>
          </p:nvSpPr>
          <p:spPr>
            <a:xfrm>
              <a:off x="7355185" y="22799"/>
              <a:ext cx="1788796" cy="543948"/>
            </a:xfrm>
            <a:prstGeom prst="rect">
              <a:avLst/>
            </a:prstGeom>
            <a:blipFill>
              <a:blip r:embed="rId4" cstate="print"/>
              <a:stretch>
                <a:fillRect/>
              </a:stretch>
            </a:blipFill>
          </p:spPr>
          <p:txBody>
            <a:bodyPr wrap="square" lIns="0" tIns="0" rIns="0" bIns="0" rtlCol="0"/>
            <a:lstStyle/>
            <a:p>
              <a:endParaRPr sz="2400"/>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209665" y="1111265"/>
            <a:ext cx="10049988" cy="5227623"/>
          </a:xfrm>
          <a:prstGeom prst="rect">
            <a:avLst/>
          </a:prstGeom>
          <a:blipFill>
            <a:blip r:embed="rId2" cstate="print"/>
            <a:stretch>
              <a:fillRect/>
            </a:stretch>
          </a:blipFill>
        </p:spPr>
        <p:txBody>
          <a:bodyPr wrap="square" lIns="0" tIns="0" rIns="0" bIns="0" rtlCol="0"/>
          <a:lstStyle/>
          <a:p>
            <a:endParaRPr sz="2400"/>
          </a:p>
        </p:txBody>
      </p:sp>
      <p:sp>
        <p:nvSpPr>
          <p:cNvPr id="3" name="object 3"/>
          <p:cNvSpPr txBox="1">
            <a:spLocks noGrp="1"/>
          </p:cNvSpPr>
          <p:nvPr>
            <p:ph type="title"/>
          </p:nvPr>
        </p:nvSpPr>
        <p:spPr>
          <a:xfrm>
            <a:off x="900097" y="925268"/>
            <a:ext cx="2971800" cy="683093"/>
          </a:xfrm>
          <a:prstGeom prst="rect">
            <a:avLst/>
          </a:prstGeom>
          <a:solidFill>
            <a:srgbClr val="CFE1F2"/>
          </a:solidFill>
          <a:ln w="76199">
            <a:solidFill>
              <a:srgbClr val="073662"/>
            </a:solidFill>
          </a:ln>
        </p:spPr>
        <p:txBody>
          <a:bodyPr vert="horz" wrap="square" lIns="0" tIns="117687" rIns="0" bIns="0" rtlCol="0" anchor="ctr">
            <a:spAutoFit/>
          </a:bodyPr>
          <a:lstStyle/>
          <a:p>
            <a:pPr marL="113450" marR="278546">
              <a:lnSpc>
                <a:spcPts val="2200"/>
              </a:lnSpc>
              <a:spcBef>
                <a:spcPts val="927"/>
              </a:spcBef>
            </a:pPr>
            <a:r>
              <a:rPr sz="1867" spc="-7" dirty="0"/>
              <a:t>Creates </a:t>
            </a:r>
            <a:r>
              <a:rPr sz="1867" dirty="0"/>
              <a:t>a </a:t>
            </a:r>
            <a:r>
              <a:rPr sz="1867" spc="-7" dirty="0"/>
              <a:t>new</a:t>
            </a:r>
            <a:r>
              <a:rPr sz="1867" spc="-127" dirty="0"/>
              <a:t> </a:t>
            </a:r>
            <a:r>
              <a:rPr sz="1867" spc="-7" dirty="0"/>
              <a:t>notebook  file </a:t>
            </a:r>
            <a:r>
              <a:rPr sz="1867" dirty="0"/>
              <a:t>running </a:t>
            </a:r>
            <a:r>
              <a:rPr sz="1867" spc="-7" dirty="0"/>
              <a:t>Python</a:t>
            </a:r>
            <a:r>
              <a:rPr sz="1867" spc="-60" dirty="0"/>
              <a:t> </a:t>
            </a:r>
            <a:r>
              <a:rPr sz="1867" spc="-7" dirty="0"/>
              <a:t>2.</a:t>
            </a:r>
            <a:endParaRPr sz="1867"/>
          </a:p>
        </p:txBody>
      </p:sp>
      <p:sp>
        <p:nvSpPr>
          <p:cNvPr id="4" name="object 4"/>
          <p:cNvSpPr txBox="1"/>
          <p:nvPr/>
        </p:nvSpPr>
        <p:spPr>
          <a:xfrm>
            <a:off x="900097" y="2409952"/>
            <a:ext cx="2971800" cy="683093"/>
          </a:xfrm>
          <a:prstGeom prst="rect">
            <a:avLst/>
          </a:prstGeom>
          <a:solidFill>
            <a:srgbClr val="CFE1F2"/>
          </a:solidFill>
          <a:ln w="76199">
            <a:solidFill>
              <a:srgbClr val="073662"/>
            </a:solidFill>
          </a:ln>
        </p:spPr>
        <p:txBody>
          <a:bodyPr vert="horz" wrap="square" lIns="0" tIns="117687" rIns="0" bIns="0" rtlCol="0">
            <a:spAutoFit/>
          </a:bodyPr>
          <a:lstStyle/>
          <a:p>
            <a:pPr marL="113450" marR="278546">
              <a:lnSpc>
                <a:spcPts val="2200"/>
              </a:lnSpc>
              <a:spcBef>
                <a:spcPts val="927"/>
              </a:spcBef>
            </a:pPr>
            <a:r>
              <a:rPr sz="1867" spc="-7" dirty="0">
                <a:latin typeface="Arial"/>
                <a:cs typeface="Arial"/>
              </a:rPr>
              <a:t>Creates </a:t>
            </a:r>
            <a:r>
              <a:rPr sz="1867" dirty="0">
                <a:latin typeface="Arial"/>
                <a:cs typeface="Arial"/>
              </a:rPr>
              <a:t>a </a:t>
            </a:r>
            <a:r>
              <a:rPr sz="1867" spc="-7" dirty="0">
                <a:latin typeface="Arial"/>
                <a:cs typeface="Arial"/>
              </a:rPr>
              <a:t>new</a:t>
            </a:r>
            <a:r>
              <a:rPr sz="1867" spc="-127" dirty="0">
                <a:latin typeface="Arial"/>
                <a:cs typeface="Arial"/>
              </a:rPr>
              <a:t> </a:t>
            </a:r>
            <a:r>
              <a:rPr sz="1867" spc="-7" dirty="0">
                <a:latin typeface="Arial"/>
                <a:cs typeface="Arial"/>
              </a:rPr>
              <a:t>notebook  file </a:t>
            </a:r>
            <a:r>
              <a:rPr sz="1867" dirty="0">
                <a:latin typeface="Arial"/>
                <a:cs typeface="Arial"/>
              </a:rPr>
              <a:t>running </a:t>
            </a:r>
            <a:r>
              <a:rPr sz="1867" spc="-7" dirty="0">
                <a:latin typeface="Arial"/>
                <a:cs typeface="Arial"/>
              </a:rPr>
              <a:t>Python</a:t>
            </a:r>
            <a:r>
              <a:rPr sz="1867" spc="-60" dirty="0">
                <a:latin typeface="Arial"/>
                <a:cs typeface="Arial"/>
              </a:rPr>
              <a:t> </a:t>
            </a:r>
            <a:r>
              <a:rPr sz="1867" spc="-7" dirty="0">
                <a:latin typeface="Arial"/>
                <a:cs typeface="Arial"/>
              </a:rPr>
              <a:t>3.</a:t>
            </a:r>
            <a:endParaRPr sz="1867">
              <a:latin typeface="Arial"/>
              <a:cs typeface="Arial"/>
            </a:endParaRPr>
          </a:p>
        </p:txBody>
      </p:sp>
      <p:sp>
        <p:nvSpPr>
          <p:cNvPr id="5" name="object 5"/>
          <p:cNvSpPr txBox="1"/>
          <p:nvPr/>
        </p:nvSpPr>
        <p:spPr>
          <a:xfrm>
            <a:off x="900097" y="3991226"/>
            <a:ext cx="2971800" cy="683093"/>
          </a:xfrm>
          <a:prstGeom prst="rect">
            <a:avLst/>
          </a:prstGeom>
          <a:solidFill>
            <a:srgbClr val="CFE1F2"/>
          </a:solidFill>
          <a:ln w="76199">
            <a:solidFill>
              <a:srgbClr val="073662"/>
            </a:solidFill>
          </a:ln>
        </p:spPr>
        <p:txBody>
          <a:bodyPr vert="horz" wrap="square" lIns="0" tIns="117687" rIns="0" bIns="0" rtlCol="0">
            <a:spAutoFit/>
          </a:bodyPr>
          <a:lstStyle/>
          <a:p>
            <a:pPr marL="113450" marR="278546">
              <a:lnSpc>
                <a:spcPts val="2200"/>
              </a:lnSpc>
              <a:spcBef>
                <a:spcPts val="927"/>
              </a:spcBef>
            </a:pPr>
            <a:r>
              <a:rPr sz="1867" spc="-7" dirty="0">
                <a:latin typeface="Arial"/>
                <a:cs typeface="Arial"/>
              </a:rPr>
              <a:t>Creates </a:t>
            </a:r>
            <a:r>
              <a:rPr sz="1867" dirty="0">
                <a:latin typeface="Arial"/>
                <a:cs typeface="Arial"/>
              </a:rPr>
              <a:t>a </a:t>
            </a:r>
            <a:r>
              <a:rPr sz="1867" spc="-7" dirty="0">
                <a:latin typeface="Arial"/>
                <a:cs typeface="Arial"/>
              </a:rPr>
              <a:t>new</a:t>
            </a:r>
            <a:r>
              <a:rPr sz="1867" spc="-127" dirty="0">
                <a:latin typeface="Arial"/>
                <a:cs typeface="Arial"/>
              </a:rPr>
              <a:t> </a:t>
            </a:r>
            <a:r>
              <a:rPr sz="1867" spc="-7" dirty="0">
                <a:latin typeface="Arial"/>
                <a:cs typeface="Arial"/>
              </a:rPr>
              <a:t>notebook  file </a:t>
            </a:r>
            <a:r>
              <a:rPr sz="1867" dirty="0">
                <a:latin typeface="Arial"/>
                <a:cs typeface="Arial"/>
              </a:rPr>
              <a:t>running</a:t>
            </a:r>
            <a:r>
              <a:rPr sz="1867" spc="-20" dirty="0">
                <a:latin typeface="Arial"/>
                <a:cs typeface="Arial"/>
              </a:rPr>
              <a:t> </a:t>
            </a:r>
            <a:r>
              <a:rPr sz="1867" spc="-7" dirty="0">
                <a:latin typeface="Arial"/>
                <a:cs typeface="Arial"/>
              </a:rPr>
              <a:t>R.</a:t>
            </a:r>
            <a:endParaRPr sz="1867">
              <a:latin typeface="Arial"/>
              <a:cs typeface="Arial"/>
            </a:endParaRPr>
          </a:p>
        </p:txBody>
      </p:sp>
      <p:grpSp>
        <p:nvGrpSpPr>
          <p:cNvPr id="6" name="object 6"/>
          <p:cNvGrpSpPr/>
          <p:nvPr/>
        </p:nvGrpSpPr>
        <p:grpSpPr>
          <a:xfrm>
            <a:off x="3846293" y="1241264"/>
            <a:ext cx="3839633" cy="3213947"/>
            <a:chOff x="2884719" y="930948"/>
            <a:chExt cx="2879725" cy="2410460"/>
          </a:xfrm>
        </p:grpSpPr>
        <p:sp>
          <p:nvSpPr>
            <p:cNvPr id="7" name="object 7"/>
            <p:cNvSpPr/>
            <p:nvPr/>
          </p:nvSpPr>
          <p:spPr>
            <a:xfrm>
              <a:off x="2903769" y="949998"/>
              <a:ext cx="2679065" cy="975994"/>
            </a:xfrm>
            <a:custGeom>
              <a:avLst/>
              <a:gdLst/>
              <a:ahLst/>
              <a:cxnLst/>
              <a:rect l="l" t="t" r="r" b="b"/>
              <a:pathLst>
                <a:path w="2679065" h="975994">
                  <a:moveTo>
                    <a:pt x="0" y="0"/>
                  </a:moveTo>
                  <a:lnTo>
                    <a:pt x="2678694" y="975663"/>
                  </a:lnTo>
                </a:path>
              </a:pathLst>
            </a:custGeom>
            <a:ln w="38099">
              <a:solidFill>
                <a:srgbClr val="073662"/>
              </a:solidFill>
            </a:ln>
          </p:spPr>
          <p:txBody>
            <a:bodyPr wrap="square" lIns="0" tIns="0" rIns="0" bIns="0" rtlCol="0"/>
            <a:lstStyle/>
            <a:p>
              <a:endParaRPr sz="2400"/>
            </a:p>
          </p:txBody>
        </p:sp>
        <p:sp>
          <p:nvSpPr>
            <p:cNvPr id="8" name="object 8"/>
            <p:cNvSpPr/>
            <p:nvPr/>
          </p:nvSpPr>
          <p:spPr>
            <a:xfrm>
              <a:off x="5541888" y="1847481"/>
              <a:ext cx="222099" cy="156402"/>
            </a:xfrm>
            <a:prstGeom prst="rect">
              <a:avLst/>
            </a:prstGeom>
            <a:blipFill>
              <a:blip r:embed="rId3" cstate="print"/>
              <a:stretch>
                <a:fillRect/>
              </a:stretch>
            </a:blipFill>
          </p:spPr>
          <p:txBody>
            <a:bodyPr wrap="square" lIns="0" tIns="0" rIns="0" bIns="0" rtlCol="0"/>
            <a:lstStyle/>
            <a:p>
              <a:endParaRPr sz="2400"/>
            </a:p>
          </p:txBody>
        </p:sp>
        <p:sp>
          <p:nvSpPr>
            <p:cNvPr id="9" name="object 9"/>
            <p:cNvSpPr/>
            <p:nvPr/>
          </p:nvSpPr>
          <p:spPr>
            <a:xfrm>
              <a:off x="2903769" y="2135963"/>
              <a:ext cx="2655570" cy="233679"/>
            </a:xfrm>
            <a:custGeom>
              <a:avLst/>
              <a:gdLst/>
              <a:ahLst/>
              <a:cxnLst/>
              <a:rect l="l" t="t" r="r" b="b"/>
              <a:pathLst>
                <a:path w="2655570" h="233680">
                  <a:moveTo>
                    <a:pt x="0" y="0"/>
                  </a:moveTo>
                  <a:lnTo>
                    <a:pt x="2654969" y="233474"/>
                  </a:lnTo>
                </a:path>
              </a:pathLst>
            </a:custGeom>
            <a:ln w="38099">
              <a:solidFill>
                <a:srgbClr val="073662"/>
              </a:solidFill>
            </a:ln>
          </p:spPr>
          <p:txBody>
            <a:bodyPr wrap="square" lIns="0" tIns="0" rIns="0" bIns="0" rtlCol="0"/>
            <a:lstStyle/>
            <a:p>
              <a:endParaRPr sz="2400"/>
            </a:p>
          </p:txBody>
        </p:sp>
        <p:sp>
          <p:nvSpPr>
            <p:cNvPr id="10" name="object 10"/>
            <p:cNvSpPr/>
            <p:nvPr/>
          </p:nvSpPr>
          <p:spPr>
            <a:xfrm>
              <a:off x="5534188" y="2287700"/>
              <a:ext cx="215849" cy="163477"/>
            </a:xfrm>
            <a:prstGeom prst="rect">
              <a:avLst/>
            </a:prstGeom>
            <a:blipFill>
              <a:blip r:embed="rId4" cstate="print"/>
              <a:stretch>
                <a:fillRect/>
              </a:stretch>
            </a:blipFill>
          </p:spPr>
          <p:txBody>
            <a:bodyPr wrap="square" lIns="0" tIns="0" rIns="0" bIns="0" rtlCol="0"/>
            <a:lstStyle/>
            <a:p>
              <a:endParaRPr sz="2400"/>
            </a:p>
          </p:txBody>
        </p:sp>
        <p:sp>
          <p:nvSpPr>
            <p:cNvPr id="11" name="object 11"/>
            <p:cNvSpPr/>
            <p:nvPr/>
          </p:nvSpPr>
          <p:spPr>
            <a:xfrm>
              <a:off x="2903769" y="2788369"/>
              <a:ext cx="2647950" cy="534035"/>
            </a:xfrm>
            <a:custGeom>
              <a:avLst/>
              <a:gdLst/>
              <a:ahLst/>
              <a:cxnLst/>
              <a:rect l="l" t="t" r="r" b="b"/>
              <a:pathLst>
                <a:path w="2647950" h="534035">
                  <a:moveTo>
                    <a:pt x="0" y="533548"/>
                  </a:moveTo>
                  <a:lnTo>
                    <a:pt x="2647794" y="0"/>
                  </a:lnTo>
                </a:path>
              </a:pathLst>
            </a:custGeom>
            <a:ln w="38099">
              <a:solidFill>
                <a:srgbClr val="073662"/>
              </a:solidFill>
            </a:ln>
          </p:spPr>
          <p:txBody>
            <a:bodyPr wrap="square" lIns="0" tIns="0" rIns="0" bIns="0" rtlCol="0"/>
            <a:lstStyle/>
            <a:p>
              <a:endParaRPr sz="2400"/>
            </a:p>
          </p:txBody>
        </p:sp>
        <p:sp>
          <p:nvSpPr>
            <p:cNvPr id="12" name="object 12"/>
            <p:cNvSpPr/>
            <p:nvPr/>
          </p:nvSpPr>
          <p:spPr>
            <a:xfrm>
              <a:off x="5520089" y="2707644"/>
              <a:ext cx="220024" cy="161474"/>
            </a:xfrm>
            <a:prstGeom prst="rect">
              <a:avLst/>
            </a:prstGeom>
            <a:blipFill>
              <a:blip r:embed="rId5" cstate="print"/>
              <a:stretch>
                <a:fillRect/>
              </a:stretch>
            </a:blipFill>
          </p:spPr>
          <p:txBody>
            <a:bodyPr wrap="square" lIns="0" tIns="0" rIns="0" bIns="0" rtlCol="0"/>
            <a:lstStyle/>
            <a:p>
              <a:endParaRPr sz="2400"/>
            </a:p>
          </p:txBody>
        </p:sp>
      </p:grpSp>
      <p:sp>
        <p:nvSpPr>
          <p:cNvPr id="13" name="object 13"/>
          <p:cNvSpPr txBox="1"/>
          <p:nvPr/>
        </p:nvSpPr>
        <p:spPr>
          <a:xfrm>
            <a:off x="525466" y="5515222"/>
            <a:ext cx="5400887" cy="683093"/>
          </a:xfrm>
          <a:prstGeom prst="rect">
            <a:avLst/>
          </a:prstGeom>
          <a:solidFill>
            <a:srgbClr val="D8E9D3"/>
          </a:solidFill>
          <a:ln w="76199">
            <a:solidFill>
              <a:srgbClr val="264D12"/>
            </a:solidFill>
          </a:ln>
        </p:spPr>
        <p:txBody>
          <a:bodyPr vert="horz" wrap="square" lIns="0" tIns="117687" rIns="0" bIns="0" rtlCol="0">
            <a:spAutoFit/>
          </a:bodyPr>
          <a:lstStyle/>
          <a:p>
            <a:pPr marL="113450" marR="403850">
              <a:lnSpc>
                <a:spcPts val="2200"/>
              </a:lnSpc>
              <a:spcBef>
                <a:spcPts val="927"/>
              </a:spcBef>
            </a:pPr>
            <a:r>
              <a:rPr sz="1867" b="1" spc="-7" dirty="0">
                <a:latin typeface="Arial"/>
                <a:cs typeface="Arial"/>
              </a:rPr>
              <a:t>Note: </a:t>
            </a:r>
            <a:r>
              <a:rPr sz="1867" dirty="0">
                <a:latin typeface="Arial"/>
                <a:cs typeface="Arial"/>
              </a:rPr>
              <a:t>Jupyter can </a:t>
            </a:r>
            <a:r>
              <a:rPr sz="1867" spc="-7" dirty="0">
                <a:latin typeface="Arial"/>
                <a:cs typeface="Arial"/>
              </a:rPr>
              <a:t>also </a:t>
            </a:r>
            <a:r>
              <a:rPr sz="1867" dirty="0">
                <a:latin typeface="Arial"/>
                <a:cs typeface="Arial"/>
              </a:rPr>
              <a:t>run </a:t>
            </a:r>
            <a:r>
              <a:rPr sz="1867" spc="-7" dirty="0">
                <a:latin typeface="Arial"/>
                <a:cs typeface="Arial"/>
              </a:rPr>
              <a:t>other programming  languages, </a:t>
            </a:r>
            <a:r>
              <a:rPr sz="1867" dirty="0">
                <a:latin typeface="Arial"/>
                <a:cs typeface="Arial"/>
              </a:rPr>
              <a:t>such </a:t>
            </a:r>
            <a:r>
              <a:rPr sz="1867" spc="-7" dirty="0">
                <a:latin typeface="Arial"/>
                <a:cs typeface="Arial"/>
              </a:rPr>
              <a:t>as </a:t>
            </a:r>
            <a:r>
              <a:rPr sz="1867" dirty="0">
                <a:latin typeface="Arial"/>
                <a:cs typeface="Arial"/>
              </a:rPr>
              <a:t>Julia, </a:t>
            </a:r>
            <a:r>
              <a:rPr sz="1867" spc="-7" dirty="0">
                <a:latin typeface="Arial"/>
                <a:cs typeface="Arial"/>
              </a:rPr>
              <a:t>if they are</a:t>
            </a:r>
            <a:r>
              <a:rPr sz="1867" spc="-100" dirty="0">
                <a:latin typeface="Arial"/>
                <a:cs typeface="Arial"/>
              </a:rPr>
              <a:t> </a:t>
            </a:r>
            <a:r>
              <a:rPr sz="1867" spc="-7" dirty="0">
                <a:latin typeface="Arial"/>
                <a:cs typeface="Arial"/>
              </a:rPr>
              <a:t>installed.</a:t>
            </a:r>
            <a:endParaRPr sz="1867">
              <a:latin typeface="Arial"/>
              <a:cs typeface="Arial"/>
            </a:endParaRPr>
          </a:p>
        </p:txBody>
      </p:sp>
      <p:sp>
        <p:nvSpPr>
          <p:cNvPr id="14" name="object 14"/>
          <p:cNvSpPr/>
          <p:nvPr/>
        </p:nvSpPr>
        <p:spPr>
          <a:xfrm>
            <a:off x="9806914" y="30399"/>
            <a:ext cx="2358263" cy="725264"/>
          </a:xfrm>
          <a:prstGeom prst="rect">
            <a:avLst/>
          </a:prstGeom>
          <a:blipFill>
            <a:blip r:embed="rId6" cstate="print"/>
            <a:stretch>
              <a:fillRect/>
            </a:stretch>
          </a:blipFill>
        </p:spPr>
        <p:txBody>
          <a:bodyPr wrap="square" lIns="0" tIns="0" rIns="0" bIns="0" rtlCol="0"/>
          <a:lstStyle/>
          <a:p>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1422407"/>
            <a:ext cx="12191975" cy="2907317"/>
          </a:xfrm>
          <a:prstGeom prst="rect">
            <a:avLst/>
          </a:prstGeom>
          <a:blipFill>
            <a:blip r:embed="rId2" cstate="print"/>
            <a:stretch>
              <a:fillRect/>
            </a:stretch>
          </a:blipFill>
        </p:spPr>
        <p:txBody>
          <a:bodyPr wrap="square" lIns="0" tIns="0" rIns="0" bIns="0" rtlCol="0"/>
          <a:lstStyle/>
          <a:p>
            <a:endParaRPr sz="2400"/>
          </a:p>
        </p:txBody>
      </p:sp>
      <p:sp>
        <p:nvSpPr>
          <p:cNvPr id="3" name="object 3"/>
          <p:cNvSpPr/>
          <p:nvPr/>
        </p:nvSpPr>
        <p:spPr>
          <a:xfrm>
            <a:off x="9806914" y="30399"/>
            <a:ext cx="2358263" cy="725264"/>
          </a:xfrm>
          <a:prstGeom prst="rect">
            <a:avLst/>
          </a:prstGeom>
          <a:blipFill>
            <a:blip r:embed="rId3" cstate="print"/>
            <a:stretch>
              <a:fillRect/>
            </a:stretch>
          </a:blipFill>
        </p:spPr>
        <p:txBody>
          <a:bodyPr wrap="square" lIns="0" tIns="0" rIns="0" bIns="0" rtlCol="0"/>
          <a:lstStyle/>
          <a:p>
            <a:endParaRPr sz="2400"/>
          </a:p>
        </p:txBody>
      </p:sp>
      <p:sp>
        <p:nvSpPr>
          <p:cNvPr id="4" name="object 4"/>
          <p:cNvSpPr txBox="1"/>
          <p:nvPr/>
        </p:nvSpPr>
        <p:spPr>
          <a:xfrm>
            <a:off x="6137220" y="420666"/>
            <a:ext cx="2321560" cy="393335"/>
          </a:xfrm>
          <a:prstGeom prst="rect">
            <a:avLst/>
          </a:prstGeom>
          <a:solidFill>
            <a:srgbClr val="CFE1F2"/>
          </a:solidFill>
          <a:ln w="76199">
            <a:solidFill>
              <a:srgbClr val="073662"/>
            </a:solidFill>
          </a:ln>
        </p:spPr>
        <p:txBody>
          <a:bodyPr vert="horz" wrap="square" lIns="0" tIns="104987" rIns="0" bIns="0" rtlCol="0">
            <a:spAutoFit/>
          </a:bodyPr>
          <a:lstStyle/>
          <a:p>
            <a:pPr marL="114297">
              <a:spcBef>
                <a:spcPts val="827"/>
              </a:spcBef>
            </a:pPr>
            <a:r>
              <a:rPr sz="1867" spc="-7" dirty="0">
                <a:latin typeface="Arial"/>
                <a:cs typeface="Arial"/>
              </a:rPr>
              <a:t>Running Python</a:t>
            </a:r>
            <a:r>
              <a:rPr sz="1867" spc="-47" dirty="0">
                <a:latin typeface="Arial"/>
                <a:cs typeface="Arial"/>
              </a:rPr>
              <a:t> </a:t>
            </a:r>
            <a:r>
              <a:rPr sz="1867" dirty="0">
                <a:latin typeface="Arial"/>
                <a:cs typeface="Arial"/>
              </a:rPr>
              <a:t>3</a:t>
            </a:r>
            <a:endParaRPr sz="1867">
              <a:latin typeface="Arial"/>
              <a:cs typeface="Arial"/>
            </a:endParaRPr>
          </a:p>
        </p:txBody>
      </p:sp>
      <p:grpSp>
        <p:nvGrpSpPr>
          <p:cNvPr id="5" name="object 5"/>
          <p:cNvGrpSpPr/>
          <p:nvPr/>
        </p:nvGrpSpPr>
        <p:grpSpPr>
          <a:xfrm>
            <a:off x="5866589" y="932064"/>
            <a:ext cx="5306905" cy="1693333"/>
            <a:chOff x="4399941" y="699048"/>
            <a:chExt cx="3980179" cy="1270000"/>
          </a:xfrm>
        </p:grpSpPr>
        <p:sp>
          <p:nvSpPr>
            <p:cNvPr id="6" name="object 6"/>
            <p:cNvSpPr/>
            <p:nvPr/>
          </p:nvSpPr>
          <p:spPr>
            <a:xfrm>
              <a:off x="4565140" y="718098"/>
              <a:ext cx="908685" cy="574675"/>
            </a:xfrm>
            <a:custGeom>
              <a:avLst/>
              <a:gdLst/>
              <a:ahLst/>
              <a:cxnLst/>
              <a:rect l="l" t="t" r="r" b="b"/>
              <a:pathLst>
                <a:path w="908685" h="574675">
                  <a:moveTo>
                    <a:pt x="908073" y="0"/>
                  </a:moveTo>
                  <a:lnTo>
                    <a:pt x="0" y="574133"/>
                  </a:lnTo>
                </a:path>
              </a:pathLst>
            </a:custGeom>
            <a:ln w="38099">
              <a:solidFill>
                <a:srgbClr val="073662"/>
              </a:solidFill>
            </a:ln>
          </p:spPr>
          <p:txBody>
            <a:bodyPr wrap="square" lIns="0" tIns="0" rIns="0" bIns="0" rtlCol="0"/>
            <a:lstStyle/>
            <a:p>
              <a:endParaRPr sz="2400"/>
            </a:p>
          </p:txBody>
        </p:sp>
        <p:sp>
          <p:nvSpPr>
            <p:cNvPr id="7" name="object 7"/>
            <p:cNvSpPr/>
            <p:nvPr/>
          </p:nvSpPr>
          <p:spPr>
            <a:xfrm>
              <a:off x="4399941" y="1219992"/>
              <a:ext cx="217874" cy="183689"/>
            </a:xfrm>
            <a:prstGeom prst="rect">
              <a:avLst/>
            </a:prstGeom>
            <a:blipFill>
              <a:blip r:embed="rId4" cstate="print"/>
              <a:stretch>
                <a:fillRect/>
              </a:stretch>
            </a:blipFill>
          </p:spPr>
          <p:txBody>
            <a:bodyPr wrap="square" lIns="0" tIns="0" rIns="0" bIns="0" rtlCol="0"/>
            <a:lstStyle/>
            <a:p>
              <a:endParaRPr sz="2400"/>
            </a:p>
          </p:txBody>
        </p:sp>
        <p:sp>
          <p:nvSpPr>
            <p:cNvPr id="8" name="object 8"/>
            <p:cNvSpPr/>
            <p:nvPr/>
          </p:nvSpPr>
          <p:spPr>
            <a:xfrm>
              <a:off x="5473213" y="718098"/>
              <a:ext cx="2728595" cy="1164590"/>
            </a:xfrm>
            <a:custGeom>
              <a:avLst/>
              <a:gdLst/>
              <a:ahLst/>
              <a:cxnLst/>
              <a:rect l="l" t="t" r="r" b="b"/>
              <a:pathLst>
                <a:path w="2728595" h="1164589">
                  <a:moveTo>
                    <a:pt x="0" y="0"/>
                  </a:moveTo>
                  <a:lnTo>
                    <a:pt x="2728219" y="1163990"/>
                  </a:lnTo>
                </a:path>
              </a:pathLst>
            </a:custGeom>
            <a:ln w="38099">
              <a:solidFill>
                <a:srgbClr val="073662"/>
              </a:solidFill>
            </a:ln>
          </p:spPr>
          <p:txBody>
            <a:bodyPr wrap="square" lIns="0" tIns="0" rIns="0" bIns="0" rtlCol="0"/>
            <a:lstStyle/>
            <a:p>
              <a:endParaRPr sz="2400"/>
            </a:p>
          </p:txBody>
        </p:sp>
        <p:sp>
          <p:nvSpPr>
            <p:cNvPr id="9" name="object 9"/>
            <p:cNvSpPr/>
            <p:nvPr/>
          </p:nvSpPr>
          <p:spPr>
            <a:xfrm>
              <a:off x="8157708" y="1805156"/>
              <a:ext cx="221824" cy="163832"/>
            </a:xfrm>
            <a:prstGeom prst="rect">
              <a:avLst/>
            </a:prstGeom>
            <a:blipFill>
              <a:blip r:embed="rId5" cstate="print"/>
              <a:stretch>
                <a:fillRect/>
              </a:stretch>
            </a:blipFill>
          </p:spPr>
          <p:txBody>
            <a:bodyPr wrap="square" lIns="0" tIns="0" rIns="0" bIns="0" rtlCol="0"/>
            <a:lstStyle/>
            <a:p>
              <a:endParaRPr sz="2400"/>
            </a:p>
          </p:txBody>
        </p:sp>
      </p:grpSp>
      <p:sp>
        <p:nvSpPr>
          <p:cNvPr id="10" name="object 10"/>
          <p:cNvSpPr txBox="1"/>
          <p:nvPr/>
        </p:nvSpPr>
        <p:spPr>
          <a:xfrm>
            <a:off x="950898" y="420666"/>
            <a:ext cx="3986953" cy="393335"/>
          </a:xfrm>
          <a:prstGeom prst="rect">
            <a:avLst/>
          </a:prstGeom>
          <a:solidFill>
            <a:srgbClr val="CFE1F2"/>
          </a:solidFill>
          <a:ln w="76199">
            <a:solidFill>
              <a:srgbClr val="073662"/>
            </a:solidFill>
          </a:ln>
        </p:spPr>
        <p:txBody>
          <a:bodyPr vert="horz" wrap="square" lIns="0" tIns="104987" rIns="0" bIns="0" rtlCol="0">
            <a:spAutoFit/>
          </a:bodyPr>
          <a:lstStyle/>
          <a:p>
            <a:pPr marL="113450">
              <a:spcBef>
                <a:spcPts val="827"/>
              </a:spcBef>
            </a:pPr>
            <a:r>
              <a:rPr sz="1867" spc="-7" dirty="0">
                <a:latin typeface="Arial"/>
                <a:cs typeface="Arial"/>
              </a:rPr>
              <a:t>Notebook doesn’t have </a:t>
            </a:r>
            <a:r>
              <a:rPr sz="1867" dirty="0">
                <a:latin typeface="Arial"/>
                <a:cs typeface="Arial"/>
              </a:rPr>
              <a:t>a </a:t>
            </a:r>
            <a:r>
              <a:rPr sz="1867" spc="-7" dirty="0">
                <a:latin typeface="Arial"/>
                <a:cs typeface="Arial"/>
              </a:rPr>
              <a:t>title,</a:t>
            </a:r>
            <a:r>
              <a:rPr sz="1867" spc="-73" dirty="0">
                <a:latin typeface="Arial"/>
                <a:cs typeface="Arial"/>
              </a:rPr>
              <a:t> </a:t>
            </a:r>
            <a:r>
              <a:rPr sz="1867" dirty="0">
                <a:latin typeface="Arial"/>
                <a:cs typeface="Arial"/>
              </a:rPr>
              <a:t>yet.</a:t>
            </a:r>
            <a:endParaRPr sz="1867">
              <a:latin typeface="Arial"/>
              <a:cs typeface="Arial"/>
            </a:endParaRPr>
          </a:p>
        </p:txBody>
      </p:sp>
      <p:grpSp>
        <p:nvGrpSpPr>
          <p:cNvPr id="11" name="object 11"/>
          <p:cNvGrpSpPr/>
          <p:nvPr/>
        </p:nvGrpSpPr>
        <p:grpSpPr>
          <a:xfrm>
            <a:off x="1895137" y="932065"/>
            <a:ext cx="1159087" cy="1223433"/>
            <a:chOff x="1421352" y="699048"/>
            <a:chExt cx="869315" cy="917575"/>
          </a:xfrm>
        </p:grpSpPr>
        <p:sp>
          <p:nvSpPr>
            <p:cNvPr id="12" name="object 12"/>
            <p:cNvSpPr/>
            <p:nvPr/>
          </p:nvSpPr>
          <p:spPr>
            <a:xfrm>
              <a:off x="2126090" y="718098"/>
              <a:ext cx="163959" cy="381251"/>
            </a:xfrm>
            <a:prstGeom prst="rect">
              <a:avLst/>
            </a:prstGeom>
            <a:blipFill>
              <a:blip r:embed="rId6" cstate="print"/>
              <a:stretch>
                <a:fillRect/>
              </a:stretch>
            </a:blipFill>
          </p:spPr>
          <p:txBody>
            <a:bodyPr wrap="square" lIns="0" tIns="0" rIns="0" bIns="0" rtlCol="0"/>
            <a:lstStyle/>
            <a:p>
              <a:endParaRPr sz="2400"/>
            </a:p>
          </p:txBody>
        </p:sp>
        <p:sp>
          <p:nvSpPr>
            <p:cNvPr id="13" name="object 13"/>
            <p:cNvSpPr/>
            <p:nvPr/>
          </p:nvSpPr>
          <p:spPr>
            <a:xfrm>
              <a:off x="1554111" y="718098"/>
              <a:ext cx="654050" cy="749300"/>
            </a:xfrm>
            <a:custGeom>
              <a:avLst/>
              <a:gdLst/>
              <a:ahLst/>
              <a:cxnLst/>
              <a:rect l="l" t="t" r="r" b="b"/>
              <a:pathLst>
                <a:path w="654050" h="749300">
                  <a:moveTo>
                    <a:pt x="653958" y="0"/>
                  </a:moveTo>
                  <a:lnTo>
                    <a:pt x="0" y="749088"/>
                  </a:lnTo>
                </a:path>
              </a:pathLst>
            </a:custGeom>
            <a:ln w="38099">
              <a:solidFill>
                <a:srgbClr val="073662"/>
              </a:solidFill>
            </a:ln>
          </p:spPr>
          <p:txBody>
            <a:bodyPr wrap="square" lIns="0" tIns="0" rIns="0" bIns="0" rtlCol="0"/>
            <a:lstStyle/>
            <a:p>
              <a:endParaRPr sz="2400"/>
            </a:p>
          </p:txBody>
        </p:sp>
        <p:sp>
          <p:nvSpPr>
            <p:cNvPr id="14" name="object 14"/>
            <p:cNvSpPr/>
            <p:nvPr/>
          </p:nvSpPr>
          <p:spPr>
            <a:xfrm>
              <a:off x="1421352" y="1406752"/>
              <a:ext cx="199217" cy="209737"/>
            </a:xfrm>
            <a:prstGeom prst="rect">
              <a:avLst/>
            </a:prstGeom>
            <a:blipFill>
              <a:blip r:embed="rId7" cstate="print"/>
              <a:stretch>
                <a:fillRect/>
              </a:stretch>
            </a:blipFill>
          </p:spPr>
          <p:txBody>
            <a:bodyPr wrap="square" lIns="0" tIns="0" rIns="0" bIns="0" rtlCol="0"/>
            <a:lstStyle/>
            <a:p>
              <a:endParaRPr sz="240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1422407"/>
            <a:ext cx="12191975" cy="2907317"/>
          </a:xfrm>
          <a:prstGeom prst="rect">
            <a:avLst/>
          </a:prstGeom>
          <a:blipFill>
            <a:blip r:embed="rId2" cstate="print"/>
            <a:stretch>
              <a:fillRect/>
            </a:stretch>
          </a:blipFill>
        </p:spPr>
        <p:txBody>
          <a:bodyPr wrap="square" lIns="0" tIns="0" rIns="0" bIns="0" rtlCol="0"/>
          <a:lstStyle/>
          <a:p>
            <a:endParaRPr sz="2400"/>
          </a:p>
        </p:txBody>
      </p:sp>
      <p:sp>
        <p:nvSpPr>
          <p:cNvPr id="3" name="object 3"/>
          <p:cNvSpPr/>
          <p:nvPr/>
        </p:nvSpPr>
        <p:spPr>
          <a:xfrm>
            <a:off x="9806914" y="30399"/>
            <a:ext cx="2358263" cy="725264"/>
          </a:xfrm>
          <a:prstGeom prst="rect">
            <a:avLst/>
          </a:prstGeom>
          <a:blipFill>
            <a:blip r:embed="rId3" cstate="print"/>
            <a:stretch>
              <a:fillRect/>
            </a:stretch>
          </a:blipFill>
        </p:spPr>
        <p:txBody>
          <a:bodyPr wrap="square" lIns="0" tIns="0" rIns="0" bIns="0" rtlCol="0"/>
          <a:lstStyle/>
          <a:p>
            <a:endParaRPr sz="2400"/>
          </a:p>
        </p:txBody>
      </p:sp>
      <p:sp>
        <p:nvSpPr>
          <p:cNvPr id="4" name="object 4"/>
          <p:cNvSpPr txBox="1">
            <a:spLocks noGrp="1"/>
          </p:cNvSpPr>
          <p:nvPr>
            <p:ph type="title"/>
          </p:nvPr>
        </p:nvSpPr>
        <p:spPr>
          <a:xfrm>
            <a:off x="6137220" y="492815"/>
            <a:ext cx="2321560" cy="393335"/>
          </a:xfrm>
          <a:prstGeom prst="rect">
            <a:avLst/>
          </a:prstGeom>
          <a:solidFill>
            <a:srgbClr val="CFE1F2"/>
          </a:solidFill>
          <a:ln w="76199">
            <a:solidFill>
              <a:srgbClr val="073662"/>
            </a:solidFill>
          </a:ln>
        </p:spPr>
        <p:txBody>
          <a:bodyPr vert="horz" wrap="square" lIns="0" tIns="104987" rIns="0" bIns="0" rtlCol="0" anchor="ctr">
            <a:spAutoFit/>
          </a:bodyPr>
          <a:lstStyle/>
          <a:p>
            <a:pPr marL="114297">
              <a:lnSpc>
                <a:spcPct val="100000"/>
              </a:lnSpc>
              <a:spcBef>
                <a:spcPts val="827"/>
              </a:spcBef>
            </a:pPr>
            <a:r>
              <a:rPr sz="1867" spc="-7" dirty="0"/>
              <a:t>Running Python</a:t>
            </a:r>
            <a:r>
              <a:rPr sz="1867" spc="-47" dirty="0"/>
              <a:t> </a:t>
            </a:r>
            <a:r>
              <a:rPr sz="1867" dirty="0"/>
              <a:t>3</a:t>
            </a:r>
            <a:endParaRPr sz="1867"/>
          </a:p>
        </p:txBody>
      </p:sp>
      <p:grpSp>
        <p:nvGrpSpPr>
          <p:cNvPr id="5" name="object 5"/>
          <p:cNvGrpSpPr/>
          <p:nvPr/>
        </p:nvGrpSpPr>
        <p:grpSpPr>
          <a:xfrm>
            <a:off x="5866589" y="932064"/>
            <a:ext cx="5306905" cy="1693333"/>
            <a:chOff x="4399941" y="699048"/>
            <a:chExt cx="3980179" cy="1270000"/>
          </a:xfrm>
        </p:grpSpPr>
        <p:sp>
          <p:nvSpPr>
            <p:cNvPr id="6" name="object 6"/>
            <p:cNvSpPr/>
            <p:nvPr/>
          </p:nvSpPr>
          <p:spPr>
            <a:xfrm>
              <a:off x="4565140" y="718098"/>
              <a:ext cx="908685" cy="574675"/>
            </a:xfrm>
            <a:custGeom>
              <a:avLst/>
              <a:gdLst/>
              <a:ahLst/>
              <a:cxnLst/>
              <a:rect l="l" t="t" r="r" b="b"/>
              <a:pathLst>
                <a:path w="908685" h="574675">
                  <a:moveTo>
                    <a:pt x="908073" y="0"/>
                  </a:moveTo>
                  <a:lnTo>
                    <a:pt x="0" y="574133"/>
                  </a:lnTo>
                </a:path>
              </a:pathLst>
            </a:custGeom>
            <a:ln w="38099">
              <a:solidFill>
                <a:srgbClr val="073662"/>
              </a:solidFill>
            </a:ln>
          </p:spPr>
          <p:txBody>
            <a:bodyPr wrap="square" lIns="0" tIns="0" rIns="0" bIns="0" rtlCol="0"/>
            <a:lstStyle/>
            <a:p>
              <a:endParaRPr sz="2400"/>
            </a:p>
          </p:txBody>
        </p:sp>
        <p:sp>
          <p:nvSpPr>
            <p:cNvPr id="7" name="object 7"/>
            <p:cNvSpPr/>
            <p:nvPr/>
          </p:nvSpPr>
          <p:spPr>
            <a:xfrm>
              <a:off x="4399941" y="1219992"/>
              <a:ext cx="217874" cy="183689"/>
            </a:xfrm>
            <a:prstGeom prst="rect">
              <a:avLst/>
            </a:prstGeom>
            <a:blipFill>
              <a:blip r:embed="rId4" cstate="print"/>
              <a:stretch>
                <a:fillRect/>
              </a:stretch>
            </a:blipFill>
          </p:spPr>
          <p:txBody>
            <a:bodyPr wrap="square" lIns="0" tIns="0" rIns="0" bIns="0" rtlCol="0"/>
            <a:lstStyle/>
            <a:p>
              <a:endParaRPr sz="2400"/>
            </a:p>
          </p:txBody>
        </p:sp>
        <p:sp>
          <p:nvSpPr>
            <p:cNvPr id="8" name="object 8"/>
            <p:cNvSpPr/>
            <p:nvPr/>
          </p:nvSpPr>
          <p:spPr>
            <a:xfrm>
              <a:off x="5473213" y="718098"/>
              <a:ext cx="2728595" cy="1164590"/>
            </a:xfrm>
            <a:custGeom>
              <a:avLst/>
              <a:gdLst/>
              <a:ahLst/>
              <a:cxnLst/>
              <a:rect l="l" t="t" r="r" b="b"/>
              <a:pathLst>
                <a:path w="2728595" h="1164589">
                  <a:moveTo>
                    <a:pt x="0" y="0"/>
                  </a:moveTo>
                  <a:lnTo>
                    <a:pt x="2728219" y="1163990"/>
                  </a:lnTo>
                </a:path>
              </a:pathLst>
            </a:custGeom>
            <a:ln w="38099">
              <a:solidFill>
                <a:srgbClr val="073662"/>
              </a:solidFill>
            </a:ln>
          </p:spPr>
          <p:txBody>
            <a:bodyPr wrap="square" lIns="0" tIns="0" rIns="0" bIns="0" rtlCol="0"/>
            <a:lstStyle/>
            <a:p>
              <a:endParaRPr sz="2400"/>
            </a:p>
          </p:txBody>
        </p:sp>
        <p:sp>
          <p:nvSpPr>
            <p:cNvPr id="9" name="object 9"/>
            <p:cNvSpPr/>
            <p:nvPr/>
          </p:nvSpPr>
          <p:spPr>
            <a:xfrm>
              <a:off x="8157708" y="1805156"/>
              <a:ext cx="221824" cy="163832"/>
            </a:xfrm>
            <a:prstGeom prst="rect">
              <a:avLst/>
            </a:prstGeom>
            <a:blipFill>
              <a:blip r:embed="rId5" cstate="print"/>
              <a:stretch>
                <a:fillRect/>
              </a:stretch>
            </a:blipFill>
          </p:spPr>
          <p:txBody>
            <a:bodyPr wrap="square" lIns="0" tIns="0" rIns="0" bIns="0" rtlCol="0"/>
            <a:lstStyle/>
            <a:p>
              <a:endParaRPr sz="2400"/>
            </a:p>
          </p:txBody>
        </p:sp>
      </p:grpSp>
      <p:sp>
        <p:nvSpPr>
          <p:cNvPr id="10" name="object 10"/>
          <p:cNvSpPr txBox="1"/>
          <p:nvPr/>
        </p:nvSpPr>
        <p:spPr>
          <a:xfrm>
            <a:off x="950898" y="420666"/>
            <a:ext cx="3986953" cy="393335"/>
          </a:xfrm>
          <a:prstGeom prst="rect">
            <a:avLst/>
          </a:prstGeom>
          <a:solidFill>
            <a:srgbClr val="CFE1F2"/>
          </a:solidFill>
          <a:ln w="76199">
            <a:solidFill>
              <a:srgbClr val="073662"/>
            </a:solidFill>
          </a:ln>
        </p:spPr>
        <p:txBody>
          <a:bodyPr vert="horz" wrap="square" lIns="0" tIns="104987" rIns="0" bIns="0" rtlCol="0">
            <a:spAutoFit/>
          </a:bodyPr>
          <a:lstStyle/>
          <a:p>
            <a:pPr marL="113450">
              <a:spcBef>
                <a:spcPts val="827"/>
              </a:spcBef>
            </a:pPr>
            <a:r>
              <a:rPr sz="1867" spc="-7" dirty="0">
                <a:latin typeface="Arial"/>
                <a:cs typeface="Arial"/>
              </a:rPr>
              <a:t>Notebook doesn’t have </a:t>
            </a:r>
            <a:r>
              <a:rPr sz="1867" dirty="0">
                <a:latin typeface="Arial"/>
                <a:cs typeface="Arial"/>
              </a:rPr>
              <a:t>a </a:t>
            </a:r>
            <a:r>
              <a:rPr sz="1867" spc="-7" dirty="0">
                <a:latin typeface="Arial"/>
                <a:cs typeface="Arial"/>
              </a:rPr>
              <a:t>title,</a:t>
            </a:r>
            <a:r>
              <a:rPr sz="1867" spc="-73" dirty="0">
                <a:latin typeface="Arial"/>
                <a:cs typeface="Arial"/>
              </a:rPr>
              <a:t> </a:t>
            </a:r>
            <a:r>
              <a:rPr sz="1867" dirty="0">
                <a:latin typeface="Arial"/>
                <a:cs typeface="Arial"/>
              </a:rPr>
              <a:t>yet.</a:t>
            </a:r>
            <a:endParaRPr sz="1867">
              <a:latin typeface="Arial"/>
              <a:cs typeface="Arial"/>
            </a:endParaRPr>
          </a:p>
        </p:txBody>
      </p:sp>
      <p:grpSp>
        <p:nvGrpSpPr>
          <p:cNvPr id="11" name="object 11"/>
          <p:cNvGrpSpPr/>
          <p:nvPr/>
        </p:nvGrpSpPr>
        <p:grpSpPr>
          <a:xfrm>
            <a:off x="1895137" y="932065"/>
            <a:ext cx="1159087" cy="1223433"/>
            <a:chOff x="1421352" y="699048"/>
            <a:chExt cx="869315" cy="917575"/>
          </a:xfrm>
        </p:grpSpPr>
        <p:sp>
          <p:nvSpPr>
            <p:cNvPr id="12" name="object 12"/>
            <p:cNvSpPr/>
            <p:nvPr/>
          </p:nvSpPr>
          <p:spPr>
            <a:xfrm>
              <a:off x="2126090" y="718098"/>
              <a:ext cx="163959" cy="381251"/>
            </a:xfrm>
            <a:prstGeom prst="rect">
              <a:avLst/>
            </a:prstGeom>
            <a:blipFill>
              <a:blip r:embed="rId6" cstate="print"/>
              <a:stretch>
                <a:fillRect/>
              </a:stretch>
            </a:blipFill>
          </p:spPr>
          <p:txBody>
            <a:bodyPr wrap="square" lIns="0" tIns="0" rIns="0" bIns="0" rtlCol="0"/>
            <a:lstStyle/>
            <a:p>
              <a:endParaRPr sz="2400"/>
            </a:p>
          </p:txBody>
        </p:sp>
        <p:sp>
          <p:nvSpPr>
            <p:cNvPr id="13" name="object 13"/>
            <p:cNvSpPr/>
            <p:nvPr/>
          </p:nvSpPr>
          <p:spPr>
            <a:xfrm>
              <a:off x="1554111" y="718098"/>
              <a:ext cx="654050" cy="749300"/>
            </a:xfrm>
            <a:custGeom>
              <a:avLst/>
              <a:gdLst/>
              <a:ahLst/>
              <a:cxnLst/>
              <a:rect l="l" t="t" r="r" b="b"/>
              <a:pathLst>
                <a:path w="654050" h="749300">
                  <a:moveTo>
                    <a:pt x="653958" y="0"/>
                  </a:moveTo>
                  <a:lnTo>
                    <a:pt x="0" y="749088"/>
                  </a:lnTo>
                </a:path>
              </a:pathLst>
            </a:custGeom>
            <a:ln w="38099">
              <a:solidFill>
                <a:srgbClr val="073662"/>
              </a:solidFill>
            </a:ln>
          </p:spPr>
          <p:txBody>
            <a:bodyPr wrap="square" lIns="0" tIns="0" rIns="0" bIns="0" rtlCol="0"/>
            <a:lstStyle/>
            <a:p>
              <a:endParaRPr sz="2400"/>
            </a:p>
          </p:txBody>
        </p:sp>
        <p:sp>
          <p:nvSpPr>
            <p:cNvPr id="14" name="object 14"/>
            <p:cNvSpPr/>
            <p:nvPr/>
          </p:nvSpPr>
          <p:spPr>
            <a:xfrm>
              <a:off x="1421352" y="1406752"/>
              <a:ext cx="199217" cy="209737"/>
            </a:xfrm>
            <a:prstGeom prst="rect">
              <a:avLst/>
            </a:prstGeom>
            <a:blipFill>
              <a:blip r:embed="rId7" cstate="print"/>
              <a:stretch>
                <a:fillRect/>
              </a:stretch>
            </a:blipFill>
          </p:spPr>
          <p:txBody>
            <a:bodyPr wrap="square" lIns="0" tIns="0" rIns="0" bIns="0" rtlCol="0"/>
            <a:lstStyle/>
            <a:p>
              <a:endParaRPr sz="2400"/>
            </a:p>
          </p:txBody>
        </p:sp>
      </p:grpSp>
      <p:sp>
        <p:nvSpPr>
          <p:cNvPr id="15" name="object 15"/>
          <p:cNvSpPr txBox="1"/>
          <p:nvPr/>
        </p:nvSpPr>
        <p:spPr>
          <a:xfrm>
            <a:off x="1600197" y="4671992"/>
            <a:ext cx="7658100" cy="965222"/>
          </a:xfrm>
          <a:prstGeom prst="rect">
            <a:avLst/>
          </a:prstGeom>
          <a:solidFill>
            <a:srgbClr val="CFE1F2"/>
          </a:solidFill>
          <a:ln w="76199">
            <a:solidFill>
              <a:srgbClr val="073662"/>
            </a:solidFill>
          </a:ln>
        </p:spPr>
        <p:txBody>
          <a:bodyPr vert="horz" wrap="square" lIns="0" tIns="117687" rIns="0" bIns="0" rtlCol="0">
            <a:spAutoFit/>
          </a:bodyPr>
          <a:lstStyle/>
          <a:p>
            <a:pPr marL="113450" marR="253994">
              <a:lnSpc>
                <a:spcPts val="2200"/>
              </a:lnSpc>
              <a:spcBef>
                <a:spcPts val="927"/>
              </a:spcBef>
            </a:pPr>
            <a:r>
              <a:rPr sz="1867" spc="-7" dirty="0">
                <a:latin typeface="Arial"/>
                <a:cs typeface="Arial"/>
              </a:rPr>
              <a:t>I’ll leave it to </a:t>
            </a:r>
            <a:r>
              <a:rPr sz="1867" dirty="0">
                <a:latin typeface="Arial"/>
                <a:cs typeface="Arial"/>
              </a:rPr>
              <a:t>you </a:t>
            </a:r>
            <a:r>
              <a:rPr sz="1867" spc="-7" dirty="0">
                <a:latin typeface="Arial"/>
                <a:cs typeface="Arial"/>
              </a:rPr>
              <a:t>to learn about the other features by </a:t>
            </a:r>
            <a:r>
              <a:rPr sz="1867" dirty="0">
                <a:latin typeface="Arial"/>
                <a:cs typeface="Arial"/>
              </a:rPr>
              <a:t>reading </a:t>
            </a:r>
            <a:r>
              <a:rPr sz="1867" spc="-7" dirty="0">
                <a:latin typeface="Arial"/>
                <a:cs typeface="Arial"/>
              </a:rPr>
              <a:t>the  documentation. For now, the green-highlighted box is </a:t>
            </a:r>
            <a:r>
              <a:rPr sz="1867" dirty="0">
                <a:latin typeface="Arial"/>
                <a:cs typeface="Arial"/>
              </a:rPr>
              <a:t>most </a:t>
            </a:r>
            <a:r>
              <a:rPr sz="1867" spc="-7" dirty="0">
                <a:latin typeface="Arial"/>
                <a:cs typeface="Arial"/>
              </a:rPr>
              <a:t>important.  That’s where we write Python</a:t>
            </a:r>
            <a:r>
              <a:rPr sz="1867" spc="-20" dirty="0">
                <a:latin typeface="Arial"/>
                <a:cs typeface="Arial"/>
              </a:rPr>
              <a:t> </a:t>
            </a:r>
            <a:r>
              <a:rPr sz="1867" dirty="0">
                <a:latin typeface="Arial"/>
                <a:cs typeface="Arial"/>
              </a:rPr>
              <a:t>code.</a:t>
            </a:r>
            <a:endParaRPr sz="1867">
              <a:latin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627574" y="30400"/>
            <a:ext cx="7537873" cy="2960793"/>
            <a:chOff x="3470680" y="22799"/>
            <a:chExt cx="5653405" cy="2220595"/>
          </a:xfrm>
        </p:grpSpPr>
        <p:sp>
          <p:nvSpPr>
            <p:cNvPr id="3" name="object 3"/>
            <p:cNvSpPr/>
            <p:nvPr/>
          </p:nvSpPr>
          <p:spPr>
            <a:xfrm>
              <a:off x="3480217" y="602973"/>
              <a:ext cx="5616688" cy="1630646"/>
            </a:xfrm>
            <a:prstGeom prst="rect">
              <a:avLst/>
            </a:prstGeom>
            <a:blipFill>
              <a:blip r:embed="rId2" cstate="print"/>
              <a:stretch>
                <a:fillRect/>
              </a:stretch>
            </a:blipFill>
          </p:spPr>
          <p:txBody>
            <a:bodyPr wrap="square" lIns="0" tIns="0" rIns="0" bIns="0" rtlCol="0"/>
            <a:lstStyle/>
            <a:p>
              <a:endParaRPr sz="2400"/>
            </a:p>
          </p:txBody>
        </p:sp>
        <p:sp>
          <p:nvSpPr>
            <p:cNvPr id="4" name="object 4"/>
            <p:cNvSpPr/>
            <p:nvPr/>
          </p:nvSpPr>
          <p:spPr>
            <a:xfrm>
              <a:off x="3475442" y="598211"/>
              <a:ext cx="5626735" cy="1640205"/>
            </a:xfrm>
            <a:custGeom>
              <a:avLst/>
              <a:gdLst/>
              <a:ahLst/>
              <a:cxnLst/>
              <a:rect l="l" t="t" r="r" b="b"/>
              <a:pathLst>
                <a:path w="5626734" h="1640205">
                  <a:moveTo>
                    <a:pt x="0" y="0"/>
                  </a:moveTo>
                  <a:lnTo>
                    <a:pt x="5626213" y="0"/>
                  </a:lnTo>
                  <a:lnTo>
                    <a:pt x="5626213" y="1640171"/>
                  </a:lnTo>
                  <a:lnTo>
                    <a:pt x="0" y="1640171"/>
                  </a:lnTo>
                  <a:lnTo>
                    <a:pt x="0" y="0"/>
                  </a:lnTo>
                  <a:close/>
                </a:path>
              </a:pathLst>
            </a:custGeom>
            <a:ln w="9524">
              <a:solidFill>
                <a:srgbClr val="595959"/>
              </a:solidFill>
            </a:ln>
          </p:spPr>
          <p:txBody>
            <a:bodyPr wrap="square" lIns="0" tIns="0" rIns="0" bIns="0" rtlCol="0"/>
            <a:lstStyle/>
            <a:p>
              <a:endParaRPr sz="2400"/>
            </a:p>
          </p:txBody>
        </p:sp>
        <p:sp>
          <p:nvSpPr>
            <p:cNvPr id="5" name="object 5"/>
            <p:cNvSpPr/>
            <p:nvPr/>
          </p:nvSpPr>
          <p:spPr>
            <a:xfrm>
              <a:off x="7355185" y="22799"/>
              <a:ext cx="1768697" cy="543948"/>
            </a:xfrm>
            <a:prstGeom prst="rect">
              <a:avLst/>
            </a:prstGeom>
            <a:blipFill>
              <a:blip r:embed="rId3" cstate="print"/>
              <a:stretch>
                <a:fillRect/>
              </a:stretch>
            </a:blipFill>
          </p:spPr>
          <p:txBody>
            <a:bodyPr wrap="square" lIns="0" tIns="0" rIns="0" bIns="0" rtlCol="0"/>
            <a:lstStyle/>
            <a:p>
              <a:endParaRPr sz="2400"/>
            </a:p>
          </p:txBody>
        </p:sp>
      </p:grpSp>
      <p:grpSp>
        <p:nvGrpSpPr>
          <p:cNvPr id="6" name="object 6"/>
          <p:cNvGrpSpPr/>
          <p:nvPr/>
        </p:nvGrpSpPr>
        <p:grpSpPr>
          <a:xfrm>
            <a:off x="0" y="807948"/>
            <a:ext cx="12192000" cy="5975773"/>
            <a:chOff x="0" y="605961"/>
            <a:chExt cx="9144000" cy="4481830"/>
          </a:xfrm>
        </p:grpSpPr>
        <p:sp>
          <p:nvSpPr>
            <p:cNvPr id="7" name="object 7"/>
            <p:cNvSpPr/>
            <p:nvPr/>
          </p:nvSpPr>
          <p:spPr>
            <a:xfrm>
              <a:off x="0" y="2309820"/>
              <a:ext cx="9143981" cy="2777719"/>
            </a:xfrm>
            <a:prstGeom prst="rect">
              <a:avLst/>
            </a:prstGeom>
            <a:blipFill>
              <a:blip r:embed="rId4" cstate="print"/>
              <a:stretch>
                <a:fillRect/>
              </a:stretch>
            </a:blipFill>
          </p:spPr>
          <p:txBody>
            <a:bodyPr wrap="square" lIns="0" tIns="0" rIns="0" bIns="0" rtlCol="0"/>
            <a:lstStyle/>
            <a:p>
              <a:endParaRPr sz="2400"/>
            </a:p>
          </p:txBody>
        </p:sp>
        <p:sp>
          <p:nvSpPr>
            <p:cNvPr id="8" name="object 8"/>
            <p:cNvSpPr/>
            <p:nvPr/>
          </p:nvSpPr>
          <p:spPr>
            <a:xfrm>
              <a:off x="74999" y="610723"/>
              <a:ext cx="3761104" cy="4401185"/>
            </a:xfrm>
            <a:custGeom>
              <a:avLst/>
              <a:gdLst/>
              <a:ahLst/>
              <a:cxnLst/>
              <a:rect l="l" t="t" r="r" b="b"/>
              <a:pathLst>
                <a:path w="3761104" h="4401185">
                  <a:moveTo>
                    <a:pt x="0" y="3246893"/>
                  </a:moveTo>
                  <a:lnTo>
                    <a:pt x="3761092" y="3246893"/>
                  </a:lnTo>
                  <a:lnTo>
                    <a:pt x="3761092" y="4400691"/>
                  </a:lnTo>
                  <a:lnTo>
                    <a:pt x="0" y="4400691"/>
                  </a:lnTo>
                  <a:lnTo>
                    <a:pt x="0" y="3246893"/>
                  </a:lnTo>
                  <a:close/>
                </a:path>
                <a:path w="3761104" h="4401185">
                  <a:moveTo>
                    <a:pt x="10724" y="3246893"/>
                  </a:moveTo>
                  <a:lnTo>
                    <a:pt x="3396818" y="0"/>
                  </a:lnTo>
                </a:path>
              </a:pathLst>
            </a:custGeom>
            <a:ln w="9524">
              <a:solidFill>
                <a:srgbClr val="595959"/>
              </a:solidFill>
            </a:ln>
          </p:spPr>
          <p:txBody>
            <a:bodyPr wrap="square" lIns="0" tIns="0" rIns="0" bIns="0" rtlCol="0"/>
            <a:lstStyle/>
            <a:p>
              <a:endParaRPr sz="2400"/>
            </a:p>
          </p:txBody>
        </p:sp>
      </p:grpSp>
      <p:sp>
        <p:nvSpPr>
          <p:cNvPr id="9" name="object 9"/>
          <p:cNvSpPr txBox="1"/>
          <p:nvPr/>
        </p:nvSpPr>
        <p:spPr>
          <a:xfrm>
            <a:off x="355599" y="1162065"/>
            <a:ext cx="3903980" cy="965222"/>
          </a:xfrm>
          <a:prstGeom prst="rect">
            <a:avLst/>
          </a:prstGeom>
          <a:solidFill>
            <a:srgbClr val="CFE1F2"/>
          </a:solidFill>
          <a:ln w="76199">
            <a:solidFill>
              <a:srgbClr val="073662"/>
            </a:solidFill>
          </a:ln>
        </p:spPr>
        <p:txBody>
          <a:bodyPr vert="horz" wrap="square" lIns="0" tIns="117687" rIns="0" bIns="0" rtlCol="0">
            <a:spAutoFit/>
          </a:bodyPr>
          <a:lstStyle/>
          <a:p>
            <a:pPr marL="113450" marR="278546">
              <a:lnSpc>
                <a:spcPts val="2200"/>
              </a:lnSpc>
              <a:spcBef>
                <a:spcPts val="927"/>
              </a:spcBef>
            </a:pPr>
            <a:r>
              <a:rPr sz="1867" spc="-7" dirty="0">
                <a:latin typeface="Arial"/>
                <a:cs typeface="Arial"/>
              </a:rPr>
              <a:t>Write </a:t>
            </a:r>
            <a:r>
              <a:rPr sz="1867" dirty="0">
                <a:latin typeface="Arial"/>
                <a:cs typeface="Arial"/>
              </a:rPr>
              <a:t>code </a:t>
            </a:r>
            <a:r>
              <a:rPr sz="1867" spc="-7" dirty="0">
                <a:latin typeface="Arial"/>
                <a:cs typeface="Arial"/>
              </a:rPr>
              <a:t>in the highlighted box,  then press </a:t>
            </a:r>
            <a:r>
              <a:rPr sz="1867" dirty="0">
                <a:latin typeface="Arial"/>
                <a:cs typeface="Arial"/>
              </a:rPr>
              <a:t>shift+enter </a:t>
            </a:r>
            <a:r>
              <a:rPr sz="1867" spc="-7" dirty="0">
                <a:latin typeface="Arial"/>
                <a:cs typeface="Arial"/>
              </a:rPr>
              <a:t>to </a:t>
            </a:r>
            <a:r>
              <a:rPr sz="1867" dirty="0">
                <a:latin typeface="Arial"/>
                <a:cs typeface="Arial"/>
              </a:rPr>
              <a:t>run </a:t>
            </a:r>
            <a:r>
              <a:rPr sz="1867" spc="-7" dirty="0">
                <a:latin typeface="Arial"/>
                <a:cs typeface="Arial"/>
              </a:rPr>
              <a:t>the  </a:t>
            </a:r>
            <a:r>
              <a:rPr sz="1867" dirty="0">
                <a:latin typeface="Arial"/>
                <a:cs typeface="Arial"/>
              </a:rPr>
              <a:t>code </a:t>
            </a:r>
            <a:r>
              <a:rPr sz="1867" spc="-7" dirty="0">
                <a:latin typeface="Arial"/>
                <a:cs typeface="Arial"/>
              </a:rPr>
              <a:t>in that</a:t>
            </a:r>
            <a:r>
              <a:rPr sz="1867" spc="-27" dirty="0">
                <a:latin typeface="Arial"/>
                <a:cs typeface="Arial"/>
              </a:rPr>
              <a:t> </a:t>
            </a:r>
            <a:r>
              <a:rPr sz="1867" spc="-7" dirty="0">
                <a:latin typeface="Arial"/>
                <a:cs typeface="Arial"/>
              </a:rPr>
              <a:t>box...</a:t>
            </a:r>
            <a:endParaRPr sz="1867">
              <a:latin typeface="Arial"/>
              <a:cs typeface="Arial"/>
            </a:endParaRPr>
          </a:p>
        </p:txBody>
      </p:sp>
      <p:sp>
        <p:nvSpPr>
          <p:cNvPr id="10" name="object 10"/>
          <p:cNvSpPr/>
          <p:nvPr/>
        </p:nvSpPr>
        <p:spPr>
          <a:xfrm>
            <a:off x="5129190" y="2986161"/>
            <a:ext cx="7001087" cy="3700780"/>
          </a:xfrm>
          <a:custGeom>
            <a:avLst/>
            <a:gdLst/>
            <a:ahLst/>
            <a:cxnLst/>
            <a:rect l="l" t="t" r="r" b="b"/>
            <a:pathLst>
              <a:path w="5250815" h="2775585">
                <a:moveTo>
                  <a:pt x="0" y="2775294"/>
                </a:moveTo>
                <a:lnTo>
                  <a:pt x="5250589" y="0"/>
                </a:lnTo>
              </a:path>
            </a:pathLst>
          </a:custGeom>
          <a:ln w="9524">
            <a:solidFill>
              <a:srgbClr val="595959"/>
            </a:solidFill>
          </a:ln>
        </p:spPr>
        <p:txBody>
          <a:bodyPr wrap="square" lIns="0" tIns="0" rIns="0" bIns="0" rtlCol="0"/>
          <a:lstStyle/>
          <a:p>
            <a:endParaRPr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378439" y="920749"/>
            <a:ext cx="6718300" cy="1968500"/>
            <a:chOff x="4033829" y="690561"/>
            <a:chExt cx="5038725" cy="1476375"/>
          </a:xfrm>
        </p:grpSpPr>
        <p:sp>
          <p:nvSpPr>
            <p:cNvPr id="3" name="object 3"/>
            <p:cNvSpPr/>
            <p:nvPr/>
          </p:nvSpPr>
          <p:spPr>
            <a:xfrm>
              <a:off x="4043366" y="700086"/>
              <a:ext cx="5019639" cy="1457322"/>
            </a:xfrm>
            <a:prstGeom prst="rect">
              <a:avLst/>
            </a:prstGeom>
            <a:blipFill>
              <a:blip r:embed="rId2" cstate="print"/>
              <a:stretch>
                <a:fillRect/>
              </a:stretch>
            </a:blipFill>
          </p:spPr>
          <p:txBody>
            <a:bodyPr wrap="square" lIns="0" tIns="0" rIns="0" bIns="0" rtlCol="0"/>
            <a:lstStyle/>
            <a:p>
              <a:endParaRPr sz="2400"/>
            </a:p>
          </p:txBody>
        </p:sp>
        <p:sp>
          <p:nvSpPr>
            <p:cNvPr id="4" name="object 4"/>
            <p:cNvSpPr/>
            <p:nvPr/>
          </p:nvSpPr>
          <p:spPr>
            <a:xfrm>
              <a:off x="4038591" y="695323"/>
              <a:ext cx="5029200" cy="1466850"/>
            </a:xfrm>
            <a:custGeom>
              <a:avLst/>
              <a:gdLst/>
              <a:ahLst/>
              <a:cxnLst/>
              <a:rect l="l" t="t" r="r" b="b"/>
              <a:pathLst>
                <a:path w="5029200" h="1466850">
                  <a:moveTo>
                    <a:pt x="0" y="0"/>
                  </a:moveTo>
                  <a:lnTo>
                    <a:pt x="5029189" y="0"/>
                  </a:lnTo>
                  <a:lnTo>
                    <a:pt x="5029189" y="1466847"/>
                  </a:lnTo>
                  <a:lnTo>
                    <a:pt x="0" y="1466847"/>
                  </a:lnTo>
                  <a:lnTo>
                    <a:pt x="0" y="0"/>
                  </a:lnTo>
                  <a:close/>
                </a:path>
              </a:pathLst>
            </a:custGeom>
            <a:ln w="9524">
              <a:solidFill>
                <a:srgbClr val="595959"/>
              </a:solidFill>
            </a:ln>
          </p:spPr>
          <p:txBody>
            <a:bodyPr wrap="square" lIns="0" tIns="0" rIns="0" bIns="0" rtlCol="0"/>
            <a:lstStyle/>
            <a:p>
              <a:endParaRPr sz="2400"/>
            </a:p>
          </p:txBody>
        </p:sp>
      </p:grpSp>
      <p:sp>
        <p:nvSpPr>
          <p:cNvPr id="5" name="object 5"/>
          <p:cNvSpPr/>
          <p:nvPr/>
        </p:nvSpPr>
        <p:spPr>
          <a:xfrm>
            <a:off x="9806914" y="30399"/>
            <a:ext cx="2358263" cy="725264"/>
          </a:xfrm>
          <a:prstGeom prst="rect">
            <a:avLst/>
          </a:prstGeom>
          <a:blipFill>
            <a:blip r:embed="rId3" cstate="print"/>
            <a:stretch>
              <a:fillRect/>
            </a:stretch>
          </a:blipFill>
        </p:spPr>
        <p:txBody>
          <a:bodyPr wrap="square" lIns="0" tIns="0" rIns="0" bIns="0" rtlCol="0"/>
          <a:lstStyle/>
          <a:p>
            <a:endParaRPr sz="2400"/>
          </a:p>
        </p:txBody>
      </p:sp>
      <p:grpSp>
        <p:nvGrpSpPr>
          <p:cNvPr id="6" name="object 6"/>
          <p:cNvGrpSpPr/>
          <p:nvPr/>
        </p:nvGrpSpPr>
        <p:grpSpPr>
          <a:xfrm>
            <a:off x="0" y="936748"/>
            <a:ext cx="12192000" cy="5752253"/>
            <a:chOff x="0" y="702561"/>
            <a:chExt cx="9144000" cy="4314190"/>
          </a:xfrm>
        </p:grpSpPr>
        <p:sp>
          <p:nvSpPr>
            <p:cNvPr id="7" name="object 7"/>
            <p:cNvSpPr/>
            <p:nvPr/>
          </p:nvSpPr>
          <p:spPr>
            <a:xfrm>
              <a:off x="0" y="2233620"/>
              <a:ext cx="9143981" cy="2777719"/>
            </a:xfrm>
            <a:prstGeom prst="rect">
              <a:avLst/>
            </a:prstGeom>
            <a:blipFill>
              <a:blip r:embed="rId4" cstate="print"/>
              <a:stretch>
                <a:fillRect/>
              </a:stretch>
            </a:blipFill>
          </p:spPr>
          <p:txBody>
            <a:bodyPr wrap="square" lIns="0" tIns="0" rIns="0" bIns="0" rtlCol="0"/>
            <a:lstStyle/>
            <a:p>
              <a:endParaRPr sz="2400"/>
            </a:p>
          </p:txBody>
        </p:sp>
        <p:sp>
          <p:nvSpPr>
            <p:cNvPr id="8" name="object 8"/>
            <p:cNvSpPr/>
            <p:nvPr/>
          </p:nvSpPr>
          <p:spPr>
            <a:xfrm>
              <a:off x="74999" y="707323"/>
              <a:ext cx="3964940" cy="4304665"/>
            </a:xfrm>
            <a:custGeom>
              <a:avLst/>
              <a:gdLst/>
              <a:ahLst/>
              <a:cxnLst/>
              <a:rect l="l" t="t" r="r" b="b"/>
              <a:pathLst>
                <a:path w="3964940" h="4304665">
                  <a:moveTo>
                    <a:pt x="0" y="3150293"/>
                  </a:moveTo>
                  <a:lnTo>
                    <a:pt x="3761092" y="3150293"/>
                  </a:lnTo>
                  <a:lnTo>
                    <a:pt x="3761092" y="4304091"/>
                  </a:lnTo>
                  <a:lnTo>
                    <a:pt x="0" y="4304091"/>
                  </a:lnTo>
                  <a:lnTo>
                    <a:pt x="0" y="3150293"/>
                  </a:lnTo>
                  <a:close/>
                </a:path>
                <a:path w="3964940" h="4304665">
                  <a:moveTo>
                    <a:pt x="10724" y="3150293"/>
                  </a:moveTo>
                  <a:lnTo>
                    <a:pt x="3964717" y="0"/>
                  </a:lnTo>
                </a:path>
              </a:pathLst>
            </a:custGeom>
            <a:ln w="9524">
              <a:solidFill>
                <a:srgbClr val="595959"/>
              </a:solidFill>
            </a:ln>
          </p:spPr>
          <p:txBody>
            <a:bodyPr wrap="square" lIns="0" tIns="0" rIns="0" bIns="0" rtlCol="0"/>
            <a:lstStyle/>
            <a:p>
              <a:endParaRPr sz="2400"/>
            </a:p>
          </p:txBody>
        </p:sp>
      </p:grpSp>
      <p:sp>
        <p:nvSpPr>
          <p:cNvPr id="9" name="object 9"/>
          <p:cNvSpPr txBox="1">
            <a:spLocks noGrp="1"/>
          </p:cNvSpPr>
          <p:nvPr>
            <p:ph type="title"/>
          </p:nvPr>
        </p:nvSpPr>
        <p:spPr>
          <a:xfrm>
            <a:off x="253999" y="1562198"/>
            <a:ext cx="4958080" cy="683093"/>
          </a:xfrm>
          <a:prstGeom prst="rect">
            <a:avLst/>
          </a:prstGeom>
          <a:solidFill>
            <a:srgbClr val="CFE1F2"/>
          </a:solidFill>
          <a:ln w="76199">
            <a:solidFill>
              <a:srgbClr val="073662"/>
            </a:solidFill>
          </a:ln>
        </p:spPr>
        <p:txBody>
          <a:bodyPr vert="horz" wrap="square" lIns="0" tIns="117687" rIns="0" bIns="0" rtlCol="0" anchor="ctr">
            <a:spAutoFit/>
          </a:bodyPr>
          <a:lstStyle/>
          <a:p>
            <a:pPr marL="113450" marR="162556">
              <a:lnSpc>
                <a:spcPts val="2200"/>
              </a:lnSpc>
              <a:spcBef>
                <a:spcPts val="927"/>
              </a:spcBef>
            </a:pPr>
            <a:r>
              <a:rPr sz="1867" spc="-7" dirty="0"/>
              <a:t>Write </a:t>
            </a:r>
            <a:r>
              <a:rPr sz="1867" dirty="0"/>
              <a:t>code </a:t>
            </a:r>
            <a:r>
              <a:rPr sz="1867" spc="-7" dirty="0"/>
              <a:t>in the highlighted box, then press  </a:t>
            </a:r>
            <a:r>
              <a:rPr sz="1867" dirty="0"/>
              <a:t>shift+enter </a:t>
            </a:r>
            <a:r>
              <a:rPr sz="1867" spc="-7" dirty="0"/>
              <a:t>to </a:t>
            </a:r>
            <a:r>
              <a:rPr sz="1867" dirty="0"/>
              <a:t>run </a:t>
            </a:r>
            <a:r>
              <a:rPr sz="1867" spc="-7" dirty="0"/>
              <a:t>the </a:t>
            </a:r>
            <a:r>
              <a:rPr sz="1867" dirty="0"/>
              <a:t>code </a:t>
            </a:r>
            <a:r>
              <a:rPr sz="1867" spc="-7" dirty="0"/>
              <a:t>in that</a:t>
            </a:r>
            <a:r>
              <a:rPr sz="1867" spc="-80" dirty="0"/>
              <a:t> </a:t>
            </a:r>
            <a:r>
              <a:rPr sz="1867" spc="-7" dirty="0"/>
              <a:t>box...</a:t>
            </a:r>
            <a:endParaRPr sz="1867"/>
          </a:p>
        </p:txBody>
      </p:sp>
      <p:sp>
        <p:nvSpPr>
          <p:cNvPr id="10" name="object 10"/>
          <p:cNvSpPr/>
          <p:nvPr/>
        </p:nvSpPr>
        <p:spPr>
          <a:xfrm>
            <a:off x="5129190" y="2900161"/>
            <a:ext cx="6987540" cy="3787140"/>
          </a:xfrm>
          <a:custGeom>
            <a:avLst/>
            <a:gdLst/>
            <a:ahLst/>
            <a:cxnLst/>
            <a:rect l="l" t="t" r="r" b="b"/>
            <a:pathLst>
              <a:path w="5240655" h="2840354">
                <a:moveTo>
                  <a:pt x="0" y="2839794"/>
                </a:moveTo>
                <a:lnTo>
                  <a:pt x="5240089" y="0"/>
                </a:lnTo>
              </a:path>
            </a:pathLst>
          </a:custGeom>
          <a:ln w="9524">
            <a:solidFill>
              <a:srgbClr val="595959"/>
            </a:solidFill>
          </a:ln>
        </p:spPr>
        <p:txBody>
          <a:bodyPr wrap="square" lIns="0" tIns="0" rIns="0" bIns="0" rtlCol="0"/>
          <a:lstStyle/>
          <a:p>
            <a:endParaRPr sz="2400"/>
          </a:p>
        </p:txBody>
      </p:sp>
      <p:sp>
        <p:nvSpPr>
          <p:cNvPr id="11" name="object 11"/>
          <p:cNvSpPr txBox="1"/>
          <p:nvPr/>
        </p:nvSpPr>
        <p:spPr>
          <a:xfrm>
            <a:off x="6616686" y="5734055"/>
            <a:ext cx="5569372" cy="683093"/>
          </a:xfrm>
          <a:prstGeom prst="rect">
            <a:avLst/>
          </a:prstGeom>
          <a:solidFill>
            <a:srgbClr val="CFE1F2"/>
          </a:solidFill>
          <a:ln w="76199">
            <a:solidFill>
              <a:srgbClr val="073662"/>
            </a:solidFill>
          </a:ln>
        </p:spPr>
        <p:txBody>
          <a:bodyPr vert="horz" wrap="square" lIns="0" tIns="117687" rIns="0" bIns="0" rtlCol="0">
            <a:spAutoFit/>
          </a:bodyPr>
          <a:lstStyle/>
          <a:p>
            <a:pPr marL="113450" marR="315797">
              <a:lnSpc>
                <a:spcPts val="2200"/>
              </a:lnSpc>
              <a:spcBef>
                <a:spcPts val="927"/>
              </a:spcBef>
            </a:pPr>
            <a:r>
              <a:rPr sz="1867" b="1" spc="-7" dirty="0">
                <a:latin typeface="Arial"/>
                <a:cs typeface="Arial"/>
              </a:rPr>
              <a:t>Note: </a:t>
            </a:r>
            <a:r>
              <a:rPr sz="1867" dirty="0">
                <a:latin typeface="Arial"/>
                <a:cs typeface="Arial"/>
              </a:rPr>
              <a:t>can </a:t>
            </a:r>
            <a:r>
              <a:rPr sz="1867" spc="-7" dirty="0">
                <a:latin typeface="Arial"/>
                <a:cs typeface="Arial"/>
              </a:rPr>
              <a:t>also </a:t>
            </a:r>
            <a:r>
              <a:rPr sz="1867" dirty="0">
                <a:latin typeface="Arial"/>
                <a:cs typeface="Arial"/>
              </a:rPr>
              <a:t>run code </a:t>
            </a:r>
            <a:r>
              <a:rPr sz="1867" spc="-7" dirty="0">
                <a:latin typeface="Arial"/>
                <a:cs typeface="Arial"/>
              </a:rPr>
              <a:t>by </a:t>
            </a:r>
            <a:r>
              <a:rPr sz="1867" dirty="0">
                <a:latin typeface="Arial"/>
                <a:cs typeface="Arial"/>
              </a:rPr>
              <a:t>clicking </a:t>
            </a:r>
            <a:r>
              <a:rPr sz="1867" spc="-7" dirty="0">
                <a:latin typeface="Arial"/>
                <a:cs typeface="Arial"/>
              </a:rPr>
              <a:t>the </a:t>
            </a:r>
            <a:r>
              <a:rPr sz="1867" dirty="0">
                <a:latin typeface="Arial"/>
                <a:cs typeface="Arial"/>
              </a:rPr>
              <a:t>“run cell”  </a:t>
            </a:r>
            <a:r>
              <a:rPr sz="1867" spc="-7" dirty="0">
                <a:latin typeface="Arial"/>
                <a:cs typeface="Arial"/>
              </a:rPr>
              <a:t>button, but the </a:t>
            </a:r>
            <a:r>
              <a:rPr sz="1867" dirty="0">
                <a:latin typeface="Arial"/>
                <a:cs typeface="Arial"/>
              </a:rPr>
              <a:t>shift+enter shortcut </a:t>
            </a:r>
            <a:r>
              <a:rPr sz="1867" spc="-7" dirty="0">
                <a:latin typeface="Arial"/>
                <a:cs typeface="Arial"/>
              </a:rPr>
              <a:t>is </a:t>
            </a:r>
            <a:r>
              <a:rPr sz="1867" dirty="0">
                <a:latin typeface="Arial"/>
                <a:cs typeface="Arial"/>
              </a:rPr>
              <a:t>a </a:t>
            </a:r>
            <a:r>
              <a:rPr sz="1867" spc="-7" dirty="0">
                <a:latin typeface="Arial"/>
                <a:cs typeface="Arial"/>
              </a:rPr>
              <a:t>lot</a:t>
            </a:r>
            <a:r>
              <a:rPr sz="1867" spc="-127" dirty="0">
                <a:latin typeface="Arial"/>
                <a:cs typeface="Arial"/>
              </a:rPr>
              <a:t> </a:t>
            </a:r>
            <a:r>
              <a:rPr sz="1867" spc="-7" dirty="0">
                <a:latin typeface="Arial"/>
                <a:cs typeface="Arial"/>
              </a:rPr>
              <a:t>easier.</a:t>
            </a:r>
            <a:endParaRPr sz="1867">
              <a:latin typeface="Arial"/>
              <a:cs typeface="Arial"/>
            </a:endParaRPr>
          </a:p>
        </p:txBody>
      </p:sp>
      <p:grpSp>
        <p:nvGrpSpPr>
          <p:cNvPr id="12" name="object 12"/>
          <p:cNvGrpSpPr/>
          <p:nvPr/>
        </p:nvGrpSpPr>
        <p:grpSpPr>
          <a:xfrm>
            <a:off x="2819877" y="4761923"/>
            <a:ext cx="6607387" cy="998220"/>
            <a:chOff x="2114908" y="3571442"/>
            <a:chExt cx="4955540" cy="748665"/>
          </a:xfrm>
        </p:grpSpPr>
        <p:sp>
          <p:nvSpPr>
            <p:cNvPr id="13" name="object 13"/>
            <p:cNvSpPr/>
            <p:nvPr/>
          </p:nvSpPr>
          <p:spPr>
            <a:xfrm>
              <a:off x="2305270" y="3652842"/>
              <a:ext cx="4745990" cy="647700"/>
            </a:xfrm>
            <a:custGeom>
              <a:avLst/>
              <a:gdLst/>
              <a:ahLst/>
              <a:cxnLst/>
              <a:rect l="l" t="t" r="r" b="b"/>
              <a:pathLst>
                <a:path w="4745990" h="647700">
                  <a:moveTo>
                    <a:pt x="4745690" y="647698"/>
                  </a:moveTo>
                  <a:lnTo>
                    <a:pt x="0" y="0"/>
                  </a:lnTo>
                </a:path>
              </a:pathLst>
            </a:custGeom>
            <a:ln w="38099">
              <a:solidFill>
                <a:srgbClr val="073662"/>
              </a:solidFill>
            </a:ln>
          </p:spPr>
          <p:txBody>
            <a:bodyPr wrap="square" lIns="0" tIns="0" rIns="0" bIns="0" rtlCol="0"/>
            <a:lstStyle/>
            <a:p>
              <a:endParaRPr sz="2400"/>
            </a:p>
          </p:txBody>
        </p:sp>
        <p:sp>
          <p:nvSpPr>
            <p:cNvPr id="14" name="object 14"/>
            <p:cNvSpPr/>
            <p:nvPr/>
          </p:nvSpPr>
          <p:spPr>
            <a:xfrm>
              <a:off x="2114908" y="3571442"/>
              <a:ext cx="217922" cy="162824"/>
            </a:xfrm>
            <a:prstGeom prst="rect">
              <a:avLst/>
            </a:prstGeom>
            <a:blipFill>
              <a:blip r:embed="rId5" cstate="print"/>
              <a:stretch>
                <a:fillRect/>
              </a:stretch>
            </a:blipFill>
          </p:spPr>
          <p:txBody>
            <a:bodyPr wrap="square" lIns="0" tIns="0" rIns="0" bIns="0" rtlCol="0"/>
            <a:lstStyle/>
            <a:p>
              <a:endParaRPr sz="240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106" y="358188"/>
            <a:ext cx="6464777" cy="694207"/>
          </a:xfrm>
          <a:prstGeom prst="rect">
            <a:avLst/>
          </a:prstGeom>
        </p:spPr>
        <p:txBody>
          <a:bodyPr vert="horz" wrap="square" lIns="0" tIns="16933" rIns="0" bIns="0" rtlCol="0" anchor="ctr">
            <a:spAutoFit/>
          </a:bodyPr>
          <a:lstStyle/>
          <a:p>
            <a:pPr marL="16933">
              <a:lnSpc>
                <a:spcPct val="100000"/>
              </a:lnSpc>
              <a:spcBef>
                <a:spcPts val="133"/>
              </a:spcBef>
            </a:pPr>
            <a:r>
              <a:rPr spc="-7" dirty="0"/>
              <a:t>Our first function:</a:t>
            </a:r>
            <a:r>
              <a:rPr spc="-27" dirty="0"/>
              <a:t> </a:t>
            </a:r>
            <a:r>
              <a:rPr spc="-7" dirty="0">
                <a:latin typeface="Courier New"/>
                <a:cs typeface="Courier New"/>
              </a:rPr>
              <a:t>print</a:t>
            </a:r>
          </a:p>
        </p:txBody>
      </p:sp>
      <p:sp>
        <p:nvSpPr>
          <p:cNvPr id="3" name="object 3"/>
          <p:cNvSpPr/>
          <p:nvPr/>
        </p:nvSpPr>
        <p:spPr>
          <a:xfrm>
            <a:off x="990636" y="1458567"/>
            <a:ext cx="7377881" cy="2141959"/>
          </a:xfrm>
          <a:prstGeom prst="rect">
            <a:avLst/>
          </a:prstGeom>
          <a:blipFill>
            <a:blip r:embed="rId2" cstate="print"/>
            <a:stretch>
              <a:fillRect/>
            </a:stretch>
          </a:blipFill>
        </p:spPr>
        <p:txBody>
          <a:bodyPr wrap="square" lIns="0" tIns="0" rIns="0" bIns="0" rtlCol="0"/>
          <a:lstStyle/>
          <a:p>
            <a:endParaRPr sz="2400"/>
          </a:p>
        </p:txBody>
      </p:sp>
      <p:sp>
        <p:nvSpPr>
          <p:cNvPr id="4" name="object 4"/>
          <p:cNvSpPr txBox="1"/>
          <p:nvPr/>
        </p:nvSpPr>
        <p:spPr>
          <a:xfrm>
            <a:off x="618799" y="3709992"/>
            <a:ext cx="4958080" cy="1247350"/>
          </a:xfrm>
          <a:prstGeom prst="rect">
            <a:avLst/>
          </a:prstGeom>
          <a:solidFill>
            <a:srgbClr val="CFE1F2"/>
          </a:solidFill>
          <a:ln w="76199">
            <a:solidFill>
              <a:srgbClr val="073662"/>
            </a:solidFill>
          </a:ln>
        </p:spPr>
        <p:txBody>
          <a:bodyPr vert="horz" wrap="square" lIns="0" tIns="117687" rIns="0" bIns="0" rtlCol="0">
            <a:spAutoFit/>
          </a:bodyPr>
          <a:lstStyle/>
          <a:p>
            <a:pPr marL="113450" marR="172714">
              <a:lnSpc>
                <a:spcPts val="2200"/>
              </a:lnSpc>
              <a:spcBef>
                <a:spcPts val="927"/>
              </a:spcBef>
            </a:pPr>
            <a:r>
              <a:rPr sz="1867" spc="-7" dirty="0">
                <a:latin typeface="Arial"/>
                <a:cs typeface="Arial"/>
              </a:rPr>
              <a:t>If </a:t>
            </a:r>
            <a:r>
              <a:rPr sz="1867" dirty="0">
                <a:latin typeface="Arial"/>
                <a:cs typeface="Arial"/>
              </a:rPr>
              <a:t>you </a:t>
            </a:r>
            <a:r>
              <a:rPr sz="1867" spc="-7" dirty="0">
                <a:latin typeface="Arial"/>
                <a:cs typeface="Arial"/>
              </a:rPr>
              <a:t>haven’t already guessed, print takes </a:t>
            </a:r>
            <a:r>
              <a:rPr sz="1867" dirty="0">
                <a:latin typeface="Arial"/>
                <a:cs typeface="Arial"/>
              </a:rPr>
              <a:t>a  </a:t>
            </a:r>
            <a:r>
              <a:rPr sz="1867" spc="-7" dirty="0">
                <a:latin typeface="Arial"/>
                <a:cs typeface="Arial"/>
              </a:rPr>
              <a:t>Python </a:t>
            </a:r>
            <a:r>
              <a:rPr sz="1867" b="1" spc="-7" dirty="0">
                <a:latin typeface="Arial"/>
                <a:cs typeface="Arial"/>
              </a:rPr>
              <a:t>string </a:t>
            </a:r>
            <a:r>
              <a:rPr sz="1867" spc="-7" dirty="0">
                <a:latin typeface="Arial"/>
                <a:cs typeface="Arial"/>
              </a:rPr>
              <a:t>and prints it. Of </a:t>
            </a:r>
            <a:r>
              <a:rPr sz="1867" dirty="0">
                <a:latin typeface="Arial"/>
                <a:cs typeface="Arial"/>
              </a:rPr>
              <a:t>course, “print”  </a:t>
            </a:r>
            <a:r>
              <a:rPr sz="1867" spc="-7" dirty="0">
                <a:latin typeface="Arial"/>
                <a:cs typeface="Arial"/>
              </a:rPr>
              <a:t>here </a:t>
            </a:r>
            <a:r>
              <a:rPr sz="1867" dirty="0">
                <a:latin typeface="Arial"/>
                <a:cs typeface="Arial"/>
              </a:rPr>
              <a:t>means </a:t>
            </a:r>
            <a:r>
              <a:rPr sz="1867" spc="-7" dirty="0">
                <a:latin typeface="Arial"/>
                <a:cs typeface="Arial"/>
              </a:rPr>
              <a:t>to display </a:t>
            </a:r>
            <a:r>
              <a:rPr sz="1867" dirty="0">
                <a:latin typeface="Arial"/>
                <a:cs typeface="Arial"/>
              </a:rPr>
              <a:t>a string, </a:t>
            </a:r>
            <a:r>
              <a:rPr sz="1867" spc="-7" dirty="0">
                <a:latin typeface="Arial"/>
                <a:cs typeface="Arial"/>
              </a:rPr>
              <a:t>not literally  print it on </a:t>
            </a:r>
            <a:r>
              <a:rPr sz="1867" dirty="0">
                <a:latin typeface="Arial"/>
                <a:cs typeface="Arial"/>
              </a:rPr>
              <a:t>a</a:t>
            </a:r>
            <a:r>
              <a:rPr sz="1867" spc="-20" dirty="0">
                <a:latin typeface="Arial"/>
                <a:cs typeface="Arial"/>
              </a:rPr>
              <a:t> </a:t>
            </a:r>
            <a:r>
              <a:rPr sz="1867" spc="-7" dirty="0">
                <a:latin typeface="Arial"/>
                <a:cs typeface="Arial"/>
              </a:rPr>
              <a:t>printer!</a:t>
            </a:r>
            <a:endParaRPr sz="1867">
              <a:latin typeface="Arial"/>
              <a:cs typeface="Arial"/>
            </a:endParaRPr>
          </a:p>
        </p:txBody>
      </p:sp>
      <p:sp>
        <p:nvSpPr>
          <p:cNvPr id="5" name="object 5"/>
          <p:cNvSpPr txBox="1"/>
          <p:nvPr/>
        </p:nvSpPr>
        <p:spPr>
          <a:xfrm>
            <a:off x="618799" y="5335921"/>
            <a:ext cx="4958080" cy="1247350"/>
          </a:xfrm>
          <a:prstGeom prst="rect">
            <a:avLst/>
          </a:prstGeom>
          <a:solidFill>
            <a:srgbClr val="D8E9D3"/>
          </a:solidFill>
          <a:ln w="76199">
            <a:solidFill>
              <a:srgbClr val="38751C"/>
            </a:solidFill>
          </a:ln>
        </p:spPr>
        <p:txBody>
          <a:bodyPr vert="horz" wrap="square" lIns="0" tIns="117687" rIns="0" bIns="0" rtlCol="0">
            <a:spAutoFit/>
          </a:bodyPr>
          <a:lstStyle/>
          <a:p>
            <a:pPr marL="113450" marR="149010">
              <a:lnSpc>
                <a:spcPts val="2200"/>
              </a:lnSpc>
              <a:spcBef>
                <a:spcPts val="927"/>
              </a:spcBef>
            </a:pPr>
            <a:r>
              <a:rPr sz="1867" b="1" spc="-7" dirty="0">
                <a:latin typeface="Arial"/>
                <a:cs typeface="Arial"/>
              </a:rPr>
              <a:t>Note: </a:t>
            </a:r>
            <a:r>
              <a:rPr sz="1867" spc="-7" dirty="0">
                <a:latin typeface="Arial"/>
                <a:cs typeface="Arial"/>
              </a:rPr>
              <a:t>if </a:t>
            </a:r>
            <a:r>
              <a:rPr sz="1867" dirty="0">
                <a:latin typeface="Arial"/>
                <a:cs typeface="Arial"/>
              </a:rPr>
              <a:t>you know </a:t>
            </a:r>
            <a:r>
              <a:rPr sz="1867" spc="-7" dirty="0">
                <a:latin typeface="Arial"/>
                <a:cs typeface="Arial"/>
              </a:rPr>
              <a:t>Python 2, </a:t>
            </a:r>
            <a:r>
              <a:rPr sz="1867" dirty="0">
                <a:latin typeface="Arial"/>
                <a:cs typeface="Arial"/>
              </a:rPr>
              <a:t>you’ll </a:t>
            </a:r>
            <a:r>
              <a:rPr sz="1867" spc="-7" dirty="0">
                <a:latin typeface="Arial"/>
                <a:cs typeface="Arial"/>
              </a:rPr>
              <a:t>notice that  print is </a:t>
            </a:r>
            <a:r>
              <a:rPr sz="1867" dirty="0">
                <a:latin typeface="Arial"/>
                <a:cs typeface="Arial"/>
              </a:rPr>
              <a:t>a </a:t>
            </a:r>
            <a:r>
              <a:rPr sz="1867" spc="-7" dirty="0">
                <a:latin typeface="Arial"/>
                <a:cs typeface="Arial"/>
              </a:rPr>
              <a:t>bit different in Python 3. That is  because in Python 2, print was </a:t>
            </a:r>
            <a:r>
              <a:rPr sz="1867" dirty="0">
                <a:latin typeface="Arial"/>
                <a:cs typeface="Arial"/>
              </a:rPr>
              <a:t>a </a:t>
            </a:r>
            <a:r>
              <a:rPr sz="1867" b="1" spc="-7" dirty="0">
                <a:latin typeface="Arial"/>
                <a:cs typeface="Arial"/>
              </a:rPr>
              <a:t>statement</a:t>
            </a:r>
            <a:r>
              <a:rPr sz="1867" spc="-7" dirty="0">
                <a:latin typeface="Arial"/>
                <a:cs typeface="Arial"/>
              </a:rPr>
              <a:t>,  whereas in Python 3, print is </a:t>
            </a:r>
            <a:r>
              <a:rPr sz="1867" dirty="0">
                <a:latin typeface="Arial"/>
                <a:cs typeface="Arial"/>
              </a:rPr>
              <a:t>a</a:t>
            </a:r>
            <a:r>
              <a:rPr sz="1867" spc="7" dirty="0">
                <a:latin typeface="Arial"/>
                <a:cs typeface="Arial"/>
              </a:rPr>
              <a:t> </a:t>
            </a:r>
            <a:r>
              <a:rPr sz="1867" b="1" spc="-7" dirty="0">
                <a:latin typeface="Arial"/>
                <a:cs typeface="Arial"/>
              </a:rPr>
              <a:t>function</a:t>
            </a:r>
            <a:r>
              <a:rPr sz="1867" spc="-7" dirty="0">
                <a:latin typeface="Arial"/>
                <a:cs typeface="Arial"/>
              </a:rPr>
              <a:t>.</a:t>
            </a:r>
            <a:endParaRPr sz="1867">
              <a:latin typeface="Arial"/>
              <a:cs typeface="Arial"/>
            </a:endParaRPr>
          </a:p>
        </p:txBody>
      </p:sp>
      <p:sp>
        <p:nvSpPr>
          <p:cNvPr id="6" name="object 6"/>
          <p:cNvSpPr txBox="1"/>
          <p:nvPr/>
        </p:nvSpPr>
        <p:spPr>
          <a:xfrm>
            <a:off x="7835883" y="2686062"/>
            <a:ext cx="3399367" cy="683093"/>
          </a:xfrm>
          <a:prstGeom prst="rect">
            <a:avLst/>
          </a:prstGeom>
          <a:solidFill>
            <a:srgbClr val="CFE1F2"/>
          </a:solidFill>
          <a:ln w="76199">
            <a:solidFill>
              <a:srgbClr val="073662"/>
            </a:solidFill>
          </a:ln>
        </p:spPr>
        <p:txBody>
          <a:bodyPr vert="horz" wrap="square" lIns="0" tIns="117687" rIns="0" bIns="0" rtlCol="0">
            <a:spAutoFit/>
          </a:bodyPr>
          <a:lstStyle/>
          <a:p>
            <a:pPr marL="113450" marR="443642">
              <a:lnSpc>
                <a:spcPts val="2200"/>
              </a:lnSpc>
              <a:spcBef>
                <a:spcPts val="927"/>
              </a:spcBef>
            </a:pPr>
            <a:r>
              <a:rPr sz="1867" spc="-7" dirty="0">
                <a:latin typeface="Arial"/>
                <a:cs typeface="Arial"/>
              </a:rPr>
              <a:t>Print displays whatever is  inside the quotation</a:t>
            </a:r>
            <a:r>
              <a:rPr sz="1867" spc="-113" dirty="0">
                <a:latin typeface="Arial"/>
                <a:cs typeface="Arial"/>
              </a:rPr>
              <a:t> </a:t>
            </a:r>
            <a:r>
              <a:rPr sz="1867" dirty="0">
                <a:latin typeface="Arial"/>
                <a:cs typeface="Arial"/>
              </a:rPr>
              <a:t>marks.</a:t>
            </a:r>
            <a:endParaRPr sz="1867">
              <a:latin typeface="Arial"/>
              <a:cs typeface="Arial"/>
            </a:endParaRPr>
          </a:p>
        </p:txBody>
      </p:sp>
      <p:grpSp>
        <p:nvGrpSpPr>
          <p:cNvPr id="7" name="object 7"/>
          <p:cNvGrpSpPr/>
          <p:nvPr/>
        </p:nvGrpSpPr>
        <p:grpSpPr>
          <a:xfrm>
            <a:off x="4575124" y="2120742"/>
            <a:ext cx="3286760" cy="991447"/>
            <a:chOff x="3431343" y="1590556"/>
            <a:chExt cx="2465070" cy="743585"/>
          </a:xfrm>
        </p:grpSpPr>
        <p:sp>
          <p:nvSpPr>
            <p:cNvPr id="8" name="object 8"/>
            <p:cNvSpPr/>
            <p:nvPr/>
          </p:nvSpPr>
          <p:spPr>
            <a:xfrm>
              <a:off x="3616667" y="1670124"/>
              <a:ext cx="2260600" cy="644525"/>
            </a:xfrm>
            <a:custGeom>
              <a:avLst/>
              <a:gdLst/>
              <a:ahLst/>
              <a:cxnLst/>
              <a:rect l="l" t="t" r="r" b="b"/>
              <a:pathLst>
                <a:path w="2260600" h="644525">
                  <a:moveTo>
                    <a:pt x="2260245" y="644421"/>
                  </a:moveTo>
                  <a:lnTo>
                    <a:pt x="0" y="0"/>
                  </a:lnTo>
                </a:path>
              </a:pathLst>
            </a:custGeom>
            <a:ln w="38099">
              <a:solidFill>
                <a:srgbClr val="073662"/>
              </a:solidFill>
            </a:ln>
          </p:spPr>
          <p:txBody>
            <a:bodyPr wrap="square" lIns="0" tIns="0" rIns="0" bIns="0" rtlCol="0"/>
            <a:lstStyle/>
            <a:p>
              <a:endParaRPr sz="2400"/>
            </a:p>
          </p:txBody>
        </p:sp>
        <p:sp>
          <p:nvSpPr>
            <p:cNvPr id="9" name="object 9"/>
            <p:cNvSpPr/>
            <p:nvPr/>
          </p:nvSpPr>
          <p:spPr>
            <a:xfrm>
              <a:off x="3431343" y="1590556"/>
              <a:ext cx="221624" cy="159137"/>
            </a:xfrm>
            <a:prstGeom prst="rect">
              <a:avLst/>
            </a:prstGeom>
            <a:blipFill>
              <a:blip r:embed="rId3" cstate="print"/>
              <a:stretch>
                <a:fillRect/>
              </a:stretch>
            </a:blipFill>
          </p:spPr>
          <p:txBody>
            <a:bodyPr wrap="square" lIns="0" tIns="0" rIns="0" bIns="0" rtlCol="0"/>
            <a:lstStyle/>
            <a:p>
              <a:endParaRPr sz="2400"/>
            </a:p>
          </p:txBody>
        </p:sp>
      </p:grpSp>
      <p:sp>
        <p:nvSpPr>
          <p:cNvPr id="10" name="object 10"/>
          <p:cNvSpPr/>
          <p:nvPr/>
        </p:nvSpPr>
        <p:spPr>
          <a:xfrm>
            <a:off x="8217984" y="4603658"/>
            <a:ext cx="3893025" cy="2016884"/>
          </a:xfrm>
          <a:prstGeom prst="rect">
            <a:avLst/>
          </a:prstGeom>
          <a:blipFill>
            <a:blip r:embed="rId4" cstate="print"/>
            <a:stretch>
              <a:fillRect/>
            </a:stretch>
          </a:blipFill>
        </p:spPr>
        <p:txBody>
          <a:bodyPr wrap="square" lIns="0" tIns="0" rIns="0" bIns="0" rtlCol="0"/>
          <a:lstStyle/>
          <a:p>
            <a:endParaRPr sz="2400"/>
          </a:p>
        </p:txBody>
      </p:sp>
      <p:sp>
        <p:nvSpPr>
          <p:cNvPr id="11" name="object 11"/>
          <p:cNvSpPr txBox="1"/>
          <p:nvPr/>
        </p:nvSpPr>
        <p:spPr>
          <a:xfrm>
            <a:off x="7835883" y="4108458"/>
            <a:ext cx="3399367" cy="392480"/>
          </a:xfrm>
          <a:prstGeom prst="rect">
            <a:avLst/>
          </a:prstGeom>
          <a:solidFill>
            <a:srgbClr val="CFE1F2"/>
          </a:solidFill>
          <a:ln w="76199">
            <a:solidFill>
              <a:srgbClr val="073662"/>
            </a:solidFill>
          </a:ln>
        </p:spPr>
        <p:txBody>
          <a:bodyPr vert="horz" wrap="square" lIns="0" tIns="104140" rIns="0" bIns="0" rtlCol="0">
            <a:spAutoFit/>
          </a:bodyPr>
          <a:lstStyle/>
          <a:p>
            <a:pPr marL="113450">
              <a:spcBef>
                <a:spcPts val="820"/>
              </a:spcBef>
            </a:pPr>
            <a:r>
              <a:rPr sz="1867" spc="-7" dirty="0">
                <a:latin typeface="Arial"/>
                <a:cs typeface="Arial"/>
              </a:rPr>
              <a:t>Can also use double</a:t>
            </a:r>
            <a:r>
              <a:rPr sz="1867" spc="-53" dirty="0">
                <a:latin typeface="Arial"/>
                <a:cs typeface="Arial"/>
              </a:rPr>
              <a:t> </a:t>
            </a:r>
            <a:r>
              <a:rPr sz="1867" spc="-7" dirty="0">
                <a:latin typeface="Arial"/>
                <a:cs typeface="Arial"/>
              </a:rPr>
              <a:t>quotes</a:t>
            </a:r>
            <a:endParaRPr sz="1867">
              <a:latin typeface="Arial"/>
              <a:cs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8272" y="518680"/>
            <a:ext cx="4237567" cy="591551"/>
          </a:xfrm>
          <a:prstGeom prst="rect">
            <a:avLst/>
          </a:prstGeom>
        </p:spPr>
        <p:txBody>
          <a:bodyPr vert="horz" wrap="square" lIns="0" tIns="16933" rIns="0" bIns="0" rtlCol="0" anchor="ctr">
            <a:spAutoFit/>
          </a:bodyPr>
          <a:lstStyle/>
          <a:p>
            <a:pPr marL="16933">
              <a:lnSpc>
                <a:spcPct val="100000"/>
              </a:lnSpc>
              <a:spcBef>
                <a:spcPts val="133"/>
              </a:spcBef>
            </a:pPr>
            <a:r>
              <a:rPr spc="-13" dirty="0"/>
              <a:t>Arithmetic </a:t>
            </a:r>
            <a:r>
              <a:rPr spc="-7" dirty="0"/>
              <a:t>in</a:t>
            </a:r>
            <a:r>
              <a:rPr spc="-113" dirty="0"/>
              <a:t> </a:t>
            </a:r>
            <a:r>
              <a:rPr spc="-7" dirty="0"/>
              <a:t>Python</a:t>
            </a:r>
          </a:p>
        </p:txBody>
      </p:sp>
      <p:sp>
        <p:nvSpPr>
          <p:cNvPr id="3" name="object 3"/>
          <p:cNvSpPr txBox="1"/>
          <p:nvPr/>
        </p:nvSpPr>
        <p:spPr>
          <a:xfrm>
            <a:off x="2655357" y="1560163"/>
            <a:ext cx="2727960" cy="393335"/>
          </a:xfrm>
          <a:prstGeom prst="rect">
            <a:avLst/>
          </a:prstGeom>
          <a:solidFill>
            <a:srgbClr val="CFE1F2"/>
          </a:solidFill>
          <a:ln w="76199">
            <a:solidFill>
              <a:srgbClr val="073662"/>
            </a:solidFill>
          </a:ln>
        </p:spPr>
        <p:txBody>
          <a:bodyPr vert="horz" wrap="square" lIns="0" tIns="104987" rIns="0" bIns="0" rtlCol="0">
            <a:spAutoFit/>
          </a:bodyPr>
          <a:lstStyle/>
          <a:p>
            <a:pPr marL="114297">
              <a:spcBef>
                <a:spcPts val="827"/>
              </a:spcBef>
            </a:pPr>
            <a:r>
              <a:rPr sz="1867" spc="-7" dirty="0">
                <a:latin typeface="Arial"/>
                <a:cs typeface="Arial"/>
              </a:rPr>
              <a:t>Use </a:t>
            </a:r>
            <a:r>
              <a:rPr sz="1867" dirty="0">
                <a:latin typeface="Courier New"/>
                <a:cs typeface="Courier New"/>
              </a:rPr>
              <a:t>+</a:t>
            </a:r>
            <a:r>
              <a:rPr sz="1867" spc="-653" dirty="0">
                <a:latin typeface="Courier New"/>
                <a:cs typeface="Courier New"/>
              </a:rPr>
              <a:t> </a:t>
            </a:r>
            <a:r>
              <a:rPr sz="1867" spc="-7" dirty="0">
                <a:latin typeface="Arial"/>
                <a:cs typeface="Arial"/>
              </a:rPr>
              <a:t>to add numbers.</a:t>
            </a:r>
            <a:endParaRPr sz="1867">
              <a:latin typeface="Arial"/>
              <a:cs typeface="Arial"/>
            </a:endParaRPr>
          </a:p>
        </p:txBody>
      </p:sp>
      <p:grpSp>
        <p:nvGrpSpPr>
          <p:cNvPr id="4" name="object 4"/>
          <p:cNvGrpSpPr/>
          <p:nvPr/>
        </p:nvGrpSpPr>
        <p:grpSpPr>
          <a:xfrm>
            <a:off x="1654223" y="1724657"/>
            <a:ext cx="1027007" cy="219287"/>
            <a:chOff x="1240667" y="1293492"/>
            <a:chExt cx="770255" cy="164465"/>
          </a:xfrm>
        </p:grpSpPr>
        <p:sp>
          <p:nvSpPr>
            <p:cNvPr id="5" name="object 5"/>
            <p:cNvSpPr/>
            <p:nvPr/>
          </p:nvSpPr>
          <p:spPr>
            <a:xfrm>
              <a:off x="1432617" y="1375472"/>
              <a:ext cx="559435" cy="0"/>
            </a:xfrm>
            <a:custGeom>
              <a:avLst/>
              <a:gdLst/>
              <a:ahLst/>
              <a:cxnLst/>
              <a:rect l="l" t="t" r="r" b="b"/>
              <a:pathLst>
                <a:path w="559435">
                  <a:moveTo>
                    <a:pt x="558901" y="0"/>
                  </a:moveTo>
                  <a:lnTo>
                    <a:pt x="0" y="0"/>
                  </a:lnTo>
                </a:path>
              </a:pathLst>
            </a:custGeom>
            <a:ln w="38099">
              <a:solidFill>
                <a:srgbClr val="073662"/>
              </a:solidFill>
            </a:ln>
          </p:spPr>
          <p:txBody>
            <a:bodyPr wrap="square" lIns="0" tIns="0" rIns="0" bIns="0" rtlCol="0"/>
            <a:lstStyle/>
            <a:p>
              <a:endParaRPr sz="2400"/>
            </a:p>
          </p:txBody>
        </p:sp>
        <p:sp>
          <p:nvSpPr>
            <p:cNvPr id="6" name="object 6"/>
            <p:cNvSpPr/>
            <p:nvPr/>
          </p:nvSpPr>
          <p:spPr>
            <a:xfrm>
              <a:off x="1240667" y="1293492"/>
              <a:ext cx="210999" cy="163959"/>
            </a:xfrm>
            <a:prstGeom prst="rect">
              <a:avLst/>
            </a:prstGeom>
            <a:blipFill>
              <a:blip r:embed="rId2" cstate="print"/>
              <a:stretch>
                <a:fillRect/>
              </a:stretch>
            </a:blipFill>
          </p:spPr>
          <p:txBody>
            <a:bodyPr wrap="square" lIns="0" tIns="0" rIns="0" bIns="0" rtlCol="0"/>
            <a:lstStyle/>
            <a:p>
              <a:endParaRPr sz="2400"/>
            </a:p>
          </p:txBody>
        </p:sp>
      </p:grpSp>
      <p:sp>
        <p:nvSpPr>
          <p:cNvPr id="7" name="object 7"/>
          <p:cNvSpPr txBox="1"/>
          <p:nvPr/>
        </p:nvSpPr>
        <p:spPr>
          <a:xfrm>
            <a:off x="2655362" y="2962314"/>
            <a:ext cx="2323252" cy="393335"/>
          </a:xfrm>
          <a:prstGeom prst="rect">
            <a:avLst/>
          </a:prstGeom>
          <a:solidFill>
            <a:srgbClr val="CFE1F2"/>
          </a:solidFill>
          <a:ln w="76199">
            <a:solidFill>
              <a:srgbClr val="073662"/>
            </a:solidFill>
          </a:ln>
        </p:spPr>
        <p:txBody>
          <a:bodyPr vert="horz" wrap="square" lIns="0" tIns="104987" rIns="0" bIns="0" rtlCol="0">
            <a:spAutoFit/>
          </a:bodyPr>
          <a:lstStyle/>
          <a:p>
            <a:pPr marL="113450">
              <a:spcBef>
                <a:spcPts val="827"/>
              </a:spcBef>
            </a:pPr>
            <a:r>
              <a:rPr sz="1867" spc="-7" dirty="0">
                <a:latin typeface="Arial"/>
                <a:cs typeface="Arial"/>
              </a:rPr>
              <a:t>Use </a:t>
            </a:r>
            <a:r>
              <a:rPr sz="1867" dirty="0">
                <a:latin typeface="Courier New"/>
                <a:cs typeface="Courier New"/>
              </a:rPr>
              <a:t>*</a:t>
            </a:r>
            <a:r>
              <a:rPr sz="1867" spc="-633" dirty="0">
                <a:latin typeface="Courier New"/>
                <a:cs typeface="Courier New"/>
              </a:rPr>
              <a:t> </a:t>
            </a:r>
            <a:r>
              <a:rPr sz="1867" spc="-7" dirty="0">
                <a:latin typeface="Arial"/>
                <a:cs typeface="Arial"/>
              </a:rPr>
              <a:t>to </a:t>
            </a:r>
            <a:r>
              <a:rPr sz="1867" dirty="0">
                <a:latin typeface="Arial"/>
                <a:cs typeface="Arial"/>
              </a:rPr>
              <a:t>multiply.</a:t>
            </a:r>
            <a:endParaRPr sz="1867">
              <a:latin typeface="Arial"/>
              <a:cs typeface="Arial"/>
            </a:endParaRPr>
          </a:p>
        </p:txBody>
      </p:sp>
      <p:grpSp>
        <p:nvGrpSpPr>
          <p:cNvPr id="8" name="object 8"/>
          <p:cNvGrpSpPr/>
          <p:nvPr/>
        </p:nvGrpSpPr>
        <p:grpSpPr>
          <a:xfrm>
            <a:off x="1857426" y="3126807"/>
            <a:ext cx="823807" cy="219287"/>
            <a:chOff x="1393069" y="2345105"/>
            <a:chExt cx="617855" cy="164465"/>
          </a:xfrm>
        </p:grpSpPr>
        <p:sp>
          <p:nvSpPr>
            <p:cNvPr id="9" name="object 9"/>
            <p:cNvSpPr/>
            <p:nvPr/>
          </p:nvSpPr>
          <p:spPr>
            <a:xfrm>
              <a:off x="1585021" y="2427085"/>
              <a:ext cx="407034" cy="0"/>
            </a:xfrm>
            <a:custGeom>
              <a:avLst/>
              <a:gdLst/>
              <a:ahLst/>
              <a:cxnLst/>
              <a:rect l="l" t="t" r="r" b="b"/>
              <a:pathLst>
                <a:path w="407035">
                  <a:moveTo>
                    <a:pt x="406499" y="0"/>
                  </a:moveTo>
                  <a:lnTo>
                    <a:pt x="0" y="0"/>
                  </a:lnTo>
                </a:path>
              </a:pathLst>
            </a:custGeom>
            <a:ln w="38099">
              <a:solidFill>
                <a:srgbClr val="073662"/>
              </a:solidFill>
            </a:ln>
          </p:spPr>
          <p:txBody>
            <a:bodyPr wrap="square" lIns="0" tIns="0" rIns="0" bIns="0" rtlCol="0"/>
            <a:lstStyle/>
            <a:p>
              <a:endParaRPr sz="2400"/>
            </a:p>
          </p:txBody>
        </p:sp>
        <p:sp>
          <p:nvSpPr>
            <p:cNvPr id="10" name="object 10"/>
            <p:cNvSpPr/>
            <p:nvPr/>
          </p:nvSpPr>
          <p:spPr>
            <a:xfrm>
              <a:off x="1393069" y="2345105"/>
              <a:ext cx="211002" cy="163959"/>
            </a:xfrm>
            <a:prstGeom prst="rect">
              <a:avLst/>
            </a:prstGeom>
            <a:blipFill>
              <a:blip r:embed="rId3" cstate="print"/>
              <a:stretch>
                <a:fillRect/>
              </a:stretch>
            </a:blipFill>
          </p:spPr>
          <p:txBody>
            <a:bodyPr wrap="square" lIns="0" tIns="0" rIns="0" bIns="0" rtlCol="0"/>
            <a:lstStyle/>
            <a:p>
              <a:endParaRPr sz="2400"/>
            </a:p>
          </p:txBody>
        </p:sp>
      </p:grpSp>
      <p:sp>
        <p:nvSpPr>
          <p:cNvPr id="11" name="object 11"/>
          <p:cNvSpPr txBox="1"/>
          <p:nvPr/>
        </p:nvSpPr>
        <p:spPr>
          <a:xfrm>
            <a:off x="3024860" y="4106991"/>
            <a:ext cx="2727960" cy="966076"/>
          </a:xfrm>
          <a:prstGeom prst="rect">
            <a:avLst/>
          </a:prstGeom>
          <a:solidFill>
            <a:srgbClr val="CFE1F2"/>
          </a:solidFill>
          <a:ln w="76199">
            <a:solidFill>
              <a:srgbClr val="073662"/>
            </a:solidFill>
          </a:ln>
        </p:spPr>
        <p:txBody>
          <a:bodyPr vert="horz" wrap="square" lIns="0" tIns="118533" rIns="0" bIns="0" rtlCol="0">
            <a:spAutoFit/>
          </a:bodyPr>
          <a:lstStyle/>
          <a:p>
            <a:pPr marL="113450" marR="259074" algn="just">
              <a:lnSpc>
                <a:spcPts val="2200"/>
              </a:lnSpc>
              <a:spcBef>
                <a:spcPts val="933"/>
              </a:spcBef>
            </a:pPr>
            <a:r>
              <a:rPr sz="1867" spc="-7" dirty="0">
                <a:latin typeface="Arial"/>
                <a:cs typeface="Arial"/>
              </a:rPr>
              <a:t>Order of operations is  just like </a:t>
            </a:r>
            <a:r>
              <a:rPr sz="1867" dirty="0">
                <a:latin typeface="Arial"/>
                <a:cs typeface="Arial"/>
              </a:rPr>
              <a:t>you </a:t>
            </a:r>
            <a:r>
              <a:rPr sz="1867" spc="-7" dirty="0">
                <a:latin typeface="Arial"/>
                <a:cs typeface="Arial"/>
              </a:rPr>
              <a:t>learned</a:t>
            </a:r>
            <a:r>
              <a:rPr sz="1867" spc="-120" dirty="0">
                <a:latin typeface="Arial"/>
                <a:cs typeface="Arial"/>
              </a:rPr>
              <a:t> </a:t>
            </a:r>
            <a:r>
              <a:rPr sz="1867" spc="-7" dirty="0">
                <a:latin typeface="Arial"/>
                <a:cs typeface="Arial"/>
              </a:rPr>
              <a:t>in  elementary</a:t>
            </a:r>
            <a:r>
              <a:rPr sz="1867" spc="-27" dirty="0">
                <a:latin typeface="Arial"/>
                <a:cs typeface="Arial"/>
              </a:rPr>
              <a:t> </a:t>
            </a:r>
            <a:r>
              <a:rPr sz="1867" dirty="0">
                <a:latin typeface="Arial"/>
                <a:cs typeface="Arial"/>
              </a:rPr>
              <a:t>school.</a:t>
            </a:r>
            <a:endParaRPr sz="1867">
              <a:latin typeface="Arial"/>
              <a:cs typeface="Arial"/>
            </a:endParaRPr>
          </a:p>
        </p:txBody>
      </p:sp>
      <p:grpSp>
        <p:nvGrpSpPr>
          <p:cNvPr id="12" name="object 12"/>
          <p:cNvGrpSpPr/>
          <p:nvPr/>
        </p:nvGrpSpPr>
        <p:grpSpPr>
          <a:xfrm>
            <a:off x="2295724" y="4520691"/>
            <a:ext cx="755227" cy="219287"/>
            <a:chOff x="1721793" y="3390518"/>
            <a:chExt cx="566420" cy="164465"/>
          </a:xfrm>
        </p:grpSpPr>
        <p:sp>
          <p:nvSpPr>
            <p:cNvPr id="13" name="object 13"/>
            <p:cNvSpPr/>
            <p:nvPr/>
          </p:nvSpPr>
          <p:spPr>
            <a:xfrm>
              <a:off x="1913743" y="3472493"/>
              <a:ext cx="354965" cy="0"/>
            </a:xfrm>
            <a:custGeom>
              <a:avLst/>
              <a:gdLst/>
              <a:ahLst/>
              <a:cxnLst/>
              <a:rect l="l" t="t" r="r" b="b"/>
              <a:pathLst>
                <a:path w="354964">
                  <a:moveTo>
                    <a:pt x="354901" y="0"/>
                  </a:moveTo>
                  <a:lnTo>
                    <a:pt x="0" y="0"/>
                  </a:lnTo>
                </a:path>
              </a:pathLst>
            </a:custGeom>
            <a:ln w="38099">
              <a:solidFill>
                <a:srgbClr val="073662"/>
              </a:solidFill>
            </a:ln>
          </p:spPr>
          <p:txBody>
            <a:bodyPr wrap="square" lIns="0" tIns="0" rIns="0" bIns="0" rtlCol="0"/>
            <a:lstStyle/>
            <a:p>
              <a:endParaRPr sz="2400"/>
            </a:p>
          </p:txBody>
        </p:sp>
        <p:sp>
          <p:nvSpPr>
            <p:cNvPr id="14" name="object 14"/>
            <p:cNvSpPr/>
            <p:nvPr/>
          </p:nvSpPr>
          <p:spPr>
            <a:xfrm>
              <a:off x="1721793" y="3390518"/>
              <a:ext cx="210999" cy="163974"/>
            </a:xfrm>
            <a:prstGeom prst="rect">
              <a:avLst/>
            </a:prstGeom>
            <a:blipFill>
              <a:blip r:embed="rId4" cstate="print"/>
              <a:stretch>
                <a:fillRect/>
              </a:stretch>
            </a:blipFill>
          </p:spPr>
          <p:txBody>
            <a:bodyPr wrap="square" lIns="0" tIns="0" rIns="0" bIns="0" rtlCol="0"/>
            <a:lstStyle/>
            <a:p>
              <a:endParaRPr sz="2400"/>
            </a:p>
          </p:txBody>
        </p:sp>
      </p:grpSp>
      <p:sp>
        <p:nvSpPr>
          <p:cNvPr id="15" name="object 15"/>
          <p:cNvSpPr txBox="1"/>
          <p:nvPr/>
        </p:nvSpPr>
        <p:spPr>
          <a:xfrm>
            <a:off x="5949953" y="2271362"/>
            <a:ext cx="1908387" cy="393335"/>
          </a:xfrm>
          <a:prstGeom prst="rect">
            <a:avLst/>
          </a:prstGeom>
          <a:solidFill>
            <a:srgbClr val="CFE1F2"/>
          </a:solidFill>
          <a:ln w="76199">
            <a:solidFill>
              <a:srgbClr val="073662"/>
            </a:solidFill>
          </a:ln>
        </p:spPr>
        <p:txBody>
          <a:bodyPr vert="horz" wrap="square" lIns="0" tIns="104987" rIns="0" bIns="0" rtlCol="0">
            <a:spAutoFit/>
          </a:bodyPr>
          <a:lstStyle/>
          <a:p>
            <a:pPr marL="113450">
              <a:spcBef>
                <a:spcPts val="827"/>
              </a:spcBef>
            </a:pPr>
            <a:r>
              <a:rPr sz="1867" dirty="0">
                <a:latin typeface="Courier New"/>
                <a:cs typeface="Courier New"/>
              </a:rPr>
              <a:t>/</a:t>
            </a:r>
            <a:r>
              <a:rPr sz="1867" spc="-620" dirty="0">
                <a:latin typeface="Courier New"/>
                <a:cs typeface="Courier New"/>
              </a:rPr>
              <a:t> </a:t>
            </a:r>
            <a:r>
              <a:rPr sz="1867" spc="-7" dirty="0">
                <a:latin typeface="Arial"/>
                <a:cs typeface="Arial"/>
              </a:rPr>
              <a:t>for division.</a:t>
            </a:r>
            <a:endParaRPr sz="1867">
              <a:latin typeface="Arial"/>
              <a:cs typeface="Arial"/>
            </a:endParaRPr>
          </a:p>
        </p:txBody>
      </p:sp>
      <p:sp>
        <p:nvSpPr>
          <p:cNvPr id="16" name="object 16"/>
          <p:cNvSpPr txBox="1"/>
          <p:nvPr/>
        </p:nvSpPr>
        <p:spPr>
          <a:xfrm>
            <a:off x="6080154" y="4144191"/>
            <a:ext cx="2600113" cy="683093"/>
          </a:xfrm>
          <a:prstGeom prst="rect">
            <a:avLst/>
          </a:prstGeom>
          <a:solidFill>
            <a:srgbClr val="CFE1F2"/>
          </a:solidFill>
          <a:ln w="76199">
            <a:solidFill>
              <a:srgbClr val="073662"/>
            </a:solidFill>
          </a:ln>
        </p:spPr>
        <p:txBody>
          <a:bodyPr vert="horz" wrap="square" lIns="0" tIns="117687" rIns="0" bIns="0" rtlCol="0">
            <a:spAutoFit/>
          </a:bodyPr>
          <a:lstStyle/>
          <a:p>
            <a:pPr marL="114297" marR="329345">
              <a:lnSpc>
                <a:spcPts val="2200"/>
              </a:lnSpc>
              <a:spcBef>
                <a:spcPts val="927"/>
              </a:spcBef>
            </a:pPr>
            <a:r>
              <a:rPr sz="1867" spc="-7" dirty="0">
                <a:latin typeface="Courier New"/>
                <a:cs typeface="Courier New"/>
              </a:rPr>
              <a:t>//</a:t>
            </a:r>
            <a:r>
              <a:rPr sz="1867" spc="-679" dirty="0">
                <a:latin typeface="Courier New"/>
                <a:cs typeface="Courier New"/>
              </a:rPr>
              <a:t> </a:t>
            </a:r>
            <a:r>
              <a:rPr sz="1867" spc="-7" dirty="0">
                <a:latin typeface="Arial"/>
                <a:cs typeface="Arial"/>
              </a:rPr>
              <a:t>performs division  but </a:t>
            </a:r>
            <a:r>
              <a:rPr sz="1867" dirty="0">
                <a:latin typeface="Arial"/>
                <a:cs typeface="Arial"/>
              </a:rPr>
              <a:t>rounds</a:t>
            </a:r>
            <a:r>
              <a:rPr sz="1867" spc="-47" dirty="0">
                <a:latin typeface="Arial"/>
                <a:cs typeface="Arial"/>
              </a:rPr>
              <a:t> </a:t>
            </a:r>
            <a:r>
              <a:rPr sz="1867" spc="-7" dirty="0">
                <a:latin typeface="Arial"/>
                <a:cs typeface="Arial"/>
              </a:rPr>
              <a:t>down.</a:t>
            </a:r>
            <a:endParaRPr sz="1867">
              <a:latin typeface="Arial"/>
              <a:cs typeface="Arial"/>
            </a:endParaRPr>
          </a:p>
        </p:txBody>
      </p:sp>
      <p:grpSp>
        <p:nvGrpSpPr>
          <p:cNvPr id="17" name="object 17"/>
          <p:cNvGrpSpPr/>
          <p:nvPr/>
        </p:nvGrpSpPr>
        <p:grpSpPr>
          <a:xfrm>
            <a:off x="8680149" y="4416691"/>
            <a:ext cx="681567" cy="219287"/>
            <a:chOff x="6510111" y="3312518"/>
            <a:chExt cx="511175" cy="164465"/>
          </a:xfrm>
        </p:grpSpPr>
        <p:sp>
          <p:nvSpPr>
            <p:cNvPr id="18" name="object 18"/>
            <p:cNvSpPr/>
            <p:nvPr/>
          </p:nvSpPr>
          <p:spPr>
            <a:xfrm>
              <a:off x="6510111" y="3394493"/>
              <a:ext cx="319405" cy="0"/>
            </a:xfrm>
            <a:custGeom>
              <a:avLst/>
              <a:gdLst/>
              <a:ahLst/>
              <a:cxnLst/>
              <a:rect l="l" t="t" r="r" b="b"/>
              <a:pathLst>
                <a:path w="319404">
                  <a:moveTo>
                    <a:pt x="0" y="0"/>
                  </a:moveTo>
                  <a:lnTo>
                    <a:pt x="318899" y="0"/>
                  </a:lnTo>
                </a:path>
              </a:pathLst>
            </a:custGeom>
            <a:ln w="38099">
              <a:solidFill>
                <a:srgbClr val="073662"/>
              </a:solidFill>
            </a:ln>
          </p:spPr>
          <p:txBody>
            <a:bodyPr wrap="square" lIns="0" tIns="0" rIns="0" bIns="0" rtlCol="0"/>
            <a:lstStyle/>
            <a:p>
              <a:endParaRPr sz="2400"/>
            </a:p>
          </p:txBody>
        </p:sp>
        <p:sp>
          <p:nvSpPr>
            <p:cNvPr id="19" name="object 19"/>
            <p:cNvSpPr/>
            <p:nvPr/>
          </p:nvSpPr>
          <p:spPr>
            <a:xfrm>
              <a:off x="6809961" y="3312518"/>
              <a:ext cx="211024" cy="163949"/>
            </a:xfrm>
            <a:prstGeom prst="rect">
              <a:avLst/>
            </a:prstGeom>
            <a:blipFill>
              <a:blip r:embed="rId5" cstate="print"/>
              <a:stretch>
                <a:fillRect/>
              </a:stretch>
            </a:blipFill>
          </p:spPr>
          <p:txBody>
            <a:bodyPr wrap="square" lIns="0" tIns="0" rIns="0" bIns="0" rtlCol="0"/>
            <a:lstStyle/>
            <a:p>
              <a:endParaRPr sz="2400"/>
            </a:p>
          </p:txBody>
        </p:sp>
      </p:grpSp>
      <p:grpSp>
        <p:nvGrpSpPr>
          <p:cNvPr id="20" name="object 20"/>
          <p:cNvGrpSpPr/>
          <p:nvPr/>
        </p:nvGrpSpPr>
        <p:grpSpPr>
          <a:xfrm>
            <a:off x="7832551" y="1903263"/>
            <a:ext cx="1270847" cy="1258992"/>
            <a:chOff x="5874413" y="1427447"/>
            <a:chExt cx="953135" cy="944244"/>
          </a:xfrm>
        </p:grpSpPr>
        <p:sp>
          <p:nvSpPr>
            <p:cNvPr id="21" name="object 21"/>
            <p:cNvSpPr/>
            <p:nvPr/>
          </p:nvSpPr>
          <p:spPr>
            <a:xfrm>
              <a:off x="5893463" y="1524491"/>
              <a:ext cx="760730" cy="384810"/>
            </a:xfrm>
            <a:custGeom>
              <a:avLst/>
              <a:gdLst/>
              <a:ahLst/>
              <a:cxnLst/>
              <a:rect l="l" t="t" r="r" b="b"/>
              <a:pathLst>
                <a:path w="760729" h="384810">
                  <a:moveTo>
                    <a:pt x="0" y="384379"/>
                  </a:moveTo>
                  <a:lnTo>
                    <a:pt x="760473" y="0"/>
                  </a:lnTo>
                </a:path>
              </a:pathLst>
            </a:custGeom>
            <a:ln w="38099">
              <a:solidFill>
                <a:srgbClr val="073662"/>
              </a:solidFill>
            </a:ln>
          </p:spPr>
          <p:txBody>
            <a:bodyPr wrap="square" lIns="0" tIns="0" rIns="0" bIns="0" rtlCol="0"/>
            <a:lstStyle/>
            <a:p>
              <a:endParaRPr sz="2400"/>
            </a:p>
          </p:txBody>
        </p:sp>
        <p:sp>
          <p:nvSpPr>
            <p:cNvPr id="22" name="object 22"/>
            <p:cNvSpPr/>
            <p:nvPr/>
          </p:nvSpPr>
          <p:spPr>
            <a:xfrm>
              <a:off x="6606511" y="1427447"/>
              <a:ext cx="220799" cy="172259"/>
            </a:xfrm>
            <a:prstGeom prst="rect">
              <a:avLst/>
            </a:prstGeom>
            <a:blipFill>
              <a:blip r:embed="rId6" cstate="print"/>
              <a:stretch>
                <a:fillRect/>
              </a:stretch>
            </a:blipFill>
          </p:spPr>
          <p:txBody>
            <a:bodyPr wrap="square" lIns="0" tIns="0" rIns="0" bIns="0" rtlCol="0"/>
            <a:lstStyle/>
            <a:p>
              <a:endParaRPr sz="2400"/>
            </a:p>
          </p:txBody>
        </p:sp>
        <p:sp>
          <p:nvSpPr>
            <p:cNvPr id="23" name="object 23"/>
            <p:cNvSpPr/>
            <p:nvPr/>
          </p:nvSpPr>
          <p:spPr>
            <a:xfrm>
              <a:off x="5893463" y="1908871"/>
              <a:ext cx="758825" cy="368300"/>
            </a:xfrm>
            <a:custGeom>
              <a:avLst/>
              <a:gdLst/>
              <a:ahLst/>
              <a:cxnLst/>
              <a:rect l="l" t="t" r="r" b="b"/>
              <a:pathLst>
                <a:path w="758825" h="368300">
                  <a:moveTo>
                    <a:pt x="0" y="0"/>
                  </a:moveTo>
                  <a:lnTo>
                    <a:pt x="758798" y="367956"/>
                  </a:lnTo>
                </a:path>
              </a:pathLst>
            </a:custGeom>
            <a:ln w="38099">
              <a:solidFill>
                <a:srgbClr val="073662"/>
              </a:solidFill>
            </a:ln>
          </p:spPr>
          <p:txBody>
            <a:bodyPr wrap="square" lIns="0" tIns="0" rIns="0" bIns="0" rtlCol="0"/>
            <a:lstStyle/>
            <a:p>
              <a:endParaRPr sz="2400"/>
            </a:p>
          </p:txBody>
        </p:sp>
        <p:sp>
          <p:nvSpPr>
            <p:cNvPr id="24" name="object 24"/>
            <p:cNvSpPr/>
            <p:nvPr/>
          </p:nvSpPr>
          <p:spPr>
            <a:xfrm>
              <a:off x="6605761" y="2201153"/>
              <a:ext cx="221124" cy="170164"/>
            </a:xfrm>
            <a:prstGeom prst="rect">
              <a:avLst/>
            </a:prstGeom>
            <a:blipFill>
              <a:blip r:embed="rId7" cstate="print"/>
              <a:stretch>
                <a:fillRect/>
              </a:stretch>
            </a:blipFill>
          </p:spPr>
          <p:txBody>
            <a:bodyPr wrap="square" lIns="0" tIns="0" rIns="0" bIns="0" rtlCol="0"/>
            <a:lstStyle/>
            <a:p>
              <a:endParaRPr sz="2400"/>
            </a:p>
          </p:txBody>
        </p:sp>
      </p:grpSp>
      <p:sp>
        <p:nvSpPr>
          <p:cNvPr id="25" name="object 25"/>
          <p:cNvSpPr txBox="1"/>
          <p:nvPr/>
        </p:nvSpPr>
        <p:spPr>
          <a:xfrm>
            <a:off x="6250554" y="5397655"/>
            <a:ext cx="2429933" cy="966397"/>
          </a:xfrm>
          <a:prstGeom prst="rect">
            <a:avLst/>
          </a:prstGeom>
          <a:solidFill>
            <a:srgbClr val="CFE1F2"/>
          </a:solidFill>
          <a:ln w="76199">
            <a:solidFill>
              <a:srgbClr val="073662"/>
            </a:solidFill>
          </a:ln>
        </p:spPr>
        <p:txBody>
          <a:bodyPr vert="horz" wrap="square" lIns="0" tIns="118533" rIns="0" bIns="0" rtlCol="0">
            <a:spAutoFit/>
          </a:bodyPr>
          <a:lstStyle/>
          <a:p>
            <a:pPr marL="114297" marR="158323">
              <a:lnSpc>
                <a:spcPts val="2200"/>
              </a:lnSpc>
              <a:spcBef>
                <a:spcPts val="933"/>
              </a:spcBef>
            </a:pPr>
            <a:r>
              <a:rPr sz="1867" dirty="0">
                <a:latin typeface="Courier New"/>
                <a:cs typeface="Courier New"/>
              </a:rPr>
              <a:t>%</a:t>
            </a:r>
            <a:r>
              <a:rPr sz="1867" spc="-612" dirty="0">
                <a:latin typeface="Courier New"/>
                <a:cs typeface="Courier New"/>
              </a:rPr>
              <a:t> </a:t>
            </a:r>
            <a:r>
              <a:rPr sz="1867" spc="-7" dirty="0">
                <a:latin typeface="Arial"/>
                <a:cs typeface="Arial"/>
              </a:rPr>
              <a:t>is</a:t>
            </a:r>
            <a:r>
              <a:rPr sz="1867" spc="-20" dirty="0">
                <a:latin typeface="Arial"/>
                <a:cs typeface="Arial"/>
              </a:rPr>
              <a:t> </a:t>
            </a:r>
            <a:r>
              <a:rPr sz="1867" dirty="0">
                <a:latin typeface="Arial"/>
                <a:cs typeface="Arial"/>
              </a:rPr>
              <a:t>modulo.</a:t>
            </a:r>
            <a:r>
              <a:rPr sz="1867" spc="-27" dirty="0">
                <a:latin typeface="Arial"/>
                <a:cs typeface="Arial"/>
              </a:rPr>
              <a:t> </a:t>
            </a:r>
            <a:r>
              <a:rPr sz="1867" spc="-7" dirty="0">
                <a:latin typeface="Courier New"/>
                <a:cs typeface="Courier New"/>
              </a:rPr>
              <a:t>x%y</a:t>
            </a:r>
            <a:r>
              <a:rPr sz="1867" spc="-573" dirty="0">
                <a:latin typeface="Courier New"/>
                <a:cs typeface="Courier New"/>
              </a:rPr>
              <a:t> </a:t>
            </a:r>
            <a:r>
              <a:rPr sz="1867" spc="-7" dirty="0">
                <a:latin typeface="Arial"/>
                <a:cs typeface="Arial"/>
              </a:rPr>
              <a:t>is  </a:t>
            </a:r>
            <a:r>
              <a:rPr sz="1867" dirty="0">
                <a:latin typeface="Arial"/>
                <a:cs typeface="Arial"/>
              </a:rPr>
              <a:t>remainder </a:t>
            </a:r>
            <a:r>
              <a:rPr sz="1867" spc="-7" dirty="0">
                <a:latin typeface="Arial"/>
                <a:cs typeface="Arial"/>
              </a:rPr>
              <a:t>when </a:t>
            </a:r>
            <a:r>
              <a:rPr sz="1867" dirty="0">
                <a:latin typeface="Courier New"/>
                <a:cs typeface="Courier New"/>
              </a:rPr>
              <a:t>x</a:t>
            </a:r>
            <a:r>
              <a:rPr sz="1867" spc="-720" dirty="0">
                <a:latin typeface="Courier New"/>
                <a:cs typeface="Courier New"/>
              </a:rPr>
              <a:t> </a:t>
            </a:r>
            <a:r>
              <a:rPr sz="1867" spc="-7" dirty="0">
                <a:latin typeface="Arial"/>
                <a:cs typeface="Arial"/>
              </a:rPr>
              <a:t>is  divided by</a:t>
            </a:r>
            <a:r>
              <a:rPr sz="1867" spc="-20" dirty="0">
                <a:latin typeface="Arial"/>
                <a:cs typeface="Arial"/>
              </a:rPr>
              <a:t> </a:t>
            </a:r>
            <a:r>
              <a:rPr sz="1867" spc="7" dirty="0">
                <a:latin typeface="Courier New"/>
                <a:cs typeface="Courier New"/>
              </a:rPr>
              <a:t>y</a:t>
            </a:r>
            <a:r>
              <a:rPr sz="1867" spc="7" dirty="0">
                <a:latin typeface="Arial"/>
                <a:cs typeface="Arial"/>
              </a:rPr>
              <a:t>.</a:t>
            </a:r>
            <a:endParaRPr sz="1867">
              <a:latin typeface="Arial"/>
              <a:cs typeface="Arial"/>
            </a:endParaRPr>
          </a:p>
        </p:txBody>
      </p:sp>
      <p:grpSp>
        <p:nvGrpSpPr>
          <p:cNvPr id="26" name="object 26"/>
          <p:cNvGrpSpPr/>
          <p:nvPr/>
        </p:nvGrpSpPr>
        <p:grpSpPr>
          <a:xfrm>
            <a:off x="8680148" y="5811355"/>
            <a:ext cx="751840" cy="219287"/>
            <a:chOff x="6510111" y="4358516"/>
            <a:chExt cx="563880" cy="164465"/>
          </a:xfrm>
        </p:grpSpPr>
        <p:sp>
          <p:nvSpPr>
            <p:cNvPr id="27" name="object 27"/>
            <p:cNvSpPr/>
            <p:nvPr/>
          </p:nvSpPr>
          <p:spPr>
            <a:xfrm>
              <a:off x="6510111" y="4440490"/>
              <a:ext cx="371475" cy="0"/>
            </a:xfrm>
            <a:custGeom>
              <a:avLst/>
              <a:gdLst/>
              <a:ahLst/>
              <a:cxnLst/>
              <a:rect l="l" t="t" r="r" b="b"/>
              <a:pathLst>
                <a:path w="371475">
                  <a:moveTo>
                    <a:pt x="0" y="0"/>
                  </a:moveTo>
                  <a:lnTo>
                    <a:pt x="371399" y="0"/>
                  </a:lnTo>
                </a:path>
              </a:pathLst>
            </a:custGeom>
            <a:ln w="38099">
              <a:solidFill>
                <a:srgbClr val="073662"/>
              </a:solidFill>
            </a:ln>
          </p:spPr>
          <p:txBody>
            <a:bodyPr wrap="square" lIns="0" tIns="0" rIns="0" bIns="0" rtlCol="0"/>
            <a:lstStyle/>
            <a:p>
              <a:endParaRPr sz="2400"/>
            </a:p>
          </p:txBody>
        </p:sp>
        <p:sp>
          <p:nvSpPr>
            <p:cNvPr id="28" name="object 28"/>
            <p:cNvSpPr/>
            <p:nvPr/>
          </p:nvSpPr>
          <p:spPr>
            <a:xfrm>
              <a:off x="6862461" y="4358516"/>
              <a:ext cx="210999" cy="163949"/>
            </a:xfrm>
            <a:prstGeom prst="rect">
              <a:avLst/>
            </a:prstGeom>
            <a:blipFill>
              <a:blip r:embed="rId8" cstate="print"/>
              <a:stretch>
                <a:fillRect/>
              </a:stretch>
            </a:blipFill>
          </p:spPr>
          <p:txBody>
            <a:bodyPr wrap="square" lIns="0" tIns="0" rIns="0" bIns="0" rtlCol="0"/>
            <a:lstStyle/>
            <a:p>
              <a:endParaRPr sz="2400"/>
            </a:p>
          </p:txBody>
        </p:sp>
      </p:grpSp>
      <p:sp>
        <p:nvSpPr>
          <p:cNvPr id="29" name="object 29"/>
          <p:cNvSpPr txBox="1"/>
          <p:nvPr/>
        </p:nvSpPr>
        <p:spPr>
          <a:xfrm>
            <a:off x="2490425" y="5529855"/>
            <a:ext cx="3382433" cy="965543"/>
          </a:xfrm>
          <a:prstGeom prst="rect">
            <a:avLst/>
          </a:prstGeom>
          <a:solidFill>
            <a:srgbClr val="CFE1F2"/>
          </a:solidFill>
          <a:ln w="76199">
            <a:solidFill>
              <a:srgbClr val="073662"/>
            </a:solidFill>
          </a:ln>
        </p:spPr>
        <p:txBody>
          <a:bodyPr vert="horz" wrap="square" lIns="0" tIns="104987" rIns="0" bIns="0" rtlCol="0">
            <a:spAutoFit/>
          </a:bodyPr>
          <a:lstStyle/>
          <a:p>
            <a:pPr marL="114297">
              <a:lnSpc>
                <a:spcPts val="2219"/>
              </a:lnSpc>
              <a:spcBef>
                <a:spcPts val="827"/>
              </a:spcBef>
            </a:pPr>
            <a:r>
              <a:rPr sz="1867" spc="-7" dirty="0">
                <a:latin typeface="Arial"/>
                <a:cs typeface="Arial"/>
              </a:rPr>
              <a:t>Python is weird in that it</a:t>
            </a:r>
            <a:r>
              <a:rPr sz="1867" spc="-67" dirty="0">
                <a:latin typeface="Arial"/>
                <a:cs typeface="Arial"/>
              </a:rPr>
              <a:t> </a:t>
            </a:r>
            <a:r>
              <a:rPr sz="1867" spc="-7" dirty="0">
                <a:latin typeface="Arial"/>
                <a:cs typeface="Arial"/>
              </a:rPr>
              <a:t>uses</a:t>
            </a:r>
            <a:endParaRPr sz="1867">
              <a:latin typeface="Arial"/>
              <a:cs typeface="Arial"/>
            </a:endParaRPr>
          </a:p>
          <a:p>
            <a:pPr marL="114297" marR="189649">
              <a:lnSpc>
                <a:spcPts val="2200"/>
              </a:lnSpc>
              <a:spcBef>
                <a:spcPts val="87"/>
              </a:spcBef>
            </a:pPr>
            <a:r>
              <a:rPr sz="1867" spc="-7" dirty="0">
                <a:latin typeface="Courier New"/>
                <a:cs typeface="Courier New"/>
              </a:rPr>
              <a:t>**</a:t>
            </a:r>
            <a:r>
              <a:rPr sz="1867" spc="-673" dirty="0">
                <a:latin typeface="Courier New"/>
                <a:cs typeface="Courier New"/>
              </a:rPr>
              <a:t> </a:t>
            </a:r>
            <a:r>
              <a:rPr sz="1867" spc="-7" dirty="0">
                <a:latin typeface="Arial"/>
                <a:cs typeface="Arial"/>
              </a:rPr>
              <a:t>for exponentiation instead  of the </a:t>
            </a:r>
            <a:r>
              <a:rPr sz="1867" dirty="0">
                <a:latin typeface="Arial"/>
                <a:cs typeface="Arial"/>
              </a:rPr>
              <a:t>more common</a:t>
            </a:r>
            <a:r>
              <a:rPr sz="1867" spc="-47" dirty="0">
                <a:latin typeface="Arial"/>
                <a:cs typeface="Arial"/>
              </a:rPr>
              <a:t> </a:t>
            </a:r>
            <a:r>
              <a:rPr sz="1867" spc="-7" dirty="0">
                <a:latin typeface="Courier New"/>
                <a:cs typeface="Courier New"/>
              </a:rPr>
              <a:t>^.</a:t>
            </a:r>
            <a:endParaRPr sz="1867">
              <a:latin typeface="Courier New"/>
              <a:cs typeface="Courier New"/>
            </a:endParaRPr>
          </a:p>
        </p:txBody>
      </p:sp>
      <p:grpSp>
        <p:nvGrpSpPr>
          <p:cNvPr id="30" name="object 30"/>
          <p:cNvGrpSpPr/>
          <p:nvPr/>
        </p:nvGrpSpPr>
        <p:grpSpPr>
          <a:xfrm>
            <a:off x="1857289" y="5943554"/>
            <a:ext cx="633307" cy="219287"/>
            <a:chOff x="1392967" y="4457665"/>
            <a:chExt cx="474980" cy="164465"/>
          </a:xfrm>
        </p:grpSpPr>
        <p:sp>
          <p:nvSpPr>
            <p:cNvPr id="31" name="object 31"/>
            <p:cNvSpPr/>
            <p:nvPr/>
          </p:nvSpPr>
          <p:spPr>
            <a:xfrm>
              <a:off x="1584919" y="4539640"/>
              <a:ext cx="283210" cy="0"/>
            </a:xfrm>
            <a:custGeom>
              <a:avLst/>
              <a:gdLst/>
              <a:ahLst/>
              <a:cxnLst/>
              <a:rect l="l" t="t" r="r" b="b"/>
              <a:pathLst>
                <a:path w="283210">
                  <a:moveTo>
                    <a:pt x="282899" y="0"/>
                  </a:moveTo>
                  <a:lnTo>
                    <a:pt x="0" y="0"/>
                  </a:lnTo>
                </a:path>
              </a:pathLst>
            </a:custGeom>
            <a:ln w="38099">
              <a:solidFill>
                <a:srgbClr val="073662"/>
              </a:solidFill>
            </a:ln>
          </p:spPr>
          <p:txBody>
            <a:bodyPr wrap="square" lIns="0" tIns="0" rIns="0" bIns="0" rtlCol="0"/>
            <a:lstStyle/>
            <a:p>
              <a:endParaRPr sz="2400"/>
            </a:p>
          </p:txBody>
        </p:sp>
        <p:sp>
          <p:nvSpPr>
            <p:cNvPr id="32" name="object 32"/>
            <p:cNvSpPr/>
            <p:nvPr/>
          </p:nvSpPr>
          <p:spPr>
            <a:xfrm>
              <a:off x="1392967" y="4457665"/>
              <a:ext cx="211002" cy="163949"/>
            </a:xfrm>
            <a:prstGeom prst="rect">
              <a:avLst/>
            </a:prstGeom>
            <a:blipFill>
              <a:blip r:embed="rId9" cstate="print"/>
              <a:stretch>
                <a:fillRect/>
              </a:stretch>
            </a:blipFill>
          </p:spPr>
          <p:txBody>
            <a:bodyPr wrap="square" lIns="0" tIns="0" rIns="0" bIns="0" rtlCol="0"/>
            <a:lstStyle/>
            <a:p>
              <a:endParaRPr sz="2400"/>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626078"/>
            <a:ext cx="2455333" cy="694207"/>
          </a:xfrm>
          <a:prstGeom prst="rect">
            <a:avLst/>
          </a:prstGeom>
        </p:spPr>
        <p:txBody>
          <a:bodyPr vert="horz" wrap="square" lIns="0" tIns="16933" rIns="0" bIns="0" rtlCol="0" anchor="ctr">
            <a:spAutoFit/>
          </a:bodyPr>
          <a:lstStyle/>
          <a:p>
            <a:pPr marL="16933">
              <a:lnSpc>
                <a:spcPct val="100000"/>
              </a:lnSpc>
              <a:spcBef>
                <a:spcPts val="133"/>
              </a:spcBef>
            </a:pPr>
            <a:r>
              <a:rPr spc="-7" dirty="0"/>
              <a:t>Data</a:t>
            </a:r>
            <a:r>
              <a:rPr spc="-120" dirty="0"/>
              <a:t> </a:t>
            </a:r>
            <a:r>
              <a:rPr spc="-7" dirty="0"/>
              <a:t>Types</a:t>
            </a:r>
          </a:p>
        </p:txBody>
      </p:sp>
      <p:sp>
        <p:nvSpPr>
          <p:cNvPr id="3" name="object 3"/>
          <p:cNvSpPr txBox="1"/>
          <p:nvPr/>
        </p:nvSpPr>
        <p:spPr>
          <a:xfrm>
            <a:off x="512966" y="1621809"/>
            <a:ext cx="10154073" cy="3906305"/>
          </a:xfrm>
          <a:prstGeom prst="rect">
            <a:avLst/>
          </a:prstGeom>
        </p:spPr>
        <p:txBody>
          <a:bodyPr vert="horz" wrap="square" lIns="0" tIns="16933" rIns="0" bIns="0" rtlCol="0">
            <a:spAutoFit/>
          </a:bodyPr>
          <a:lstStyle/>
          <a:p>
            <a:pPr marL="16933">
              <a:spcBef>
                <a:spcPts val="133"/>
              </a:spcBef>
            </a:pPr>
            <a:r>
              <a:rPr sz="2400" spc="-7" dirty="0">
                <a:latin typeface="Arial"/>
                <a:cs typeface="Arial"/>
              </a:rPr>
              <a:t>Programs work with </a:t>
            </a:r>
            <a:r>
              <a:rPr sz="2400" b="1" spc="-7" dirty="0">
                <a:latin typeface="Arial"/>
                <a:cs typeface="Arial"/>
              </a:rPr>
              <a:t>values</a:t>
            </a:r>
            <a:r>
              <a:rPr sz="2400" spc="-7" dirty="0">
                <a:latin typeface="Arial"/>
                <a:cs typeface="Arial"/>
              </a:rPr>
              <a:t>, which </a:t>
            </a:r>
            <a:r>
              <a:rPr sz="2400" dirty="0">
                <a:latin typeface="Arial"/>
                <a:cs typeface="Arial"/>
              </a:rPr>
              <a:t>come </a:t>
            </a:r>
            <a:r>
              <a:rPr sz="2400" spc="-7" dirty="0">
                <a:latin typeface="Arial"/>
                <a:cs typeface="Arial"/>
              </a:rPr>
              <a:t>with different</a:t>
            </a:r>
            <a:r>
              <a:rPr sz="2400" spc="33" dirty="0">
                <a:latin typeface="Arial"/>
                <a:cs typeface="Arial"/>
              </a:rPr>
              <a:t> </a:t>
            </a:r>
            <a:r>
              <a:rPr sz="2400" b="1" dirty="0">
                <a:latin typeface="Arial"/>
                <a:cs typeface="Arial"/>
              </a:rPr>
              <a:t>types</a:t>
            </a:r>
            <a:endParaRPr sz="2400" dirty="0">
              <a:latin typeface="Arial"/>
              <a:cs typeface="Arial"/>
            </a:endParaRPr>
          </a:p>
          <a:p>
            <a:pPr>
              <a:spcBef>
                <a:spcPts val="67"/>
              </a:spcBef>
            </a:pPr>
            <a:endParaRPr sz="2133" dirty="0">
              <a:latin typeface="Arial"/>
              <a:cs typeface="Arial"/>
            </a:endParaRPr>
          </a:p>
          <a:p>
            <a:pPr marL="16933"/>
            <a:r>
              <a:rPr sz="2400" spc="-7" dirty="0">
                <a:latin typeface="Arial"/>
                <a:cs typeface="Arial"/>
              </a:rPr>
              <a:t>Examples:</a:t>
            </a:r>
            <a:endParaRPr sz="2400" dirty="0">
              <a:latin typeface="Arial"/>
              <a:cs typeface="Arial"/>
            </a:endParaRPr>
          </a:p>
          <a:p>
            <a:pPr marL="625671">
              <a:spcBef>
                <a:spcPts val="420"/>
              </a:spcBef>
            </a:pPr>
            <a:r>
              <a:rPr sz="2400" spc="-7" dirty="0">
                <a:latin typeface="Arial"/>
                <a:cs typeface="Arial"/>
              </a:rPr>
              <a:t>The </a:t>
            </a:r>
            <a:r>
              <a:rPr sz="2400" dirty="0">
                <a:latin typeface="Arial"/>
                <a:cs typeface="Arial"/>
              </a:rPr>
              <a:t>value </a:t>
            </a:r>
            <a:r>
              <a:rPr sz="2400" spc="-7" dirty="0">
                <a:latin typeface="Courier New"/>
                <a:cs typeface="Courier New"/>
              </a:rPr>
              <a:t>42</a:t>
            </a:r>
            <a:r>
              <a:rPr sz="2400" spc="-773" dirty="0">
                <a:latin typeface="Courier New"/>
                <a:cs typeface="Courier New"/>
              </a:rPr>
              <a:t> </a:t>
            </a:r>
            <a:r>
              <a:rPr sz="2400" spc="-7" dirty="0">
                <a:latin typeface="Arial"/>
                <a:cs typeface="Arial"/>
              </a:rPr>
              <a:t>is an </a:t>
            </a:r>
            <a:r>
              <a:rPr sz="2400" b="1" spc="-7" dirty="0">
                <a:latin typeface="Arial"/>
                <a:cs typeface="Arial"/>
              </a:rPr>
              <a:t>integer</a:t>
            </a:r>
            <a:endParaRPr sz="2400" dirty="0">
              <a:latin typeface="Arial"/>
              <a:cs typeface="Arial"/>
            </a:endParaRPr>
          </a:p>
          <a:p>
            <a:pPr marL="625671" marR="6773">
              <a:lnSpc>
                <a:spcPct val="114599"/>
              </a:lnSpc>
            </a:pPr>
            <a:r>
              <a:rPr sz="2400" spc="-7" dirty="0">
                <a:latin typeface="Arial"/>
                <a:cs typeface="Arial"/>
              </a:rPr>
              <a:t>The </a:t>
            </a:r>
            <a:r>
              <a:rPr sz="2400" dirty="0">
                <a:latin typeface="Arial"/>
                <a:cs typeface="Arial"/>
              </a:rPr>
              <a:t>value </a:t>
            </a:r>
            <a:r>
              <a:rPr sz="2400" spc="-7" dirty="0">
                <a:latin typeface="Courier New"/>
                <a:cs typeface="Courier New"/>
              </a:rPr>
              <a:t>2.71828</a:t>
            </a:r>
            <a:r>
              <a:rPr sz="2400" spc="-827" dirty="0">
                <a:latin typeface="Courier New"/>
                <a:cs typeface="Courier New"/>
              </a:rPr>
              <a:t> </a:t>
            </a:r>
            <a:r>
              <a:rPr sz="2400" spc="-7" dirty="0">
                <a:latin typeface="Arial"/>
                <a:cs typeface="Arial"/>
              </a:rPr>
              <a:t>is </a:t>
            </a:r>
            <a:r>
              <a:rPr sz="2400" dirty="0">
                <a:latin typeface="Arial"/>
                <a:cs typeface="Arial"/>
              </a:rPr>
              <a:t>a </a:t>
            </a:r>
            <a:r>
              <a:rPr sz="2400" b="1" dirty="0">
                <a:latin typeface="Arial"/>
                <a:cs typeface="Arial"/>
              </a:rPr>
              <a:t>floating </a:t>
            </a:r>
            <a:r>
              <a:rPr sz="2400" b="1" spc="-7" dirty="0">
                <a:latin typeface="Arial"/>
                <a:cs typeface="Arial"/>
              </a:rPr>
              <a:t>point number </a:t>
            </a:r>
            <a:r>
              <a:rPr sz="2400" dirty="0">
                <a:latin typeface="Arial"/>
                <a:cs typeface="Arial"/>
              </a:rPr>
              <a:t>(i.e., </a:t>
            </a:r>
            <a:r>
              <a:rPr sz="2400" spc="-7" dirty="0">
                <a:latin typeface="Arial"/>
                <a:cs typeface="Arial"/>
              </a:rPr>
              <a:t>decimal number)  The </a:t>
            </a:r>
            <a:r>
              <a:rPr sz="2400" dirty="0">
                <a:latin typeface="Arial"/>
                <a:cs typeface="Arial"/>
              </a:rPr>
              <a:t>value </a:t>
            </a:r>
            <a:r>
              <a:rPr sz="2400" spc="-7" dirty="0">
                <a:latin typeface="Courier New"/>
                <a:cs typeface="Courier New"/>
              </a:rPr>
              <a:t>“bird”</a:t>
            </a:r>
            <a:r>
              <a:rPr sz="2400" spc="-813" dirty="0">
                <a:latin typeface="Courier New"/>
                <a:cs typeface="Courier New"/>
              </a:rPr>
              <a:t> </a:t>
            </a:r>
            <a:r>
              <a:rPr sz="2400" spc="-7" dirty="0">
                <a:latin typeface="Arial"/>
                <a:cs typeface="Arial"/>
              </a:rPr>
              <a:t>is </a:t>
            </a:r>
            <a:r>
              <a:rPr sz="2400" dirty="0">
                <a:latin typeface="Arial"/>
                <a:cs typeface="Arial"/>
              </a:rPr>
              <a:t>a </a:t>
            </a:r>
            <a:r>
              <a:rPr sz="2400" b="1" spc="-7" dirty="0">
                <a:latin typeface="Arial"/>
                <a:cs typeface="Arial"/>
              </a:rPr>
              <a:t>string </a:t>
            </a:r>
            <a:r>
              <a:rPr sz="2400" dirty="0">
                <a:latin typeface="Arial"/>
                <a:cs typeface="Arial"/>
              </a:rPr>
              <a:t>(i.e., a </a:t>
            </a:r>
            <a:r>
              <a:rPr sz="2400" i="1" dirty="0">
                <a:latin typeface="Arial"/>
                <a:cs typeface="Arial"/>
              </a:rPr>
              <a:t>string </a:t>
            </a:r>
            <a:r>
              <a:rPr sz="2400" i="1" spc="-7" dirty="0">
                <a:latin typeface="Arial"/>
                <a:cs typeface="Arial"/>
              </a:rPr>
              <a:t>of </a:t>
            </a:r>
            <a:r>
              <a:rPr sz="2400" i="1" dirty="0">
                <a:latin typeface="Arial"/>
                <a:cs typeface="Arial"/>
              </a:rPr>
              <a:t>characters</a:t>
            </a:r>
            <a:r>
              <a:rPr sz="2400" dirty="0">
                <a:latin typeface="Arial"/>
                <a:cs typeface="Arial"/>
              </a:rPr>
              <a:t>)</a:t>
            </a:r>
          </a:p>
          <a:p>
            <a:pPr marL="625671" marR="804313" indent="-609585">
              <a:lnSpc>
                <a:spcPct val="114599"/>
              </a:lnSpc>
              <a:spcBef>
                <a:spcPts val="2100"/>
              </a:spcBef>
            </a:pPr>
            <a:r>
              <a:rPr sz="2400" spc="-7" dirty="0">
                <a:latin typeface="Arial"/>
                <a:cs typeface="Arial"/>
              </a:rPr>
              <a:t>Variable’s type determines what operations we </a:t>
            </a:r>
            <a:r>
              <a:rPr sz="2400" dirty="0">
                <a:latin typeface="Arial"/>
                <a:cs typeface="Arial"/>
              </a:rPr>
              <a:t>can </a:t>
            </a:r>
            <a:r>
              <a:rPr sz="2400" spc="-7" dirty="0">
                <a:latin typeface="Arial"/>
                <a:cs typeface="Arial"/>
              </a:rPr>
              <a:t>and </a:t>
            </a:r>
            <a:r>
              <a:rPr sz="2400" dirty="0">
                <a:latin typeface="Arial"/>
                <a:cs typeface="Arial"/>
              </a:rPr>
              <a:t>can’t </a:t>
            </a:r>
            <a:r>
              <a:rPr sz="2400" spc="-7" dirty="0">
                <a:latin typeface="Arial"/>
                <a:cs typeface="Arial"/>
              </a:rPr>
              <a:t>perform  e.g., </a:t>
            </a:r>
            <a:r>
              <a:rPr sz="2400" spc="-7" dirty="0">
                <a:latin typeface="Courier New"/>
                <a:cs typeface="Courier New"/>
              </a:rPr>
              <a:t>2*3</a:t>
            </a:r>
            <a:r>
              <a:rPr sz="2400" spc="-793" dirty="0">
                <a:latin typeface="Courier New"/>
                <a:cs typeface="Courier New"/>
              </a:rPr>
              <a:t> </a:t>
            </a:r>
            <a:r>
              <a:rPr sz="2400" dirty="0">
                <a:latin typeface="Arial"/>
                <a:cs typeface="Arial"/>
              </a:rPr>
              <a:t>makes sense, </a:t>
            </a:r>
            <a:r>
              <a:rPr sz="2400" spc="-7" dirty="0">
                <a:latin typeface="Arial"/>
                <a:cs typeface="Arial"/>
              </a:rPr>
              <a:t>but what is </a:t>
            </a:r>
            <a:r>
              <a:rPr sz="2400" spc="-7" dirty="0">
                <a:latin typeface="Courier New"/>
                <a:cs typeface="Courier New"/>
              </a:rPr>
              <a:t>‘cat’*‘dog’</a:t>
            </a:r>
            <a:r>
              <a:rPr sz="2400" spc="-7" dirty="0">
                <a:latin typeface="Arial"/>
                <a:cs typeface="Arial"/>
              </a:rPr>
              <a:t>?</a:t>
            </a:r>
            <a:endParaRPr sz="2400" dirty="0">
              <a:latin typeface="Arial"/>
              <a:cs typeface="Arial"/>
            </a:endParaRPr>
          </a:p>
          <a:p>
            <a:pPr marL="625671">
              <a:spcBef>
                <a:spcPts val="420"/>
              </a:spcBef>
            </a:pPr>
            <a:r>
              <a:rPr sz="2400" dirty="0">
                <a:latin typeface="Arial"/>
                <a:cs typeface="Arial"/>
              </a:rPr>
              <a:t>(We’ll come </a:t>
            </a:r>
            <a:r>
              <a:rPr sz="2400" spc="-7" dirty="0">
                <a:latin typeface="Arial"/>
                <a:cs typeface="Arial"/>
              </a:rPr>
              <a:t>back to this in </a:t>
            </a:r>
            <a:r>
              <a:rPr sz="2400" dirty="0">
                <a:latin typeface="Arial"/>
                <a:cs typeface="Arial"/>
              </a:rPr>
              <a:t>more </a:t>
            </a:r>
            <a:r>
              <a:rPr sz="2400" spc="-7" dirty="0">
                <a:latin typeface="Arial"/>
                <a:cs typeface="Arial"/>
              </a:rPr>
              <a:t>detail in </a:t>
            </a:r>
            <a:r>
              <a:rPr sz="2400" dirty="0">
                <a:latin typeface="Arial"/>
                <a:cs typeface="Arial"/>
              </a:rPr>
              <a:t>a </a:t>
            </a:r>
            <a:r>
              <a:rPr sz="2400" spc="-7" dirty="0">
                <a:latin typeface="Arial"/>
                <a:cs typeface="Arial"/>
              </a:rPr>
              <a:t>few</a:t>
            </a:r>
            <a:r>
              <a:rPr sz="2400" spc="-60" dirty="0">
                <a:latin typeface="Arial"/>
                <a:cs typeface="Arial"/>
              </a:rPr>
              <a:t> </a:t>
            </a:r>
            <a:r>
              <a:rPr sz="2400" dirty="0">
                <a:latin typeface="Arial"/>
                <a:cs typeface="Arial"/>
              </a:rPr>
              <a:t>slides)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626078"/>
            <a:ext cx="4287634"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6" y="1621809"/>
            <a:ext cx="7250853" cy="1096818"/>
          </a:xfrm>
          <a:prstGeom prst="rect">
            <a:avLst/>
          </a:prstGeom>
        </p:spPr>
        <p:txBody>
          <a:bodyPr vert="horz" wrap="square" lIns="0" tIns="16933" rIns="0" bIns="0" rtlCol="0">
            <a:spAutoFit/>
          </a:bodyPr>
          <a:lstStyle/>
          <a:p>
            <a:pPr marL="16933">
              <a:spcBef>
                <a:spcPts val="133"/>
              </a:spcBef>
            </a:pPr>
            <a:r>
              <a:rPr sz="2400" b="1" spc="-7" dirty="0">
                <a:latin typeface="Arial"/>
                <a:cs typeface="Arial"/>
              </a:rPr>
              <a:t>Variable </a:t>
            </a:r>
            <a:r>
              <a:rPr sz="2400" spc="-7" dirty="0">
                <a:latin typeface="Arial"/>
                <a:cs typeface="Arial"/>
              </a:rPr>
              <a:t>is </a:t>
            </a:r>
            <a:r>
              <a:rPr sz="2400" dirty="0">
                <a:latin typeface="Arial"/>
                <a:cs typeface="Arial"/>
              </a:rPr>
              <a:t>a </a:t>
            </a:r>
            <a:r>
              <a:rPr sz="2400" spc="-7" dirty="0">
                <a:latin typeface="Arial"/>
                <a:cs typeface="Arial"/>
              </a:rPr>
              <a:t>name that </a:t>
            </a:r>
            <a:r>
              <a:rPr sz="2400" dirty="0">
                <a:latin typeface="Arial"/>
                <a:cs typeface="Arial"/>
              </a:rPr>
              <a:t>refers </a:t>
            </a:r>
            <a:r>
              <a:rPr sz="2400" spc="-7" dirty="0">
                <a:latin typeface="Arial"/>
                <a:cs typeface="Arial"/>
              </a:rPr>
              <a:t>to </a:t>
            </a:r>
            <a:r>
              <a:rPr sz="2400" dirty="0">
                <a:latin typeface="Arial"/>
                <a:cs typeface="Arial"/>
              </a:rPr>
              <a:t>a</a:t>
            </a:r>
            <a:r>
              <a:rPr sz="2400" spc="-33" dirty="0">
                <a:latin typeface="Arial"/>
                <a:cs typeface="Arial"/>
              </a:rPr>
              <a:t> </a:t>
            </a:r>
            <a:r>
              <a:rPr sz="2400" dirty="0">
                <a:latin typeface="Arial"/>
                <a:cs typeface="Arial"/>
              </a:rPr>
              <a:t>value</a:t>
            </a:r>
          </a:p>
          <a:p>
            <a:pPr>
              <a:spcBef>
                <a:spcPts val="67"/>
              </a:spcBef>
            </a:pPr>
            <a:endParaRPr sz="2133" dirty="0">
              <a:latin typeface="Arial"/>
              <a:cs typeface="Arial"/>
            </a:endParaRPr>
          </a:p>
          <a:p>
            <a:pPr marL="16933"/>
            <a:r>
              <a:rPr sz="2400" spc="-7" dirty="0">
                <a:latin typeface="Arial"/>
                <a:cs typeface="Arial"/>
              </a:rPr>
              <a:t>Assign </a:t>
            </a:r>
            <a:r>
              <a:rPr sz="2400" dirty="0">
                <a:latin typeface="Arial"/>
                <a:cs typeface="Arial"/>
              </a:rPr>
              <a:t>a value </a:t>
            </a:r>
            <a:r>
              <a:rPr sz="2400" spc="-7" dirty="0">
                <a:latin typeface="Arial"/>
                <a:cs typeface="Arial"/>
              </a:rPr>
              <a:t>to </a:t>
            </a:r>
            <a:r>
              <a:rPr sz="2400" dirty="0">
                <a:latin typeface="Arial"/>
                <a:cs typeface="Arial"/>
              </a:rPr>
              <a:t>a variable via </a:t>
            </a:r>
            <a:r>
              <a:rPr sz="2400" b="1" spc="-7" dirty="0">
                <a:latin typeface="Arial"/>
                <a:cs typeface="Arial"/>
              </a:rPr>
              <a:t>variable</a:t>
            </a:r>
            <a:r>
              <a:rPr sz="2400" b="1" spc="-100" dirty="0">
                <a:latin typeface="Arial"/>
                <a:cs typeface="Arial"/>
              </a:rPr>
              <a:t> </a:t>
            </a:r>
            <a:r>
              <a:rPr sz="2400" b="1" spc="-7" dirty="0">
                <a:latin typeface="Arial"/>
                <a:cs typeface="Arial"/>
              </a:rPr>
              <a:t>assignment</a:t>
            </a:r>
            <a:endParaRPr sz="2400" dirty="0">
              <a:latin typeface="Arial"/>
              <a:cs typeface="Arial"/>
            </a:endParaRPr>
          </a:p>
        </p:txBody>
      </p:sp>
      <p:sp>
        <p:nvSpPr>
          <p:cNvPr id="4" name="object 4"/>
          <p:cNvSpPr/>
          <p:nvPr/>
        </p:nvSpPr>
        <p:spPr>
          <a:xfrm>
            <a:off x="1015998" y="2798627"/>
            <a:ext cx="6456153" cy="3990085"/>
          </a:xfrm>
          <a:prstGeom prst="rect">
            <a:avLst/>
          </a:prstGeom>
          <a:blipFill>
            <a:blip r:embed="rId2" cstate="print"/>
            <a:stretch>
              <a:fillRect/>
            </a:stretch>
          </a:blipFill>
        </p:spPr>
        <p:txBody>
          <a:bodyPr wrap="square" lIns="0" tIns="0" rIns="0" bIns="0" rtlCol="0"/>
          <a:lstStyle/>
          <a:p>
            <a:endParaRPr sz="2400"/>
          </a:p>
        </p:txBody>
      </p:sp>
      <p:sp>
        <p:nvSpPr>
          <p:cNvPr id="5" name="object 5"/>
          <p:cNvSpPr txBox="1"/>
          <p:nvPr/>
        </p:nvSpPr>
        <p:spPr>
          <a:xfrm>
            <a:off x="8056550" y="3084161"/>
            <a:ext cx="3729567" cy="393335"/>
          </a:xfrm>
          <a:prstGeom prst="rect">
            <a:avLst/>
          </a:prstGeom>
          <a:solidFill>
            <a:srgbClr val="CFE1F2"/>
          </a:solidFill>
          <a:ln w="76199">
            <a:solidFill>
              <a:srgbClr val="073662"/>
            </a:solidFill>
          </a:ln>
        </p:spPr>
        <p:txBody>
          <a:bodyPr vert="horz" wrap="square" lIns="0" tIns="104987" rIns="0" bIns="0" rtlCol="0">
            <a:spAutoFit/>
          </a:bodyPr>
          <a:lstStyle/>
          <a:p>
            <a:pPr marL="113450">
              <a:spcBef>
                <a:spcPts val="827"/>
              </a:spcBef>
            </a:pPr>
            <a:r>
              <a:rPr sz="1867" spc="-7" dirty="0">
                <a:latin typeface="Arial"/>
                <a:cs typeface="Arial"/>
              </a:rPr>
              <a:t>Assign </a:t>
            </a:r>
            <a:r>
              <a:rPr sz="1867" dirty="0">
                <a:latin typeface="Arial"/>
                <a:cs typeface="Arial"/>
              </a:rPr>
              <a:t>values </a:t>
            </a:r>
            <a:r>
              <a:rPr sz="1867" spc="-7" dirty="0">
                <a:latin typeface="Arial"/>
                <a:cs typeface="Arial"/>
              </a:rPr>
              <a:t>to three</a:t>
            </a:r>
            <a:r>
              <a:rPr sz="1867" spc="-73" dirty="0">
                <a:latin typeface="Arial"/>
                <a:cs typeface="Arial"/>
              </a:rPr>
              <a:t> </a:t>
            </a:r>
            <a:r>
              <a:rPr sz="1867" dirty="0">
                <a:latin typeface="Arial"/>
                <a:cs typeface="Arial"/>
              </a:rPr>
              <a:t>variables</a:t>
            </a:r>
            <a:endParaRPr sz="1867">
              <a:latin typeface="Arial"/>
              <a:cs typeface="Arial"/>
            </a:endParaRPr>
          </a:p>
        </p:txBody>
      </p:sp>
      <p:grpSp>
        <p:nvGrpSpPr>
          <p:cNvPr id="6" name="object 6"/>
          <p:cNvGrpSpPr/>
          <p:nvPr/>
        </p:nvGrpSpPr>
        <p:grpSpPr>
          <a:xfrm>
            <a:off x="7057420" y="3248621"/>
            <a:ext cx="1025313" cy="219287"/>
            <a:chOff x="5293064" y="2436465"/>
            <a:chExt cx="768985" cy="164465"/>
          </a:xfrm>
        </p:grpSpPr>
        <p:sp>
          <p:nvSpPr>
            <p:cNvPr id="7" name="object 7"/>
            <p:cNvSpPr/>
            <p:nvPr/>
          </p:nvSpPr>
          <p:spPr>
            <a:xfrm>
              <a:off x="5485014" y="2518019"/>
              <a:ext cx="557530" cy="635"/>
            </a:xfrm>
            <a:custGeom>
              <a:avLst/>
              <a:gdLst/>
              <a:ahLst/>
              <a:cxnLst/>
              <a:rect l="l" t="t" r="r" b="b"/>
              <a:pathLst>
                <a:path w="557529" h="635">
                  <a:moveTo>
                    <a:pt x="557398" y="0"/>
                  </a:moveTo>
                  <a:lnTo>
                    <a:pt x="0" y="424"/>
                  </a:lnTo>
                </a:path>
              </a:pathLst>
            </a:custGeom>
            <a:ln w="38099">
              <a:solidFill>
                <a:srgbClr val="073662"/>
              </a:solidFill>
            </a:ln>
          </p:spPr>
          <p:txBody>
            <a:bodyPr wrap="square" lIns="0" tIns="0" rIns="0" bIns="0" rtlCol="0"/>
            <a:lstStyle/>
            <a:p>
              <a:endParaRPr sz="2400"/>
            </a:p>
          </p:txBody>
        </p:sp>
        <p:sp>
          <p:nvSpPr>
            <p:cNvPr id="8" name="object 8"/>
            <p:cNvSpPr/>
            <p:nvPr/>
          </p:nvSpPr>
          <p:spPr>
            <a:xfrm>
              <a:off x="5293064" y="2436465"/>
              <a:ext cx="211049" cy="163954"/>
            </a:xfrm>
            <a:prstGeom prst="rect">
              <a:avLst/>
            </a:prstGeom>
            <a:blipFill>
              <a:blip r:embed="rId3" cstate="print"/>
              <a:stretch>
                <a:fillRect/>
              </a:stretch>
            </a:blipFill>
          </p:spPr>
          <p:txBody>
            <a:bodyPr wrap="square" lIns="0" tIns="0" rIns="0" bIns="0" rtlCol="0"/>
            <a:lstStyle/>
            <a:p>
              <a:endParaRPr sz="2400"/>
            </a:p>
          </p:txBody>
        </p:sp>
      </p:grpSp>
      <p:sp>
        <p:nvSpPr>
          <p:cNvPr id="9" name="object 9"/>
          <p:cNvSpPr txBox="1"/>
          <p:nvPr/>
        </p:nvSpPr>
        <p:spPr>
          <a:xfrm>
            <a:off x="8056550" y="5522555"/>
            <a:ext cx="3729567" cy="966076"/>
          </a:xfrm>
          <a:prstGeom prst="rect">
            <a:avLst/>
          </a:prstGeom>
          <a:solidFill>
            <a:srgbClr val="CFE1F2"/>
          </a:solidFill>
          <a:ln w="76199">
            <a:solidFill>
              <a:srgbClr val="073662"/>
            </a:solidFill>
          </a:ln>
        </p:spPr>
        <p:txBody>
          <a:bodyPr vert="horz" wrap="square" lIns="0" tIns="118533" rIns="0" bIns="0" rtlCol="0">
            <a:spAutoFit/>
          </a:bodyPr>
          <a:lstStyle/>
          <a:p>
            <a:pPr marL="113450" marR="351358">
              <a:lnSpc>
                <a:spcPts val="2200"/>
              </a:lnSpc>
              <a:spcBef>
                <a:spcPts val="933"/>
              </a:spcBef>
            </a:pPr>
            <a:r>
              <a:rPr sz="1867" spc="-7" dirty="0">
                <a:latin typeface="Arial"/>
                <a:cs typeface="Arial"/>
              </a:rPr>
              <a:t>Change the </a:t>
            </a:r>
            <a:r>
              <a:rPr sz="1867" dirty="0">
                <a:latin typeface="Arial"/>
                <a:cs typeface="Arial"/>
              </a:rPr>
              <a:t>value </a:t>
            </a:r>
            <a:r>
              <a:rPr sz="1867" spc="-7" dirty="0">
                <a:latin typeface="Arial"/>
                <a:cs typeface="Arial"/>
              </a:rPr>
              <a:t>of  </a:t>
            </a:r>
            <a:r>
              <a:rPr sz="1867" spc="-7" dirty="0">
                <a:latin typeface="Courier New"/>
                <a:cs typeface="Courier New"/>
              </a:rPr>
              <a:t>number_of_planets </a:t>
            </a:r>
            <a:r>
              <a:rPr sz="1867" dirty="0">
                <a:latin typeface="Arial"/>
                <a:cs typeface="Arial"/>
              </a:rPr>
              <a:t>via  </a:t>
            </a:r>
            <a:r>
              <a:rPr sz="1867" spc="-7" dirty="0">
                <a:latin typeface="Arial"/>
                <a:cs typeface="Arial"/>
              </a:rPr>
              <a:t>another assignment</a:t>
            </a:r>
            <a:r>
              <a:rPr sz="1867" spc="-120" dirty="0">
                <a:latin typeface="Arial"/>
                <a:cs typeface="Arial"/>
              </a:rPr>
              <a:t> </a:t>
            </a:r>
            <a:r>
              <a:rPr sz="1867" dirty="0">
                <a:latin typeface="Arial"/>
                <a:cs typeface="Arial"/>
              </a:rPr>
              <a:t>statement.</a:t>
            </a:r>
            <a:endParaRPr sz="1867">
              <a:latin typeface="Arial"/>
              <a:cs typeface="Arial"/>
            </a:endParaRPr>
          </a:p>
        </p:txBody>
      </p:sp>
      <p:grpSp>
        <p:nvGrpSpPr>
          <p:cNvPr id="10" name="object 10"/>
          <p:cNvGrpSpPr/>
          <p:nvPr/>
        </p:nvGrpSpPr>
        <p:grpSpPr>
          <a:xfrm>
            <a:off x="4335024" y="5963454"/>
            <a:ext cx="3721947" cy="219287"/>
            <a:chOff x="3251268" y="4472590"/>
            <a:chExt cx="2791460" cy="164465"/>
          </a:xfrm>
        </p:grpSpPr>
        <p:sp>
          <p:nvSpPr>
            <p:cNvPr id="11" name="object 11"/>
            <p:cNvSpPr/>
            <p:nvPr/>
          </p:nvSpPr>
          <p:spPr>
            <a:xfrm>
              <a:off x="3443218" y="4554565"/>
              <a:ext cx="2599690" cy="0"/>
            </a:xfrm>
            <a:custGeom>
              <a:avLst/>
              <a:gdLst/>
              <a:ahLst/>
              <a:cxnLst/>
              <a:rect l="l" t="t" r="r" b="b"/>
              <a:pathLst>
                <a:path w="2599690">
                  <a:moveTo>
                    <a:pt x="2599194" y="0"/>
                  </a:moveTo>
                  <a:lnTo>
                    <a:pt x="0" y="0"/>
                  </a:lnTo>
                </a:path>
              </a:pathLst>
            </a:custGeom>
            <a:ln w="38099">
              <a:solidFill>
                <a:srgbClr val="073662"/>
              </a:solidFill>
            </a:ln>
          </p:spPr>
          <p:txBody>
            <a:bodyPr wrap="square" lIns="0" tIns="0" rIns="0" bIns="0" rtlCol="0"/>
            <a:lstStyle/>
            <a:p>
              <a:endParaRPr sz="2400"/>
            </a:p>
          </p:txBody>
        </p:sp>
        <p:sp>
          <p:nvSpPr>
            <p:cNvPr id="12" name="object 12"/>
            <p:cNvSpPr/>
            <p:nvPr/>
          </p:nvSpPr>
          <p:spPr>
            <a:xfrm>
              <a:off x="3251268" y="4472590"/>
              <a:ext cx="210999" cy="163949"/>
            </a:xfrm>
            <a:prstGeom prst="rect">
              <a:avLst/>
            </a:prstGeom>
            <a:blipFill>
              <a:blip r:embed="rId4" cstate="print"/>
              <a:stretch>
                <a:fillRect/>
              </a:stretch>
            </a:blipFill>
          </p:spPr>
          <p:txBody>
            <a:bodyPr wrap="square" lIns="0" tIns="0" rIns="0" bIns="0" rtlCol="0"/>
            <a:lstStyle/>
            <a:p>
              <a:endParaRPr sz="2400"/>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5158491"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6" y="1621809"/>
            <a:ext cx="7250853" cy="1096818"/>
          </a:xfrm>
          <a:prstGeom prst="rect">
            <a:avLst/>
          </a:prstGeom>
        </p:spPr>
        <p:txBody>
          <a:bodyPr vert="horz" wrap="square" lIns="0" tIns="16933" rIns="0" bIns="0" rtlCol="0">
            <a:spAutoFit/>
          </a:bodyPr>
          <a:lstStyle/>
          <a:p>
            <a:pPr marL="16933">
              <a:spcBef>
                <a:spcPts val="133"/>
              </a:spcBef>
            </a:pPr>
            <a:r>
              <a:rPr sz="2400" b="1" spc="-7" dirty="0">
                <a:latin typeface="Arial"/>
                <a:cs typeface="Arial"/>
              </a:rPr>
              <a:t>Variable </a:t>
            </a:r>
            <a:r>
              <a:rPr sz="2400" spc="-7" dirty="0">
                <a:latin typeface="Arial"/>
                <a:cs typeface="Arial"/>
              </a:rPr>
              <a:t>is </a:t>
            </a:r>
            <a:r>
              <a:rPr sz="2400" dirty="0">
                <a:latin typeface="Arial"/>
                <a:cs typeface="Arial"/>
              </a:rPr>
              <a:t>a </a:t>
            </a:r>
            <a:r>
              <a:rPr sz="2400" spc="-7" dirty="0">
                <a:latin typeface="Arial"/>
                <a:cs typeface="Arial"/>
              </a:rPr>
              <a:t>name that </a:t>
            </a:r>
            <a:r>
              <a:rPr sz="2400" dirty="0">
                <a:latin typeface="Arial"/>
                <a:cs typeface="Arial"/>
              </a:rPr>
              <a:t>refers </a:t>
            </a:r>
            <a:r>
              <a:rPr sz="2400" spc="-7" dirty="0">
                <a:latin typeface="Arial"/>
                <a:cs typeface="Arial"/>
              </a:rPr>
              <a:t>to </a:t>
            </a:r>
            <a:r>
              <a:rPr sz="2400" dirty="0">
                <a:latin typeface="Arial"/>
                <a:cs typeface="Arial"/>
              </a:rPr>
              <a:t>a</a:t>
            </a:r>
            <a:r>
              <a:rPr sz="2400" spc="-33" dirty="0">
                <a:latin typeface="Arial"/>
                <a:cs typeface="Arial"/>
              </a:rPr>
              <a:t> </a:t>
            </a:r>
            <a:r>
              <a:rPr sz="2400" dirty="0">
                <a:latin typeface="Arial"/>
                <a:cs typeface="Arial"/>
              </a:rPr>
              <a:t>value</a:t>
            </a:r>
          </a:p>
          <a:p>
            <a:pPr>
              <a:spcBef>
                <a:spcPts val="67"/>
              </a:spcBef>
            </a:pPr>
            <a:endParaRPr sz="2133" dirty="0">
              <a:latin typeface="Arial"/>
              <a:cs typeface="Arial"/>
            </a:endParaRPr>
          </a:p>
          <a:p>
            <a:pPr marL="16933"/>
            <a:r>
              <a:rPr sz="2400" spc="-7" dirty="0">
                <a:latin typeface="Arial"/>
                <a:cs typeface="Arial"/>
              </a:rPr>
              <a:t>Assign </a:t>
            </a:r>
            <a:r>
              <a:rPr sz="2400" dirty="0">
                <a:latin typeface="Arial"/>
                <a:cs typeface="Arial"/>
              </a:rPr>
              <a:t>a value </a:t>
            </a:r>
            <a:r>
              <a:rPr sz="2400" spc="-7" dirty="0">
                <a:latin typeface="Arial"/>
                <a:cs typeface="Arial"/>
              </a:rPr>
              <a:t>to </a:t>
            </a:r>
            <a:r>
              <a:rPr sz="2400" dirty="0">
                <a:latin typeface="Arial"/>
                <a:cs typeface="Arial"/>
              </a:rPr>
              <a:t>a variable via </a:t>
            </a:r>
            <a:r>
              <a:rPr sz="2400" b="1" spc="-7" dirty="0">
                <a:latin typeface="Arial"/>
                <a:cs typeface="Arial"/>
              </a:rPr>
              <a:t>variable</a:t>
            </a:r>
            <a:r>
              <a:rPr sz="2400" b="1" spc="-100" dirty="0">
                <a:latin typeface="Arial"/>
                <a:cs typeface="Arial"/>
              </a:rPr>
              <a:t> </a:t>
            </a:r>
            <a:r>
              <a:rPr sz="2400" b="1" spc="-7" dirty="0">
                <a:latin typeface="Arial"/>
                <a:cs typeface="Arial"/>
              </a:rPr>
              <a:t>assignment</a:t>
            </a:r>
            <a:endParaRPr sz="2400" dirty="0">
              <a:latin typeface="Arial"/>
              <a:cs typeface="Arial"/>
            </a:endParaRPr>
          </a:p>
        </p:txBody>
      </p:sp>
      <p:sp>
        <p:nvSpPr>
          <p:cNvPr id="4" name="object 4"/>
          <p:cNvSpPr/>
          <p:nvPr/>
        </p:nvSpPr>
        <p:spPr>
          <a:xfrm>
            <a:off x="1015998" y="2798627"/>
            <a:ext cx="6456153" cy="3990085"/>
          </a:xfrm>
          <a:prstGeom prst="rect">
            <a:avLst/>
          </a:prstGeom>
          <a:blipFill>
            <a:blip r:embed="rId2" cstate="print"/>
            <a:stretch>
              <a:fillRect/>
            </a:stretch>
          </a:blipFill>
        </p:spPr>
        <p:txBody>
          <a:bodyPr wrap="square" lIns="0" tIns="0" rIns="0" bIns="0" rtlCol="0"/>
          <a:lstStyle/>
          <a:p>
            <a:endParaRPr sz="2400"/>
          </a:p>
        </p:txBody>
      </p:sp>
      <p:sp>
        <p:nvSpPr>
          <p:cNvPr id="5" name="object 5"/>
          <p:cNvSpPr txBox="1"/>
          <p:nvPr/>
        </p:nvSpPr>
        <p:spPr>
          <a:xfrm>
            <a:off x="8056550" y="3084161"/>
            <a:ext cx="3729567" cy="393335"/>
          </a:xfrm>
          <a:prstGeom prst="rect">
            <a:avLst/>
          </a:prstGeom>
          <a:solidFill>
            <a:srgbClr val="CFE1F2"/>
          </a:solidFill>
          <a:ln w="76199">
            <a:solidFill>
              <a:srgbClr val="073662"/>
            </a:solidFill>
          </a:ln>
        </p:spPr>
        <p:txBody>
          <a:bodyPr vert="horz" wrap="square" lIns="0" tIns="104987" rIns="0" bIns="0" rtlCol="0">
            <a:spAutoFit/>
          </a:bodyPr>
          <a:lstStyle/>
          <a:p>
            <a:pPr marL="113450">
              <a:spcBef>
                <a:spcPts val="827"/>
              </a:spcBef>
            </a:pPr>
            <a:r>
              <a:rPr sz="1867" spc="-7" dirty="0">
                <a:latin typeface="Arial"/>
                <a:cs typeface="Arial"/>
              </a:rPr>
              <a:t>Assign </a:t>
            </a:r>
            <a:r>
              <a:rPr sz="1867" dirty="0">
                <a:latin typeface="Arial"/>
                <a:cs typeface="Arial"/>
              </a:rPr>
              <a:t>values </a:t>
            </a:r>
            <a:r>
              <a:rPr sz="1867" spc="-7" dirty="0">
                <a:latin typeface="Arial"/>
                <a:cs typeface="Arial"/>
              </a:rPr>
              <a:t>to three</a:t>
            </a:r>
            <a:r>
              <a:rPr sz="1867" spc="-73" dirty="0">
                <a:latin typeface="Arial"/>
                <a:cs typeface="Arial"/>
              </a:rPr>
              <a:t> </a:t>
            </a:r>
            <a:r>
              <a:rPr sz="1867" dirty="0">
                <a:latin typeface="Arial"/>
                <a:cs typeface="Arial"/>
              </a:rPr>
              <a:t>variables</a:t>
            </a:r>
            <a:endParaRPr sz="1867">
              <a:latin typeface="Arial"/>
              <a:cs typeface="Arial"/>
            </a:endParaRPr>
          </a:p>
        </p:txBody>
      </p:sp>
      <p:grpSp>
        <p:nvGrpSpPr>
          <p:cNvPr id="6" name="object 6"/>
          <p:cNvGrpSpPr/>
          <p:nvPr/>
        </p:nvGrpSpPr>
        <p:grpSpPr>
          <a:xfrm>
            <a:off x="7057420" y="3248621"/>
            <a:ext cx="1025313" cy="219287"/>
            <a:chOff x="5293064" y="2436465"/>
            <a:chExt cx="768985" cy="164465"/>
          </a:xfrm>
        </p:grpSpPr>
        <p:sp>
          <p:nvSpPr>
            <p:cNvPr id="7" name="object 7"/>
            <p:cNvSpPr/>
            <p:nvPr/>
          </p:nvSpPr>
          <p:spPr>
            <a:xfrm>
              <a:off x="5485014" y="2518019"/>
              <a:ext cx="557530" cy="635"/>
            </a:xfrm>
            <a:custGeom>
              <a:avLst/>
              <a:gdLst/>
              <a:ahLst/>
              <a:cxnLst/>
              <a:rect l="l" t="t" r="r" b="b"/>
              <a:pathLst>
                <a:path w="557529" h="635">
                  <a:moveTo>
                    <a:pt x="557398" y="0"/>
                  </a:moveTo>
                  <a:lnTo>
                    <a:pt x="0" y="424"/>
                  </a:lnTo>
                </a:path>
              </a:pathLst>
            </a:custGeom>
            <a:ln w="38099">
              <a:solidFill>
                <a:srgbClr val="073662"/>
              </a:solidFill>
            </a:ln>
          </p:spPr>
          <p:txBody>
            <a:bodyPr wrap="square" lIns="0" tIns="0" rIns="0" bIns="0" rtlCol="0"/>
            <a:lstStyle/>
            <a:p>
              <a:endParaRPr sz="2400"/>
            </a:p>
          </p:txBody>
        </p:sp>
        <p:sp>
          <p:nvSpPr>
            <p:cNvPr id="8" name="object 8"/>
            <p:cNvSpPr/>
            <p:nvPr/>
          </p:nvSpPr>
          <p:spPr>
            <a:xfrm>
              <a:off x="5293064" y="2436465"/>
              <a:ext cx="211049" cy="163954"/>
            </a:xfrm>
            <a:prstGeom prst="rect">
              <a:avLst/>
            </a:prstGeom>
            <a:blipFill>
              <a:blip r:embed="rId3" cstate="print"/>
              <a:stretch>
                <a:fillRect/>
              </a:stretch>
            </a:blipFill>
          </p:spPr>
          <p:txBody>
            <a:bodyPr wrap="square" lIns="0" tIns="0" rIns="0" bIns="0" rtlCol="0"/>
            <a:lstStyle/>
            <a:p>
              <a:endParaRPr sz="2400"/>
            </a:p>
          </p:txBody>
        </p:sp>
      </p:grpSp>
      <p:sp>
        <p:nvSpPr>
          <p:cNvPr id="9" name="object 9"/>
          <p:cNvSpPr txBox="1"/>
          <p:nvPr/>
        </p:nvSpPr>
        <p:spPr>
          <a:xfrm>
            <a:off x="8056550" y="5522555"/>
            <a:ext cx="3729567" cy="966076"/>
          </a:xfrm>
          <a:prstGeom prst="rect">
            <a:avLst/>
          </a:prstGeom>
          <a:solidFill>
            <a:srgbClr val="CFE1F2"/>
          </a:solidFill>
          <a:ln w="76199">
            <a:solidFill>
              <a:srgbClr val="073662"/>
            </a:solidFill>
          </a:ln>
        </p:spPr>
        <p:txBody>
          <a:bodyPr vert="horz" wrap="square" lIns="0" tIns="118533" rIns="0" bIns="0" rtlCol="0">
            <a:spAutoFit/>
          </a:bodyPr>
          <a:lstStyle/>
          <a:p>
            <a:pPr marL="113450" marR="351358">
              <a:lnSpc>
                <a:spcPts val="2200"/>
              </a:lnSpc>
              <a:spcBef>
                <a:spcPts val="933"/>
              </a:spcBef>
            </a:pPr>
            <a:r>
              <a:rPr sz="1867" spc="-7" dirty="0">
                <a:latin typeface="Arial"/>
                <a:cs typeface="Arial"/>
              </a:rPr>
              <a:t>Change the </a:t>
            </a:r>
            <a:r>
              <a:rPr sz="1867" dirty="0">
                <a:latin typeface="Arial"/>
                <a:cs typeface="Arial"/>
              </a:rPr>
              <a:t>value </a:t>
            </a:r>
            <a:r>
              <a:rPr sz="1867" spc="-7" dirty="0">
                <a:latin typeface="Arial"/>
                <a:cs typeface="Arial"/>
              </a:rPr>
              <a:t>of  </a:t>
            </a:r>
            <a:r>
              <a:rPr sz="1867" spc="-7" dirty="0">
                <a:latin typeface="Courier New"/>
                <a:cs typeface="Courier New"/>
              </a:rPr>
              <a:t>number_of_planets </a:t>
            </a:r>
            <a:r>
              <a:rPr sz="1867" dirty="0">
                <a:latin typeface="Arial"/>
                <a:cs typeface="Arial"/>
              </a:rPr>
              <a:t>via  </a:t>
            </a:r>
            <a:r>
              <a:rPr sz="1867" spc="-7" dirty="0">
                <a:latin typeface="Arial"/>
                <a:cs typeface="Arial"/>
              </a:rPr>
              <a:t>another assignment</a:t>
            </a:r>
            <a:r>
              <a:rPr sz="1867" spc="-120" dirty="0">
                <a:latin typeface="Arial"/>
                <a:cs typeface="Arial"/>
              </a:rPr>
              <a:t> </a:t>
            </a:r>
            <a:r>
              <a:rPr sz="1867" dirty="0">
                <a:latin typeface="Arial"/>
                <a:cs typeface="Arial"/>
              </a:rPr>
              <a:t>statement.</a:t>
            </a:r>
            <a:endParaRPr sz="1867">
              <a:latin typeface="Arial"/>
              <a:cs typeface="Arial"/>
            </a:endParaRPr>
          </a:p>
        </p:txBody>
      </p:sp>
      <p:grpSp>
        <p:nvGrpSpPr>
          <p:cNvPr id="10" name="object 10"/>
          <p:cNvGrpSpPr/>
          <p:nvPr/>
        </p:nvGrpSpPr>
        <p:grpSpPr>
          <a:xfrm>
            <a:off x="4335024" y="5963454"/>
            <a:ext cx="3721947" cy="219287"/>
            <a:chOff x="3251268" y="4472590"/>
            <a:chExt cx="2791460" cy="164465"/>
          </a:xfrm>
        </p:grpSpPr>
        <p:sp>
          <p:nvSpPr>
            <p:cNvPr id="11" name="object 11"/>
            <p:cNvSpPr/>
            <p:nvPr/>
          </p:nvSpPr>
          <p:spPr>
            <a:xfrm>
              <a:off x="3443218" y="4554565"/>
              <a:ext cx="2599690" cy="0"/>
            </a:xfrm>
            <a:custGeom>
              <a:avLst/>
              <a:gdLst/>
              <a:ahLst/>
              <a:cxnLst/>
              <a:rect l="l" t="t" r="r" b="b"/>
              <a:pathLst>
                <a:path w="2599690">
                  <a:moveTo>
                    <a:pt x="2599194" y="0"/>
                  </a:moveTo>
                  <a:lnTo>
                    <a:pt x="0" y="0"/>
                  </a:lnTo>
                </a:path>
              </a:pathLst>
            </a:custGeom>
            <a:ln w="38099">
              <a:solidFill>
                <a:srgbClr val="073662"/>
              </a:solidFill>
            </a:ln>
          </p:spPr>
          <p:txBody>
            <a:bodyPr wrap="square" lIns="0" tIns="0" rIns="0" bIns="0" rtlCol="0"/>
            <a:lstStyle/>
            <a:p>
              <a:endParaRPr sz="2400"/>
            </a:p>
          </p:txBody>
        </p:sp>
        <p:sp>
          <p:nvSpPr>
            <p:cNvPr id="12" name="object 12"/>
            <p:cNvSpPr/>
            <p:nvPr/>
          </p:nvSpPr>
          <p:spPr>
            <a:xfrm>
              <a:off x="3251268" y="4472590"/>
              <a:ext cx="210999" cy="163949"/>
            </a:xfrm>
            <a:prstGeom prst="rect">
              <a:avLst/>
            </a:prstGeom>
            <a:blipFill>
              <a:blip r:embed="rId4" cstate="print"/>
              <a:stretch>
                <a:fillRect/>
              </a:stretch>
            </a:blipFill>
          </p:spPr>
          <p:txBody>
            <a:bodyPr wrap="square" lIns="0" tIns="0" rIns="0" bIns="0" rtlCol="0"/>
            <a:lstStyle/>
            <a:p>
              <a:endParaRPr sz="2400"/>
            </a:p>
          </p:txBody>
        </p:sp>
      </p:grpSp>
      <p:sp>
        <p:nvSpPr>
          <p:cNvPr id="13" name="object 13"/>
          <p:cNvSpPr txBox="1"/>
          <p:nvPr/>
        </p:nvSpPr>
        <p:spPr>
          <a:xfrm>
            <a:off x="6419853" y="252299"/>
            <a:ext cx="5499947" cy="1811607"/>
          </a:xfrm>
          <a:prstGeom prst="rect">
            <a:avLst/>
          </a:prstGeom>
          <a:solidFill>
            <a:srgbClr val="D8E9D3"/>
          </a:solidFill>
          <a:ln w="76199">
            <a:solidFill>
              <a:srgbClr val="38751C"/>
            </a:solidFill>
          </a:ln>
        </p:spPr>
        <p:txBody>
          <a:bodyPr vert="horz" wrap="square" lIns="0" tIns="117687" rIns="0" bIns="0" rtlCol="0">
            <a:spAutoFit/>
          </a:bodyPr>
          <a:lstStyle/>
          <a:p>
            <a:pPr marL="113450" marR="310719">
              <a:lnSpc>
                <a:spcPts val="2200"/>
              </a:lnSpc>
              <a:spcBef>
                <a:spcPts val="927"/>
              </a:spcBef>
            </a:pPr>
            <a:r>
              <a:rPr sz="1867" b="1" spc="-7" dirty="0">
                <a:latin typeface="Arial"/>
                <a:cs typeface="Arial"/>
              </a:rPr>
              <a:t>Note: </a:t>
            </a:r>
            <a:r>
              <a:rPr sz="1867" spc="-7" dirty="0">
                <a:latin typeface="Arial"/>
                <a:cs typeface="Arial"/>
              </a:rPr>
              <a:t>unlike </a:t>
            </a:r>
            <a:r>
              <a:rPr sz="1867" dirty="0">
                <a:latin typeface="Arial"/>
                <a:cs typeface="Arial"/>
              </a:rPr>
              <a:t>some </a:t>
            </a:r>
            <a:r>
              <a:rPr sz="1867" spc="-7" dirty="0">
                <a:latin typeface="Arial"/>
                <a:cs typeface="Arial"/>
              </a:rPr>
              <a:t>languages </a:t>
            </a:r>
            <a:r>
              <a:rPr sz="1867" dirty="0">
                <a:latin typeface="Arial"/>
                <a:cs typeface="Arial"/>
              </a:rPr>
              <a:t>(e.g., </a:t>
            </a:r>
            <a:r>
              <a:rPr sz="1867" spc="-7" dirty="0">
                <a:latin typeface="Arial"/>
                <a:cs typeface="Arial"/>
              </a:rPr>
              <a:t>C/C++ and  </a:t>
            </a:r>
            <a:r>
              <a:rPr sz="1867" dirty="0">
                <a:latin typeface="Arial"/>
                <a:cs typeface="Arial"/>
              </a:rPr>
              <a:t>Java), you </a:t>
            </a:r>
            <a:r>
              <a:rPr sz="1867" spc="-7" dirty="0">
                <a:latin typeface="Arial"/>
                <a:cs typeface="Arial"/>
              </a:rPr>
              <a:t>don’t need to tell Python the type of </a:t>
            </a:r>
            <a:r>
              <a:rPr sz="1867" dirty="0">
                <a:latin typeface="Arial"/>
                <a:cs typeface="Arial"/>
              </a:rPr>
              <a:t>a  variable </a:t>
            </a:r>
            <a:r>
              <a:rPr sz="1867" spc="-7" dirty="0">
                <a:latin typeface="Arial"/>
                <a:cs typeface="Arial"/>
              </a:rPr>
              <a:t>when </a:t>
            </a:r>
            <a:r>
              <a:rPr sz="1867" dirty="0">
                <a:latin typeface="Arial"/>
                <a:cs typeface="Arial"/>
              </a:rPr>
              <a:t>you </a:t>
            </a:r>
            <a:r>
              <a:rPr sz="1867" spc="-7" dirty="0">
                <a:latin typeface="Arial"/>
                <a:cs typeface="Arial"/>
              </a:rPr>
              <a:t>declare it. Instead, Python  figures out the type of </a:t>
            </a:r>
            <a:r>
              <a:rPr sz="1867" dirty="0">
                <a:latin typeface="Arial"/>
                <a:cs typeface="Arial"/>
              </a:rPr>
              <a:t>a variable</a:t>
            </a:r>
            <a:r>
              <a:rPr sz="1867" spc="-87" dirty="0">
                <a:latin typeface="Arial"/>
                <a:cs typeface="Arial"/>
              </a:rPr>
              <a:t> </a:t>
            </a:r>
            <a:r>
              <a:rPr sz="1867" spc="-7" dirty="0">
                <a:latin typeface="Arial"/>
                <a:cs typeface="Arial"/>
              </a:rPr>
              <a:t>automatically.</a:t>
            </a:r>
            <a:endParaRPr sz="1867">
              <a:latin typeface="Arial"/>
              <a:cs typeface="Arial"/>
            </a:endParaRPr>
          </a:p>
          <a:p>
            <a:pPr marL="113450" marR="450415">
              <a:lnSpc>
                <a:spcPts val="2200"/>
              </a:lnSpc>
            </a:pPr>
            <a:r>
              <a:rPr sz="1867" spc="-7" dirty="0">
                <a:latin typeface="Arial"/>
                <a:cs typeface="Arial"/>
              </a:rPr>
              <a:t>Python uses what is </a:t>
            </a:r>
            <a:r>
              <a:rPr sz="1867" dirty="0">
                <a:latin typeface="Arial"/>
                <a:cs typeface="Arial"/>
              </a:rPr>
              <a:t>called </a:t>
            </a:r>
            <a:r>
              <a:rPr sz="1867" b="1" spc="-7" dirty="0">
                <a:latin typeface="Arial"/>
                <a:cs typeface="Arial"/>
              </a:rPr>
              <a:t>duck </a:t>
            </a:r>
            <a:r>
              <a:rPr sz="1867" b="1" dirty="0">
                <a:latin typeface="Arial"/>
                <a:cs typeface="Arial"/>
              </a:rPr>
              <a:t>typing</a:t>
            </a:r>
            <a:r>
              <a:rPr sz="1867" dirty="0">
                <a:latin typeface="Arial"/>
                <a:cs typeface="Arial"/>
              </a:rPr>
              <a:t>, </a:t>
            </a:r>
            <a:r>
              <a:rPr sz="1867" spc="-7" dirty="0">
                <a:latin typeface="Arial"/>
                <a:cs typeface="Arial"/>
              </a:rPr>
              <a:t>which  we will </a:t>
            </a:r>
            <a:r>
              <a:rPr sz="1867" dirty="0">
                <a:latin typeface="Arial"/>
                <a:cs typeface="Arial"/>
              </a:rPr>
              <a:t>return </a:t>
            </a:r>
            <a:r>
              <a:rPr sz="1867" spc="-7" dirty="0">
                <a:latin typeface="Arial"/>
                <a:cs typeface="Arial"/>
              </a:rPr>
              <a:t>to in </a:t>
            </a:r>
            <a:r>
              <a:rPr sz="1867" dirty="0">
                <a:latin typeface="Arial"/>
                <a:cs typeface="Arial"/>
              </a:rPr>
              <a:t>a </a:t>
            </a:r>
            <a:r>
              <a:rPr sz="1867" spc="-7" dirty="0">
                <a:latin typeface="Arial"/>
                <a:cs typeface="Arial"/>
              </a:rPr>
              <a:t>few</a:t>
            </a:r>
            <a:r>
              <a:rPr sz="1867" spc="-47" dirty="0">
                <a:latin typeface="Arial"/>
                <a:cs typeface="Arial"/>
              </a:rPr>
              <a:t> </a:t>
            </a:r>
            <a:r>
              <a:rPr sz="1867" spc="-7" dirty="0">
                <a:latin typeface="Arial"/>
                <a:cs typeface="Arial"/>
              </a:rPr>
              <a:t>lectures.</a:t>
            </a:r>
            <a:endParaRPr sz="1867">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200" y="589048"/>
            <a:ext cx="5299927"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6" y="1621809"/>
            <a:ext cx="7250853" cy="1096818"/>
          </a:xfrm>
          <a:prstGeom prst="rect">
            <a:avLst/>
          </a:prstGeom>
        </p:spPr>
        <p:txBody>
          <a:bodyPr vert="horz" wrap="square" lIns="0" tIns="16933" rIns="0" bIns="0" rtlCol="0">
            <a:spAutoFit/>
          </a:bodyPr>
          <a:lstStyle/>
          <a:p>
            <a:pPr marL="16933">
              <a:spcBef>
                <a:spcPts val="133"/>
              </a:spcBef>
            </a:pPr>
            <a:r>
              <a:rPr sz="2400" b="1" spc="-7" dirty="0">
                <a:latin typeface="Arial"/>
                <a:cs typeface="Arial"/>
              </a:rPr>
              <a:t>Variable </a:t>
            </a:r>
            <a:r>
              <a:rPr sz="2400" spc="-7" dirty="0">
                <a:latin typeface="Arial"/>
                <a:cs typeface="Arial"/>
              </a:rPr>
              <a:t>is </a:t>
            </a:r>
            <a:r>
              <a:rPr sz="2400" dirty="0">
                <a:latin typeface="Arial"/>
                <a:cs typeface="Arial"/>
              </a:rPr>
              <a:t>a </a:t>
            </a:r>
            <a:r>
              <a:rPr sz="2400" spc="-7" dirty="0">
                <a:latin typeface="Arial"/>
                <a:cs typeface="Arial"/>
              </a:rPr>
              <a:t>name that </a:t>
            </a:r>
            <a:r>
              <a:rPr sz="2400" dirty="0">
                <a:latin typeface="Arial"/>
                <a:cs typeface="Arial"/>
              </a:rPr>
              <a:t>refers </a:t>
            </a:r>
            <a:r>
              <a:rPr sz="2400" spc="-7" dirty="0">
                <a:latin typeface="Arial"/>
                <a:cs typeface="Arial"/>
              </a:rPr>
              <a:t>to </a:t>
            </a:r>
            <a:r>
              <a:rPr sz="2400" dirty="0">
                <a:latin typeface="Arial"/>
                <a:cs typeface="Arial"/>
              </a:rPr>
              <a:t>a</a:t>
            </a:r>
            <a:r>
              <a:rPr sz="2400" spc="-33" dirty="0">
                <a:latin typeface="Arial"/>
                <a:cs typeface="Arial"/>
              </a:rPr>
              <a:t> </a:t>
            </a:r>
            <a:r>
              <a:rPr sz="2400" dirty="0">
                <a:latin typeface="Arial"/>
                <a:cs typeface="Arial"/>
              </a:rPr>
              <a:t>value</a:t>
            </a:r>
          </a:p>
          <a:p>
            <a:pPr>
              <a:spcBef>
                <a:spcPts val="67"/>
              </a:spcBef>
            </a:pPr>
            <a:endParaRPr sz="2133" dirty="0">
              <a:latin typeface="Arial"/>
              <a:cs typeface="Arial"/>
            </a:endParaRPr>
          </a:p>
          <a:p>
            <a:pPr marL="16933"/>
            <a:r>
              <a:rPr sz="2400" spc="-7" dirty="0">
                <a:latin typeface="Arial"/>
                <a:cs typeface="Arial"/>
              </a:rPr>
              <a:t>Assign </a:t>
            </a:r>
            <a:r>
              <a:rPr sz="2400" dirty="0">
                <a:latin typeface="Arial"/>
                <a:cs typeface="Arial"/>
              </a:rPr>
              <a:t>a value </a:t>
            </a:r>
            <a:r>
              <a:rPr sz="2400" spc="-7" dirty="0">
                <a:latin typeface="Arial"/>
                <a:cs typeface="Arial"/>
              </a:rPr>
              <a:t>to </a:t>
            </a:r>
            <a:r>
              <a:rPr sz="2400" dirty="0">
                <a:latin typeface="Arial"/>
                <a:cs typeface="Arial"/>
              </a:rPr>
              <a:t>a variable via </a:t>
            </a:r>
            <a:r>
              <a:rPr sz="2400" b="1" spc="-7" dirty="0">
                <a:latin typeface="Arial"/>
                <a:cs typeface="Arial"/>
              </a:rPr>
              <a:t>variable</a:t>
            </a:r>
            <a:r>
              <a:rPr sz="2400" b="1" spc="-100" dirty="0">
                <a:latin typeface="Arial"/>
                <a:cs typeface="Arial"/>
              </a:rPr>
              <a:t> </a:t>
            </a:r>
            <a:r>
              <a:rPr sz="2400" b="1" spc="-7" dirty="0">
                <a:latin typeface="Arial"/>
                <a:cs typeface="Arial"/>
              </a:rPr>
              <a:t>assignment</a:t>
            </a:r>
            <a:endParaRPr sz="2400" dirty="0">
              <a:latin typeface="Arial"/>
              <a:cs typeface="Arial"/>
            </a:endParaRPr>
          </a:p>
        </p:txBody>
      </p:sp>
      <p:sp>
        <p:nvSpPr>
          <p:cNvPr id="4" name="object 4"/>
          <p:cNvSpPr/>
          <p:nvPr/>
        </p:nvSpPr>
        <p:spPr>
          <a:xfrm>
            <a:off x="1015998" y="2798627"/>
            <a:ext cx="6456153" cy="3990085"/>
          </a:xfrm>
          <a:prstGeom prst="rect">
            <a:avLst/>
          </a:prstGeom>
          <a:blipFill>
            <a:blip r:embed="rId2" cstate="print"/>
            <a:stretch>
              <a:fillRect/>
            </a:stretch>
          </a:blipFill>
        </p:spPr>
        <p:txBody>
          <a:bodyPr wrap="square" lIns="0" tIns="0" rIns="0" bIns="0" rtlCol="0"/>
          <a:lstStyle/>
          <a:p>
            <a:endParaRPr sz="2400"/>
          </a:p>
        </p:txBody>
      </p:sp>
      <p:sp>
        <p:nvSpPr>
          <p:cNvPr id="5" name="object 5"/>
          <p:cNvSpPr txBox="1"/>
          <p:nvPr/>
        </p:nvSpPr>
        <p:spPr>
          <a:xfrm>
            <a:off x="6419853" y="252299"/>
            <a:ext cx="5499947" cy="1644895"/>
          </a:xfrm>
          <a:prstGeom prst="rect">
            <a:avLst/>
          </a:prstGeom>
          <a:solidFill>
            <a:srgbClr val="D8E9D3"/>
          </a:solidFill>
          <a:ln w="76199">
            <a:solidFill>
              <a:srgbClr val="38751C"/>
            </a:solidFill>
          </a:ln>
        </p:spPr>
        <p:txBody>
          <a:bodyPr vert="horz" wrap="square" lIns="0" tIns="117687" rIns="0" bIns="0" rtlCol="0">
            <a:spAutoFit/>
          </a:bodyPr>
          <a:lstStyle/>
          <a:p>
            <a:pPr marL="113450" marR="310719">
              <a:lnSpc>
                <a:spcPts val="2200"/>
              </a:lnSpc>
              <a:spcBef>
                <a:spcPts val="927"/>
              </a:spcBef>
            </a:pPr>
            <a:r>
              <a:rPr sz="1867" b="1" spc="-7" dirty="0">
                <a:latin typeface="Arial"/>
                <a:cs typeface="Arial"/>
              </a:rPr>
              <a:t>Note: </a:t>
            </a:r>
            <a:r>
              <a:rPr sz="1867" spc="-7" dirty="0">
                <a:latin typeface="Arial"/>
                <a:cs typeface="Arial"/>
              </a:rPr>
              <a:t>unlike </a:t>
            </a:r>
            <a:r>
              <a:rPr sz="1867" dirty="0">
                <a:latin typeface="Arial"/>
                <a:cs typeface="Arial"/>
              </a:rPr>
              <a:t>some </a:t>
            </a:r>
            <a:r>
              <a:rPr sz="1867" spc="-7" dirty="0">
                <a:latin typeface="Arial"/>
                <a:cs typeface="Arial"/>
              </a:rPr>
              <a:t>languages </a:t>
            </a:r>
            <a:r>
              <a:rPr sz="1867" dirty="0">
                <a:latin typeface="Arial"/>
                <a:cs typeface="Arial"/>
              </a:rPr>
              <a:t>(e.g., </a:t>
            </a:r>
            <a:r>
              <a:rPr sz="1867" spc="-7" dirty="0">
                <a:latin typeface="Arial"/>
                <a:cs typeface="Arial"/>
              </a:rPr>
              <a:t>C/C++ and  </a:t>
            </a:r>
            <a:r>
              <a:rPr sz="1867" dirty="0">
                <a:latin typeface="Arial"/>
                <a:cs typeface="Arial"/>
              </a:rPr>
              <a:t>Java), you </a:t>
            </a:r>
            <a:r>
              <a:rPr sz="1867" spc="-7" dirty="0">
                <a:latin typeface="Arial"/>
                <a:cs typeface="Arial"/>
              </a:rPr>
              <a:t>don’t need to tell Python the type of </a:t>
            </a:r>
            <a:r>
              <a:rPr sz="1867" dirty="0">
                <a:latin typeface="Arial"/>
                <a:cs typeface="Arial"/>
              </a:rPr>
              <a:t>a  variable </a:t>
            </a:r>
            <a:r>
              <a:rPr sz="1867" spc="-7" dirty="0">
                <a:latin typeface="Arial"/>
                <a:cs typeface="Arial"/>
              </a:rPr>
              <a:t>when </a:t>
            </a:r>
            <a:r>
              <a:rPr sz="1867" dirty="0">
                <a:latin typeface="Arial"/>
                <a:cs typeface="Arial"/>
              </a:rPr>
              <a:t>you </a:t>
            </a:r>
            <a:r>
              <a:rPr sz="1867" spc="-7" dirty="0">
                <a:latin typeface="Arial"/>
                <a:cs typeface="Arial"/>
              </a:rPr>
              <a:t>declare it. Instead, Python  figures out the type of </a:t>
            </a:r>
            <a:r>
              <a:rPr sz="1867" dirty="0">
                <a:latin typeface="Arial"/>
                <a:cs typeface="Arial"/>
              </a:rPr>
              <a:t>a variable</a:t>
            </a:r>
            <a:r>
              <a:rPr sz="1867" spc="-87" dirty="0">
                <a:latin typeface="Arial"/>
                <a:cs typeface="Arial"/>
              </a:rPr>
              <a:t> </a:t>
            </a:r>
            <a:r>
              <a:rPr sz="1867" spc="-7" dirty="0">
                <a:latin typeface="Arial"/>
                <a:cs typeface="Arial"/>
              </a:rPr>
              <a:t>automatically.</a:t>
            </a:r>
            <a:endParaRPr lang="en-US" sz="1867" spc="-7" dirty="0">
              <a:latin typeface="Arial"/>
              <a:cs typeface="Arial"/>
            </a:endParaRPr>
          </a:p>
          <a:p>
            <a:pPr marL="113450" marR="310719">
              <a:lnSpc>
                <a:spcPts val="2200"/>
              </a:lnSpc>
              <a:spcBef>
                <a:spcPts val="927"/>
              </a:spcBef>
            </a:pPr>
            <a:endParaRPr sz="1867" dirty="0">
              <a:latin typeface="Arial"/>
              <a:cs typeface="Arial"/>
            </a:endParaRPr>
          </a:p>
        </p:txBody>
      </p:sp>
      <p:sp>
        <p:nvSpPr>
          <p:cNvPr id="6" name="object 6"/>
          <p:cNvSpPr txBox="1"/>
          <p:nvPr/>
        </p:nvSpPr>
        <p:spPr>
          <a:xfrm>
            <a:off x="6419853" y="3470260"/>
            <a:ext cx="5499947" cy="2941404"/>
          </a:xfrm>
          <a:prstGeom prst="rect">
            <a:avLst/>
          </a:prstGeom>
          <a:solidFill>
            <a:srgbClr val="E9D1DB"/>
          </a:solidFill>
          <a:ln w="76199">
            <a:solidFill>
              <a:srgbClr val="4B112F"/>
            </a:solidFill>
          </a:ln>
        </p:spPr>
        <p:txBody>
          <a:bodyPr vert="horz" wrap="square" lIns="0" tIns="117687" rIns="0" bIns="0" rtlCol="0">
            <a:spAutoFit/>
          </a:bodyPr>
          <a:lstStyle/>
          <a:p>
            <a:pPr marL="113450" marR="109217">
              <a:lnSpc>
                <a:spcPts val="2200"/>
              </a:lnSpc>
              <a:spcBef>
                <a:spcPts val="927"/>
              </a:spcBef>
            </a:pPr>
            <a:r>
              <a:rPr sz="1867" spc="-7" dirty="0">
                <a:latin typeface="Arial"/>
                <a:cs typeface="Arial"/>
              </a:rPr>
              <a:t>Python </a:t>
            </a:r>
            <a:r>
              <a:rPr sz="1867" dirty="0">
                <a:latin typeface="Arial"/>
                <a:cs typeface="Arial"/>
              </a:rPr>
              <a:t>variable </a:t>
            </a:r>
            <a:r>
              <a:rPr sz="1867" spc="-7" dirty="0">
                <a:latin typeface="Arial"/>
                <a:cs typeface="Arial"/>
              </a:rPr>
              <a:t>names </a:t>
            </a:r>
            <a:r>
              <a:rPr sz="1867" dirty="0">
                <a:latin typeface="Arial"/>
                <a:cs typeface="Arial"/>
              </a:rPr>
              <a:t>can </a:t>
            </a:r>
            <a:r>
              <a:rPr sz="1867" spc="-7" dirty="0">
                <a:latin typeface="Arial"/>
                <a:cs typeface="Arial"/>
              </a:rPr>
              <a:t>be arbitrarily long, and  </a:t>
            </a:r>
            <a:r>
              <a:rPr sz="1867" dirty="0">
                <a:latin typeface="Arial"/>
                <a:cs typeface="Arial"/>
              </a:rPr>
              <a:t>may contain </a:t>
            </a:r>
            <a:r>
              <a:rPr sz="1867" spc="-7" dirty="0">
                <a:latin typeface="Arial"/>
                <a:cs typeface="Arial"/>
              </a:rPr>
              <a:t>any letters, numbers and underscore  </a:t>
            </a:r>
            <a:r>
              <a:rPr sz="1867" dirty="0">
                <a:latin typeface="Arial"/>
                <a:cs typeface="Arial"/>
              </a:rPr>
              <a:t>(</a:t>
            </a:r>
            <a:r>
              <a:rPr sz="1867" dirty="0">
                <a:latin typeface="Courier New"/>
                <a:cs typeface="Courier New"/>
              </a:rPr>
              <a:t>_</a:t>
            </a:r>
            <a:r>
              <a:rPr sz="1867" dirty="0">
                <a:latin typeface="Arial"/>
                <a:cs typeface="Arial"/>
              </a:rPr>
              <a:t>), </a:t>
            </a:r>
            <a:r>
              <a:rPr sz="1867" spc="-7" dirty="0">
                <a:latin typeface="Arial"/>
                <a:cs typeface="Arial"/>
              </a:rPr>
              <a:t>but </a:t>
            </a:r>
            <a:r>
              <a:rPr sz="1867" dirty="0">
                <a:latin typeface="Arial"/>
                <a:cs typeface="Arial"/>
              </a:rPr>
              <a:t>may </a:t>
            </a:r>
            <a:r>
              <a:rPr sz="1867" spc="-7" dirty="0">
                <a:latin typeface="Arial"/>
                <a:cs typeface="Arial"/>
              </a:rPr>
              <a:t>not </a:t>
            </a:r>
            <a:r>
              <a:rPr sz="1867" dirty="0">
                <a:latin typeface="Arial"/>
                <a:cs typeface="Arial"/>
              </a:rPr>
              <a:t>start </a:t>
            </a:r>
            <a:r>
              <a:rPr sz="1867" spc="-7" dirty="0">
                <a:latin typeface="Arial"/>
                <a:cs typeface="Arial"/>
              </a:rPr>
              <a:t>with </a:t>
            </a:r>
            <a:r>
              <a:rPr sz="1867" dirty="0">
                <a:latin typeface="Arial"/>
                <a:cs typeface="Arial"/>
              </a:rPr>
              <a:t>a </a:t>
            </a:r>
            <a:r>
              <a:rPr sz="1867" spc="-7" dirty="0">
                <a:latin typeface="Arial"/>
                <a:cs typeface="Arial"/>
              </a:rPr>
              <a:t>number. Variables  </a:t>
            </a:r>
            <a:r>
              <a:rPr sz="1867" dirty="0">
                <a:latin typeface="Arial"/>
                <a:cs typeface="Arial"/>
              </a:rPr>
              <a:t>can </a:t>
            </a:r>
            <a:r>
              <a:rPr sz="1867" spc="-7" dirty="0">
                <a:latin typeface="Arial"/>
                <a:cs typeface="Arial"/>
              </a:rPr>
              <a:t>have any name, except for the Python </a:t>
            </a:r>
            <a:r>
              <a:rPr sz="1867" dirty="0">
                <a:latin typeface="Arial"/>
                <a:cs typeface="Arial"/>
              </a:rPr>
              <a:t>3  reserved</a:t>
            </a:r>
            <a:r>
              <a:rPr sz="1867" spc="-13" dirty="0">
                <a:latin typeface="Arial"/>
                <a:cs typeface="Arial"/>
              </a:rPr>
              <a:t> </a:t>
            </a:r>
            <a:r>
              <a:rPr sz="1867" dirty="0">
                <a:latin typeface="Arial"/>
                <a:cs typeface="Arial"/>
              </a:rPr>
              <a:t>keywords:</a:t>
            </a:r>
            <a:endParaRPr sz="1867">
              <a:latin typeface="Arial"/>
              <a:cs typeface="Arial"/>
            </a:endParaRPr>
          </a:p>
          <a:p>
            <a:pPr marL="113450" marR="253994">
              <a:lnSpc>
                <a:spcPts val="2200"/>
              </a:lnSpc>
            </a:pPr>
            <a:r>
              <a:rPr sz="1867" spc="-7" dirty="0">
                <a:latin typeface="Courier New"/>
                <a:cs typeface="Courier New"/>
              </a:rPr>
              <a:t>None continue for lambda try True  def from nonlocal while and del  global not with as elif if or yield  assert else import pass break except  in</a:t>
            </a:r>
            <a:r>
              <a:rPr sz="1867" spc="-13" dirty="0">
                <a:latin typeface="Courier New"/>
                <a:cs typeface="Courier New"/>
              </a:rPr>
              <a:t> </a:t>
            </a:r>
            <a:r>
              <a:rPr sz="1867" spc="-7" dirty="0">
                <a:latin typeface="Courier New"/>
                <a:cs typeface="Courier New"/>
              </a:rPr>
              <a:t>raise</a:t>
            </a:r>
            <a:endParaRPr sz="1867">
              <a:latin typeface="Courier New"/>
              <a:cs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5713663"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6" y="1621809"/>
            <a:ext cx="7255087" cy="1096818"/>
          </a:xfrm>
          <a:prstGeom prst="rect">
            <a:avLst/>
          </a:prstGeom>
        </p:spPr>
        <p:txBody>
          <a:bodyPr vert="horz" wrap="square" lIns="0" tIns="16933" rIns="0" bIns="0" rtlCol="0">
            <a:spAutoFit/>
          </a:bodyPr>
          <a:lstStyle/>
          <a:p>
            <a:pPr marL="16933">
              <a:spcBef>
                <a:spcPts val="133"/>
              </a:spcBef>
            </a:pPr>
            <a:r>
              <a:rPr sz="2400" spc="-7" dirty="0">
                <a:latin typeface="Arial"/>
                <a:cs typeface="Arial"/>
              </a:rPr>
              <a:t>Sometimes we do need to </a:t>
            </a:r>
            <a:r>
              <a:rPr sz="2400" dirty="0">
                <a:latin typeface="Arial"/>
                <a:cs typeface="Arial"/>
              </a:rPr>
              <a:t>know </a:t>
            </a:r>
            <a:r>
              <a:rPr sz="2400" spc="-7" dirty="0">
                <a:latin typeface="Arial"/>
                <a:cs typeface="Arial"/>
              </a:rPr>
              <a:t>the type of </a:t>
            </a:r>
            <a:r>
              <a:rPr sz="2400" dirty="0">
                <a:latin typeface="Arial"/>
                <a:cs typeface="Arial"/>
              </a:rPr>
              <a:t>a</a:t>
            </a:r>
            <a:r>
              <a:rPr sz="2400" spc="-100" dirty="0">
                <a:latin typeface="Arial"/>
                <a:cs typeface="Arial"/>
              </a:rPr>
              <a:t> </a:t>
            </a:r>
            <a:r>
              <a:rPr sz="2400" dirty="0">
                <a:latin typeface="Arial"/>
                <a:cs typeface="Arial"/>
              </a:rPr>
              <a:t>variable</a:t>
            </a:r>
          </a:p>
          <a:p>
            <a:pPr>
              <a:spcBef>
                <a:spcPts val="67"/>
              </a:spcBef>
            </a:pPr>
            <a:endParaRPr sz="2133" dirty="0">
              <a:latin typeface="Arial"/>
              <a:cs typeface="Arial"/>
            </a:endParaRPr>
          </a:p>
          <a:p>
            <a:pPr marL="16933"/>
            <a:r>
              <a:rPr sz="2400" spc="-7" dirty="0">
                <a:latin typeface="Arial"/>
                <a:cs typeface="Arial"/>
              </a:rPr>
              <a:t>Python </a:t>
            </a:r>
            <a:r>
              <a:rPr sz="2400" spc="-7" dirty="0">
                <a:latin typeface="Courier New"/>
                <a:cs typeface="Courier New"/>
              </a:rPr>
              <a:t>type()</a:t>
            </a:r>
            <a:r>
              <a:rPr sz="2400" spc="-780" dirty="0">
                <a:latin typeface="Courier New"/>
                <a:cs typeface="Courier New"/>
              </a:rPr>
              <a:t> </a:t>
            </a:r>
            <a:r>
              <a:rPr sz="2400" spc="-7" dirty="0">
                <a:latin typeface="Arial"/>
                <a:cs typeface="Arial"/>
              </a:rPr>
              <a:t>function does this for us</a:t>
            </a:r>
            <a:endParaRPr sz="2400" dirty="0">
              <a:latin typeface="Arial"/>
              <a:cs typeface="Arial"/>
            </a:endParaRPr>
          </a:p>
        </p:txBody>
      </p:sp>
      <p:sp>
        <p:nvSpPr>
          <p:cNvPr id="4" name="object 4"/>
          <p:cNvSpPr/>
          <p:nvPr/>
        </p:nvSpPr>
        <p:spPr>
          <a:xfrm>
            <a:off x="609599" y="2827427"/>
            <a:ext cx="7561317" cy="4030557"/>
          </a:xfrm>
          <a:prstGeom prst="rect">
            <a:avLst/>
          </a:prstGeom>
          <a:blipFill>
            <a:blip r:embed="rId2" cstate="print"/>
            <a:stretch>
              <a:fillRect/>
            </a:stretch>
          </a:blipFill>
        </p:spPr>
        <p:txBody>
          <a:bodyPr wrap="square" lIns="0" tIns="0" rIns="0" bIns="0" rtlCol="0"/>
          <a:lstStyle/>
          <a:p>
            <a:endParaRPr sz="2400"/>
          </a:p>
        </p:txBody>
      </p:sp>
      <p:sp>
        <p:nvSpPr>
          <p:cNvPr id="5" name="object 5"/>
          <p:cNvSpPr txBox="1"/>
          <p:nvPr/>
        </p:nvSpPr>
        <p:spPr>
          <a:xfrm>
            <a:off x="6837353" y="4608158"/>
            <a:ext cx="4202007" cy="1248205"/>
          </a:xfrm>
          <a:prstGeom prst="rect">
            <a:avLst/>
          </a:prstGeom>
          <a:solidFill>
            <a:srgbClr val="CFE1F2"/>
          </a:solidFill>
          <a:ln w="76199">
            <a:solidFill>
              <a:srgbClr val="073662"/>
            </a:solidFill>
          </a:ln>
        </p:spPr>
        <p:txBody>
          <a:bodyPr vert="horz" wrap="square" lIns="0" tIns="118533" rIns="0" bIns="0" rtlCol="0">
            <a:spAutoFit/>
          </a:bodyPr>
          <a:lstStyle/>
          <a:p>
            <a:pPr marL="113450" marR="156629">
              <a:lnSpc>
                <a:spcPts val="2200"/>
              </a:lnSpc>
              <a:spcBef>
                <a:spcPts val="933"/>
              </a:spcBef>
            </a:pPr>
            <a:r>
              <a:rPr sz="1867" spc="-7" dirty="0">
                <a:latin typeface="Arial"/>
                <a:cs typeface="Arial"/>
              </a:rPr>
              <a:t>Recall that </a:t>
            </a:r>
            <a:r>
              <a:rPr sz="1867" spc="-7" dirty="0">
                <a:latin typeface="Courier New"/>
                <a:cs typeface="Courier New"/>
              </a:rPr>
              <a:t>type</a:t>
            </a:r>
            <a:r>
              <a:rPr sz="1867" spc="-600" dirty="0">
                <a:latin typeface="Courier New"/>
                <a:cs typeface="Courier New"/>
              </a:rPr>
              <a:t> </a:t>
            </a:r>
            <a:r>
              <a:rPr sz="1867" spc="-7" dirty="0">
                <a:latin typeface="Arial"/>
                <a:cs typeface="Arial"/>
              </a:rPr>
              <a:t>is one of the Python  </a:t>
            </a:r>
            <a:r>
              <a:rPr sz="1867" dirty="0">
                <a:latin typeface="Arial"/>
                <a:cs typeface="Arial"/>
              </a:rPr>
              <a:t>reserved </a:t>
            </a:r>
            <a:r>
              <a:rPr sz="1867" spc="-7" dirty="0">
                <a:latin typeface="Arial"/>
                <a:cs typeface="Arial"/>
              </a:rPr>
              <a:t>words. Syntax highlighting  </a:t>
            </a:r>
            <a:r>
              <a:rPr sz="1867" dirty="0">
                <a:latin typeface="Arial"/>
                <a:cs typeface="Arial"/>
              </a:rPr>
              <a:t>shows </a:t>
            </a:r>
            <a:r>
              <a:rPr sz="1867" spc="-7" dirty="0">
                <a:latin typeface="Arial"/>
                <a:cs typeface="Arial"/>
              </a:rPr>
              <a:t>it as green, indicating that it is  </a:t>
            </a:r>
            <a:r>
              <a:rPr sz="1867" dirty="0">
                <a:latin typeface="Arial"/>
                <a:cs typeface="Arial"/>
              </a:rPr>
              <a:t>a special </a:t>
            </a:r>
            <a:r>
              <a:rPr sz="1867" spc="-7" dirty="0">
                <a:latin typeface="Arial"/>
                <a:cs typeface="Arial"/>
              </a:rPr>
              <a:t>word in</a:t>
            </a:r>
            <a:r>
              <a:rPr sz="1867" spc="-40" dirty="0">
                <a:latin typeface="Arial"/>
                <a:cs typeface="Arial"/>
              </a:rPr>
              <a:t> </a:t>
            </a:r>
            <a:r>
              <a:rPr sz="1867" spc="-7" dirty="0">
                <a:latin typeface="Arial"/>
                <a:cs typeface="Arial"/>
              </a:rPr>
              <a:t>Python.</a:t>
            </a:r>
            <a:endParaRPr sz="1867">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5266267"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6" y="1621809"/>
            <a:ext cx="9089812" cy="1063539"/>
          </a:xfrm>
          <a:prstGeom prst="rect">
            <a:avLst/>
          </a:prstGeom>
        </p:spPr>
        <p:txBody>
          <a:bodyPr vert="horz" wrap="square" lIns="0" tIns="16933" rIns="0" bIns="0" rtlCol="0">
            <a:spAutoFit/>
          </a:bodyPr>
          <a:lstStyle/>
          <a:p>
            <a:pPr marL="16933">
              <a:spcBef>
                <a:spcPts val="133"/>
              </a:spcBef>
            </a:pPr>
            <a:r>
              <a:rPr sz="2400" spc="-7" dirty="0">
                <a:latin typeface="Arial"/>
                <a:cs typeface="Arial"/>
              </a:rPr>
              <a:t>We </a:t>
            </a:r>
            <a:r>
              <a:rPr sz="2400" dirty="0">
                <a:latin typeface="Arial"/>
                <a:cs typeface="Arial"/>
              </a:rPr>
              <a:t>can (sometimes) change </a:t>
            </a:r>
            <a:r>
              <a:rPr sz="2400" spc="-7" dirty="0">
                <a:latin typeface="Arial"/>
                <a:cs typeface="Arial"/>
              </a:rPr>
              <a:t>the type of </a:t>
            </a:r>
            <a:r>
              <a:rPr sz="2400" dirty="0">
                <a:latin typeface="Arial"/>
                <a:cs typeface="Arial"/>
              </a:rPr>
              <a:t>a </a:t>
            </a:r>
            <a:r>
              <a:rPr sz="2400" spc="-7" dirty="0">
                <a:latin typeface="Arial"/>
                <a:cs typeface="Arial"/>
              </a:rPr>
              <a:t>Python</a:t>
            </a:r>
            <a:r>
              <a:rPr sz="2400" spc="-80" dirty="0">
                <a:latin typeface="Arial"/>
                <a:cs typeface="Arial"/>
              </a:rPr>
              <a:t> </a:t>
            </a:r>
            <a:r>
              <a:rPr sz="2400" dirty="0">
                <a:latin typeface="Arial"/>
                <a:cs typeface="Arial"/>
              </a:rPr>
              <a:t>variable</a:t>
            </a:r>
          </a:p>
          <a:p>
            <a:pPr>
              <a:spcBef>
                <a:spcPts val="27"/>
              </a:spcBef>
            </a:pPr>
            <a:endParaRPr sz="2533" dirty="0">
              <a:latin typeface="Arial"/>
              <a:cs typeface="Arial"/>
            </a:endParaRPr>
          </a:p>
          <a:p>
            <a:pPr marL="58419">
              <a:tabLst>
                <a:tab pos="5951071" algn="l"/>
              </a:tabLst>
            </a:pPr>
            <a:r>
              <a:rPr sz="1867" spc="-7" dirty="0">
                <a:latin typeface="Arial"/>
                <a:cs typeface="Arial"/>
              </a:rPr>
              <a:t>Convert </a:t>
            </a:r>
            <a:r>
              <a:rPr sz="1867" dirty="0">
                <a:latin typeface="Arial"/>
                <a:cs typeface="Arial"/>
              </a:rPr>
              <a:t>a </a:t>
            </a:r>
            <a:r>
              <a:rPr sz="1867" spc="-7" dirty="0">
                <a:latin typeface="Courier New"/>
                <a:cs typeface="Courier New"/>
              </a:rPr>
              <a:t>float</a:t>
            </a:r>
            <a:r>
              <a:rPr sz="1867" spc="-487" dirty="0">
                <a:latin typeface="Courier New"/>
                <a:cs typeface="Courier New"/>
              </a:rPr>
              <a:t> </a:t>
            </a:r>
            <a:r>
              <a:rPr sz="1867" spc="-7" dirty="0">
                <a:latin typeface="Arial"/>
                <a:cs typeface="Arial"/>
              </a:rPr>
              <a:t>to an</a:t>
            </a:r>
            <a:r>
              <a:rPr sz="1867" spc="13" dirty="0">
                <a:latin typeface="Arial"/>
                <a:cs typeface="Arial"/>
              </a:rPr>
              <a:t> </a:t>
            </a:r>
            <a:r>
              <a:rPr sz="1867" spc="7" dirty="0">
                <a:latin typeface="Courier New"/>
                <a:cs typeface="Courier New"/>
              </a:rPr>
              <a:t>int</a:t>
            </a:r>
            <a:r>
              <a:rPr sz="1867" spc="7" dirty="0">
                <a:latin typeface="Arial"/>
                <a:cs typeface="Arial"/>
              </a:rPr>
              <a:t>:	</a:t>
            </a:r>
            <a:r>
              <a:rPr sz="1867" spc="-7" dirty="0">
                <a:latin typeface="Arial"/>
                <a:cs typeface="Arial"/>
              </a:rPr>
              <a:t>Convert </a:t>
            </a:r>
            <a:r>
              <a:rPr sz="1867" dirty="0">
                <a:latin typeface="Arial"/>
                <a:cs typeface="Arial"/>
              </a:rPr>
              <a:t>a </a:t>
            </a:r>
            <a:r>
              <a:rPr sz="1867" spc="-7" dirty="0">
                <a:latin typeface="Courier New"/>
                <a:cs typeface="Courier New"/>
              </a:rPr>
              <a:t>string</a:t>
            </a:r>
            <a:r>
              <a:rPr sz="1867" spc="-553" dirty="0">
                <a:latin typeface="Courier New"/>
                <a:cs typeface="Courier New"/>
              </a:rPr>
              <a:t> </a:t>
            </a:r>
            <a:r>
              <a:rPr sz="1867" spc="-7" dirty="0">
                <a:latin typeface="Arial"/>
                <a:cs typeface="Arial"/>
              </a:rPr>
              <a:t>to an </a:t>
            </a:r>
            <a:r>
              <a:rPr sz="1867" spc="7" dirty="0">
                <a:latin typeface="Courier New"/>
                <a:cs typeface="Courier New"/>
              </a:rPr>
              <a:t>int</a:t>
            </a:r>
            <a:r>
              <a:rPr sz="1867" spc="7" dirty="0">
                <a:latin typeface="Arial"/>
                <a:cs typeface="Arial"/>
              </a:rPr>
              <a:t>:</a:t>
            </a:r>
            <a:endParaRPr sz="1867" dirty="0">
              <a:latin typeface="Arial"/>
              <a:cs typeface="Arial"/>
            </a:endParaRPr>
          </a:p>
        </p:txBody>
      </p:sp>
      <p:sp>
        <p:nvSpPr>
          <p:cNvPr id="4" name="object 4"/>
          <p:cNvSpPr/>
          <p:nvPr/>
        </p:nvSpPr>
        <p:spPr>
          <a:xfrm>
            <a:off x="812797" y="2706627"/>
            <a:ext cx="3960792" cy="3765992"/>
          </a:xfrm>
          <a:prstGeom prst="rect">
            <a:avLst/>
          </a:prstGeom>
          <a:blipFill>
            <a:blip r:embed="rId2" cstate="print"/>
            <a:stretch>
              <a:fillRect/>
            </a:stretch>
          </a:blipFill>
        </p:spPr>
        <p:txBody>
          <a:bodyPr wrap="square" lIns="0" tIns="0" rIns="0" bIns="0" rtlCol="0"/>
          <a:lstStyle/>
          <a:p>
            <a:endParaRPr sz="2400"/>
          </a:p>
        </p:txBody>
      </p:sp>
      <p:sp>
        <p:nvSpPr>
          <p:cNvPr id="5" name="object 5"/>
          <p:cNvSpPr/>
          <p:nvPr/>
        </p:nvSpPr>
        <p:spPr>
          <a:xfrm>
            <a:off x="6559553" y="2706628"/>
            <a:ext cx="4986256" cy="2402545"/>
          </a:xfrm>
          <a:prstGeom prst="rect">
            <a:avLst/>
          </a:prstGeom>
          <a:blipFill>
            <a:blip r:embed="rId3" cstate="print"/>
            <a:stretch>
              <a:fillRect/>
            </a:stretch>
          </a:blipFill>
        </p:spPr>
        <p:txBody>
          <a:bodyPr wrap="square" lIns="0" tIns="0" rIns="0" bIns="0" rtlCol="0"/>
          <a:lstStyle/>
          <a:p>
            <a:endParaRPr sz="2400"/>
          </a:p>
        </p:txBody>
      </p:sp>
      <p:sp>
        <p:nvSpPr>
          <p:cNvPr id="6" name="object 6"/>
          <p:cNvSpPr txBox="1"/>
          <p:nvPr/>
        </p:nvSpPr>
        <p:spPr>
          <a:xfrm>
            <a:off x="6349987" y="464766"/>
            <a:ext cx="5266267" cy="683093"/>
          </a:xfrm>
          <a:prstGeom prst="rect">
            <a:avLst/>
          </a:prstGeom>
          <a:solidFill>
            <a:srgbClr val="D8E9D3"/>
          </a:solidFill>
          <a:ln w="76199">
            <a:solidFill>
              <a:srgbClr val="38751C"/>
            </a:solidFill>
          </a:ln>
        </p:spPr>
        <p:txBody>
          <a:bodyPr vert="horz" wrap="square" lIns="0" tIns="117687" rIns="0" bIns="0" rtlCol="0">
            <a:spAutoFit/>
          </a:bodyPr>
          <a:lstStyle/>
          <a:p>
            <a:pPr marL="113450" marR="283626">
              <a:lnSpc>
                <a:spcPts val="2200"/>
              </a:lnSpc>
              <a:spcBef>
                <a:spcPts val="927"/>
              </a:spcBef>
            </a:pPr>
            <a:r>
              <a:rPr sz="1867" b="1" spc="-7" dirty="0">
                <a:latin typeface="Arial"/>
                <a:cs typeface="Arial"/>
              </a:rPr>
              <a:t>Note: </a:t>
            </a:r>
            <a:r>
              <a:rPr sz="1867" dirty="0">
                <a:latin typeface="Arial"/>
                <a:cs typeface="Arial"/>
              </a:rPr>
              <a:t>changing a variable </a:t>
            </a:r>
            <a:r>
              <a:rPr sz="1867" spc="-7" dirty="0">
                <a:latin typeface="Arial"/>
                <a:cs typeface="Arial"/>
              </a:rPr>
              <a:t>to </a:t>
            </a:r>
            <a:r>
              <a:rPr sz="1867" dirty="0">
                <a:latin typeface="Arial"/>
                <a:cs typeface="Arial"/>
              </a:rPr>
              <a:t>a </a:t>
            </a:r>
            <a:r>
              <a:rPr sz="1867" spc="-7" dirty="0">
                <a:latin typeface="Arial"/>
                <a:cs typeface="Arial"/>
              </a:rPr>
              <a:t>different type is  often </a:t>
            </a:r>
            <a:r>
              <a:rPr sz="1867" dirty="0">
                <a:latin typeface="Arial"/>
                <a:cs typeface="Arial"/>
              </a:rPr>
              <a:t>called </a:t>
            </a:r>
            <a:r>
              <a:rPr sz="1867" b="1" spc="-7" dirty="0">
                <a:latin typeface="Arial"/>
                <a:cs typeface="Arial"/>
              </a:rPr>
              <a:t>casting </a:t>
            </a:r>
            <a:r>
              <a:rPr sz="1867" dirty="0">
                <a:latin typeface="Arial"/>
                <a:cs typeface="Arial"/>
              </a:rPr>
              <a:t>a variable </a:t>
            </a:r>
            <a:r>
              <a:rPr sz="1867" spc="-7" dirty="0">
                <a:latin typeface="Arial"/>
                <a:cs typeface="Arial"/>
              </a:rPr>
              <a:t>to that</a:t>
            </a:r>
            <a:r>
              <a:rPr sz="1867" spc="-87" dirty="0">
                <a:latin typeface="Arial"/>
                <a:cs typeface="Arial"/>
              </a:rPr>
              <a:t> </a:t>
            </a:r>
            <a:r>
              <a:rPr sz="1867" spc="-7" dirty="0">
                <a:latin typeface="Arial"/>
                <a:cs typeface="Arial"/>
              </a:rPr>
              <a:t>type.</a:t>
            </a:r>
            <a:endParaRPr sz="1867">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5158491"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6" y="1621809"/>
            <a:ext cx="9089812" cy="1063539"/>
          </a:xfrm>
          <a:prstGeom prst="rect">
            <a:avLst/>
          </a:prstGeom>
        </p:spPr>
        <p:txBody>
          <a:bodyPr vert="horz" wrap="square" lIns="0" tIns="16933" rIns="0" bIns="0" rtlCol="0">
            <a:spAutoFit/>
          </a:bodyPr>
          <a:lstStyle/>
          <a:p>
            <a:pPr marL="16933">
              <a:spcBef>
                <a:spcPts val="133"/>
              </a:spcBef>
            </a:pPr>
            <a:r>
              <a:rPr sz="2400" spc="-7" dirty="0">
                <a:latin typeface="Arial"/>
                <a:cs typeface="Arial"/>
              </a:rPr>
              <a:t>We </a:t>
            </a:r>
            <a:r>
              <a:rPr sz="2400" dirty="0">
                <a:latin typeface="Arial"/>
                <a:cs typeface="Arial"/>
              </a:rPr>
              <a:t>can (sometimes) change </a:t>
            </a:r>
            <a:r>
              <a:rPr sz="2400" spc="-7" dirty="0">
                <a:latin typeface="Arial"/>
                <a:cs typeface="Arial"/>
              </a:rPr>
              <a:t>the type of </a:t>
            </a:r>
            <a:r>
              <a:rPr sz="2400" dirty="0">
                <a:latin typeface="Arial"/>
                <a:cs typeface="Arial"/>
              </a:rPr>
              <a:t>a </a:t>
            </a:r>
            <a:r>
              <a:rPr sz="2400" spc="-7" dirty="0">
                <a:latin typeface="Arial"/>
                <a:cs typeface="Arial"/>
              </a:rPr>
              <a:t>Python</a:t>
            </a:r>
            <a:r>
              <a:rPr sz="2400" spc="-80" dirty="0">
                <a:latin typeface="Arial"/>
                <a:cs typeface="Arial"/>
              </a:rPr>
              <a:t> </a:t>
            </a:r>
            <a:r>
              <a:rPr sz="2400" dirty="0">
                <a:latin typeface="Arial"/>
                <a:cs typeface="Arial"/>
              </a:rPr>
              <a:t>variable</a:t>
            </a:r>
          </a:p>
          <a:p>
            <a:pPr>
              <a:spcBef>
                <a:spcPts val="27"/>
              </a:spcBef>
            </a:pPr>
            <a:endParaRPr sz="2533" dirty="0">
              <a:latin typeface="Arial"/>
              <a:cs typeface="Arial"/>
            </a:endParaRPr>
          </a:p>
          <a:p>
            <a:pPr marL="58419">
              <a:tabLst>
                <a:tab pos="5951071" algn="l"/>
              </a:tabLst>
            </a:pPr>
            <a:r>
              <a:rPr sz="1867" spc="-7" dirty="0">
                <a:latin typeface="Arial"/>
                <a:cs typeface="Arial"/>
              </a:rPr>
              <a:t>Convert </a:t>
            </a:r>
            <a:r>
              <a:rPr sz="1867" dirty="0">
                <a:latin typeface="Arial"/>
                <a:cs typeface="Arial"/>
              </a:rPr>
              <a:t>a </a:t>
            </a:r>
            <a:r>
              <a:rPr sz="1867" spc="-7" dirty="0">
                <a:latin typeface="Courier New"/>
                <a:cs typeface="Courier New"/>
              </a:rPr>
              <a:t>float</a:t>
            </a:r>
            <a:r>
              <a:rPr sz="1867" spc="-487" dirty="0">
                <a:latin typeface="Courier New"/>
                <a:cs typeface="Courier New"/>
              </a:rPr>
              <a:t> </a:t>
            </a:r>
            <a:r>
              <a:rPr sz="1867" spc="-7" dirty="0">
                <a:latin typeface="Arial"/>
                <a:cs typeface="Arial"/>
              </a:rPr>
              <a:t>to an</a:t>
            </a:r>
            <a:r>
              <a:rPr sz="1867" spc="13" dirty="0">
                <a:latin typeface="Arial"/>
                <a:cs typeface="Arial"/>
              </a:rPr>
              <a:t> </a:t>
            </a:r>
            <a:r>
              <a:rPr sz="1867" spc="7" dirty="0">
                <a:latin typeface="Courier New"/>
                <a:cs typeface="Courier New"/>
              </a:rPr>
              <a:t>int</a:t>
            </a:r>
            <a:r>
              <a:rPr sz="1867" spc="7" dirty="0">
                <a:latin typeface="Arial"/>
                <a:cs typeface="Arial"/>
              </a:rPr>
              <a:t>:	</a:t>
            </a:r>
            <a:r>
              <a:rPr sz="1867" spc="-7" dirty="0">
                <a:latin typeface="Arial"/>
                <a:cs typeface="Arial"/>
              </a:rPr>
              <a:t>Convert </a:t>
            </a:r>
            <a:r>
              <a:rPr sz="1867" dirty="0">
                <a:latin typeface="Arial"/>
                <a:cs typeface="Arial"/>
              </a:rPr>
              <a:t>a </a:t>
            </a:r>
            <a:r>
              <a:rPr sz="1867" spc="-7" dirty="0">
                <a:latin typeface="Courier New"/>
                <a:cs typeface="Courier New"/>
              </a:rPr>
              <a:t>string</a:t>
            </a:r>
            <a:r>
              <a:rPr sz="1867" spc="-553" dirty="0">
                <a:latin typeface="Courier New"/>
                <a:cs typeface="Courier New"/>
              </a:rPr>
              <a:t> </a:t>
            </a:r>
            <a:r>
              <a:rPr sz="1867" spc="-7" dirty="0">
                <a:latin typeface="Arial"/>
                <a:cs typeface="Arial"/>
              </a:rPr>
              <a:t>to an </a:t>
            </a:r>
            <a:r>
              <a:rPr sz="1867" spc="7" dirty="0">
                <a:latin typeface="Courier New"/>
                <a:cs typeface="Courier New"/>
              </a:rPr>
              <a:t>int</a:t>
            </a:r>
            <a:r>
              <a:rPr sz="1867" spc="7" dirty="0">
                <a:latin typeface="Arial"/>
                <a:cs typeface="Arial"/>
              </a:rPr>
              <a:t>:</a:t>
            </a:r>
            <a:endParaRPr sz="1867" dirty="0">
              <a:latin typeface="Arial"/>
              <a:cs typeface="Arial"/>
            </a:endParaRPr>
          </a:p>
        </p:txBody>
      </p:sp>
      <p:sp>
        <p:nvSpPr>
          <p:cNvPr id="4" name="object 4"/>
          <p:cNvSpPr/>
          <p:nvPr/>
        </p:nvSpPr>
        <p:spPr>
          <a:xfrm>
            <a:off x="812797" y="2706627"/>
            <a:ext cx="3960792" cy="3765992"/>
          </a:xfrm>
          <a:prstGeom prst="rect">
            <a:avLst/>
          </a:prstGeom>
          <a:blipFill>
            <a:blip r:embed="rId2" cstate="print"/>
            <a:stretch>
              <a:fillRect/>
            </a:stretch>
          </a:blipFill>
        </p:spPr>
        <p:txBody>
          <a:bodyPr wrap="square" lIns="0" tIns="0" rIns="0" bIns="0" rtlCol="0"/>
          <a:lstStyle/>
          <a:p>
            <a:endParaRPr sz="2400"/>
          </a:p>
        </p:txBody>
      </p:sp>
      <p:grpSp>
        <p:nvGrpSpPr>
          <p:cNvPr id="5" name="object 5"/>
          <p:cNvGrpSpPr/>
          <p:nvPr/>
        </p:nvGrpSpPr>
        <p:grpSpPr>
          <a:xfrm>
            <a:off x="6464287" y="2706628"/>
            <a:ext cx="5081693" cy="4002193"/>
            <a:chOff x="4848215" y="2029970"/>
            <a:chExt cx="3811270" cy="3001645"/>
          </a:xfrm>
        </p:grpSpPr>
        <p:sp>
          <p:nvSpPr>
            <p:cNvPr id="6" name="object 6"/>
            <p:cNvSpPr/>
            <p:nvPr/>
          </p:nvSpPr>
          <p:spPr>
            <a:xfrm>
              <a:off x="4919665" y="2029970"/>
              <a:ext cx="3739692" cy="2636069"/>
            </a:xfrm>
            <a:prstGeom prst="rect">
              <a:avLst/>
            </a:prstGeom>
            <a:blipFill>
              <a:blip r:embed="rId3" cstate="print"/>
              <a:stretch>
                <a:fillRect/>
              </a:stretch>
            </a:blipFill>
          </p:spPr>
          <p:txBody>
            <a:bodyPr wrap="square" lIns="0" tIns="0" rIns="0" bIns="0" rtlCol="0"/>
            <a:lstStyle/>
            <a:p>
              <a:endParaRPr sz="2400"/>
            </a:p>
          </p:txBody>
        </p:sp>
        <p:sp>
          <p:nvSpPr>
            <p:cNvPr id="7" name="object 7"/>
            <p:cNvSpPr/>
            <p:nvPr/>
          </p:nvSpPr>
          <p:spPr>
            <a:xfrm>
              <a:off x="4886315" y="3921917"/>
              <a:ext cx="3525520" cy="1071880"/>
            </a:xfrm>
            <a:custGeom>
              <a:avLst/>
              <a:gdLst/>
              <a:ahLst/>
              <a:cxnLst/>
              <a:rect l="l" t="t" r="r" b="b"/>
              <a:pathLst>
                <a:path w="3525520" h="1071879">
                  <a:moveTo>
                    <a:pt x="0" y="0"/>
                  </a:moveTo>
                  <a:lnTo>
                    <a:pt x="3525292" y="0"/>
                  </a:lnTo>
                  <a:lnTo>
                    <a:pt x="3525292" y="1071597"/>
                  </a:lnTo>
                  <a:lnTo>
                    <a:pt x="0" y="1071597"/>
                  </a:lnTo>
                  <a:lnTo>
                    <a:pt x="0" y="0"/>
                  </a:lnTo>
                  <a:close/>
                </a:path>
              </a:pathLst>
            </a:custGeom>
            <a:ln w="76199">
              <a:solidFill>
                <a:srgbClr val="4B112F"/>
              </a:solidFill>
            </a:ln>
          </p:spPr>
          <p:txBody>
            <a:bodyPr wrap="square" lIns="0" tIns="0" rIns="0" bIns="0" rtlCol="0"/>
            <a:lstStyle/>
            <a:p>
              <a:endParaRPr sz="2400"/>
            </a:p>
          </p:txBody>
        </p:sp>
      </p:grpSp>
      <p:sp>
        <p:nvSpPr>
          <p:cNvPr id="8" name="object 8"/>
          <p:cNvSpPr txBox="1"/>
          <p:nvPr/>
        </p:nvSpPr>
        <p:spPr>
          <a:xfrm>
            <a:off x="2903527" y="5319355"/>
            <a:ext cx="3401060" cy="966397"/>
          </a:xfrm>
          <a:prstGeom prst="rect">
            <a:avLst/>
          </a:prstGeom>
          <a:solidFill>
            <a:srgbClr val="E9D1DB"/>
          </a:solidFill>
          <a:ln w="76199">
            <a:solidFill>
              <a:srgbClr val="4B112F"/>
            </a:solidFill>
          </a:ln>
        </p:spPr>
        <p:txBody>
          <a:bodyPr vert="horz" wrap="square" lIns="0" tIns="118533" rIns="0" bIns="0" rtlCol="0">
            <a:spAutoFit/>
          </a:bodyPr>
          <a:lstStyle/>
          <a:p>
            <a:pPr marL="114297" marR="391997" algn="just">
              <a:lnSpc>
                <a:spcPts val="2200"/>
              </a:lnSpc>
              <a:spcBef>
                <a:spcPts val="933"/>
              </a:spcBef>
            </a:pPr>
            <a:r>
              <a:rPr sz="1867" b="1" spc="-7" dirty="0">
                <a:latin typeface="Arial"/>
                <a:cs typeface="Arial"/>
              </a:rPr>
              <a:t>Test your understanding:  </a:t>
            </a:r>
            <a:r>
              <a:rPr sz="1867" spc="-7" dirty="0">
                <a:latin typeface="Arial"/>
                <a:cs typeface="Arial"/>
              </a:rPr>
              <a:t>what </a:t>
            </a:r>
            <a:r>
              <a:rPr sz="1867" dirty="0">
                <a:latin typeface="Arial"/>
                <a:cs typeface="Arial"/>
              </a:rPr>
              <a:t>should </a:t>
            </a:r>
            <a:r>
              <a:rPr sz="1867" spc="-7" dirty="0">
                <a:latin typeface="Arial"/>
                <a:cs typeface="Arial"/>
              </a:rPr>
              <a:t>be the </a:t>
            </a:r>
            <a:r>
              <a:rPr sz="1867" dirty="0">
                <a:latin typeface="Arial"/>
                <a:cs typeface="Arial"/>
              </a:rPr>
              <a:t>value</a:t>
            </a:r>
            <a:r>
              <a:rPr sz="1867" spc="-127" dirty="0">
                <a:latin typeface="Arial"/>
                <a:cs typeface="Arial"/>
              </a:rPr>
              <a:t> </a:t>
            </a:r>
            <a:r>
              <a:rPr sz="1867" spc="-7" dirty="0">
                <a:latin typeface="Arial"/>
                <a:cs typeface="Arial"/>
              </a:rPr>
              <a:t>of  </a:t>
            </a:r>
            <a:r>
              <a:rPr sz="1867" spc="-7" dirty="0">
                <a:latin typeface="Courier New"/>
                <a:cs typeface="Courier New"/>
              </a:rPr>
              <a:t>float_from_int</a:t>
            </a:r>
            <a:r>
              <a:rPr sz="1867" spc="-847" dirty="0">
                <a:latin typeface="Courier New"/>
                <a:cs typeface="Courier New"/>
              </a:rPr>
              <a:t> </a:t>
            </a:r>
            <a:r>
              <a:rPr sz="1867" dirty="0">
                <a:latin typeface="Arial"/>
                <a:cs typeface="Arial"/>
              </a:rPr>
              <a:t>?</a:t>
            </a:r>
            <a:endParaRPr sz="1867">
              <a:latin typeface="Arial"/>
              <a:cs typeface="Arial"/>
            </a:endParaRPr>
          </a:p>
        </p:txBody>
      </p:sp>
      <p:sp>
        <p:nvSpPr>
          <p:cNvPr id="9" name="object 9"/>
          <p:cNvSpPr txBox="1"/>
          <p:nvPr/>
        </p:nvSpPr>
        <p:spPr>
          <a:xfrm>
            <a:off x="6349987" y="464766"/>
            <a:ext cx="5266267" cy="683093"/>
          </a:xfrm>
          <a:prstGeom prst="rect">
            <a:avLst/>
          </a:prstGeom>
          <a:solidFill>
            <a:srgbClr val="D8E9D3"/>
          </a:solidFill>
          <a:ln w="76199">
            <a:solidFill>
              <a:srgbClr val="38751C"/>
            </a:solidFill>
          </a:ln>
        </p:spPr>
        <p:txBody>
          <a:bodyPr vert="horz" wrap="square" lIns="0" tIns="117687" rIns="0" bIns="0" rtlCol="0">
            <a:spAutoFit/>
          </a:bodyPr>
          <a:lstStyle/>
          <a:p>
            <a:pPr marL="113450" marR="283626">
              <a:lnSpc>
                <a:spcPts val="2200"/>
              </a:lnSpc>
              <a:spcBef>
                <a:spcPts val="927"/>
              </a:spcBef>
            </a:pPr>
            <a:r>
              <a:rPr sz="1867" b="1" spc="-7" dirty="0">
                <a:latin typeface="Arial"/>
                <a:cs typeface="Arial"/>
              </a:rPr>
              <a:t>Note: </a:t>
            </a:r>
            <a:r>
              <a:rPr sz="1867" dirty="0">
                <a:latin typeface="Arial"/>
                <a:cs typeface="Arial"/>
              </a:rPr>
              <a:t>changing a variable </a:t>
            </a:r>
            <a:r>
              <a:rPr sz="1867" spc="-7" dirty="0">
                <a:latin typeface="Arial"/>
                <a:cs typeface="Arial"/>
              </a:rPr>
              <a:t>to </a:t>
            </a:r>
            <a:r>
              <a:rPr sz="1867" dirty="0">
                <a:latin typeface="Arial"/>
                <a:cs typeface="Arial"/>
              </a:rPr>
              <a:t>a </a:t>
            </a:r>
            <a:r>
              <a:rPr sz="1867" spc="-7" dirty="0">
                <a:latin typeface="Arial"/>
                <a:cs typeface="Arial"/>
              </a:rPr>
              <a:t>different type is  often </a:t>
            </a:r>
            <a:r>
              <a:rPr sz="1867" dirty="0">
                <a:latin typeface="Arial"/>
                <a:cs typeface="Arial"/>
              </a:rPr>
              <a:t>called </a:t>
            </a:r>
            <a:r>
              <a:rPr sz="1867" b="1" spc="-7" dirty="0">
                <a:latin typeface="Arial"/>
                <a:cs typeface="Arial"/>
              </a:rPr>
              <a:t>casting </a:t>
            </a:r>
            <a:r>
              <a:rPr sz="1867" dirty="0">
                <a:latin typeface="Arial"/>
                <a:cs typeface="Arial"/>
              </a:rPr>
              <a:t>a variable </a:t>
            </a:r>
            <a:r>
              <a:rPr sz="1867" spc="-7" dirty="0">
                <a:latin typeface="Arial"/>
                <a:cs typeface="Arial"/>
              </a:rPr>
              <a:t>to that</a:t>
            </a:r>
            <a:r>
              <a:rPr sz="1867" spc="-87" dirty="0">
                <a:latin typeface="Arial"/>
                <a:cs typeface="Arial"/>
              </a:rPr>
              <a:t> </a:t>
            </a:r>
            <a:r>
              <a:rPr sz="1867" spc="-7" dirty="0">
                <a:latin typeface="Arial"/>
                <a:cs typeface="Arial"/>
              </a:rPr>
              <a:t>type.</a:t>
            </a:r>
            <a:endParaRPr sz="1867">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6" y="626078"/>
            <a:ext cx="5329048"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6" y="1621809"/>
            <a:ext cx="9089812" cy="1063539"/>
          </a:xfrm>
          <a:prstGeom prst="rect">
            <a:avLst/>
          </a:prstGeom>
        </p:spPr>
        <p:txBody>
          <a:bodyPr vert="horz" wrap="square" lIns="0" tIns="16933" rIns="0" bIns="0" rtlCol="0">
            <a:spAutoFit/>
          </a:bodyPr>
          <a:lstStyle/>
          <a:p>
            <a:pPr marL="16933">
              <a:spcBef>
                <a:spcPts val="133"/>
              </a:spcBef>
            </a:pPr>
            <a:r>
              <a:rPr sz="2400" spc="-7" dirty="0">
                <a:latin typeface="Arial"/>
                <a:cs typeface="Arial"/>
              </a:rPr>
              <a:t>We </a:t>
            </a:r>
            <a:r>
              <a:rPr sz="2400" dirty="0">
                <a:latin typeface="Arial"/>
                <a:cs typeface="Arial"/>
              </a:rPr>
              <a:t>can (sometimes) change </a:t>
            </a:r>
            <a:r>
              <a:rPr sz="2400" spc="-7" dirty="0">
                <a:latin typeface="Arial"/>
                <a:cs typeface="Arial"/>
              </a:rPr>
              <a:t>the type of </a:t>
            </a:r>
            <a:r>
              <a:rPr sz="2400" dirty="0">
                <a:latin typeface="Arial"/>
                <a:cs typeface="Arial"/>
              </a:rPr>
              <a:t>a </a:t>
            </a:r>
            <a:r>
              <a:rPr sz="2400" spc="-7" dirty="0">
                <a:latin typeface="Arial"/>
                <a:cs typeface="Arial"/>
              </a:rPr>
              <a:t>Python</a:t>
            </a:r>
            <a:r>
              <a:rPr sz="2400" spc="-80" dirty="0">
                <a:latin typeface="Arial"/>
                <a:cs typeface="Arial"/>
              </a:rPr>
              <a:t> </a:t>
            </a:r>
            <a:r>
              <a:rPr sz="2400" dirty="0">
                <a:latin typeface="Arial"/>
                <a:cs typeface="Arial"/>
              </a:rPr>
              <a:t>variable</a:t>
            </a:r>
          </a:p>
          <a:p>
            <a:pPr>
              <a:spcBef>
                <a:spcPts val="27"/>
              </a:spcBef>
            </a:pPr>
            <a:endParaRPr sz="2533" dirty="0">
              <a:latin typeface="Arial"/>
              <a:cs typeface="Arial"/>
            </a:endParaRPr>
          </a:p>
          <a:p>
            <a:pPr marL="58419">
              <a:tabLst>
                <a:tab pos="5951071" algn="l"/>
              </a:tabLst>
            </a:pPr>
            <a:r>
              <a:rPr sz="1867" spc="-7" dirty="0">
                <a:latin typeface="Arial"/>
                <a:cs typeface="Arial"/>
              </a:rPr>
              <a:t>Convert </a:t>
            </a:r>
            <a:r>
              <a:rPr sz="1867" dirty="0">
                <a:latin typeface="Arial"/>
                <a:cs typeface="Arial"/>
              </a:rPr>
              <a:t>a </a:t>
            </a:r>
            <a:r>
              <a:rPr sz="1867" spc="-7" dirty="0">
                <a:latin typeface="Courier New"/>
                <a:cs typeface="Courier New"/>
              </a:rPr>
              <a:t>float</a:t>
            </a:r>
            <a:r>
              <a:rPr sz="1867" spc="-487" dirty="0">
                <a:latin typeface="Courier New"/>
                <a:cs typeface="Courier New"/>
              </a:rPr>
              <a:t> </a:t>
            </a:r>
            <a:r>
              <a:rPr sz="1867" spc="-7" dirty="0">
                <a:latin typeface="Arial"/>
                <a:cs typeface="Arial"/>
              </a:rPr>
              <a:t>to an</a:t>
            </a:r>
            <a:r>
              <a:rPr sz="1867" spc="13" dirty="0">
                <a:latin typeface="Arial"/>
                <a:cs typeface="Arial"/>
              </a:rPr>
              <a:t> </a:t>
            </a:r>
            <a:r>
              <a:rPr sz="1867" spc="7" dirty="0">
                <a:latin typeface="Courier New"/>
                <a:cs typeface="Courier New"/>
              </a:rPr>
              <a:t>int</a:t>
            </a:r>
            <a:r>
              <a:rPr sz="1867" spc="7" dirty="0">
                <a:latin typeface="Arial"/>
                <a:cs typeface="Arial"/>
              </a:rPr>
              <a:t>:	</a:t>
            </a:r>
            <a:r>
              <a:rPr sz="1867" spc="-7" dirty="0">
                <a:latin typeface="Arial"/>
                <a:cs typeface="Arial"/>
              </a:rPr>
              <a:t>Convert </a:t>
            </a:r>
            <a:r>
              <a:rPr sz="1867" dirty="0">
                <a:latin typeface="Arial"/>
                <a:cs typeface="Arial"/>
              </a:rPr>
              <a:t>a </a:t>
            </a:r>
            <a:r>
              <a:rPr sz="1867" spc="-7" dirty="0">
                <a:latin typeface="Courier New"/>
                <a:cs typeface="Courier New"/>
              </a:rPr>
              <a:t>string</a:t>
            </a:r>
            <a:r>
              <a:rPr sz="1867" spc="-553" dirty="0">
                <a:latin typeface="Courier New"/>
                <a:cs typeface="Courier New"/>
              </a:rPr>
              <a:t> </a:t>
            </a:r>
            <a:r>
              <a:rPr sz="1867" spc="-7" dirty="0">
                <a:latin typeface="Arial"/>
                <a:cs typeface="Arial"/>
              </a:rPr>
              <a:t>to an </a:t>
            </a:r>
            <a:r>
              <a:rPr sz="1867" spc="7" dirty="0">
                <a:latin typeface="Courier New"/>
                <a:cs typeface="Courier New"/>
              </a:rPr>
              <a:t>int</a:t>
            </a:r>
            <a:r>
              <a:rPr sz="1867" spc="7" dirty="0">
                <a:latin typeface="Arial"/>
                <a:cs typeface="Arial"/>
              </a:rPr>
              <a:t>:</a:t>
            </a:r>
            <a:endParaRPr sz="1867" dirty="0">
              <a:latin typeface="Arial"/>
              <a:cs typeface="Arial"/>
            </a:endParaRPr>
          </a:p>
        </p:txBody>
      </p:sp>
      <p:sp>
        <p:nvSpPr>
          <p:cNvPr id="4" name="object 4"/>
          <p:cNvSpPr/>
          <p:nvPr/>
        </p:nvSpPr>
        <p:spPr>
          <a:xfrm>
            <a:off x="812797" y="2706627"/>
            <a:ext cx="3960792" cy="3765992"/>
          </a:xfrm>
          <a:prstGeom prst="rect">
            <a:avLst/>
          </a:prstGeom>
          <a:blipFill>
            <a:blip r:embed="rId2" cstate="print"/>
            <a:stretch>
              <a:fillRect/>
            </a:stretch>
          </a:blipFill>
        </p:spPr>
        <p:txBody>
          <a:bodyPr wrap="square" lIns="0" tIns="0" rIns="0" bIns="0" rtlCol="0"/>
          <a:lstStyle/>
          <a:p>
            <a:endParaRPr sz="2400"/>
          </a:p>
        </p:txBody>
      </p:sp>
      <p:grpSp>
        <p:nvGrpSpPr>
          <p:cNvPr id="5" name="object 5"/>
          <p:cNvGrpSpPr/>
          <p:nvPr/>
        </p:nvGrpSpPr>
        <p:grpSpPr>
          <a:xfrm>
            <a:off x="6464287" y="2706628"/>
            <a:ext cx="5081693" cy="4002193"/>
            <a:chOff x="4848215" y="2029970"/>
            <a:chExt cx="3811270" cy="3001645"/>
          </a:xfrm>
        </p:grpSpPr>
        <p:sp>
          <p:nvSpPr>
            <p:cNvPr id="6" name="object 6"/>
            <p:cNvSpPr/>
            <p:nvPr/>
          </p:nvSpPr>
          <p:spPr>
            <a:xfrm>
              <a:off x="4919665" y="2029970"/>
              <a:ext cx="3739692" cy="2981823"/>
            </a:xfrm>
            <a:prstGeom prst="rect">
              <a:avLst/>
            </a:prstGeom>
            <a:blipFill>
              <a:blip r:embed="rId3" cstate="print"/>
              <a:stretch>
                <a:fillRect/>
              </a:stretch>
            </a:blipFill>
          </p:spPr>
          <p:txBody>
            <a:bodyPr wrap="square" lIns="0" tIns="0" rIns="0" bIns="0" rtlCol="0"/>
            <a:lstStyle/>
            <a:p>
              <a:endParaRPr sz="2400"/>
            </a:p>
          </p:txBody>
        </p:sp>
        <p:sp>
          <p:nvSpPr>
            <p:cNvPr id="7" name="object 7"/>
            <p:cNvSpPr/>
            <p:nvPr/>
          </p:nvSpPr>
          <p:spPr>
            <a:xfrm>
              <a:off x="4886315" y="3921917"/>
              <a:ext cx="3525520" cy="1071880"/>
            </a:xfrm>
            <a:custGeom>
              <a:avLst/>
              <a:gdLst/>
              <a:ahLst/>
              <a:cxnLst/>
              <a:rect l="l" t="t" r="r" b="b"/>
              <a:pathLst>
                <a:path w="3525520" h="1071879">
                  <a:moveTo>
                    <a:pt x="0" y="0"/>
                  </a:moveTo>
                  <a:lnTo>
                    <a:pt x="3525292" y="0"/>
                  </a:lnTo>
                  <a:lnTo>
                    <a:pt x="3525292" y="1071597"/>
                  </a:lnTo>
                  <a:lnTo>
                    <a:pt x="0" y="1071597"/>
                  </a:lnTo>
                  <a:lnTo>
                    <a:pt x="0" y="0"/>
                  </a:lnTo>
                  <a:close/>
                </a:path>
              </a:pathLst>
            </a:custGeom>
            <a:ln w="76199">
              <a:solidFill>
                <a:srgbClr val="4B112F"/>
              </a:solidFill>
            </a:ln>
          </p:spPr>
          <p:txBody>
            <a:bodyPr wrap="square" lIns="0" tIns="0" rIns="0" bIns="0" rtlCol="0"/>
            <a:lstStyle/>
            <a:p>
              <a:endParaRPr sz="2400"/>
            </a:p>
          </p:txBody>
        </p:sp>
      </p:grpSp>
      <p:sp>
        <p:nvSpPr>
          <p:cNvPr id="8" name="object 8"/>
          <p:cNvSpPr txBox="1"/>
          <p:nvPr/>
        </p:nvSpPr>
        <p:spPr>
          <a:xfrm>
            <a:off x="2903527" y="5319355"/>
            <a:ext cx="3401060" cy="966397"/>
          </a:xfrm>
          <a:prstGeom prst="rect">
            <a:avLst/>
          </a:prstGeom>
          <a:solidFill>
            <a:srgbClr val="E9D1DB"/>
          </a:solidFill>
          <a:ln w="76199">
            <a:solidFill>
              <a:srgbClr val="4B112F"/>
            </a:solidFill>
          </a:ln>
        </p:spPr>
        <p:txBody>
          <a:bodyPr vert="horz" wrap="square" lIns="0" tIns="118533" rIns="0" bIns="0" rtlCol="0">
            <a:spAutoFit/>
          </a:bodyPr>
          <a:lstStyle/>
          <a:p>
            <a:pPr marL="114297" marR="391997" algn="just">
              <a:lnSpc>
                <a:spcPts val="2200"/>
              </a:lnSpc>
              <a:spcBef>
                <a:spcPts val="933"/>
              </a:spcBef>
            </a:pPr>
            <a:r>
              <a:rPr sz="1867" b="1" spc="-7" dirty="0">
                <a:latin typeface="Arial"/>
                <a:cs typeface="Arial"/>
              </a:rPr>
              <a:t>Test your understanding:  </a:t>
            </a:r>
            <a:r>
              <a:rPr sz="1867" spc="-7" dirty="0">
                <a:latin typeface="Arial"/>
                <a:cs typeface="Arial"/>
              </a:rPr>
              <a:t>what </a:t>
            </a:r>
            <a:r>
              <a:rPr sz="1867" dirty="0">
                <a:latin typeface="Arial"/>
                <a:cs typeface="Arial"/>
              </a:rPr>
              <a:t>should </a:t>
            </a:r>
            <a:r>
              <a:rPr sz="1867" spc="-7" dirty="0">
                <a:latin typeface="Arial"/>
                <a:cs typeface="Arial"/>
              </a:rPr>
              <a:t>be the </a:t>
            </a:r>
            <a:r>
              <a:rPr sz="1867" dirty="0">
                <a:latin typeface="Arial"/>
                <a:cs typeface="Arial"/>
              </a:rPr>
              <a:t>value</a:t>
            </a:r>
            <a:r>
              <a:rPr sz="1867" spc="-127" dirty="0">
                <a:latin typeface="Arial"/>
                <a:cs typeface="Arial"/>
              </a:rPr>
              <a:t> </a:t>
            </a:r>
            <a:r>
              <a:rPr sz="1867" spc="-7" dirty="0">
                <a:latin typeface="Arial"/>
                <a:cs typeface="Arial"/>
              </a:rPr>
              <a:t>of  </a:t>
            </a:r>
            <a:r>
              <a:rPr sz="1867" spc="-7" dirty="0">
                <a:latin typeface="Courier New"/>
                <a:cs typeface="Courier New"/>
              </a:rPr>
              <a:t>float_from_int</a:t>
            </a:r>
            <a:r>
              <a:rPr sz="1867" spc="-847" dirty="0">
                <a:latin typeface="Courier New"/>
                <a:cs typeface="Courier New"/>
              </a:rPr>
              <a:t> </a:t>
            </a:r>
            <a:r>
              <a:rPr sz="1867" dirty="0">
                <a:latin typeface="Arial"/>
                <a:cs typeface="Arial"/>
              </a:rPr>
              <a:t>?</a:t>
            </a:r>
            <a:endParaRPr sz="1867">
              <a:latin typeface="Arial"/>
              <a:cs typeface="Arial"/>
            </a:endParaRPr>
          </a:p>
        </p:txBody>
      </p:sp>
      <p:sp>
        <p:nvSpPr>
          <p:cNvPr id="9" name="object 9"/>
          <p:cNvSpPr txBox="1"/>
          <p:nvPr/>
        </p:nvSpPr>
        <p:spPr>
          <a:xfrm>
            <a:off x="6349987" y="464766"/>
            <a:ext cx="5266267" cy="683093"/>
          </a:xfrm>
          <a:prstGeom prst="rect">
            <a:avLst/>
          </a:prstGeom>
          <a:solidFill>
            <a:srgbClr val="D8E9D3"/>
          </a:solidFill>
          <a:ln w="76199">
            <a:solidFill>
              <a:srgbClr val="38751C"/>
            </a:solidFill>
          </a:ln>
        </p:spPr>
        <p:txBody>
          <a:bodyPr vert="horz" wrap="square" lIns="0" tIns="117687" rIns="0" bIns="0" rtlCol="0">
            <a:spAutoFit/>
          </a:bodyPr>
          <a:lstStyle/>
          <a:p>
            <a:pPr marL="113450" marR="283626">
              <a:lnSpc>
                <a:spcPts val="2200"/>
              </a:lnSpc>
              <a:spcBef>
                <a:spcPts val="927"/>
              </a:spcBef>
            </a:pPr>
            <a:r>
              <a:rPr sz="1867" b="1" spc="-7" dirty="0">
                <a:latin typeface="Arial"/>
                <a:cs typeface="Arial"/>
              </a:rPr>
              <a:t>Note: </a:t>
            </a:r>
            <a:r>
              <a:rPr sz="1867" dirty="0">
                <a:latin typeface="Arial"/>
                <a:cs typeface="Arial"/>
              </a:rPr>
              <a:t>changing a variable </a:t>
            </a:r>
            <a:r>
              <a:rPr sz="1867" spc="-7" dirty="0">
                <a:latin typeface="Arial"/>
                <a:cs typeface="Arial"/>
              </a:rPr>
              <a:t>to </a:t>
            </a:r>
            <a:r>
              <a:rPr sz="1867" dirty="0">
                <a:latin typeface="Arial"/>
                <a:cs typeface="Arial"/>
              </a:rPr>
              <a:t>a </a:t>
            </a:r>
            <a:r>
              <a:rPr sz="1867" spc="-7" dirty="0">
                <a:latin typeface="Arial"/>
                <a:cs typeface="Arial"/>
              </a:rPr>
              <a:t>different type is  often </a:t>
            </a:r>
            <a:r>
              <a:rPr sz="1867" dirty="0">
                <a:latin typeface="Arial"/>
                <a:cs typeface="Arial"/>
              </a:rPr>
              <a:t>called </a:t>
            </a:r>
            <a:r>
              <a:rPr sz="1867" b="1" spc="-7" dirty="0">
                <a:latin typeface="Arial"/>
                <a:cs typeface="Arial"/>
              </a:rPr>
              <a:t>casting </a:t>
            </a:r>
            <a:r>
              <a:rPr sz="1867" dirty="0">
                <a:latin typeface="Arial"/>
                <a:cs typeface="Arial"/>
              </a:rPr>
              <a:t>a variable </a:t>
            </a:r>
            <a:r>
              <a:rPr sz="1867" spc="-7" dirty="0">
                <a:latin typeface="Arial"/>
                <a:cs typeface="Arial"/>
              </a:rPr>
              <a:t>to that</a:t>
            </a:r>
            <a:r>
              <a:rPr sz="1867" spc="-87" dirty="0">
                <a:latin typeface="Arial"/>
                <a:cs typeface="Arial"/>
              </a:rPr>
              <a:t> </a:t>
            </a:r>
            <a:r>
              <a:rPr sz="1867" spc="-7" dirty="0">
                <a:latin typeface="Arial"/>
                <a:cs typeface="Arial"/>
              </a:rPr>
              <a:t>type.</a:t>
            </a:r>
            <a:endParaRPr sz="1867">
              <a:latin typeface="Arial"/>
              <a:cs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5789863"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p:nvPr/>
        </p:nvSpPr>
        <p:spPr>
          <a:xfrm>
            <a:off x="635040" y="2973401"/>
            <a:ext cx="11197537" cy="2456327"/>
          </a:xfrm>
          <a:prstGeom prst="rect">
            <a:avLst/>
          </a:prstGeom>
          <a:blipFill>
            <a:blip r:embed="rId2" cstate="print"/>
            <a:stretch>
              <a:fillRect/>
            </a:stretch>
          </a:blipFill>
        </p:spPr>
        <p:txBody>
          <a:bodyPr wrap="square" lIns="0" tIns="0" rIns="0" bIns="0" rtlCol="0"/>
          <a:lstStyle/>
          <a:p>
            <a:endParaRPr sz="2400"/>
          </a:p>
        </p:txBody>
      </p:sp>
      <p:sp>
        <p:nvSpPr>
          <p:cNvPr id="4" name="object 4"/>
          <p:cNvSpPr txBox="1"/>
          <p:nvPr/>
        </p:nvSpPr>
        <p:spPr>
          <a:xfrm>
            <a:off x="512966" y="1621809"/>
            <a:ext cx="7850293" cy="1096818"/>
          </a:xfrm>
          <a:prstGeom prst="rect">
            <a:avLst/>
          </a:prstGeom>
        </p:spPr>
        <p:txBody>
          <a:bodyPr vert="horz" wrap="square" lIns="0" tIns="16933" rIns="0" bIns="0" rtlCol="0">
            <a:spAutoFit/>
          </a:bodyPr>
          <a:lstStyle/>
          <a:p>
            <a:pPr marL="16933">
              <a:spcBef>
                <a:spcPts val="133"/>
              </a:spcBef>
            </a:pPr>
            <a:r>
              <a:rPr sz="2400" spc="-7" dirty="0">
                <a:latin typeface="Arial"/>
                <a:cs typeface="Arial"/>
              </a:rPr>
              <a:t>We </a:t>
            </a:r>
            <a:r>
              <a:rPr sz="2400" dirty="0">
                <a:latin typeface="Arial"/>
                <a:cs typeface="Arial"/>
              </a:rPr>
              <a:t>can (sometimes) change </a:t>
            </a:r>
            <a:r>
              <a:rPr sz="2400" spc="-7" dirty="0">
                <a:latin typeface="Arial"/>
                <a:cs typeface="Arial"/>
              </a:rPr>
              <a:t>the type of </a:t>
            </a:r>
            <a:r>
              <a:rPr sz="2400" dirty="0">
                <a:latin typeface="Arial"/>
                <a:cs typeface="Arial"/>
              </a:rPr>
              <a:t>a </a:t>
            </a:r>
            <a:r>
              <a:rPr sz="2400" spc="-7" dirty="0">
                <a:latin typeface="Arial"/>
                <a:cs typeface="Arial"/>
              </a:rPr>
              <a:t>Python</a:t>
            </a:r>
            <a:r>
              <a:rPr sz="2400" spc="-140" dirty="0">
                <a:latin typeface="Arial"/>
                <a:cs typeface="Arial"/>
              </a:rPr>
              <a:t> </a:t>
            </a:r>
            <a:r>
              <a:rPr sz="2400" dirty="0">
                <a:latin typeface="Arial"/>
                <a:cs typeface="Arial"/>
              </a:rPr>
              <a:t>variable</a:t>
            </a:r>
          </a:p>
          <a:p>
            <a:pPr>
              <a:spcBef>
                <a:spcPts val="67"/>
              </a:spcBef>
            </a:pPr>
            <a:endParaRPr sz="2133" dirty="0">
              <a:latin typeface="Arial"/>
              <a:cs typeface="Arial"/>
            </a:endParaRPr>
          </a:p>
          <a:p>
            <a:pPr marL="16933"/>
            <a:r>
              <a:rPr sz="2400" spc="-7" dirty="0">
                <a:latin typeface="Arial"/>
                <a:cs typeface="Arial"/>
              </a:rPr>
              <a:t>But if we try to </a:t>
            </a:r>
            <a:r>
              <a:rPr sz="2400" dirty="0">
                <a:latin typeface="Arial"/>
                <a:cs typeface="Arial"/>
              </a:rPr>
              <a:t>cast </a:t>
            </a:r>
            <a:r>
              <a:rPr sz="2400" spc="-7" dirty="0">
                <a:latin typeface="Arial"/>
                <a:cs typeface="Arial"/>
              </a:rPr>
              <a:t>to </a:t>
            </a:r>
            <a:r>
              <a:rPr sz="2400" dirty="0">
                <a:latin typeface="Arial"/>
                <a:cs typeface="Arial"/>
              </a:rPr>
              <a:t>a </a:t>
            </a:r>
            <a:r>
              <a:rPr sz="2400" spc="-7" dirty="0">
                <a:latin typeface="Arial"/>
                <a:cs typeface="Arial"/>
              </a:rPr>
              <a:t>type that doesn’t </a:t>
            </a:r>
            <a:r>
              <a:rPr sz="2400" dirty="0">
                <a:latin typeface="Arial"/>
                <a:cs typeface="Arial"/>
              </a:rPr>
              <a:t>make</a:t>
            </a:r>
            <a:r>
              <a:rPr sz="2400" spc="-80" dirty="0">
                <a:latin typeface="Arial"/>
                <a:cs typeface="Arial"/>
              </a:rPr>
              <a:t> </a:t>
            </a:r>
            <a:r>
              <a:rPr sz="2400" dirty="0">
                <a:latin typeface="Arial"/>
                <a:cs typeface="Arial"/>
              </a:rPr>
              <a:t>sense...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4766605" cy="694207"/>
          </a:xfrm>
          <a:prstGeom prst="rect">
            <a:avLst/>
          </a:prstGeom>
        </p:spPr>
        <p:txBody>
          <a:bodyPr vert="horz" wrap="square" lIns="0" tIns="16933" rIns="0" bIns="0" rtlCol="0" anchor="ctr">
            <a:spAutoFit/>
          </a:bodyPr>
          <a:lstStyle/>
          <a:p>
            <a:pPr marL="16933">
              <a:lnSpc>
                <a:spcPct val="100000"/>
              </a:lnSpc>
              <a:spcBef>
                <a:spcPts val="133"/>
              </a:spcBef>
            </a:pPr>
            <a:r>
              <a:rPr spc="-13" dirty="0"/>
              <a:t>Variables </a:t>
            </a:r>
            <a:r>
              <a:rPr spc="-7" dirty="0"/>
              <a:t>in</a:t>
            </a:r>
            <a:r>
              <a:rPr spc="-113" dirty="0"/>
              <a:t> </a:t>
            </a:r>
            <a:r>
              <a:rPr spc="-7" dirty="0"/>
              <a:t>Python</a:t>
            </a:r>
          </a:p>
        </p:txBody>
      </p:sp>
      <p:sp>
        <p:nvSpPr>
          <p:cNvPr id="3" name="object 3"/>
          <p:cNvSpPr txBox="1"/>
          <p:nvPr/>
        </p:nvSpPr>
        <p:spPr>
          <a:xfrm>
            <a:off x="512965" y="1621808"/>
            <a:ext cx="10474960" cy="386430"/>
          </a:xfrm>
          <a:prstGeom prst="rect">
            <a:avLst/>
          </a:prstGeom>
        </p:spPr>
        <p:txBody>
          <a:bodyPr vert="horz" wrap="square" lIns="0" tIns="16933" rIns="0" bIns="0" rtlCol="0">
            <a:spAutoFit/>
          </a:bodyPr>
          <a:lstStyle/>
          <a:p>
            <a:pPr marL="16933">
              <a:spcBef>
                <a:spcPts val="133"/>
              </a:spcBef>
            </a:pPr>
            <a:r>
              <a:rPr sz="2400" spc="-7" dirty="0">
                <a:latin typeface="Arial"/>
                <a:cs typeface="Arial"/>
              </a:rPr>
              <a:t>Variables </a:t>
            </a:r>
            <a:r>
              <a:rPr sz="2400" dirty="0">
                <a:latin typeface="Arial"/>
                <a:cs typeface="Arial"/>
              </a:rPr>
              <a:t>must </a:t>
            </a:r>
            <a:r>
              <a:rPr sz="2400" spc="-7" dirty="0">
                <a:latin typeface="Arial"/>
                <a:cs typeface="Arial"/>
              </a:rPr>
              <a:t>be declared </a:t>
            </a:r>
            <a:r>
              <a:rPr sz="2400" dirty="0">
                <a:latin typeface="Arial"/>
                <a:cs typeface="Arial"/>
              </a:rPr>
              <a:t>(i.e., must </a:t>
            </a:r>
            <a:r>
              <a:rPr sz="2400" spc="-7" dirty="0">
                <a:latin typeface="Arial"/>
                <a:cs typeface="Arial"/>
              </a:rPr>
              <a:t>have </a:t>
            </a:r>
            <a:r>
              <a:rPr sz="2400" dirty="0">
                <a:latin typeface="Arial"/>
                <a:cs typeface="Arial"/>
              </a:rPr>
              <a:t>a value) </a:t>
            </a:r>
            <a:r>
              <a:rPr sz="2400" spc="-7" dirty="0">
                <a:latin typeface="Arial"/>
                <a:cs typeface="Arial"/>
              </a:rPr>
              <a:t>before we evaluate</a:t>
            </a:r>
            <a:r>
              <a:rPr sz="2400" spc="-133" dirty="0">
                <a:latin typeface="Arial"/>
                <a:cs typeface="Arial"/>
              </a:rPr>
              <a:t> </a:t>
            </a:r>
            <a:r>
              <a:rPr sz="2400" spc="-7" dirty="0">
                <a:latin typeface="Arial"/>
                <a:cs typeface="Arial"/>
              </a:rPr>
              <a:t>them</a:t>
            </a:r>
            <a:endParaRPr sz="2400" dirty="0">
              <a:latin typeface="Arial"/>
              <a:cs typeface="Arial"/>
            </a:endParaRPr>
          </a:p>
        </p:txBody>
      </p:sp>
      <p:sp>
        <p:nvSpPr>
          <p:cNvPr id="4" name="object 4"/>
          <p:cNvSpPr/>
          <p:nvPr/>
        </p:nvSpPr>
        <p:spPr>
          <a:xfrm>
            <a:off x="609599" y="2503429"/>
            <a:ext cx="11013111" cy="2460553"/>
          </a:xfrm>
          <a:prstGeom prst="rect">
            <a:avLst/>
          </a:prstGeom>
          <a:blipFill>
            <a:blip r:embed="rId2" cstate="print"/>
            <a:stretch>
              <a:fillRect/>
            </a:stretch>
          </a:blipFill>
        </p:spPr>
        <p:txBody>
          <a:bodyPr wrap="square" lIns="0" tIns="0" rIns="0" bIns="0" rtlCol="0"/>
          <a:lstStyle/>
          <a:p>
            <a:endParaRPr sz="2400"/>
          </a:p>
        </p:txBody>
      </p:sp>
      <p:sp>
        <p:nvSpPr>
          <p:cNvPr id="5" name="object 5"/>
          <p:cNvSpPr txBox="1"/>
          <p:nvPr/>
        </p:nvSpPr>
        <p:spPr>
          <a:xfrm>
            <a:off x="1431196" y="5332055"/>
            <a:ext cx="9330267" cy="683948"/>
          </a:xfrm>
          <a:prstGeom prst="rect">
            <a:avLst/>
          </a:prstGeom>
          <a:solidFill>
            <a:srgbClr val="D8E9D3"/>
          </a:solidFill>
          <a:ln w="76199">
            <a:solidFill>
              <a:srgbClr val="38751C"/>
            </a:solidFill>
          </a:ln>
        </p:spPr>
        <p:txBody>
          <a:bodyPr vert="horz" wrap="square" lIns="0" tIns="118533" rIns="0" bIns="0" rtlCol="0">
            <a:spAutoFit/>
          </a:bodyPr>
          <a:lstStyle/>
          <a:p>
            <a:pPr marL="114297" marR="257380">
              <a:lnSpc>
                <a:spcPts val="2200"/>
              </a:lnSpc>
              <a:spcBef>
                <a:spcPts val="933"/>
              </a:spcBef>
            </a:pPr>
            <a:r>
              <a:rPr sz="1867" spc="-7" dirty="0">
                <a:latin typeface="Courier New"/>
                <a:cs typeface="Courier New"/>
              </a:rPr>
              <a:t>NameError</a:t>
            </a:r>
            <a:r>
              <a:rPr sz="1867" spc="-533" dirty="0">
                <a:latin typeface="Courier New"/>
                <a:cs typeface="Courier New"/>
              </a:rPr>
              <a:t> </a:t>
            </a:r>
            <a:r>
              <a:rPr sz="1867" dirty="0">
                <a:latin typeface="Arial"/>
                <a:cs typeface="Arial"/>
              </a:rPr>
              <a:t>signifies </a:t>
            </a:r>
            <a:r>
              <a:rPr sz="1867" spc="-7" dirty="0">
                <a:latin typeface="Arial"/>
                <a:cs typeface="Arial"/>
              </a:rPr>
              <a:t>that Python </a:t>
            </a:r>
            <a:r>
              <a:rPr sz="1867" dirty="0">
                <a:latin typeface="Arial"/>
                <a:cs typeface="Arial"/>
              </a:rPr>
              <a:t>can’t </a:t>
            </a:r>
            <a:r>
              <a:rPr sz="1867" spc="-7" dirty="0">
                <a:latin typeface="Arial"/>
                <a:cs typeface="Arial"/>
              </a:rPr>
              <a:t>find anything </a:t>
            </a:r>
            <a:r>
              <a:rPr sz="1867" dirty="0">
                <a:latin typeface="Arial"/>
                <a:cs typeface="Arial"/>
              </a:rPr>
              <a:t>(variable, </a:t>
            </a:r>
            <a:r>
              <a:rPr sz="1867" spc="-7" dirty="0">
                <a:latin typeface="Arial"/>
                <a:cs typeface="Arial"/>
              </a:rPr>
              <a:t>function, etc) </a:t>
            </a:r>
            <a:r>
              <a:rPr sz="1867" dirty="0">
                <a:latin typeface="Arial"/>
                <a:cs typeface="Arial"/>
              </a:rPr>
              <a:t>matching  a </a:t>
            </a:r>
            <a:r>
              <a:rPr sz="1867" spc="-7" dirty="0">
                <a:latin typeface="Arial"/>
                <a:cs typeface="Arial"/>
              </a:rPr>
              <a:t>given name.</a:t>
            </a:r>
            <a:r>
              <a:rPr sz="1867" spc="-27" dirty="0">
                <a:latin typeface="Arial"/>
                <a:cs typeface="Arial"/>
              </a:rPr>
              <a:t> </a:t>
            </a:r>
            <a:r>
              <a:rPr sz="1867" u="heavy" spc="-7" dirty="0">
                <a:solidFill>
                  <a:srgbClr val="0097A7"/>
                </a:solidFill>
                <a:uFill>
                  <a:solidFill>
                    <a:srgbClr val="0097A7"/>
                  </a:solidFill>
                </a:uFill>
                <a:latin typeface="Arial"/>
                <a:cs typeface="Arial"/>
                <a:hlinkClick r:id="rId3"/>
              </a:rPr>
              <a:t>https://docs.python.org/3/library/exceptions.html#NameError</a:t>
            </a:r>
            <a:endParaRPr sz="1867">
              <a:latin typeface="Arial"/>
              <a:cs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4864578" cy="694207"/>
          </a:xfrm>
          <a:prstGeom prst="rect">
            <a:avLst/>
          </a:prstGeom>
        </p:spPr>
        <p:txBody>
          <a:bodyPr vert="horz" wrap="square" lIns="0" tIns="16933" rIns="0" bIns="0" rtlCol="0" anchor="ctr">
            <a:spAutoFit/>
          </a:bodyPr>
          <a:lstStyle/>
          <a:p>
            <a:pPr marL="16933">
              <a:lnSpc>
                <a:spcPct val="100000"/>
              </a:lnSpc>
              <a:spcBef>
                <a:spcPts val="133"/>
              </a:spcBef>
            </a:pPr>
            <a:r>
              <a:rPr spc="-13" dirty="0"/>
              <a:t>String</a:t>
            </a:r>
            <a:r>
              <a:rPr spc="-120" dirty="0"/>
              <a:t> </a:t>
            </a:r>
            <a:r>
              <a:rPr spc="-7" dirty="0"/>
              <a:t>Operations</a:t>
            </a:r>
          </a:p>
        </p:txBody>
      </p:sp>
      <p:sp>
        <p:nvSpPr>
          <p:cNvPr id="3" name="object 3"/>
          <p:cNvSpPr/>
          <p:nvPr/>
        </p:nvSpPr>
        <p:spPr>
          <a:xfrm>
            <a:off x="304800" y="1661764"/>
            <a:ext cx="10169745" cy="4779313"/>
          </a:xfrm>
          <a:prstGeom prst="rect">
            <a:avLst/>
          </a:prstGeom>
          <a:blipFill>
            <a:blip r:embed="rId2" cstate="print"/>
            <a:stretch>
              <a:fillRect/>
            </a:stretch>
          </a:blipFill>
        </p:spPr>
        <p:txBody>
          <a:bodyPr wrap="square" lIns="0" tIns="0" rIns="0" bIns="0" rtlCol="0"/>
          <a:lstStyle/>
          <a:p>
            <a:endParaRPr sz="2400"/>
          </a:p>
        </p:txBody>
      </p:sp>
      <p:sp>
        <p:nvSpPr>
          <p:cNvPr id="4" name="object 4"/>
          <p:cNvSpPr txBox="1"/>
          <p:nvPr/>
        </p:nvSpPr>
        <p:spPr>
          <a:xfrm>
            <a:off x="7142153" y="1052165"/>
            <a:ext cx="3729567" cy="683093"/>
          </a:xfrm>
          <a:prstGeom prst="rect">
            <a:avLst/>
          </a:prstGeom>
          <a:solidFill>
            <a:srgbClr val="CFE1F2"/>
          </a:solidFill>
          <a:ln w="76199">
            <a:solidFill>
              <a:srgbClr val="073662"/>
            </a:solidFill>
          </a:ln>
        </p:spPr>
        <p:txBody>
          <a:bodyPr vert="horz" wrap="square" lIns="0" tIns="117687" rIns="0" bIns="0" rtlCol="0">
            <a:spAutoFit/>
          </a:bodyPr>
          <a:lstStyle/>
          <a:p>
            <a:pPr marL="113450" marR="473275">
              <a:lnSpc>
                <a:spcPts val="2200"/>
              </a:lnSpc>
              <a:spcBef>
                <a:spcPts val="927"/>
              </a:spcBef>
            </a:pPr>
            <a:r>
              <a:rPr sz="1867" spc="-7" dirty="0">
                <a:latin typeface="Arial"/>
                <a:cs typeface="Arial"/>
              </a:rPr>
              <a:t>Try to </a:t>
            </a:r>
            <a:r>
              <a:rPr sz="1867" dirty="0">
                <a:latin typeface="Arial"/>
                <a:cs typeface="Arial"/>
              </a:rPr>
              <a:t>multiply </a:t>
            </a:r>
            <a:r>
              <a:rPr sz="1867" spc="-7" dirty="0">
                <a:latin typeface="Arial"/>
                <a:cs typeface="Arial"/>
              </a:rPr>
              <a:t>two </a:t>
            </a:r>
            <a:r>
              <a:rPr sz="1867" dirty="0">
                <a:latin typeface="Arial"/>
                <a:cs typeface="Arial"/>
              </a:rPr>
              <a:t>strings</a:t>
            </a:r>
            <a:r>
              <a:rPr sz="1867" spc="-127" dirty="0">
                <a:latin typeface="Arial"/>
                <a:cs typeface="Arial"/>
              </a:rPr>
              <a:t> </a:t>
            </a:r>
            <a:r>
              <a:rPr sz="1867" spc="-7" dirty="0">
                <a:latin typeface="Arial"/>
                <a:cs typeface="Arial"/>
              </a:rPr>
              <a:t>and  Python throws an</a:t>
            </a:r>
            <a:r>
              <a:rPr sz="1867" spc="-33" dirty="0">
                <a:latin typeface="Arial"/>
                <a:cs typeface="Arial"/>
              </a:rPr>
              <a:t> </a:t>
            </a:r>
            <a:r>
              <a:rPr sz="1867" spc="-7" dirty="0">
                <a:latin typeface="Arial"/>
                <a:cs typeface="Arial"/>
              </a:rPr>
              <a:t>error.</a:t>
            </a:r>
            <a:endParaRPr sz="1867">
              <a:latin typeface="Arial"/>
              <a:cs typeface="Arial"/>
            </a:endParaRPr>
          </a:p>
        </p:txBody>
      </p:sp>
      <p:grpSp>
        <p:nvGrpSpPr>
          <p:cNvPr id="5" name="object 5"/>
          <p:cNvGrpSpPr/>
          <p:nvPr/>
        </p:nvGrpSpPr>
        <p:grpSpPr>
          <a:xfrm>
            <a:off x="3662593" y="1444363"/>
            <a:ext cx="7124700" cy="4823460"/>
            <a:chOff x="2746944" y="1083272"/>
            <a:chExt cx="5343525" cy="3617595"/>
          </a:xfrm>
        </p:grpSpPr>
        <p:sp>
          <p:nvSpPr>
            <p:cNvPr id="6" name="object 6"/>
            <p:cNvSpPr/>
            <p:nvPr/>
          </p:nvSpPr>
          <p:spPr>
            <a:xfrm>
              <a:off x="2936969" y="1102322"/>
              <a:ext cx="2419985" cy="363855"/>
            </a:xfrm>
            <a:custGeom>
              <a:avLst/>
              <a:gdLst/>
              <a:ahLst/>
              <a:cxnLst/>
              <a:rect l="l" t="t" r="r" b="b"/>
              <a:pathLst>
                <a:path w="2419985" h="363855">
                  <a:moveTo>
                    <a:pt x="2419645" y="0"/>
                  </a:moveTo>
                  <a:lnTo>
                    <a:pt x="0" y="363809"/>
                  </a:lnTo>
                </a:path>
              </a:pathLst>
            </a:custGeom>
            <a:ln w="38099">
              <a:solidFill>
                <a:srgbClr val="073662"/>
              </a:solidFill>
            </a:ln>
          </p:spPr>
          <p:txBody>
            <a:bodyPr wrap="square" lIns="0" tIns="0" rIns="0" bIns="0" rtlCol="0"/>
            <a:lstStyle/>
            <a:p>
              <a:endParaRPr sz="2400"/>
            </a:p>
          </p:txBody>
        </p:sp>
        <p:sp>
          <p:nvSpPr>
            <p:cNvPr id="7" name="object 7"/>
            <p:cNvSpPr/>
            <p:nvPr/>
          </p:nvSpPr>
          <p:spPr>
            <a:xfrm>
              <a:off x="2746944" y="1384852"/>
              <a:ext cx="218449" cy="162562"/>
            </a:xfrm>
            <a:prstGeom prst="rect">
              <a:avLst/>
            </a:prstGeom>
            <a:blipFill>
              <a:blip r:embed="rId3" cstate="print"/>
              <a:stretch>
                <a:fillRect/>
              </a:stretch>
            </a:blipFill>
          </p:spPr>
          <p:txBody>
            <a:bodyPr wrap="square" lIns="0" tIns="0" rIns="0" bIns="0" rtlCol="0"/>
            <a:lstStyle/>
            <a:p>
              <a:endParaRPr sz="2400"/>
            </a:p>
          </p:txBody>
        </p:sp>
        <p:sp>
          <p:nvSpPr>
            <p:cNvPr id="8" name="object 8"/>
            <p:cNvSpPr/>
            <p:nvPr/>
          </p:nvSpPr>
          <p:spPr>
            <a:xfrm>
              <a:off x="4137416" y="3913317"/>
              <a:ext cx="3952875" cy="787400"/>
            </a:xfrm>
            <a:custGeom>
              <a:avLst/>
              <a:gdLst/>
              <a:ahLst/>
              <a:cxnLst/>
              <a:rect l="l" t="t" r="r" b="b"/>
              <a:pathLst>
                <a:path w="3952875" h="787400">
                  <a:moveTo>
                    <a:pt x="3952792" y="787198"/>
                  </a:moveTo>
                  <a:lnTo>
                    <a:pt x="0" y="787198"/>
                  </a:lnTo>
                  <a:lnTo>
                    <a:pt x="0" y="0"/>
                  </a:lnTo>
                  <a:lnTo>
                    <a:pt x="3952792" y="0"/>
                  </a:lnTo>
                  <a:lnTo>
                    <a:pt x="3952792" y="787198"/>
                  </a:lnTo>
                  <a:close/>
                </a:path>
              </a:pathLst>
            </a:custGeom>
            <a:solidFill>
              <a:srgbClr val="CFE1F2"/>
            </a:solidFill>
          </p:spPr>
          <p:txBody>
            <a:bodyPr wrap="square" lIns="0" tIns="0" rIns="0" bIns="0" rtlCol="0"/>
            <a:lstStyle/>
            <a:p>
              <a:endParaRPr sz="2400"/>
            </a:p>
          </p:txBody>
        </p:sp>
      </p:grpSp>
      <p:sp>
        <p:nvSpPr>
          <p:cNvPr id="9" name="object 9"/>
          <p:cNvSpPr txBox="1"/>
          <p:nvPr/>
        </p:nvSpPr>
        <p:spPr>
          <a:xfrm>
            <a:off x="8361350" y="2880961"/>
            <a:ext cx="3528060" cy="1812462"/>
          </a:xfrm>
          <a:prstGeom prst="rect">
            <a:avLst/>
          </a:prstGeom>
          <a:solidFill>
            <a:srgbClr val="D8E9D3"/>
          </a:solidFill>
          <a:ln w="76199">
            <a:solidFill>
              <a:srgbClr val="38751C"/>
            </a:solidFill>
          </a:ln>
        </p:spPr>
        <p:txBody>
          <a:bodyPr vert="horz" wrap="square" lIns="0" tIns="118533" rIns="0" bIns="0" rtlCol="0">
            <a:spAutoFit/>
          </a:bodyPr>
          <a:lstStyle/>
          <a:p>
            <a:pPr marL="113450" marR="215048">
              <a:lnSpc>
                <a:spcPts val="2200"/>
              </a:lnSpc>
              <a:spcBef>
                <a:spcPts val="933"/>
              </a:spcBef>
            </a:pPr>
            <a:r>
              <a:rPr sz="1867" spc="-7" dirty="0">
                <a:latin typeface="Courier New"/>
                <a:cs typeface="Courier New"/>
              </a:rPr>
              <a:t>TypeError</a:t>
            </a:r>
            <a:r>
              <a:rPr sz="1867" spc="-533" dirty="0">
                <a:latin typeface="Courier New"/>
                <a:cs typeface="Courier New"/>
              </a:rPr>
              <a:t> </a:t>
            </a:r>
            <a:r>
              <a:rPr sz="1867" dirty="0">
                <a:latin typeface="Arial"/>
                <a:cs typeface="Arial"/>
              </a:rPr>
              <a:t>signifies </a:t>
            </a:r>
            <a:r>
              <a:rPr sz="1867" spc="-7" dirty="0">
                <a:latin typeface="Arial"/>
                <a:cs typeface="Arial"/>
              </a:rPr>
              <a:t>that one  or </a:t>
            </a:r>
            <a:r>
              <a:rPr sz="1867" dirty="0">
                <a:latin typeface="Arial"/>
                <a:cs typeface="Arial"/>
              </a:rPr>
              <a:t>more variables </a:t>
            </a:r>
            <a:r>
              <a:rPr sz="1867" spc="-7" dirty="0">
                <a:latin typeface="Arial"/>
                <a:cs typeface="Arial"/>
              </a:rPr>
              <a:t>doesn’t  </a:t>
            </a:r>
            <a:r>
              <a:rPr sz="1867" dirty="0">
                <a:latin typeface="Arial"/>
                <a:cs typeface="Arial"/>
              </a:rPr>
              <a:t>make sense </a:t>
            </a:r>
            <a:r>
              <a:rPr sz="1867" spc="-7" dirty="0">
                <a:latin typeface="Arial"/>
                <a:cs typeface="Arial"/>
              </a:rPr>
              <a:t>for the operation  </a:t>
            </a:r>
            <a:r>
              <a:rPr sz="1867" dirty="0">
                <a:latin typeface="Arial"/>
                <a:cs typeface="Arial"/>
              </a:rPr>
              <a:t>you </a:t>
            </a:r>
            <a:r>
              <a:rPr sz="1867" spc="-7" dirty="0">
                <a:latin typeface="Arial"/>
                <a:cs typeface="Arial"/>
              </a:rPr>
              <a:t>are trying to perform.  </a:t>
            </a:r>
            <a:r>
              <a:rPr sz="1867" u="heavy" spc="-7" dirty="0">
                <a:solidFill>
                  <a:srgbClr val="0097A7"/>
                </a:solidFill>
                <a:uFill>
                  <a:solidFill>
                    <a:srgbClr val="0097A7"/>
                  </a:solidFill>
                </a:uFill>
                <a:latin typeface="Arial"/>
                <a:cs typeface="Arial"/>
                <a:hlinkClick r:id="rId4"/>
              </a:rPr>
              <a:t>https://docs.python.org/3/librar </a:t>
            </a:r>
            <a:r>
              <a:rPr sz="1867" spc="-7" dirty="0">
                <a:solidFill>
                  <a:srgbClr val="0097A7"/>
                </a:solidFill>
                <a:latin typeface="Arial"/>
                <a:cs typeface="Arial"/>
              </a:rPr>
              <a:t> </a:t>
            </a:r>
            <a:r>
              <a:rPr sz="1867" u="heavy" dirty="0">
                <a:solidFill>
                  <a:srgbClr val="0097A7"/>
                </a:solidFill>
                <a:uFill>
                  <a:solidFill>
                    <a:srgbClr val="0097A7"/>
                  </a:solidFill>
                </a:uFill>
                <a:latin typeface="Arial"/>
                <a:cs typeface="Arial"/>
                <a:hlinkClick r:id="rId4"/>
              </a:rPr>
              <a:t>y/exceptions.html#TypeError</a:t>
            </a:r>
            <a:endParaRPr sz="1867">
              <a:latin typeface="Arial"/>
              <a:cs typeface="Arial"/>
            </a:endParaRPr>
          </a:p>
        </p:txBody>
      </p:sp>
      <p:sp>
        <p:nvSpPr>
          <p:cNvPr id="10" name="object 10"/>
          <p:cNvSpPr txBox="1"/>
          <p:nvPr/>
        </p:nvSpPr>
        <p:spPr>
          <a:xfrm>
            <a:off x="5516555" y="5217755"/>
            <a:ext cx="5270500" cy="966076"/>
          </a:xfrm>
          <a:prstGeom prst="rect">
            <a:avLst/>
          </a:prstGeom>
          <a:ln w="76199">
            <a:solidFill>
              <a:srgbClr val="073662"/>
            </a:solidFill>
          </a:ln>
        </p:spPr>
        <p:txBody>
          <a:bodyPr vert="horz" wrap="square" lIns="0" tIns="118533" rIns="0" bIns="0" rtlCol="0">
            <a:spAutoFit/>
          </a:bodyPr>
          <a:lstStyle/>
          <a:p>
            <a:pPr marL="113450" marR="167636">
              <a:lnSpc>
                <a:spcPts val="2200"/>
              </a:lnSpc>
              <a:spcBef>
                <a:spcPts val="933"/>
              </a:spcBef>
            </a:pPr>
            <a:r>
              <a:rPr sz="1867" spc="-7" dirty="0">
                <a:latin typeface="Arial"/>
                <a:cs typeface="Arial"/>
              </a:rPr>
              <a:t>Python uses </a:t>
            </a:r>
            <a:r>
              <a:rPr sz="1867" dirty="0">
                <a:latin typeface="Arial"/>
                <a:cs typeface="Arial"/>
              </a:rPr>
              <a:t>+ </a:t>
            </a:r>
            <a:r>
              <a:rPr sz="1867" spc="-7" dirty="0">
                <a:latin typeface="Arial"/>
                <a:cs typeface="Arial"/>
              </a:rPr>
              <a:t>to </a:t>
            </a:r>
            <a:r>
              <a:rPr sz="1867" dirty="0">
                <a:latin typeface="Arial"/>
                <a:cs typeface="Arial"/>
              </a:rPr>
              <a:t>mean </a:t>
            </a:r>
            <a:r>
              <a:rPr sz="1867" b="1" spc="-7" dirty="0">
                <a:latin typeface="Arial"/>
                <a:cs typeface="Arial"/>
              </a:rPr>
              <a:t>string concatenation</a:t>
            </a:r>
            <a:r>
              <a:rPr sz="1867" spc="-7" dirty="0">
                <a:latin typeface="Arial"/>
                <a:cs typeface="Arial"/>
              </a:rPr>
              <a:t>,  and defines </a:t>
            </a:r>
            <a:r>
              <a:rPr sz="1867" dirty="0">
                <a:latin typeface="Arial"/>
                <a:cs typeface="Arial"/>
              </a:rPr>
              <a:t>multiplication </a:t>
            </a:r>
            <a:r>
              <a:rPr sz="1867" spc="-7" dirty="0">
                <a:latin typeface="Arial"/>
                <a:cs typeface="Arial"/>
              </a:rPr>
              <a:t>of </a:t>
            </a:r>
            <a:r>
              <a:rPr sz="1867" dirty="0">
                <a:latin typeface="Arial"/>
                <a:cs typeface="Arial"/>
              </a:rPr>
              <a:t>a string </a:t>
            </a:r>
            <a:r>
              <a:rPr sz="1867" spc="-7" dirty="0">
                <a:latin typeface="Arial"/>
                <a:cs typeface="Arial"/>
              </a:rPr>
              <a:t>by </a:t>
            </a:r>
            <a:r>
              <a:rPr sz="1867" dirty="0">
                <a:latin typeface="Arial"/>
                <a:cs typeface="Arial"/>
              </a:rPr>
              <a:t>a</a:t>
            </a:r>
            <a:r>
              <a:rPr sz="1867" spc="-133" dirty="0">
                <a:latin typeface="Arial"/>
                <a:cs typeface="Arial"/>
              </a:rPr>
              <a:t> </a:t>
            </a:r>
            <a:r>
              <a:rPr sz="1867" dirty="0">
                <a:latin typeface="Arial"/>
                <a:cs typeface="Arial"/>
              </a:rPr>
              <a:t>scalar  </a:t>
            </a:r>
            <a:r>
              <a:rPr sz="1867" spc="-7" dirty="0">
                <a:latin typeface="Arial"/>
                <a:cs typeface="Arial"/>
              </a:rPr>
              <a:t>in the analogous</a:t>
            </a:r>
            <a:r>
              <a:rPr sz="1867" spc="-20" dirty="0">
                <a:latin typeface="Arial"/>
                <a:cs typeface="Arial"/>
              </a:rPr>
              <a:t> </a:t>
            </a:r>
            <a:r>
              <a:rPr sz="1867" spc="-7" dirty="0">
                <a:latin typeface="Arial"/>
                <a:cs typeface="Arial"/>
              </a:rPr>
              <a:t>way.</a:t>
            </a:r>
            <a:endParaRPr sz="1867">
              <a:latin typeface="Arial"/>
              <a:cs typeface="Arial"/>
            </a:endParaRPr>
          </a:p>
        </p:txBody>
      </p:sp>
      <p:grpSp>
        <p:nvGrpSpPr>
          <p:cNvPr id="11" name="object 11"/>
          <p:cNvGrpSpPr/>
          <p:nvPr/>
        </p:nvGrpSpPr>
        <p:grpSpPr>
          <a:xfrm>
            <a:off x="2406224" y="4727590"/>
            <a:ext cx="3136053" cy="1124373"/>
            <a:chOff x="1804668" y="3545692"/>
            <a:chExt cx="2352040" cy="843280"/>
          </a:xfrm>
        </p:grpSpPr>
        <p:sp>
          <p:nvSpPr>
            <p:cNvPr id="12" name="object 12"/>
            <p:cNvSpPr/>
            <p:nvPr/>
          </p:nvSpPr>
          <p:spPr>
            <a:xfrm>
              <a:off x="2282560" y="3624442"/>
              <a:ext cx="1855470" cy="682625"/>
            </a:xfrm>
            <a:custGeom>
              <a:avLst/>
              <a:gdLst/>
              <a:ahLst/>
              <a:cxnLst/>
              <a:rect l="l" t="t" r="r" b="b"/>
              <a:pathLst>
                <a:path w="1855470" h="682625">
                  <a:moveTo>
                    <a:pt x="1854856" y="682473"/>
                  </a:moveTo>
                  <a:lnTo>
                    <a:pt x="0" y="0"/>
                  </a:lnTo>
                </a:path>
              </a:pathLst>
            </a:custGeom>
            <a:ln w="38099">
              <a:solidFill>
                <a:srgbClr val="073662"/>
              </a:solidFill>
            </a:ln>
          </p:spPr>
          <p:txBody>
            <a:bodyPr wrap="square" lIns="0" tIns="0" rIns="0" bIns="0" rtlCol="0"/>
            <a:lstStyle/>
            <a:p>
              <a:endParaRPr sz="2400"/>
            </a:p>
          </p:txBody>
        </p:sp>
        <p:sp>
          <p:nvSpPr>
            <p:cNvPr id="13" name="object 13"/>
            <p:cNvSpPr/>
            <p:nvPr/>
          </p:nvSpPr>
          <p:spPr>
            <a:xfrm>
              <a:off x="2101243" y="3545692"/>
              <a:ext cx="222097" cy="156874"/>
            </a:xfrm>
            <a:prstGeom prst="rect">
              <a:avLst/>
            </a:prstGeom>
            <a:blipFill>
              <a:blip r:embed="rId5" cstate="print"/>
              <a:stretch>
                <a:fillRect/>
              </a:stretch>
            </a:blipFill>
          </p:spPr>
          <p:txBody>
            <a:bodyPr wrap="square" lIns="0" tIns="0" rIns="0" bIns="0" rtlCol="0"/>
            <a:lstStyle/>
            <a:p>
              <a:endParaRPr sz="2400"/>
            </a:p>
          </p:txBody>
        </p:sp>
        <p:sp>
          <p:nvSpPr>
            <p:cNvPr id="14" name="object 14"/>
            <p:cNvSpPr/>
            <p:nvPr/>
          </p:nvSpPr>
          <p:spPr>
            <a:xfrm>
              <a:off x="1996621" y="4306916"/>
              <a:ext cx="2141220" cy="0"/>
            </a:xfrm>
            <a:custGeom>
              <a:avLst/>
              <a:gdLst/>
              <a:ahLst/>
              <a:cxnLst/>
              <a:rect l="l" t="t" r="r" b="b"/>
              <a:pathLst>
                <a:path w="2141220">
                  <a:moveTo>
                    <a:pt x="2140795" y="0"/>
                  </a:moveTo>
                  <a:lnTo>
                    <a:pt x="0" y="0"/>
                  </a:lnTo>
                </a:path>
              </a:pathLst>
            </a:custGeom>
            <a:ln w="38099">
              <a:solidFill>
                <a:srgbClr val="073662"/>
              </a:solidFill>
            </a:ln>
          </p:spPr>
          <p:txBody>
            <a:bodyPr wrap="square" lIns="0" tIns="0" rIns="0" bIns="0" rtlCol="0"/>
            <a:lstStyle/>
            <a:p>
              <a:endParaRPr sz="2400"/>
            </a:p>
          </p:txBody>
        </p:sp>
        <p:sp>
          <p:nvSpPr>
            <p:cNvPr id="15" name="object 15"/>
            <p:cNvSpPr/>
            <p:nvPr/>
          </p:nvSpPr>
          <p:spPr>
            <a:xfrm>
              <a:off x="1804668" y="4224941"/>
              <a:ext cx="211002" cy="163949"/>
            </a:xfrm>
            <a:prstGeom prst="rect">
              <a:avLst/>
            </a:prstGeom>
            <a:blipFill>
              <a:blip r:embed="rId6" cstate="print"/>
              <a:stretch>
                <a:fillRect/>
              </a:stretch>
            </a:blipFill>
          </p:spPr>
          <p:txBody>
            <a:bodyPr wrap="square" lIns="0" tIns="0" rIns="0" bIns="0" rtlCol="0"/>
            <a:lstStyle/>
            <a:p>
              <a:endParaRPr sz="2400"/>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4" y="626078"/>
            <a:ext cx="5419750" cy="694207"/>
          </a:xfrm>
          <a:prstGeom prst="rect">
            <a:avLst/>
          </a:prstGeom>
        </p:spPr>
        <p:txBody>
          <a:bodyPr vert="horz" wrap="square" lIns="0" tIns="16933" rIns="0" bIns="0" rtlCol="0" anchor="ctr">
            <a:spAutoFit/>
          </a:bodyPr>
          <a:lstStyle/>
          <a:p>
            <a:pPr marL="16933">
              <a:lnSpc>
                <a:spcPct val="100000"/>
              </a:lnSpc>
              <a:spcBef>
                <a:spcPts val="133"/>
              </a:spcBef>
            </a:pPr>
            <a:r>
              <a:rPr spc="-7" dirty="0"/>
              <a:t>Comments in</a:t>
            </a:r>
            <a:r>
              <a:rPr spc="-120" dirty="0"/>
              <a:t> </a:t>
            </a:r>
            <a:r>
              <a:rPr spc="-7" dirty="0"/>
              <a:t>Python</a:t>
            </a:r>
          </a:p>
        </p:txBody>
      </p:sp>
      <p:sp>
        <p:nvSpPr>
          <p:cNvPr id="3" name="object 3"/>
          <p:cNvSpPr txBox="1"/>
          <p:nvPr/>
        </p:nvSpPr>
        <p:spPr>
          <a:xfrm>
            <a:off x="512966" y="1568468"/>
            <a:ext cx="7616613" cy="1253590"/>
          </a:xfrm>
          <a:prstGeom prst="rect">
            <a:avLst/>
          </a:prstGeom>
        </p:spPr>
        <p:txBody>
          <a:bodyPr vert="horz" wrap="square" lIns="0" tIns="70272" rIns="0" bIns="0" rtlCol="0">
            <a:spAutoFit/>
          </a:bodyPr>
          <a:lstStyle/>
          <a:p>
            <a:pPr marL="16933">
              <a:spcBef>
                <a:spcPts val="552"/>
              </a:spcBef>
            </a:pPr>
            <a:r>
              <a:rPr sz="2400" spc="-7" dirty="0">
                <a:latin typeface="Arial"/>
                <a:cs typeface="Arial"/>
              </a:rPr>
              <a:t>Comments provide </a:t>
            </a:r>
            <a:r>
              <a:rPr sz="2400" dirty="0">
                <a:latin typeface="Arial"/>
                <a:cs typeface="Arial"/>
              </a:rPr>
              <a:t>a </a:t>
            </a:r>
            <a:r>
              <a:rPr sz="2400" spc="-7" dirty="0">
                <a:latin typeface="Arial"/>
                <a:cs typeface="Arial"/>
              </a:rPr>
              <a:t>way to document </a:t>
            </a:r>
            <a:r>
              <a:rPr sz="2400" dirty="0">
                <a:latin typeface="Arial"/>
                <a:cs typeface="Arial"/>
              </a:rPr>
              <a:t>your</a:t>
            </a:r>
            <a:r>
              <a:rPr sz="2400" spc="-53" dirty="0">
                <a:latin typeface="Arial"/>
                <a:cs typeface="Arial"/>
              </a:rPr>
              <a:t> </a:t>
            </a:r>
            <a:r>
              <a:rPr sz="2400" dirty="0">
                <a:latin typeface="Arial"/>
                <a:cs typeface="Arial"/>
              </a:rPr>
              <a:t>code</a:t>
            </a:r>
          </a:p>
          <a:p>
            <a:pPr marL="625671" marR="6773">
              <a:lnSpc>
                <a:spcPct val="114599"/>
              </a:lnSpc>
            </a:pPr>
            <a:r>
              <a:rPr sz="2400" spc="-7" dirty="0">
                <a:latin typeface="Arial"/>
                <a:cs typeface="Arial"/>
              </a:rPr>
              <a:t>Good for when other people have to </a:t>
            </a:r>
            <a:r>
              <a:rPr sz="2400" dirty="0">
                <a:latin typeface="Arial"/>
                <a:cs typeface="Arial"/>
              </a:rPr>
              <a:t>read your code  </a:t>
            </a:r>
            <a:r>
              <a:rPr sz="2400" spc="-7" dirty="0">
                <a:latin typeface="Arial"/>
                <a:cs typeface="Arial"/>
              </a:rPr>
              <a:t>But </a:t>
            </a:r>
            <a:r>
              <a:rPr sz="2400" i="1" spc="-7" dirty="0">
                <a:latin typeface="Arial"/>
                <a:cs typeface="Arial"/>
              </a:rPr>
              <a:t>also </a:t>
            </a:r>
            <a:r>
              <a:rPr sz="2400" spc="-7" dirty="0">
                <a:latin typeface="Arial"/>
                <a:cs typeface="Arial"/>
              </a:rPr>
              <a:t>good for </a:t>
            </a:r>
            <a:r>
              <a:rPr sz="2400" dirty="0">
                <a:latin typeface="Arial"/>
                <a:cs typeface="Arial"/>
              </a:rPr>
              <a:t>you!</a:t>
            </a:r>
          </a:p>
        </p:txBody>
      </p:sp>
      <p:sp>
        <p:nvSpPr>
          <p:cNvPr id="4" name="object 4"/>
          <p:cNvSpPr/>
          <p:nvPr/>
        </p:nvSpPr>
        <p:spPr>
          <a:xfrm>
            <a:off x="711198" y="3000227"/>
            <a:ext cx="9523613" cy="3720768"/>
          </a:xfrm>
          <a:prstGeom prst="rect">
            <a:avLst/>
          </a:prstGeom>
          <a:blipFill>
            <a:blip r:embed="rId2" cstate="print"/>
            <a:stretch>
              <a:fillRect/>
            </a:stretch>
          </a:blipFill>
        </p:spPr>
        <p:txBody>
          <a:bodyPr wrap="square" lIns="0" tIns="0" rIns="0" bIns="0" rtlCol="0"/>
          <a:lstStyle/>
          <a:p>
            <a:endParaRPr sz="2400"/>
          </a:p>
        </p:txBody>
      </p:sp>
      <p:sp>
        <p:nvSpPr>
          <p:cNvPr id="5" name="object 5"/>
          <p:cNvSpPr txBox="1"/>
          <p:nvPr/>
        </p:nvSpPr>
        <p:spPr>
          <a:xfrm>
            <a:off x="8472483" y="1384296"/>
            <a:ext cx="3200400" cy="1811607"/>
          </a:xfrm>
          <a:prstGeom prst="rect">
            <a:avLst/>
          </a:prstGeom>
          <a:solidFill>
            <a:srgbClr val="D8E9D3"/>
          </a:solidFill>
          <a:ln w="76199">
            <a:solidFill>
              <a:srgbClr val="38751C"/>
            </a:solidFill>
          </a:ln>
        </p:spPr>
        <p:txBody>
          <a:bodyPr vert="horz" wrap="square" lIns="0" tIns="117687" rIns="0" bIns="0" rtlCol="0">
            <a:spAutoFit/>
          </a:bodyPr>
          <a:lstStyle/>
          <a:p>
            <a:pPr marL="114297" marR="271773">
              <a:lnSpc>
                <a:spcPts val="2200"/>
              </a:lnSpc>
              <a:spcBef>
                <a:spcPts val="927"/>
              </a:spcBef>
            </a:pPr>
            <a:r>
              <a:rPr sz="1867" spc="-7" dirty="0">
                <a:latin typeface="Arial"/>
                <a:cs typeface="Arial"/>
              </a:rPr>
              <a:t>Comments explain to </a:t>
            </a:r>
            <a:r>
              <a:rPr sz="1867" dirty="0">
                <a:latin typeface="Arial"/>
                <a:cs typeface="Arial"/>
              </a:rPr>
              <a:t>a  reader (whether you </a:t>
            </a:r>
            <a:r>
              <a:rPr sz="1867" spc="-7" dirty="0">
                <a:latin typeface="Arial"/>
                <a:cs typeface="Arial"/>
              </a:rPr>
              <a:t>or  </a:t>
            </a:r>
            <a:r>
              <a:rPr sz="1867" dirty="0">
                <a:latin typeface="Arial"/>
                <a:cs typeface="Arial"/>
              </a:rPr>
              <a:t>someone </a:t>
            </a:r>
            <a:r>
              <a:rPr sz="1867" spc="-7" dirty="0">
                <a:latin typeface="Arial"/>
                <a:cs typeface="Arial"/>
              </a:rPr>
              <a:t>else) what </a:t>
            </a:r>
            <a:r>
              <a:rPr sz="1867" dirty="0">
                <a:latin typeface="Arial"/>
                <a:cs typeface="Arial"/>
              </a:rPr>
              <a:t>your  code </a:t>
            </a:r>
            <a:r>
              <a:rPr sz="1867" spc="-7" dirty="0">
                <a:latin typeface="Arial"/>
                <a:cs typeface="Arial"/>
              </a:rPr>
              <a:t>is </a:t>
            </a:r>
            <a:r>
              <a:rPr sz="1867" i="1" dirty="0">
                <a:latin typeface="Arial"/>
                <a:cs typeface="Arial"/>
              </a:rPr>
              <a:t>meant </a:t>
            </a:r>
            <a:r>
              <a:rPr sz="1867" spc="-7" dirty="0">
                <a:latin typeface="Arial"/>
                <a:cs typeface="Arial"/>
              </a:rPr>
              <a:t>to do,</a:t>
            </a:r>
            <a:r>
              <a:rPr sz="1867" spc="-133" dirty="0">
                <a:latin typeface="Arial"/>
                <a:cs typeface="Arial"/>
              </a:rPr>
              <a:t> </a:t>
            </a:r>
            <a:r>
              <a:rPr sz="1867" spc="-7" dirty="0">
                <a:latin typeface="Arial"/>
                <a:cs typeface="Arial"/>
              </a:rPr>
              <a:t>which  is not always obvious from  </a:t>
            </a:r>
            <a:r>
              <a:rPr sz="1867" dirty="0">
                <a:latin typeface="Arial"/>
                <a:cs typeface="Arial"/>
              </a:rPr>
              <a:t>reading </a:t>
            </a:r>
            <a:r>
              <a:rPr sz="1867" spc="-7" dirty="0">
                <a:latin typeface="Arial"/>
                <a:cs typeface="Arial"/>
              </a:rPr>
              <a:t>the </a:t>
            </a:r>
            <a:r>
              <a:rPr sz="1867" dirty="0">
                <a:latin typeface="Arial"/>
                <a:cs typeface="Arial"/>
              </a:rPr>
              <a:t>code</a:t>
            </a:r>
            <a:r>
              <a:rPr sz="1867" spc="-53" dirty="0">
                <a:latin typeface="Arial"/>
                <a:cs typeface="Arial"/>
              </a:rPr>
              <a:t> </a:t>
            </a:r>
            <a:r>
              <a:rPr sz="1867" spc="-7" dirty="0">
                <a:latin typeface="Arial"/>
                <a:cs typeface="Arial"/>
              </a:rPr>
              <a:t>itself!</a:t>
            </a:r>
            <a:endParaRPr sz="1867">
              <a:latin typeface="Arial"/>
              <a:cs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2965" y="626078"/>
            <a:ext cx="6203521" cy="694207"/>
          </a:xfrm>
          <a:prstGeom prst="rect">
            <a:avLst/>
          </a:prstGeom>
        </p:spPr>
        <p:txBody>
          <a:bodyPr vert="horz" wrap="square" lIns="0" tIns="16933" rIns="0" bIns="0" rtlCol="0" anchor="ctr">
            <a:spAutoFit/>
          </a:bodyPr>
          <a:lstStyle/>
          <a:p>
            <a:pPr marL="16933">
              <a:lnSpc>
                <a:spcPct val="100000"/>
              </a:lnSpc>
              <a:spcBef>
                <a:spcPts val="133"/>
              </a:spcBef>
            </a:pPr>
            <a:r>
              <a:rPr dirty="0"/>
              <a:t>A </a:t>
            </a:r>
            <a:r>
              <a:rPr spc="-7" dirty="0"/>
              <a:t>parting note for the</a:t>
            </a:r>
            <a:r>
              <a:rPr spc="-140" dirty="0"/>
              <a:t> </a:t>
            </a:r>
            <a:r>
              <a:rPr spc="-7" dirty="0"/>
              <a:t>day...</a:t>
            </a:r>
          </a:p>
        </p:txBody>
      </p:sp>
      <p:sp>
        <p:nvSpPr>
          <p:cNvPr id="3" name="object 3"/>
          <p:cNvSpPr txBox="1"/>
          <p:nvPr/>
        </p:nvSpPr>
        <p:spPr>
          <a:xfrm>
            <a:off x="512966" y="1571693"/>
            <a:ext cx="10504593" cy="3377248"/>
          </a:xfrm>
          <a:prstGeom prst="rect">
            <a:avLst/>
          </a:prstGeom>
        </p:spPr>
        <p:txBody>
          <a:bodyPr vert="horz" wrap="square" lIns="0" tIns="70272" rIns="0" bIns="0" rtlCol="0">
            <a:spAutoFit/>
          </a:bodyPr>
          <a:lstStyle/>
          <a:p>
            <a:pPr marL="16933">
              <a:spcBef>
                <a:spcPts val="552"/>
              </a:spcBef>
            </a:pPr>
            <a:r>
              <a:rPr sz="2400" b="1" spc="-7" dirty="0">
                <a:latin typeface="Arial"/>
                <a:cs typeface="Arial"/>
              </a:rPr>
              <a:t>Homework:</a:t>
            </a:r>
            <a:endParaRPr sz="2400" dirty="0">
              <a:latin typeface="Arial"/>
              <a:cs typeface="Arial"/>
            </a:endParaRPr>
          </a:p>
          <a:p>
            <a:pPr marL="625671">
              <a:spcBef>
                <a:spcPts val="420"/>
              </a:spcBef>
            </a:pPr>
            <a:r>
              <a:rPr sz="2400" spc="-7" dirty="0">
                <a:latin typeface="Arial"/>
                <a:cs typeface="Arial"/>
              </a:rPr>
              <a:t>Start </a:t>
            </a:r>
            <a:r>
              <a:rPr sz="2400" dirty="0">
                <a:latin typeface="Arial"/>
                <a:cs typeface="Arial"/>
              </a:rPr>
              <a:t>your </a:t>
            </a:r>
            <a:r>
              <a:rPr sz="2400" spc="-7" dirty="0">
                <a:latin typeface="Arial"/>
                <a:cs typeface="Arial"/>
              </a:rPr>
              <a:t>homework</a:t>
            </a:r>
            <a:r>
              <a:rPr sz="2400" spc="-27" dirty="0">
                <a:latin typeface="Arial"/>
                <a:cs typeface="Arial"/>
              </a:rPr>
              <a:t> </a:t>
            </a:r>
            <a:r>
              <a:rPr sz="2400" spc="-7" dirty="0">
                <a:latin typeface="Arial"/>
                <a:cs typeface="Arial"/>
              </a:rPr>
              <a:t>early!</a:t>
            </a:r>
            <a:endParaRPr sz="2400" dirty="0">
              <a:latin typeface="Arial"/>
              <a:cs typeface="Arial"/>
            </a:endParaRPr>
          </a:p>
          <a:p>
            <a:pPr marL="625671">
              <a:spcBef>
                <a:spcPts val="420"/>
              </a:spcBef>
            </a:pPr>
            <a:r>
              <a:rPr sz="2400" spc="-7" dirty="0">
                <a:latin typeface="Arial"/>
                <a:cs typeface="Arial"/>
              </a:rPr>
              <a:t>If </a:t>
            </a:r>
            <a:r>
              <a:rPr sz="2400" dirty="0">
                <a:latin typeface="Arial"/>
                <a:cs typeface="Arial"/>
              </a:rPr>
              <a:t>you run </a:t>
            </a:r>
            <a:r>
              <a:rPr sz="2400" spc="-7" dirty="0">
                <a:latin typeface="Arial"/>
                <a:cs typeface="Arial"/>
              </a:rPr>
              <a:t>into technical issues, </a:t>
            </a:r>
            <a:r>
              <a:rPr sz="2400" dirty="0">
                <a:latin typeface="Arial"/>
                <a:cs typeface="Arial"/>
              </a:rPr>
              <a:t>you’ll </a:t>
            </a:r>
            <a:r>
              <a:rPr sz="2400" spc="-7" dirty="0">
                <a:latin typeface="Arial"/>
                <a:cs typeface="Arial"/>
              </a:rPr>
              <a:t>want to have time to </a:t>
            </a:r>
            <a:r>
              <a:rPr sz="2400" dirty="0">
                <a:latin typeface="Arial"/>
                <a:cs typeface="Arial"/>
              </a:rPr>
              <a:t>come </a:t>
            </a:r>
            <a:r>
              <a:rPr sz="2400" spc="-7" dirty="0">
                <a:latin typeface="Arial"/>
                <a:cs typeface="Arial"/>
              </a:rPr>
              <a:t>get</a:t>
            </a:r>
            <a:r>
              <a:rPr sz="2400" spc="-100" dirty="0">
                <a:latin typeface="Arial"/>
                <a:cs typeface="Arial"/>
              </a:rPr>
              <a:t> </a:t>
            </a:r>
            <a:r>
              <a:rPr sz="2400" spc="-7" dirty="0">
                <a:latin typeface="Arial"/>
                <a:cs typeface="Arial"/>
              </a:rPr>
              <a:t>help!</a:t>
            </a:r>
            <a:endParaRPr sz="2400" dirty="0">
              <a:latin typeface="Arial"/>
              <a:cs typeface="Arial"/>
            </a:endParaRPr>
          </a:p>
          <a:p>
            <a:pPr>
              <a:spcBef>
                <a:spcPts val="40"/>
              </a:spcBef>
            </a:pPr>
            <a:endParaRPr sz="3200" dirty="0">
              <a:latin typeface="Arial"/>
              <a:cs typeface="Arial"/>
            </a:endParaRPr>
          </a:p>
          <a:p>
            <a:pPr marL="16933"/>
            <a:r>
              <a:rPr sz="2400" b="1" dirty="0">
                <a:latin typeface="Arial"/>
                <a:cs typeface="Arial"/>
              </a:rPr>
              <a:t>A </a:t>
            </a:r>
            <a:r>
              <a:rPr sz="2400" b="1" spc="-7" dirty="0">
                <a:latin typeface="Arial"/>
                <a:cs typeface="Arial"/>
              </a:rPr>
              <a:t>note on pace and</a:t>
            </a:r>
            <a:r>
              <a:rPr sz="2400" b="1" spc="-20" dirty="0">
                <a:latin typeface="Arial"/>
                <a:cs typeface="Arial"/>
              </a:rPr>
              <a:t> </a:t>
            </a:r>
            <a:r>
              <a:rPr sz="2400" b="1" spc="-7" dirty="0">
                <a:latin typeface="Arial"/>
                <a:cs typeface="Arial"/>
              </a:rPr>
              <a:t>difficulty</a:t>
            </a:r>
            <a:endParaRPr sz="2400" dirty="0">
              <a:latin typeface="Arial"/>
              <a:cs typeface="Arial"/>
            </a:endParaRPr>
          </a:p>
          <a:p>
            <a:pPr marL="625671">
              <a:spcBef>
                <a:spcPts val="420"/>
              </a:spcBef>
            </a:pPr>
            <a:r>
              <a:rPr sz="2400" dirty="0">
                <a:latin typeface="Arial"/>
                <a:cs typeface="Arial"/>
              </a:rPr>
              <a:t>I </a:t>
            </a:r>
            <a:r>
              <a:rPr sz="2400" spc="-7" dirty="0">
                <a:latin typeface="Arial"/>
                <a:cs typeface="Arial"/>
              </a:rPr>
              <a:t>aim to teach Python from </a:t>
            </a:r>
            <a:r>
              <a:rPr sz="2400" dirty="0">
                <a:latin typeface="Arial"/>
                <a:cs typeface="Arial"/>
              </a:rPr>
              <a:t>scratch </a:t>
            </a:r>
            <a:r>
              <a:rPr sz="2400" spc="-7" dirty="0">
                <a:latin typeface="Arial"/>
                <a:cs typeface="Arial"/>
              </a:rPr>
              <a:t>in this </a:t>
            </a:r>
            <a:r>
              <a:rPr sz="2400" dirty="0">
                <a:latin typeface="Arial"/>
                <a:cs typeface="Arial"/>
              </a:rPr>
              <a:t>course,</a:t>
            </a:r>
            <a:r>
              <a:rPr sz="2400" spc="-53" dirty="0">
                <a:latin typeface="Arial"/>
                <a:cs typeface="Arial"/>
              </a:rPr>
              <a:t> </a:t>
            </a:r>
            <a:r>
              <a:rPr sz="2400" spc="-7" dirty="0">
                <a:latin typeface="Arial"/>
                <a:cs typeface="Arial"/>
              </a:rPr>
              <a:t>but…</a:t>
            </a:r>
            <a:endParaRPr sz="2400" dirty="0">
              <a:latin typeface="Arial"/>
              <a:cs typeface="Arial"/>
            </a:endParaRPr>
          </a:p>
          <a:p>
            <a:pPr marL="625671" marR="6773">
              <a:lnSpc>
                <a:spcPct val="114599"/>
              </a:lnSpc>
            </a:pPr>
            <a:r>
              <a:rPr sz="2400" spc="-7" dirty="0">
                <a:latin typeface="Arial"/>
                <a:cs typeface="Arial"/>
              </a:rPr>
              <a:t>...time </a:t>
            </a:r>
            <a:r>
              <a:rPr sz="2400" dirty="0">
                <a:latin typeface="Arial"/>
                <a:cs typeface="Arial"/>
              </a:rPr>
              <a:t>spent </a:t>
            </a:r>
            <a:r>
              <a:rPr sz="2400" spc="-7" dirty="0">
                <a:latin typeface="Arial"/>
                <a:cs typeface="Arial"/>
              </a:rPr>
              <a:t>on Python is time not </a:t>
            </a:r>
            <a:r>
              <a:rPr sz="2400" dirty="0">
                <a:latin typeface="Arial"/>
                <a:cs typeface="Arial"/>
              </a:rPr>
              <a:t>spent </a:t>
            </a:r>
            <a:r>
              <a:rPr sz="2400" spc="-7" dirty="0">
                <a:latin typeface="Arial"/>
                <a:cs typeface="Arial"/>
              </a:rPr>
              <a:t>on the </a:t>
            </a:r>
            <a:r>
              <a:rPr sz="2400" dirty="0">
                <a:latin typeface="Arial"/>
                <a:cs typeface="Arial"/>
              </a:rPr>
              <a:t>stuff you’re really </a:t>
            </a:r>
            <a:r>
              <a:rPr sz="2400" spc="-7" dirty="0">
                <a:latin typeface="Arial"/>
                <a:cs typeface="Arial"/>
              </a:rPr>
              <a:t>here for  So, </a:t>
            </a:r>
            <a:r>
              <a:rPr sz="2400" dirty="0">
                <a:latin typeface="Arial"/>
                <a:cs typeface="Arial"/>
              </a:rPr>
              <a:t>I </a:t>
            </a:r>
            <a:r>
              <a:rPr sz="2400" spc="-7" dirty="0">
                <a:latin typeface="Arial"/>
                <a:cs typeface="Arial"/>
              </a:rPr>
              <a:t>expect that </a:t>
            </a:r>
            <a:r>
              <a:rPr sz="2400" dirty="0">
                <a:latin typeface="Arial"/>
                <a:cs typeface="Arial"/>
              </a:rPr>
              <a:t>you </a:t>
            </a:r>
            <a:r>
              <a:rPr sz="2400" spc="-7" dirty="0">
                <a:latin typeface="Arial"/>
                <a:cs typeface="Arial"/>
              </a:rPr>
              <a:t>are willing to work hard to </a:t>
            </a:r>
            <a:r>
              <a:rPr sz="2400" dirty="0">
                <a:latin typeface="Arial"/>
                <a:cs typeface="Arial"/>
              </a:rPr>
              <a:t>keep</a:t>
            </a:r>
            <a:r>
              <a:rPr sz="2400" spc="-53" dirty="0">
                <a:latin typeface="Arial"/>
                <a:cs typeface="Arial"/>
              </a:rPr>
              <a:t> </a:t>
            </a:r>
            <a:r>
              <a:rPr sz="2400" spc="-7" dirty="0">
                <a:latin typeface="Arial"/>
                <a:cs typeface="Arial"/>
              </a:rPr>
              <a:t>up</a:t>
            </a:r>
            <a:endParaRPr sz="2400" dirty="0">
              <a:latin typeface="Arial"/>
              <a:cs typeface="Arial"/>
            </a:endParaRPr>
          </a:p>
        </p:txBody>
      </p:sp>
      <p:sp>
        <p:nvSpPr>
          <p:cNvPr id="4" name="object 4"/>
          <p:cNvSpPr txBox="1"/>
          <p:nvPr/>
        </p:nvSpPr>
        <p:spPr>
          <a:xfrm>
            <a:off x="2645594" y="5362255"/>
            <a:ext cx="6901180" cy="862031"/>
          </a:xfrm>
          <a:prstGeom prst="rect">
            <a:avLst/>
          </a:prstGeom>
          <a:solidFill>
            <a:srgbClr val="D8E9D3"/>
          </a:solidFill>
          <a:ln w="76199">
            <a:solidFill>
              <a:srgbClr val="38751C"/>
            </a:solidFill>
          </a:ln>
        </p:spPr>
        <p:txBody>
          <a:bodyPr vert="horz" wrap="square" lIns="0" tIns="48260" rIns="0" bIns="0" rtlCol="0">
            <a:spAutoFit/>
          </a:bodyPr>
          <a:lstStyle/>
          <a:p>
            <a:pPr marL="747588" marR="264153" indent="-483435">
              <a:lnSpc>
                <a:spcPct val="114599"/>
              </a:lnSpc>
              <a:spcBef>
                <a:spcPts val="380"/>
              </a:spcBef>
            </a:pPr>
            <a:r>
              <a:rPr sz="2400" spc="-7" dirty="0">
                <a:latin typeface="Arial"/>
                <a:cs typeface="Arial"/>
              </a:rPr>
              <a:t>If </a:t>
            </a:r>
            <a:r>
              <a:rPr sz="2400" dirty="0">
                <a:latin typeface="Arial"/>
                <a:cs typeface="Arial"/>
              </a:rPr>
              <a:t>I </a:t>
            </a:r>
            <a:r>
              <a:rPr sz="2400" spc="-7" dirty="0">
                <a:latin typeface="Arial"/>
                <a:cs typeface="Arial"/>
              </a:rPr>
              <a:t>am </a:t>
            </a:r>
            <a:r>
              <a:rPr sz="2400" dirty="0">
                <a:latin typeface="Arial"/>
                <a:cs typeface="Arial"/>
              </a:rPr>
              <a:t>moving </a:t>
            </a:r>
            <a:r>
              <a:rPr sz="2400" spc="-7" dirty="0">
                <a:latin typeface="Arial"/>
                <a:cs typeface="Arial"/>
              </a:rPr>
              <a:t>too fast, or </a:t>
            </a:r>
            <a:r>
              <a:rPr sz="2400" dirty="0">
                <a:latin typeface="Arial"/>
                <a:cs typeface="Arial"/>
              </a:rPr>
              <a:t>you </a:t>
            </a:r>
            <a:r>
              <a:rPr sz="2400" spc="-7" dirty="0">
                <a:latin typeface="Arial"/>
                <a:cs typeface="Arial"/>
              </a:rPr>
              <a:t>don’t understand  </a:t>
            </a:r>
            <a:r>
              <a:rPr sz="2400" dirty="0">
                <a:latin typeface="Arial"/>
                <a:cs typeface="Arial"/>
              </a:rPr>
              <a:t>something, come speak </a:t>
            </a:r>
            <a:r>
              <a:rPr sz="2400" spc="-7" dirty="0">
                <a:latin typeface="Arial"/>
                <a:cs typeface="Arial"/>
              </a:rPr>
              <a:t>to </a:t>
            </a:r>
            <a:r>
              <a:rPr sz="2400" dirty="0">
                <a:latin typeface="Arial"/>
                <a:cs typeface="Arial"/>
              </a:rPr>
              <a:t>me</a:t>
            </a:r>
            <a:r>
              <a:rPr sz="2400" spc="-87" dirty="0">
                <a:latin typeface="Arial"/>
                <a:cs typeface="Arial"/>
              </a:rPr>
              <a:t> </a:t>
            </a:r>
            <a:r>
              <a:rPr sz="2400" spc="-7" dirty="0">
                <a:latin typeface="Arial"/>
                <a:cs typeface="Arial"/>
              </a:rPr>
              <a:t>promptly!</a:t>
            </a:r>
            <a:endParaRPr sz="24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3420</Words>
  <Application>Microsoft Office PowerPoint</Application>
  <PresentationFormat>Widescreen</PresentationFormat>
  <Paragraphs>359</Paragraphs>
  <Slides>50</Slides>
  <Notes>4</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Courier New</vt:lpstr>
      <vt:lpstr>Times New Roman</vt:lpstr>
      <vt:lpstr>Office Theme</vt:lpstr>
      <vt:lpstr>Data Science </vt:lpstr>
      <vt:lpstr>Course Objectives</vt:lpstr>
      <vt:lpstr>Course Objectives</vt:lpstr>
      <vt:lpstr>Course structure</vt:lpstr>
      <vt:lpstr>Prerequisites</vt:lpstr>
      <vt:lpstr>Course information</vt:lpstr>
      <vt:lpstr>Commitment</vt:lpstr>
      <vt:lpstr>Tentative marks distribution</vt:lpstr>
      <vt:lpstr>Course information</vt:lpstr>
      <vt:lpstr>Late no more than 5 minutes</vt:lpstr>
      <vt:lpstr>About Me</vt:lpstr>
      <vt:lpstr>Introduce Yourself</vt:lpstr>
      <vt:lpstr>PowerPoint Presentation</vt:lpstr>
      <vt:lpstr>Why Python for Data Science</vt:lpstr>
      <vt:lpstr>Python Libraries for this course</vt:lpstr>
      <vt:lpstr>Python Libraries for this course</vt:lpstr>
      <vt:lpstr>Python Libraries for this course</vt:lpstr>
      <vt:lpstr>Python Libraries for this course</vt:lpstr>
      <vt:lpstr>Python 2 and Python 3</vt:lpstr>
      <vt:lpstr>Integrated Development Environments (IDEs) and Text Editors</vt:lpstr>
      <vt:lpstr>Integrated Development Environments (IDEs) and Text Editors</vt:lpstr>
      <vt:lpstr>Integrated Development Environments (IDEs) and Text Editors</vt:lpstr>
      <vt:lpstr>Python: Overview</vt:lpstr>
      <vt:lpstr>Python: Overview</vt:lpstr>
      <vt:lpstr>Python Interpreter on the Command Line</vt:lpstr>
      <vt:lpstr>PowerPoint Presentation</vt:lpstr>
      <vt:lpstr>Python Interpreter on the Command Line</vt:lpstr>
      <vt:lpstr>Running Jupyter</vt:lpstr>
      <vt:lpstr>Running Jupyter</vt:lpstr>
      <vt:lpstr>PowerPoint Presentation</vt:lpstr>
      <vt:lpstr>Creates a new notebook  file running Python 2.</vt:lpstr>
      <vt:lpstr>PowerPoint Presentation</vt:lpstr>
      <vt:lpstr>Running Python 3</vt:lpstr>
      <vt:lpstr>PowerPoint Presentation</vt:lpstr>
      <vt:lpstr>Write code in the highlighted box, then press  shift+enter to run the code in that box...</vt:lpstr>
      <vt:lpstr>Our first function: print</vt:lpstr>
      <vt:lpstr>Arithmetic in Python</vt:lpstr>
      <vt:lpstr>Data Types</vt:lpstr>
      <vt:lpstr>Variables in Python</vt:lpstr>
      <vt:lpstr>Variables in Python</vt:lpstr>
      <vt:lpstr>Variables in Python</vt:lpstr>
      <vt:lpstr>Variables in Python</vt:lpstr>
      <vt:lpstr>Variables in Python</vt:lpstr>
      <vt:lpstr>Variables in Python</vt:lpstr>
      <vt:lpstr>Variables in Python</vt:lpstr>
      <vt:lpstr>Variables in Python</vt:lpstr>
      <vt:lpstr>Variables in Python</vt:lpstr>
      <vt:lpstr>String Operations</vt:lpstr>
      <vt:lpstr>Comments in Python</vt:lpstr>
      <vt:lpstr>A parting note for the 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dc:creator>Microsoft account</dc:creator>
  <cp:lastModifiedBy>Muhammad Ismail Mangrio</cp:lastModifiedBy>
  <cp:revision>1067</cp:revision>
  <dcterms:created xsi:type="dcterms:W3CDTF">2023-04-07T16:08:55Z</dcterms:created>
  <dcterms:modified xsi:type="dcterms:W3CDTF">2025-08-12T18:10:32Z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2dfecbd-fc97-4e8a-a9cd-19ed496c406e_Enabled">
    <vt:lpwstr>true</vt:lpwstr>
  </property>
  <property fmtid="{D5CDD505-2E9C-101B-9397-08002B2CF9AE}" pid="3" name="MSIP_Label_f2dfecbd-fc97-4e8a-a9cd-19ed496c406e_SetDate">
    <vt:lpwstr>2023-04-28T22:08:50Z</vt:lpwstr>
  </property>
  <property fmtid="{D5CDD505-2E9C-101B-9397-08002B2CF9AE}" pid="4" name="MSIP_Label_f2dfecbd-fc97-4e8a-a9cd-19ed496c406e_Method">
    <vt:lpwstr>Standard</vt:lpwstr>
  </property>
  <property fmtid="{D5CDD505-2E9C-101B-9397-08002B2CF9AE}" pid="5" name="MSIP_Label_f2dfecbd-fc97-4e8a-a9cd-19ed496c406e_Name">
    <vt:lpwstr>defa4170-0d19-0005-0004-bc88714345d2</vt:lpwstr>
  </property>
  <property fmtid="{D5CDD505-2E9C-101B-9397-08002B2CF9AE}" pid="6" name="MSIP_Label_f2dfecbd-fc97-4e8a-a9cd-19ed496c406e_SiteId">
    <vt:lpwstr>d47b090e-3f5a-4ca0-84d0-9f89d269f175</vt:lpwstr>
  </property>
  <property fmtid="{D5CDD505-2E9C-101B-9397-08002B2CF9AE}" pid="7" name="MSIP_Label_f2dfecbd-fc97-4e8a-a9cd-19ed496c406e_ActionId">
    <vt:lpwstr>199568a8-69d6-4494-8f43-317d73d6900f</vt:lpwstr>
  </property>
  <property fmtid="{D5CDD505-2E9C-101B-9397-08002B2CF9AE}" pid="8" name="MSIP_Label_f2dfecbd-fc97-4e8a-a9cd-19ed496c406e_ContentBits">
    <vt:lpwstr>0</vt:lpwstr>
  </property>
</Properties>
</file>
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77B7DD-FBA3-481D-BB39-7170E9C0B0E7}" v="6" dt="2025-10-16T04:16:12.4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BF15BC68-A2CF-4093-A553-41661EC91610}"/>
    <pc:docChg chg="undo custSel modSld modMainMaster">
      <pc:chgData name="Muhammad Ismail Mangrio" userId="590c352b-06fa-4bd0-9f05-47e253030496" providerId="ADAL" clId="{BF15BC68-A2CF-4093-A553-41661EC91610}" dt="2025-10-16T08:00:44.383" v="156" actId="403"/>
      <pc:docMkLst>
        <pc:docMk/>
      </pc:docMkLst>
      <pc:sldChg chg="modSp mod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56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01T13:37:53.048" v="71" actId="404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uhammad Ismail Mangrio" userId="590c352b-06fa-4bd0-9f05-47e253030496" providerId="ADAL" clId="{BF15BC68-A2CF-4093-A553-41661EC91610}" dt="2025-10-16T08:00:44.383" v="156" actId="403"/>
        <pc:sldMkLst>
          <pc:docMk/>
          <pc:sldMk cId="0" sldId="257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8:00:44.383" v="156" actId="403"/>
          <ac:spMkLst>
            <pc:docMk/>
            <pc:sldMk cId="0" sldId="257"/>
            <ac:spMk id="3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58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2:56.686" v="81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59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59"/>
            <ac:spMk id="4" creationId="{00000000-0000-0000-0000-000000000000}"/>
          </ac:spMkLst>
        </pc:spChg>
        <pc:picChg chg="mod">
          <ac:chgData name="Muhammad Ismail Mangrio" userId="590c352b-06fa-4bd0-9f05-47e253030496" providerId="ADAL" clId="{BF15BC68-A2CF-4093-A553-41661EC91610}" dt="2025-10-16T03:53:42.347" v="82" actId="1076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Muhammad Ismail Mangrio" userId="590c352b-06fa-4bd0-9f05-47e253030496" providerId="ADAL" clId="{BF15BC68-A2CF-4093-A553-41661EC91610}" dt="2025-10-16T04:09:25.615" v="97" actId="20577"/>
        <pc:sldMkLst>
          <pc:docMk/>
          <pc:sldMk cId="0" sldId="260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4:09:25.615" v="9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0"/>
            <ac:spMk id="5" creationId="{00000000-0000-0000-0000-000000000000}"/>
          </ac:spMkLst>
        </pc:spChg>
      </pc:sldChg>
      <pc:sldChg chg="modSp mod modNotesTx">
        <pc:chgData name="Muhammad Ismail Mangrio" userId="590c352b-06fa-4bd0-9f05-47e253030496" providerId="ADAL" clId="{BF15BC68-A2CF-4093-A553-41661EC91610}" dt="2025-10-16T04:18:29.345" v="148" actId="1076"/>
        <pc:sldMkLst>
          <pc:docMk/>
          <pc:sldMk cId="0" sldId="261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4:18:02.757" v="14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4:18:29.345" v="148" actId="1076"/>
          <ac:spMkLst>
            <pc:docMk/>
            <pc:sldMk cId="0" sldId="261"/>
            <ac:spMk id="5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2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2"/>
            <ac:spMk id="2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3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3"/>
            <ac:spMk id="3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4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4"/>
            <ac:spMk id="3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4"/>
            <ac:spMk id="8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5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5"/>
            <ac:spMk id="2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6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6"/>
            <ac:spMk id="2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7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7"/>
            <ac:spMk id="6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68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Muhammad Ismail Mangrio" userId="590c352b-06fa-4bd0-9f05-47e253030496" providerId="ADAL" clId="{BF15BC68-A2CF-4093-A553-41661EC91610}" dt="2025-10-16T06:24:39.468" v="152" actId="207"/>
        <pc:sldMkLst>
          <pc:docMk/>
          <pc:sldMk cId="0" sldId="269"/>
        </pc:sldMkLst>
        <pc:spChg chg="mod">
          <ac:chgData name="Muhammad Ismail Mangrio" userId="590c352b-06fa-4bd0-9f05-47e253030496" providerId="ADAL" clId="{BF15BC68-A2CF-4093-A553-41661EC91610}" dt="2025-10-16T06:24:39.468" v="152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69"/>
            <ac:spMk id="5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70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70"/>
            <ac:spMk id="8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71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71"/>
            <ac:spMk id="8" creationId="{00000000-0000-0000-0000-000000000000}"/>
          </ac:spMkLst>
        </pc:spChg>
      </pc:sldChg>
      <pc:sldChg chg="modSp">
        <pc:chgData name="Muhammad Ismail Mangrio" userId="590c352b-06fa-4bd0-9f05-47e253030496" providerId="ADAL" clId="{BF15BC68-A2CF-4093-A553-41661EC91610}" dt="2025-10-16T03:54:45.888" v="86"/>
        <pc:sldMkLst>
          <pc:docMk/>
          <pc:sldMk cId="0" sldId="272"/>
        </pc:sldMkLst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uhammad Ismail Mangrio" userId="590c352b-06fa-4bd0-9f05-47e253030496" providerId="ADAL" clId="{BF15BC68-A2CF-4093-A553-41661EC91610}" dt="2025-10-16T03:54:45.888" v="86"/>
          <ac:spMkLst>
            <pc:docMk/>
            <pc:sldMk cId="0" sldId="272"/>
            <ac:spMk id="7" creationId="{00000000-0000-0000-0000-000000000000}"/>
          </ac:spMkLst>
        </pc:spChg>
      </pc:sldChg>
      <pc:sldMasterChg chg="modSldLayout">
        <pc:chgData name="Muhammad Ismail Mangrio" userId="590c352b-06fa-4bd0-9f05-47e253030496" providerId="ADAL" clId="{BF15BC68-A2CF-4093-A553-41661EC91610}" dt="2025-10-16T03:54:45.888" v="86"/>
        <pc:sldMasterMkLst>
          <pc:docMk/>
          <pc:sldMasterMk cId="1864232270" sldId="2147483666"/>
        </pc:sldMasterMkLst>
        <pc:sldLayoutChg chg="addSp delSp">
          <pc:chgData name="Muhammad Ismail Mangrio" userId="590c352b-06fa-4bd0-9f05-47e253030496" providerId="ADAL" clId="{BF15BC68-A2CF-4093-A553-41661EC91610}" dt="2025-10-16T03:54:45.888" v="86"/>
          <pc:sldLayoutMkLst>
            <pc:docMk/>
            <pc:sldMasterMk cId="1864232270" sldId="2147483666"/>
            <pc:sldLayoutMk cId="1486866493" sldId="2147483678"/>
          </pc:sldLayoutMkLst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16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17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18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19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20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21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22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23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24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45.888" v="86"/>
            <ac:spMkLst>
              <pc:docMk/>
              <pc:sldMasterMk cId="1864232270" sldId="2147483666"/>
              <pc:sldLayoutMk cId="1486866493" sldId="2147483678"/>
              <ac:spMk id="25" creationId="{00000000-0000-0000-0000-000000000000}"/>
            </ac:spMkLst>
          </pc:spChg>
        </pc:sldLayoutChg>
      </pc:sldMasterChg>
      <pc:sldMasterChg chg="modSldLayout">
        <pc:chgData name="Muhammad Ismail Mangrio" userId="590c352b-06fa-4bd0-9f05-47e253030496" providerId="ADAL" clId="{BF15BC68-A2CF-4093-A553-41661EC91610}" dt="2025-10-16T03:54:14.009" v="84"/>
        <pc:sldMasterMkLst>
          <pc:docMk/>
          <pc:sldMasterMk cId="3514502518" sldId="2147483666"/>
        </pc:sldMasterMkLst>
        <pc:sldLayoutChg chg="addSp delSp">
          <pc:chgData name="Muhammad Ismail Mangrio" userId="590c352b-06fa-4bd0-9f05-47e253030496" providerId="ADAL" clId="{BF15BC68-A2CF-4093-A553-41661EC91610}" dt="2025-10-16T03:54:14.009" v="84"/>
          <pc:sldLayoutMkLst>
            <pc:docMk/>
            <pc:sldMasterMk cId="3514502518" sldId="2147483666"/>
            <pc:sldLayoutMk cId="1418833830" sldId="2147483678"/>
          </pc:sldLayoutMkLst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16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17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18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19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20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21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22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23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24" creationId="{00000000-0000-0000-0000-000000000000}"/>
            </ac:spMkLst>
          </pc:spChg>
          <pc:spChg chg="add del">
            <ac:chgData name="Muhammad Ismail Mangrio" userId="590c352b-06fa-4bd0-9f05-47e253030496" providerId="ADAL" clId="{BF15BC68-A2CF-4093-A553-41661EC91610}" dt="2025-10-16T03:54:14.009" v="84"/>
            <ac:spMkLst>
              <pc:docMk/>
              <pc:sldMasterMk cId="3514502518" sldId="2147483666"/>
              <pc:sldLayoutMk cId="1418833830" sldId="2147483678"/>
              <ac:spMk id="2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044A-E341-46DE-BE3F-B25827F4F7C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C39E6-3FA3-4BF6-9CB0-1216EA693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9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Dividing by </a:t>
            </a:r>
            <a:r>
              <a:rPr lang="en-US" b="1" dirty="0"/>
              <a:t>n</a:t>
            </a:r>
            <a:r>
              <a:rPr lang="en-US" dirty="0"/>
              <a:t> → assumes you know the true mean (used for population).</a:t>
            </a:r>
          </a:p>
          <a:p>
            <a:r>
              <a:rPr lang="en-US" dirty="0"/>
              <a:t>Dividing by </a:t>
            </a:r>
            <a:r>
              <a:rPr lang="en-US" b="1" dirty="0"/>
              <a:t>n − 1</a:t>
            </a:r>
            <a:r>
              <a:rPr lang="en-US" dirty="0"/>
              <a:t> → adjusts for the fact that you </a:t>
            </a:r>
            <a:r>
              <a:rPr lang="en-US" b="1" dirty="0"/>
              <a:t>estimated</a:t>
            </a:r>
            <a:r>
              <a:rPr lang="en-US" dirty="0"/>
              <a:t> the mean from limited data (used for sample).</a:t>
            </a:r>
          </a:p>
          <a:p>
            <a:endParaRPr lang="en-US" dirty="0"/>
          </a:p>
          <a:p>
            <a:r>
              <a:rPr lang="en-US" dirty="0"/>
              <a:t>When you calculate variance or standard deviation:</a:t>
            </a:r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 for </a:t>
            </a:r>
            <a:r>
              <a:rPr lang="en-US" b="1" dirty="0"/>
              <a:t>population variance</a:t>
            </a:r>
            <a:r>
              <a:rPr lang="en-US" dirty="0"/>
              <a:t>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np.var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(data,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=0)</a:t>
            </a:r>
            <a:endParaRPr lang="en-US" dirty="0"/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- 1</a:t>
            </a:r>
            <a:r>
              <a:rPr lang="en-US" dirty="0"/>
              <a:t> for </a:t>
            </a:r>
            <a:r>
              <a:rPr lang="en-US" b="1" dirty="0"/>
              <a:t>sample variance</a:t>
            </a:r>
            <a:r>
              <a:rPr lang="en-US" dirty="0"/>
              <a:t>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np.var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(data,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C39E6-3FA3-4BF6-9CB0-1216EA6930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78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7454" y="2568320"/>
            <a:ext cx="6348730" cy="996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7808" y="291795"/>
            <a:ext cx="8460536" cy="7149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451" y="1155953"/>
            <a:ext cx="9135745" cy="4594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26017" y="6148188"/>
            <a:ext cx="208660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20"/>
              </a:lnSpc>
              <a:spcBef>
                <a:spcPts val="105"/>
              </a:spcBef>
            </a:pPr>
            <a:r>
              <a:rPr sz="4400" dirty="0"/>
              <a:t>Exploratory</a:t>
            </a:r>
            <a:r>
              <a:rPr sz="4400" spc="-300" dirty="0"/>
              <a:t> </a:t>
            </a:r>
            <a:r>
              <a:rPr sz="4400" spc="-10" dirty="0"/>
              <a:t>Data</a:t>
            </a:r>
            <a:r>
              <a:rPr sz="4400" spc="-320" dirty="0"/>
              <a:t> </a:t>
            </a:r>
            <a:r>
              <a:rPr sz="4400" spc="-10" dirty="0"/>
              <a:t>Analysis</a:t>
            </a:r>
            <a:endParaRPr sz="4400"/>
          </a:p>
          <a:p>
            <a:pPr marL="3803015">
              <a:lnSpc>
                <a:spcPts val="2620"/>
              </a:lnSpc>
            </a:pPr>
            <a:r>
              <a:rPr sz="2400" dirty="0"/>
              <a:t>Unit</a:t>
            </a:r>
            <a:r>
              <a:rPr sz="2400" spc="-45" dirty="0"/>
              <a:t> </a:t>
            </a:r>
            <a:r>
              <a:rPr sz="2400" dirty="0"/>
              <a:t>02</a:t>
            </a:r>
            <a:r>
              <a:rPr sz="2400" spc="-40" dirty="0"/>
              <a:t> </a:t>
            </a:r>
            <a:r>
              <a:rPr sz="2400" dirty="0"/>
              <a:t>Lecture</a:t>
            </a:r>
            <a:r>
              <a:rPr sz="2400" spc="-30" dirty="0"/>
              <a:t> </a:t>
            </a:r>
            <a:r>
              <a:rPr sz="2400" spc="-25" dirty="0"/>
              <a:t>03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791200" y="4343400"/>
            <a:ext cx="393331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65" dirty="0">
                <a:solidFill>
                  <a:srgbClr val="7E7E7E"/>
                </a:solidFill>
                <a:latin typeface="Trebuchet MS"/>
                <a:cs typeface="Trebuchet MS"/>
              </a:rPr>
              <a:t>Instructor: </a:t>
            </a:r>
            <a:r>
              <a:rPr sz="1600" spc="-65" dirty="0">
                <a:solidFill>
                  <a:srgbClr val="7E7E7E"/>
                </a:solidFill>
                <a:latin typeface="Trebuchet MS"/>
                <a:cs typeface="Trebuchet MS"/>
              </a:rPr>
              <a:t>Dr</a:t>
            </a:r>
            <a:r>
              <a:rPr lang="en-US" sz="1600" spc="-65" dirty="0">
                <a:solidFill>
                  <a:srgbClr val="7E7E7E"/>
                </a:solidFill>
                <a:latin typeface="Trebuchet MS"/>
                <a:cs typeface="Trebuchet MS"/>
              </a:rPr>
              <a:t> Muhammad Ismail Mangrio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539F20"/>
                </a:solidFill>
                <a:latin typeface="Arial MT"/>
                <a:cs typeface="Arial MT"/>
              </a:rPr>
              <a:t>Contents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52729" y="1018219"/>
            <a:ext cx="5135245" cy="255262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Elements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Rectangular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Estimates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Location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Estimates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Variability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Exploring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Distribution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Estimates of </a:t>
            </a:r>
            <a:r>
              <a:rPr spc="-25" dirty="0"/>
              <a:t>Variability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87451" y="1076706"/>
            <a:ext cx="79673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Location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just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dimension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summarizing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feature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451" y="1521968"/>
            <a:ext cx="31692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second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dimension,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9032" y="1547876"/>
            <a:ext cx="5358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variability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also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referred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dispersion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451" y="1838960"/>
            <a:ext cx="8716010" cy="404304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>
              <a:lnSpc>
                <a:spcPct val="80000"/>
              </a:lnSpc>
              <a:spcBef>
                <a:spcPts val="725"/>
              </a:spcBef>
              <a:tabLst>
                <a:tab pos="1716405" algn="l"/>
                <a:tab pos="3573145" algn="l"/>
                <a:tab pos="4330065" algn="l"/>
                <a:tab pos="5343525" algn="l"/>
                <a:tab pos="5930265" algn="l"/>
                <a:tab pos="6981190" algn="l"/>
                <a:tab pos="8392160" algn="l"/>
              </a:tabLst>
            </a:pPr>
            <a:r>
              <a:rPr sz="2600" spc="-10" dirty="0">
                <a:latin typeface="Times New Roman"/>
                <a:cs typeface="Times New Roman"/>
              </a:rPr>
              <a:t>measures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dirty="0">
                <a:latin typeface="Times New Roman"/>
                <a:cs typeface="Times New Roman"/>
              </a:rPr>
              <a:t>whether</a:t>
            </a:r>
            <a:r>
              <a:rPr sz="2600" b="1" spc="34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0" dirty="0">
                <a:latin typeface="Times New Roman"/>
                <a:cs typeface="Times New Roman"/>
              </a:rPr>
              <a:t>data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values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are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tightly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clustered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25" dirty="0">
                <a:latin typeface="Times New Roman"/>
                <a:cs typeface="Times New Roman"/>
              </a:rPr>
              <a:t>or </a:t>
            </a:r>
            <a:r>
              <a:rPr sz="2600" b="1" dirty="0">
                <a:latin typeface="Times New Roman"/>
                <a:cs typeface="Times New Roman"/>
              </a:rPr>
              <a:t>spread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out</a:t>
            </a:r>
            <a:r>
              <a:rPr sz="2600" spc="-20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7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At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heart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statistics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lies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variability:</a:t>
            </a:r>
            <a:endParaRPr sz="2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measuring</a:t>
            </a:r>
            <a:r>
              <a:rPr sz="2400" spc="-25" dirty="0">
                <a:latin typeface="Times New Roman"/>
                <a:cs typeface="Times New Roman"/>
              </a:rPr>
              <a:t> it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reducing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43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5650" algn="l"/>
              </a:tabLst>
            </a:pPr>
            <a:r>
              <a:rPr sz="2400" b="1" dirty="0">
                <a:latin typeface="Times New Roman"/>
                <a:cs typeface="Times New Roman"/>
              </a:rPr>
              <a:t>distinguishing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random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variability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various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sources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variability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b="1" dirty="0">
                <a:latin typeface="Times New Roman"/>
                <a:cs typeface="Times New Roman"/>
              </a:rPr>
              <a:t>making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decisions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  <a:p>
            <a:pPr marL="355600" marR="10795" indent="-342900">
              <a:lnSpc>
                <a:spcPts val="2500"/>
              </a:lnSpc>
              <a:spcBef>
                <a:spcPts val="97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  <a:tab pos="1019810" algn="l"/>
                <a:tab pos="1445260" algn="l"/>
                <a:tab pos="2256155" algn="l"/>
                <a:tab pos="2809240" algn="l"/>
                <a:tab pos="4089400" algn="l"/>
                <a:tab pos="4916805" algn="l"/>
                <a:tab pos="5325745" algn="l"/>
                <a:tab pos="6575425" algn="l"/>
                <a:tab pos="7790180" algn="l"/>
              </a:tabLst>
            </a:pPr>
            <a:r>
              <a:rPr sz="2600" spc="-20" dirty="0">
                <a:latin typeface="Times New Roman"/>
                <a:cs typeface="Times New Roman"/>
              </a:rPr>
              <a:t>Just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there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different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ways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measure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location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(mean, </a:t>
            </a:r>
            <a:r>
              <a:rPr sz="2600" dirty="0">
                <a:latin typeface="Times New Roman"/>
                <a:cs typeface="Times New Roman"/>
              </a:rPr>
              <a:t>median,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etc.),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variability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Estimates of </a:t>
            </a:r>
            <a:r>
              <a:rPr spc="-25" dirty="0"/>
              <a:t>Variability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868681"/>
            <a:ext cx="4064507" cy="59893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Standard</a:t>
            </a:r>
            <a:r>
              <a:rPr spc="-95" dirty="0"/>
              <a:t> </a:t>
            </a:r>
            <a:r>
              <a:rPr dirty="0"/>
              <a:t>Deviation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Related</a:t>
            </a:r>
            <a:r>
              <a:rPr spc="-90" dirty="0"/>
              <a:t> </a:t>
            </a:r>
            <a:r>
              <a:rPr spc="-10" dirty="0"/>
              <a:t>Estimates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87451" y="1155953"/>
            <a:ext cx="9135745" cy="43287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51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/>
              <a:t>The</a:t>
            </a:r>
            <a:r>
              <a:rPr sz="2200" spc="105" dirty="0"/>
              <a:t> </a:t>
            </a:r>
            <a:r>
              <a:rPr sz="2200" dirty="0"/>
              <a:t>most</a:t>
            </a:r>
            <a:r>
              <a:rPr sz="2200" spc="105" dirty="0"/>
              <a:t> </a:t>
            </a:r>
            <a:r>
              <a:rPr sz="2200" dirty="0"/>
              <a:t>widely</a:t>
            </a:r>
            <a:r>
              <a:rPr sz="2200" spc="105" dirty="0"/>
              <a:t> </a:t>
            </a:r>
            <a:r>
              <a:rPr sz="2200" dirty="0"/>
              <a:t>used</a:t>
            </a:r>
            <a:r>
              <a:rPr sz="2200" spc="90" dirty="0"/>
              <a:t> </a:t>
            </a:r>
            <a:r>
              <a:rPr sz="2200" dirty="0"/>
              <a:t>estimates</a:t>
            </a:r>
            <a:r>
              <a:rPr sz="2200" spc="90" dirty="0"/>
              <a:t> </a:t>
            </a:r>
            <a:r>
              <a:rPr sz="2200" dirty="0"/>
              <a:t>of</a:t>
            </a:r>
            <a:r>
              <a:rPr sz="2200" spc="95" dirty="0"/>
              <a:t> </a:t>
            </a:r>
            <a:r>
              <a:rPr sz="2200" dirty="0"/>
              <a:t>variation</a:t>
            </a:r>
            <a:r>
              <a:rPr sz="2200" spc="110" dirty="0"/>
              <a:t> </a:t>
            </a:r>
            <a:r>
              <a:rPr sz="2200" dirty="0"/>
              <a:t>are</a:t>
            </a:r>
            <a:r>
              <a:rPr sz="2200" spc="85" dirty="0"/>
              <a:t> </a:t>
            </a:r>
            <a:r>
              <a:rPr sz="2200" dirty="0"/>
              <a:t>based</a:t>
            </a:r>
            <a:r>
              <a:rPr sz="2200" spc="105" dirty="0"/>
              <a:t> </a:t>
            </a:r>
            <a:r>
              <a:rPr sz="2200" b="1" dirty="0">
                <a:latin typeface="Times New Roman"/>
                <a:cs typeface="Times New Roman"/>
              </a:rPr>
              <a:t>on</a:t>
            </a:r>
            <a:r>
              <a:rPr sz="2200" b="1" spc="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differences</a:t>
            </a:r>
            <a:r>
              <a:rPr sz="2200" dirty="0"/>
              <a:t>,</a:t>
            </a:r>
            <a:r>
              <a:rPr sz="2200" spc="100" dirty="0"/>
              <a:t> </a:t>
            </a:r>
            <a:r>
              <a:rPr sz="2200" spc="-25" dirty="0"/>
              <a:t>or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510"/>
              </a:lnSpc>
            </a:pPr>
            <a:r>
              <a:rPr sz="2200" b="1" dirty="0">
                <a:latin typeface="Times New Roman"/>
                <a:cs typeface="Times New Roman"/>
              </a:rPr>
              <a:t>deviations</a:t>
            </a:r>
            <a:r>
              <a:rPr sz="2200" dirty="0"/>
              <a:t>,</a:t>
            </a:r>
            <a:r>
              <a:rPr sz="2200" spc="-50" dirty="0"/>
              <a:t> </a:t>
            </a:r>
            <a:r>
              <a:rPr sz="2200" dirty="0"/>
              <a:t>between</a:t>
            </a:r>
            <a:r>
              <a:rPr sz="2200" spc="-25" dirty="0"/>
              <a:t> </a:t>
            </a:r>
            <a:r>
              <a:rPr sz="2200" dirty="0"/>
              <a:t>the</a:t>
            </a:r>
            <a:r>
              <a:rPr sz="2200" spc="-40" dirty="0"/>
              <a:t> </a:t>
            </a:r>
            <a:r>
              <a:rPr sz="2200" b="1" dirty="0">
                <a:latin typeface="Times New Roman"/>
                <a:cs typeface="Times New Roman"/>
              </a:rPr>
              <a:t>estimate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location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/>
              <a:t>and</a:t>
            </a:r>
            <a:r>
              <a:rPr sz="2200" spc="-35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b="1" dirty="0">
                <a:latin typeface="Times New Roman"/>
                <a:cs typeface="Times New Roman"/>
              </a:rPr>
              <a:t>observed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data</a:t>
            </a:r>
            <a:r>
              <a:rPr sz="2200" spc="-10" dirty="0"/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/>
              <a:t>For</a:t>
            </a:r>
            <a:r>
              <a:rPr sz="2200" spc="-20" dirty="0"/>
              <a:t> </a:t>
            </a:r>
            <a:r>
              <a:rPr sz="2200" dirty="0"/>
              <a:t>a</a:t>
            </a:r>
            <a:r>
              <a:rPr sz="2200" spc="-20" dirty="0"/>
              <a:t> </a:t>
            </a:r>
            <a:r>
              <a:rPr sz="2200" dirty="0"/>
              <a:t>set</a:t>
            </a:r>
            <a:r>
              <a:rPr sz="2200" spc="-25" dirty="0"/>
              <a:t> </a:t>
            </a:r>
            <a:r>
              <a:rPr sz="2200" dirty="0"/>
              <a:t>of</a:t>
            </a:r>
            <a:r>
              <a:rPr sz="2200" spc="-20" dirty="0"/>
              <a:t> </a:t>
            </a:r>
            <a:r>
              <a:rPr sz="2200" dirty="0"/>
              <a:t>data</a:t>
            </a:r>
            <a:r>
              <a:rPr sz="2200" spc="-25" dirty="0"/>
              <a:t> </a:t>
            </a:r>
            <a:r>
              <a:rPr sz="2200" dirty="0"/>
              <a:t>{1,</a:t>
            </a:r>
            <a:r>
              <a:rPr sz="2200" spc="-30" dirty="0"/>
              <a:t> </a:t>
            </a:r>
            <a:r>
              <a:rPr sz="2200" dirty="0"/>
              <a:t>4,</a:t>
            </a:r>
            <a:r>
              <a:rPr sz="2200" spc="-35" dirty="0"/>
              <a:t> </a:t>
            </a:r>
            <a:r>
              <a:rPr sz="2200" dirty="0"/>
              <a:t>4},</a:t>
            </a:r>
            <a:r>
              <a:rPr sz="2200" spc="-30" dirty="0"/>
              <a:t> </a:t>
            </a:r>
            <a:r>
              <a:rPr sz="2200" dirty="0"/>
              <a:t>the</a:t>
            </a:r>
            <a:r>
              <a:rPr sz="2200" spc="-20" dirty="0"/>
              <a:t> </a:t>
            </a:r>
            <a:r>
              <a:rPr sz="2200" b="1" dirty="0">
                <a:latin typeface="Times New Roman"/>
                <a:cs typeface="Times New Roman"/>
              </a:rPr>
              <a:t>mean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3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/>
              <a:t>and</a:t>
            </a:r>
            <a:r>
              <a:rPr sz="2200" spc="-25" dirty="0"/>
              <a:t> </a:t>
            </a:r>
            <a:r>
              <a:rPr sz="2200" dirty="0"/>
              <a:t>the</a:t>
            </a:r>
            <a:r>
              <a:rPr sz="2200" spc="-25" dirty="0"/>
              <a:t> </a:t>
            </a:r>
            <a:r>
              <a:rPr sz="2200" b="1" dirty="0">
                <a:latin typeface="Times New Roman"/>
                <a:cs typeface="Times New Roman"/>
              </a:rPr>
              <a:t>median </a:t>
            </a:r>
            <a:r>
              <a:rPr sz="2200" dirty="0"/>
              <a:t>is</a:t>
            </a:r>
            <a:r>
              <a:rPr sz="2200" spc="-30" dirty="0"/>
              <a:t> </a:t>
            </a:r>
            <a:r>
              <a:rPr sz="2200" spc="-25" dirty="0"/>
              <a:t>4.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/>
              <a:t>The</a:t>
            </a:r>
            <a:r>
              <a:rPr sz="2200" spc="-50" dirty="0"/>
              <a:t> </a:t>
            </a:r>
            <a:r>
              <a:rPr sz="2200" b="1" dirty="0">
                <a:latin typeface="Times New Roman"/>
                <a:cs typeface="Times New Roman"/>
              </a:rPr>
              <a:t>deviations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from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mean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/>
              <a:t>are</a:t>
            </a:r>
            <a:r>
              <a:rPr sz="2200" spc="-50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spc="-10" dirty="0"/>
              <a:t>differences:</a:t>
            </a:r>
            <a:endParaRPr sz="22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6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</a:tabLst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–2</a:t>
            </a:r>
            <a:endParaRPr sz="20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6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  <a:tab pos="1661795" algn="l"/>
              </a:tabLst>
            </a:pPr>
            <a:r>
              <a:rPr sz="2000" dirty="0">
                <a:latin typeface="Times New Roman"/>
                <a:cs typeface="Times New Roman"/>
              </a:rPr>
              <a:t>4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7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  <a:tab pos="1661795" algn="l"/>
              </a:tabLst>
            </a:pPr>
            <a:r>
              <a:rPr sz="2000" dirty="0">
                <a:latin typeface="Times New Roman"/>
                <a:cs typeface="Times New Roman"/>
              </a:rPr>
              <a:t>4 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/>
              <a:t>These</a:t>
            </a:r>
            <a:r>
              <a:rPr sz="2200" spc="-45" dirty="0"/>
              <a:t> </a:t>
            </a:r>
            <a:r>
              <a:rPr sz="2200" dirty="0"/>
              <a:t>deviations</a:t>
            </a:r>
            <a:r>
              <a:rPr sz="2200" spc="-45" dirty="0"/>
              <a:t> </a:t>
            </a:r>
            <a:r>
              <a:rPr sz="2200" dirty="0"/>
              <a:t>tell</a:t>
            </a:r>
            <a:r>
              <a:rPr sz="2200" spc="-25" dirty="0"/>
              <a:t> </a:t>
            </a:r>
            <a:r>
              <a:rPr sz="2200" dirty="0"/>
              <a:t>us</a:t>
            </a:r>
            <a:r>
              <a:rPr sz="2200" spc="-55" dirty="0"/>
              <a:t> </a:t>
            </a:r>
            <a:r>
              <a:rPr sz="2200" b="1" dirty="0">
                <a:latin typeface="Times New Roman"/>
                <a:cs typeface="Times New Roman"/>
              </a:rPr>
              <a:t>how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dispersed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around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central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value.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spc="-45" dirty="0"/>
              <a:t>To</a:t>
            </a:r>
            <a:r>
              <a:rPr sz="2200" spc="-55" dirty="0"/>
              <a:t> </a:t>
            </a:r>
            <a:r>
              <a:rPr sz="2200" b="1" dirty="0">
                <a:latin typeface="Times New Roman"/>
                <a:cs typeface="Times New Roman"/>
              </a:rPr>
              <a:t>avoid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negative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lang="en-US" sz="2200" dirty="0"/>
              <a:t>value,</a:t>
            </a:r>
            <a:r>
              <a:rPr sz="2200" spc="-45" dirty="0"/>
              <a:t> </a:t>
            </a:r>
            <a:r>
              <a:rPr sz="2200" b="1" dirty="0">
                <a:latin typeface="Times New Roman"/>
                <a:cs typeface="Times New Roman"/>
              </a:rPr>
              <a:t>use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absolute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/>
              <a:t>values</a:t>
            </a:r>
            <a:r>
              <a:rPr sz="2200" spc="-60" dirty="0"/>
              <a:t> </a:t>
            </a:r>
            <a:r>
              <a:rPr sz="2200" dirty="0"/>
              <a:t>in</a:t>
            </a:r>
            <a:r>
              <a:rPr sz="2200" spc="-40" dirty="0"/>
              <a:t> </a:t>
            </a:r>
            <a:r>
              <a:rPr sz="2200" spc="-10" dirty="0"/>
              <a:t>formula.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510"/>
              </a:lnSpc>
              <a:spcBef>
                <a:spcPts val="74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/>
              <a:t>This</a:t>
            </a:r>
            <a:r>
              <a:rPr sz="2200" spc="395" dirty="0"/>
              <a:t> </a:t>
            </a:r>
            <a:r>
              <a:rPr sz="2200" dirty="0"/>
              <a:t>is</a:t>
            </a:r>
            <a:r>
              <a:rPr sz="2200" spc="390" dirty="0"/>
              <a:t> </a:t>
            </a:r>
            <a:r>
              <a:rPr sz="2200" dirty="0"/>
              <a:t>known</a:t>
            </a:r>
            <a:r>
              <a:rPr sz="2200" spc="405" dirty="0"/>
              <a:t> </a:t>
            </a:r>
            <a:r>
              <a:rPr sz="2200" dirty="0"/>
              <a:t>as</a:t>
            </a:r>
            <a:r>
              <a:rPr sz="2200" spc="390" dirty="0"/>
              <a:t> </a:t>
            </a:r>
            <a:r>
              <a:rPr sz="2200" dirty="0"/>
              <a:t>the</a:t>
            </a:r>
            <a:r>
              <a:rPr sz="2200" spc="390" dirty="0"/>
              <a:t> </a:t>
            </a:r>
            <a:r>
              <a:rPr sz="2200" b="1" dirty="0">
                <a:latin typeface="Times New Roman"/>
                <a:cs typeface="Times New Roman"/>
              </a:rPr>
              <a:t>mean</a:t>
            </a:r>
            <a:r>
              <a:rPr sz="2200" b="1" spc="409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absolute</a:t>
            </a:r>
            <a:r>
              <a:rPr sz="2200" b="1" spc="3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deviation</a:t>
            </a:r>
            <a:r>
              <a:rPr sz="2200" b="1" spc="405" dirty="0">
                <a:latin typeface="Times New Roman"/>
                <a:cs typeface="Times New Roman"/>
              </a:rPr>
              <a:t> </a:t>
            </a:r>
            <a:r>
              <a:rPr sz="2200" dirty="0"/>
              <a:t>and</a:t>
            </a:r>
            <a:r>
              <a:rPr sz="2200" spc="400" dirty="0"/>
              <a:t> </a:t>
            </a:r>
            <a:r>
              <a:rPr sz="2200" dirty="0"/>
              <a:t>is</a:t>
            </a:r>
            <a:r>
              <a:rPr sz="2200" spc="390" dirty="0"/>
              <a:t> </a:t>
            </a:r>
            <a:r>
              <a:rPr sz="2200" dirty="0"/>
              <a:t>computed</a:t>
            </a:r>
            <a:r>
              <a:rPr sz="2200" spc="405" dirty="0"/>
              <a:t> </a:t>
            </a:r>
            <a:r>
              <a:rPr sz="2200" dirty="0"/>
              <a:t>with</a:t>
            </a:r>
            <a:r>
              <a:rPr sz="2200" spc="400" dirty="0"/>
              <a:t> </a:t>
            </a:r>
            <a:r>
              <a:rPr sz="2200" spc="-25" dirty="0"/>
              <a:t>the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510"/>
              </a:lnSpc>
            </a:pPr>
            <a:r>
              <a:rPr sz="2200" spc="-10" dirty="0"/>
              <a:t>formula:</a:t>
            </a:r>
            <a:endParaRPr sz="22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958" y="5446657"/>
            <a:ext cx="4323139" cy="12610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Standard</a:t>
            </a:r>
            <a:r>
              <a:rPr spc="-95" dirty="0"/>
              <a:t> </a:t>
            </a:r>
            <a:r>
              <a:rPr dirty="0"/>
              <a:t>Deviation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Related</a:t>
            </a:r>
            <a:r>
              <a:rPr spc="-90" dirty="0"/>
              <a:t> </a:t>
            </a:r>
            <a:r>
              <a:rPr spc="-10" dirty="0"/>
              <a:t>Estimates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084326"/>
            <a:ext cx="8994775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59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  <a:tab pos="988060" algn="l"/>
                <a:tab pos="2566670" algn="l"/>
                <a:tab pos="3859529" algn="l"/>
                <a:tab pos="4271010" algn="l"/>
                <a:tab pos="5677535" algn="l"/>
                <a:tab pos="6206490" algn="l"/>
                <a:tab pos="6737350" algn="l"/>
                <a:tab pos="8011159" algn="l"/>
                <a:tab pos="8608695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best-</a:t>
            </a:r>
            <a:r>
              <a:rPr sz="2400" spc="-20" dirty="0">
                <a:latin typeface="Times New Roman"/>
                <a:cs typeface="Times New Roman"/>
              </a:rPr>
              <a:t>known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estimates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variability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variance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590"/>
              </a:lnSpc>
            </a:pPr>
            <a:r>
              <a:rPr sz="2400" b="1" dirty="0">
                <a:latin typeface="Times New Roman"/>
                <a:cs typeface="Times New Roman"/>
              </a:rPr>
              <a:t>standard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deviation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squared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deviations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00"/>
              </a:lnSpc>
              <a:spcBef>
                <a:spcPts val="98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  <a:tab pos="1000125" algn="l"/>
                <a:tab pos="2199640" algn="l"/>
                <a:tab pos="2574290" algn="l"/>
                <a:tab pos="3033395" algn="l"/>
                <a:tab pos="4217670" algn="l"/>
                <a:tab pos="4641215" algn="l"/>
                <a:tab pos="5217160" algn="l"/>
                <a:tab pos="6433820" algn="l"/>
                <a:tab pos="8000365" algn="l"/>
                <a:tab pos="8609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variance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average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of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the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squared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deviations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square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root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variance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451" y="4188079"/>
            <a:ext cx="8995410" cy="15336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6985" indent="-342900">
              <a:lnSpc>
                <a:spcPct val="80000"/>
              </a:lnSpc>
              <a:spcBef>
                <a:spcPts val="67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spc="-40" dirty="0">
                <a:latin typeface="Times New Roman"/>
                <a:cs typeface="Times New Roman"/>
              </a:rPr>
              <a:t>We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n-</a:t>
            </a:r>
            <a:r>
              <a:rPr sz="2400" b="1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imes New Roman"/>
                <a:cs typeface="Times New Roman"/>
              </a:rPr>
              <a:t>instead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sample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b="1" dirty="0">
                <a:latin typeface="Times New Roman"/>
                <a:cs typeface="Times New Roman"/>
              </a:rPr>
              <a:t>biased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00"/>
              </a:lnSpc>
              <a:spcBef>
                <a:spcPts val="98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However,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difference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either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n-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samples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59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  <a:tab pos="1399540" algn="l"/>
                <a:tab pos="1900555" algn="l"/>
                <a:tab pos="3138170" algn="l"/>
                <a:tab pos="3639820" algn="l"/>
                <a:tab pos="4801235" algn="l"/>
                <a:tab pos="6141085" algn="l"/>
                <a:tab pos="6676390" algn="l"/>
                <a:tab pos="7179309" algn="l"/>
                <a:tab pos="7966709" algn="l"/>
              </a:tabLst>
            </a:pPr>
            <a:r>
              <a:rPr sz="2400" spc="-10" dirty="0">
                <a:latin typeface="Times New Roman"/>
                <a:cs typeface="Times New Roman"/>
              </a:rPr>
              <a:t>Neither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variance,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standard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deviation,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nor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mean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absolute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00" y="5721704"/>
            <a:ext cx="6247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deviation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robust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outliers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extreme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0853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6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72639" y="2650235"/>
            <a:ext cx="4837430" cy="1452880"/>
            <a:chOff x="2072639" y="2650235"/>
            <a:chExt cx="4837430" cy="14528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0867" y="2808763"/>
              <a:ext cx="4420632" cy="112535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77211" y="2654807"/>
              <a:ext cx="4828540" cy="1443355"/>
            </a:xfrm>
            <a:custGeom>
              <a:avLst/>
              <a:gdLst/>
              <a:ahLst/>
              <a:cxnLst/>
              <a:rect l="l" t="t" r="r" b="b"/>
              <a:pathLst>
                <a:path w="4828540" h="1443354">
                  <a:moveTo>
                    <a:pt x="0" y="1443227"/>
                  </a:moveTo>
                  <a:lnTo>
                    <a:pt x="4828032" y="1443227"/>
                  </a:lnTo>
                  <a:lnTo>
                    <a:pt x="4828032" y="0"/>
                  </a:lnTo>
                  <a:lnTo>
                    <a:pt x="0" y="0"/>
                  </a:lnTo>
                  <a:lnTo>
                    <a:pt x="0" y="14432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Standard</a:t>
            </a:r>
            <a:r>
              <a:rPr spc="-95" dirty="0"/>
              <a:t> </a:t>
            </a:r>
            <a:r>
              <a:rPr dirty="0"/>
              <a:t>Deviation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Related</a:t>
            </a:r>
            <a:r>
              <a:rPr spc="-90" dirty="0"/>
              <a:t> </a:t>
            </a:r>
            <a:r>
              <a:rPr spc="-10" dirty="0"/>
              <a:t>Estimates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55953"/>
            <a:ext cx="8879205" cy="475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variance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standard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deviation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especially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sensitive</a:t>
            </a:r>
            <a:r>
              <a:rPr sz="2600" b="1" spc="17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to </a:t>
            </a:r>
            <a:r>
              <a:rPr sz="2600" b="1" dirty="0">
                <a:latin typeface="Times New Roman"/>
                <a:cs typeface="Times New Roman"/>
              </a:rPr>
              <a:t>outliers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since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based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squared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deviations.</a:t>
            </a:r>
            <a:endParaRPr sz="26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  <a:tab pos="1797050" algn="l"/>
                <a:tab pos="3293745" algn="l"/>
                <a:tab pos="3781425" algn="l"/>
                <a:tab pos="5257165" algn="l"/>
                <a:tab pos="6111875" algn="l"/>
                <a:tab pos="6783070" algn="l"/>
                <a:tab pos="7766050" algn="l"/>
              </a:tabLst>
            </a:pPr>
            <a:r>
              <a:rPr sz="2600" spc="-10" dirty="0">
                <a:latin typeface="Times New Roman"/>
                <a:cs typeface="Times New Roman"/>
              </a:rPr>
              <a:t>Standard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deviation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preferred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over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mean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absolute deviation.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  <a:tab pos="810895" algn="l"/>
                <a:tab pos="1871980" algn="l"/>
                <a:tab pos="3205480" algn="l"/>
                <a:tab pos="3717925" algn="l"/>
                <a:tab pos="5311775" algn="l"/>
                <a:tab pos="5767705" algn="l"/>
                <a:tab pos="6407785" algn="l"/>
                <a:tab pos="7689850" algn="l"/>
              </a:tabLst>
            </a:pPr>
            <a:r>
              <a:rPr sz="2600" spc="-5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robust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estimate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of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variability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median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10" dirty="0">
                <a:latin typeface="Times New Roman"/>
                <a:cs typeface="Times New Roman"/>
              </a:rPr>
              <a:t>absolute </a:t>
            </a:r>
            <a:r>
              <a:rPr sz="2600" b="1" dirty="0">
                <a:latin typeface="Times New Roman"/>
                <a:cs typeface="Times New Roman"/>
              </a:rPr>
              <a:t>deviation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from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median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MAD: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35"/>
              </a:spcBef>
              <a:buClr>
                <a:srgbClr val="90C225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1155065" algn="l"/>
              </a:tabLst>
            </a:pP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median.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600" dirty="0">
                <a:latin typeface="Times New Roman"/>
                <a:cs typeface="Times New Roman"/>
              </a:rPr>
              <a:t>Like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median,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influenced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extreme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values.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  <a:tab pos="719455" algn="l"/>
                <a:tab pos="1102360" algn="l"/>
                <a:tab pos="1797050" algn="l"/>
                <a:tab pos="3043555" algn="l"/>
                <a:tab pos="3462654" algn="l"/>
                <a:tab pos="4761865" algn="l"/>
                <a:tab pos="5071110" algn="l"/>
                <a:tab pos="6353175" algn="l"/>
                <a:tab pos="7633334" algn="l"/>
              </a:tabLst>
            </a:pPr>
            <a:r>
              <a:rPr sz="2600" spc="-2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also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possible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compute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trimmed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standard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deviation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351" y="5881522"/>
            <a:ext cx="52812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analogous/similar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trimmed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mean.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0853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7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2204" y="3992879"/>
            <a:ext cx="7144511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10" dirty="0"/>
              <a:t> Percentiles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430" indent="-342900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different</a:t>
            </a:r>
            <a:r>
              <a:rPr spc="110" dirty="0"/>
              <a:t> </a:t>
            </a:r>
            <a:r>
              <a:rPr dirty="0"/>
              <a:t>approach</a:t>
            </a:r>
            <a:r>
              <a:rPr spc="110" dirty="0"/>
              <a:t> </a:t>
            </a:r>
            <a:r>
              <a:rPr dirty="0"/>
              <a:t>to</a:t>
            </a:r>
            <a:r>
              <a:rPr spc="114" dirty="0"/>
              <a:t> </a:t>
            </a:r>
            <a:r>
              <a:rPr dirty="0"/>
              <a:t>estimating</a:t>
            </a:r>
            <a:r>
              <a:rPr spc="114" dirty="0"/>
              <a:t> </a:t>
            </a:r>
            <a:r>
              <a:rPr dirty="0"/>
              <a:t>dispersion</a:t>
            </a:r>
            <a:r>
              <a:rPr spc="114" dirty="0"/>
              <a:t> </a:t>
            </a:r>
            <a:r>
              <a:rPr dirty="0"/>
              <a:t>is</a:t>
            </a:r>
            <a:r>
              <a:rPr spc="105" dirty="0"/>
              <a:t> </a:t>
            </a:r>
            <a:r>
              <a:rPr dirty="0"/>
              <a:t>based</a:t>
            </a:r>
            <a:r>
              <a:rPr spc="114" dirty="0"/>
              <a:t> </a:t>
            </a:r>
            <a:r>
              <a:rPr dirty="0"/>
              <a:t>on</a:t>
            </a:r>
            <a:r>
              <a:rPr spc="110" dirty="0"/>
              <a:t> </a:t>
            </a:r>
            <a:r>
              <a:rPr spc="-10" dirty="0"/>
              <a:t>looking </a:t>
            </a:r>
            <a:r>
              <a:rPr dirty="0"/>
              <a:t>at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spread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sorted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data</a:t>
            </a:r>
            <a:r>
              <a:rPr spc="-10" dirty="0"/>
              <a:t>.</a:t>
            </a:r>
          </a:p>
          <a:p>
            <a:pPr marL="355600" marR="5080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dirty="0"/>
              <a:t>Statistics</a:t>
            </a:r>
            <a:r>
              <a:rPr spc="180" dirty="0"/>
              <a:t> </a:t>
            </a:r>
            <a:r>
              <a:rPr dirty="0"/>
              <a:t>based</a:t>
            </a:r>
            <a:r>
              <a:rPr spc="170" dirty="0"/>
              <a:t> </a:t>
            </a:r>
            <a:r>
              <a:rPr dirty="0"/>
              <a:t>on</a:t>
            </a:r>
            <a:r>
              <a:rPr spc="175" dirty="0"/>
              <a:t> </a:t>
            </a:r>
            <a:r>
              <a:rPr b="1" dirty="0">
                <a:latin typeface="Times New Roman"/>
                <a:cs typeface="Times New Roman"/>
              </a:rPr>
              <a:t>sorted</a:t>
            </a:r>
            <a:r>
              <a:rPr b="1" spc="1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(ranked)</a:t>
            </a:r>
            <a:r>
              <a:rPr b="1" spc="165" dirty="0">
                <a:latin typeface="Times New Roman"/>
                <a:cs typeface="Times New Roman"/>
              </a:rPr>
              <a:t> </a:t>
            </a:r>
            <a:r>
              <a:rPr dirty="0"/>
              <a:t>data</a:t>
            </a:r>
            <a:r>
              <a:rPr spc="170" dirty="0"/>
              <a:t> </a:t>
            </a:r>
            <a:r>
              <a:rPr dirty="0"/>
              <a:t>are</a:t>
            </a:r>
            <a:r>
              <a:rPr spc="165" dirty="0"/>
              <a:t> </a:t>
            </a:r>
            <a:r>
              <a:rPr dirty="0"/>
              <a:t>referred</a:t>
            </a:r>
            <a:r>
              <a:rPr spc="180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as</a:t>
            </a:r>
            <a:r>
              <a:rPr spc="170" dirty="0"/>
              <a:t> </a:t>
            </a:r>
            <a:r>
              <a:rPr b="1" spc="-10" dirty="0">
                <a:latin typeface="Times New Roman"/>
                <a:cs typeface="Times New Roman"/>
              </a:rPr>
              <a:t>order statistics</a:t>
            </a:r>
            <a:r>
              <a:rPr spc="-10" dirty="0"/>
              <a:t>.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most</a:t>
            </a:r>
            <a:r>
              <a:rPr spc="-5" dirty="0"/>
              <a:t> </a:t>
            </a: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measure</a:t>
            </a:r>
            <a:r>
              <a:rPr spc="-2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b="1" spc="-10" dirty="0">
                <a:latin typeface="Times New Roman"/>
                <a:cs typeface="Times New Roman"/>
              </a:rPr>
              <a:t>range</a:t>
            </a:r>
            <a:r>
              <a:rPr spc="-10" dirty="0"/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the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difference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between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the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largest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and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smallest</a:t>
            </a:r>
            <a:r>
              <a:rPr sz="2400" b="1" i="1" spc="-4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numbers.</a:t>
            </a:r>
            <a:endParaRPr sz="2400">
              <a:latin typeface="Times New Roman"/>
              <a:cs typeface="Times New Roman"/>
            </a:endParaRPr>
          </a:p>
          <a:p>
            <a:pPr marL="355600" marR="12065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  <a:tab pos="1009015" algn="l"/>
                <a:tab pos="2527300" algn="l"/>
                <a:tab pos="3202305" algn="l"/>
                <a:tab pos="4775200" algn="l"/>
                <a:tab pos="5761355" algn="l"/>
                <a:tab pos="7366634" algn="l"/>
                <a:tab pos="7910830" algn="l"/>
                <a:tab pos="885888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b="1" spc="-10" dirty="0">
                <a:latin typeface="Times New Roman"/>
                <a:cs typeface="Times New Roman"/>
              </a:rPr>
              <a:t>minimum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5" dirty="0">
                <a:latin typeface="Times New Roman"/>
                <a:cs typeface="Times New Roman"/>
              </a:rPr>
              <a:t>and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maximum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spc="-10" dirty="0"/>
              <a:t>values</a:t>
            </a:r>
            <a:r>
              <a:rPr dirty="0"/>
              <a:t>	</a:t>
            </a:r>
            <a:r>
              <a:rPr spc="-10" dirty="0"/>
              <a:t>themselves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10" dirty="0"/>
              <a:t>useful</a:t>
            </a:r>
            <a:r>
              <a:rPr dirty="0"/>
              <a:t>	</a:t>
            </a:r>
            <a:r>
              <a:rPr spc="-25" dirty="0"/>
              <a:t>to </a:t>
            </a:r>
            <a:r>
              <a:rPr dirty="0"/>
              <a:t>know</a:t>
            </a:r>
            <a:r>
              <a:rPr spc="-5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b="1" dirty="0">
                <a:latin typeface="Times New Roman"/>
                <a:cs typeface="Times New Roman"/>
              </a:rPr>
              <a:t>are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helpful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b="1" dirty="0">
                <a:latin typeface="Times New Roman"/>
                <a:cs typeface="Times New Roman"/>
              </a:rPr>
              <a:t>identifying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outliers</a:t>
            </a:r>
            <a:r>
              <a:rPr spc="-10" dirty="0"/>
              <a:t>,</a:t>
            </a:r>
          </a:p>
          <a:p>
            <a:pPr marL="355600" marR="11430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8846"/>
              <a:buFont typeface="Wingdings"/>
              <a:buChar char=""/>
              <a:tabLst>
                <a:tab pos="355600" algn="l"/>
              </a:tabLst>
            </a:pPr>
            <a:r>
              <a:rPr dirty="0"/>
              <a:t>The</a:t>
            </a:r>
            <a:r>
              <a:rPr spc="175" dirty="0"/>
              <a:t> </a:t>
            </a:r>
            <a:r>
              <a:rPr dirty="0"/>
              <a:t>range</a:t>
            </a:r>
            <a:r>
              <a:rPr spc="175" dirty="0"/>
              <a:t> </a:t>
            </a:r>
            <a:r>
              <a:rPr dirty="0"/>
              <a:t>is</a:t>
            </a:r>
            <a:r>
              <a:rPr spc="175" dirty="0"/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extremely</a:t>
            </a:r>
            <a:r>
              <a:rPr b="1" u="sng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sensitive</a:t>
            </a:r>
            <a:r>
              <a:rPr b="1" u="sng" spc="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b="1" u="sng" spc="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outliers</a:t>
            </a:r>
            <a:r>
              <a:rPr b="1" spc="17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dirty="0"/>
              <a:t>not</a:t>
            </a:r>
            <a:r>
              <a:rPr spc="175" dirty="0"/>
              <a:t> </a:t>
            </a:r>
            <a:r>
              <a:rPr dirty="0"/>
              <a:t>very</a:t>
            </a:r>
            <a:r>
              <a:rPr spc="180" dirty="0"/>
              <a:t> </a:t>
            </a:r>
            <a:r>
              <a:rPr spc="-10" dirty="0"/>
              <a:t>useful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general</a:t>
            </a:r>
            <a:r>
              <a:rPr spc="-20" dirty="0"/>
              <a:t> </a:t>
            </a:r>
            <a:r>
              <a:rPr dirty="0"/>
              <a:t>measure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dispersion</a:t>
            </a:r>
            <a:r>
              <a:rPr spc="-1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568" y="1030224"/>
            <a:ext cx="4407415" cy="29531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10" dirty="0"/>
              <a:t> Percentiles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9440" y="760476"/>
            <a:ext cx="3015995" cy="231495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09372" y="3075431"/>
            <a:ext cx="10137775" cy="3782695"/>
            <a:chOff x="309372" y="3075431"/>
            <a:chExt cx="10137775" cy="378269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372" y="4005071"/>
              <a:ext cx="4576572" cy="28529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2875" y="3075431"/>
              <a:ext cx="5724144" cy="378256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10" dirty="0"/>
              <a:t> Percentiles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751" y="1157478"/>
            <a:ext cx="845121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27305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68300" algn="l"/>
              </a:tabLst>
            </a:pPr>
            <a:r>
              <a:rPr sz="2400" spc="-2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avoid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sensitivity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outliers,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dropping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values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from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each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end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68300" marR="29845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68300" algn="l"/>
              </a:tabLst>
            </a:pPr>
            <a:r>
              <a:rPr sz="2400" dirty="0">
                <a:latin typeface="Times New Roman"/>
                <a:cs typeface="Times New Roman"/>
              </a:rPr>
              <a:t>Formally,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differences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percentiles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68300" marR="17780" indent="-34290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683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set,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</a:t>
            </a:r>
            <a:r>
              <a:rPr sz="2400" b="1" baseline="24305" dirty="0">
                <a:latin typeface="Times New Roman"/>
                <a:cs typeface="Times New Roman"/>
              </a:rPr>
              <a:t>th</a:t>
            </a:r>
            <a:r>
              <a:rPr sz="2400" b="1" spc="135" baseline="243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percentile</a:t>
            </a:r>
            <a:r>
              <a:rPr sz="2400" b="1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P </a:t>
            </a:r>
            <a:r>
              <a:rPr sz="2400" dirty="0">
                <a:latin typeface="Times New Roman"/>
                <a:cs typeface="Times New Roman"/>
              </a:rPr>
              <a:t>percent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(100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– </a:t>
            </a:r>
            <a:r>
              <a:rPr sz="2400" dirty="0">
                <a:latin typeface="Times New Roman"/>
                <a:cs typeface="Times New Roman"/>
              </a:rPr>
              <a:t>P)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percent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more.</a:t>
            </a:r>
            <a:endParaRPr sz="2400">
              <a:latin typeface="Times New Roman"/>
              <a:cs typeface="Times New Roman"/>
            </a:endParaRPr>
          </a:p>
          <a:p>
            <a:pPr marL="768350" lvl="1" indent="-285750" algn="just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6835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8o</a:t>
            </a:r>
            <a:r>
              <a:rPr sz="1950" baseline="25641" dirty="0">
                <a:latin typeface="Times New Roman"/>
                <a:cs typeface="Times New Roman"/>
              </a:rPr>
              <a:t>th</a:t>
            </a:r>
            <a:r>
              <a:rPr sz="1950" spc="240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percentile,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sort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data.</a:t>
            </a:r>
            <a:endParaRPr sz="2000">
              <a:latin typeface="Times New Roman"/>
              <a:cs typeface="Times New Roman"/>
            </a:endParaRPr>
          </a:p>
          <a:p>
            <a:pPr marL="768350" lvl="1" indent="-28575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68350" algn="l"/>
              </a:tabLst>
            </a:pPr>
            <a:r>
              <a:rPr sz="2000" dirty="0">
                <a:latin typeface="Times New Roman"/>
                <a:cs typeface="Times New Roman"/>
              </a:rPr>
              <a:t>Then, starting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smallest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value, proceed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78952" y="4823459"/>
            <a:ext cx="794385" cy="573405"/>
            <a:chOff x="8378952" y="4823459"/>
            <a:chExt cx="794385" cy="5734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8952" y="4823459"/>
              <a:ext cx="598931" cy="5730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3460" y="4823459"/>
              <a:ext cx="539496" cy="5730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061207" y="4886071"/>
            <a:ext cx="5939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225" algn="l"/>
                <a:tab pos="1186180" algn="l"/>
                <a:tab pos="1643380" algn="l"/>
                <a:tab pos="2539365" algn="l"/>
                <a:tab pos="2858135" algn="l"/>
                <a:tab pos="3316604" algn="l"/>
                <a:tab pos="3985895" algn="l"/>
                <a:tab pos="4658360" algn="l"/>
                <a:tab pos="5019040" algn="l"/>
                <a:tab pos="5478145" algn="l"/>
              </a:tabLst>
            </a:pPr>
            <a:r>
              <a:rPr sz="2000" spc="-20" dirty="0">
                <a:latin typeface="Times New Roman"/>
                <a:cs typeface="Times New Roman"/>
              </a:rPr>
              <a:t>Note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median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same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thing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50th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4651" y="4835779"/>
            <a:ext cx="7957820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  <a:tabLst>
                <a:tab pos="1120775" algn="l"/>
              </a:tabLst>
            </a:pPr>
            <a:r>
              <a:rPr sz="2000" spc="-10" dirty="0">
                <a:latin typeface="Times New Roman"/>
                <a:cs typeface="Times New Roman"/>
              </a:rPr>
              <a:t>largest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latin typeface="Times New Roman"/>
                <a:cs typeface="Times New Roman"/>
              </a:rPr>
              <a:t>percentile.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298450" algn="l"/>
                <a:tab pos="843280" algn="l"/>
                <a:tab pos="2054860" algn="l"/>
                <a:tab pos="2371725" algn="l"/>
                <a:tab pos="3586479" algn="l"/>
                <a:tab pos="4045585" algn="l"/>
                <a:tab pos="4712970" algn="l"/>
                <a:tab pos="5072380" algn="l"/>
                <a:tab pos="5333365" algn="l"/>
                <a:tab pos="6430645" algn="l"/>
                <a:tab pos="7029450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percentile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essentially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same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quantile</a:t>
            </a:r>
            <a:r>
              <a:rPr sz="2000" spc="-10" dirty="0">
                <a:latin typeface="Times New Roman"/>
                <a:cs typeface="Times New Roman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quantiles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3113" y="5940958"/>
            <a:ext cx="79533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21715" algn="l"/>
                <a:tab pos="1442085" algn="l"/>
                <a:tab pos="2494915" algn="l"/>
                <a:tab pos="2972435" algn="l"/>
                <a:tab pos="3449320" algn="l"/>
                <a:tab pos="3806190" algn="l"/>
                <a:tab pos="4860925" algn="l"/>
                <a:tab pos="5197475" algn="l"/>
                <a:tab pos="5673090" algn="l"/>
                <a:tab pos="6360795" algn="l"/>
                <a:tab pos="6739890" algn="l"/>
                <a:tab pos="7215505" algn="l"/>
              </a:tabLst>
            </a:pPr>
            <a:r>
              <a:rPr sz="2000" spc="-10" dirty="0">
                <a:latin typeface="Times New Roman"/>
                <a:cs typeface="Times New Roman"/>
              </a:rPr>
              <a:t>indexed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fractions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(so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.8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quantile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same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80th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1350" spc="-37" baseline="-27777" dirty="0">
                <a:solidFill>
                  <a:srgbClr val="90C225"/>
                </a:solidFill>
                <a:latin typeface="Trebuchet MS"/>
                <a:cs typeface="Trebuchet MS"/>
              </a:rPr>
              <a:t>10</a:t>
            </a:r>
            <a:endParaRPr sz="1350" baseline="-27777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percentile</a:t>
            </a:r>
            <a:r>
              <a:rPr sz="2000" spc="-10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/>
              <a:t>Estimates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10" dirty="0"/>
              <a:t> Percentiles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25473"/>
            <a:ext cx="8524240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 algn="just">
              <a:lnSpc>
                <a:spcPts val="2380"/>
              </a:lnSpc>
              <a:spcBef>
                <a:spcPts val="39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measurement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variability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difference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b="1" dirty="0">
                <a:latin typeface="Times New Roman"/>
                <a:cs typeface="Times New Roman"/>
              </a:rPr>
              <a:t>25th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percentile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75th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percentile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interquartile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range </a:t>
            </a:r>
            <a:r>
              <a:rPr sz="2200" dirty="0">
                <a:latin typeface="Times New Roman"/>
                <a:cs typeface="Times New Roman"/>
              </a:rPr>
              <a:t>(or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IQR</a:t>
            </a:r>
            <a:r>
              <a:rPr sz="2200" spc="-20" dirty="0">
                <a:latin typeface="Times New Roman"/>
                <a:cs typeface="Times New Roman"/>
              </a:rPr>
              <a:t>).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451" y="2157475"/>
            <a:ext cx="6290945" cy="186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51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1064260" algn="l"/>
                <a:tab pos="1417955" algn="l"/>
                <a:tab pos="1708785" algn="l"/>
                <a:tab pos="2621915" algn="l"/>
                <a:tab pos="3813810" algn="l"/>
                <a:tab pos="5925820" algn="l"/>
              </a:tabLst>
            </a:pPr>
            <a:r>
              <a:rPr sz="2200" spc="-20" dirty="0">
                <a:latin typeface="Times New Roman"/>
                <a:cs typeface="Times New Roman"/>
              </a:rPr>
              <a:t>Here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simple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example: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{3,1,5,3,6,7,2,9}.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20" dirty="0">
                <a:latin typeface="Times New Roman"/>
                <a:cs typeface="Times New Roman"/>
              </a:rPr>
              <a:t>We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510"/>
              </a:lnSpc>
            </a:pPr>
            <a:r>
              <a:rPr sz="2200" spc="-10" dirty="0">
                <a:latin typeface="Times New Roman"/>
                <a:cs typeface="Times New Roman"/>
              </a:rPr>
              <a:t>{1,2,3,3,5,6,7,9}.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7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25th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percentile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2.5,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6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75th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percentile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6.5,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5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</a:tabLst>
            </a:pP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interquartile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range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6.5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2.5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</a:t>
            </a:r>
            <a:r>
              <a:rPr sz="2000" spc="-25" dirty="0">
                <a:latin typeface="Times New Roman"/>
                <a:cs typeface="Times New Roman"/>
              </a:rPr>
              <a:t>4.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1863" y="2157475"/>
            <a:ext cx="20777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8805" algn="l"/>
                <a:tab pos="1339850" algn="l"/>
                <a:tab pos="1724025" algn="l"/>
              </a:tabLst>
            </a:pPr>
            <a:r>
              <a:rPr sz="2200" spc="-20" dirty="0">
                <a:latin typeface="Times New Roman"/>
                <a:cs typeface="Times New Roman"/>
              </a:rPr>
              <a:t>sort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these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get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451" y="4093590"/>
            <a:ext cx="8525510" cy="20135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9525" indent="-342900">
              <a:lnSpc>
                <a:spcPts val="2380"/>
              </a:lnSpc>
              <a:spcBef>
                <a:spcPts val="39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  <a:tab pos="1517015" algn="l"/>
                <a:tab pos="2059305" algn="l"/>
                <a:tab pos="2740660" algn="l"/>
                <a:tab pos="3731260" algn="l"/>
                <a:tab pos="4859020" algn="l"/>
                <a:tab pos="6267450" algn="l"/>
                <a:tab pos="6837680" algn="l"/>
                <a:tab pos="7550784" algn="l"/>
              </a:tabLst>
            </a:pPr>
            <a:r>
              <a:rPr sz="2200" spc="-10" dirty="0">
                <a:latin typeface="Times New Roman"/>
                <a:cs typeface="Times New Roman"/>
              </a:rPr>
              <a:t>Software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have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slightly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differing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approaches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yield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different </a:t>
            </a:r>
            <a:r>
              <a:rPr sz="2200" dirty="0">
                <a:latin typeface="Times New Roman"/>
                <a:cs typeface="Times New Roman"/>
              </a:rPr>
              <a:t>answers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(see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tip);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typically,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differences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smaller.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280"/>
              </a:lnSpc>
              <a:spcBef>
                <a:spcPts val="72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5650" algn="l"/>
                <a:tab pos="1358265" algn="l"/>
                <a:tab pos="2060575" algn="l"/>
                <a:tab pos="2812415" algn="l"/>
                <a:tab pos="3484245" algn="l"/>
                <a:tab pos="4177665" algn="l"/>
                <a:tab pos="5537200" algn="l"/>
                <a:tab pos="6322695" algn="l"/>
                <a:tab pos="7669530" algn="l"/>
                <a:tab pos="8270240" algn="l"/>
              </a:tabLst>
            </a:pPr>
            <a:r>
              <a:rPr sz="2000" spc="-2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very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large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sets,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calculating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exact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percentiles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computationally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sorting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  <a:p>
            <a:pPr marL="755015" marR="6985" lvl="1" indent="-285750">
              <a:lnSpc>
                <a:spcPts val="2160"/>
              </a:lnSpc>
              <a:spcBef>
                <a:spcPts val="103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learning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statistical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algorithms,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 	</a:t>
            </a:r>
            <a:r>
              <a:rPr sz="2000" spc="-10" dirty="0">
                <a:latin typeface="Times New Roman"/>
                <a:cs typeface="Times New Roman"/>
              </a:rPr>
              <a:t>[Zhang-</a:t>
            </a:r>
            <a:r>
              <a:rPr sz="2000" spc="-45" dirty="0">
                <a:latin typeface="Times New Roman"/>
                <a:cs typeface="Times New Roman"/>
              </a:rPr>
              <a:t>Wang-</a:t>
            </a:r>
            <a:r>
              <a:rPr sz="2000" dirty="0">
                <a:latin typeface="Times New Roman"/>
                <a:cs typeface="Times New Roman"/>
              </a:rPr>
              <a:t>2007],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approximate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percentile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calculated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1213" y="6050686"/>
            <a:ext cx="58858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quickly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guaranteed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certain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11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1708" y="269747"/>
            <a:ext cx="11230610" cy="5954395"/>
            <a:chOff x="711708" y="269747"/>
            <a:chExt cx="11230610" cy="5954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08" y="269747"/>
              <a:ext cx="10675620" cy="59542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4479" y="3428999"/>
              <a:ext cx="6568440" cy="21579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59908" y="3424427"/>
              <a:ext cx="6577965" cy="2167255"/>
            </a:xfrm>
            <a:custGeom>
              <a:avLst/>
              <a:gdLst/>
              <a:ahLst/>
              <a:cxnLst/>
              <a:rect l="l" t="t" r="r" b="b"/>
              <a:pathLst>
                <a:path w="6577965" h="2167254">
                  <a:moveTo>
                    <a:pt x="0" y="2167128"/>
                  </a:moveTo>
                  <a:lnTo>
                    <a:pt x="6577584" y="2167128"/>
                  </a:lnTo>
                  <a:lnTo>
                    <a:pt x="6577584" y="0"/>
                  </a:lnTo>
                  <a:lnTo>
                    <a:pt x="0" y="0"/>
                  </a:lnTo>
                  <a:lnTo>
                    <a:pt x="0" y="21671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72" y="0"/>
            <a:ext cx="7687056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63544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970" algn="l"/>
              </a:tabLst>
            </a:pPr>
            <a:r>
              <a:rPr spc="-10" dirty="0"/>
              <a:t>Exploring</a:t>
            </a:r>
            <a:r>
              <a:rPr dirty="0"/>
              <a:t>	the</a:t>
            </a:r>
            <a:r>
              <a:rPr spc="-3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57478"/>
            <a:ext cx="88588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we’ve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covered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sums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up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1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single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number</a:t>
            </a:r>
            <a:r>
              <a:rPr sz="2400" b="1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describe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location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variability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also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how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distributed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overall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888" y="2388107"/>
            <a:ext cx="7057644" cy="44698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Percentiles</a:t>
            </a:r>
            <a:r>
              <a:rPr spc="-11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Boxplots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031646"/>
            <a:ext cx="8750935" cy="208343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Percentiles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also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valuable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summarizing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entire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distribution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report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quartiles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(25th,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50th,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75th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percentiles)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deciles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10th,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20th,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…,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90th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percentiles).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Popular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culture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coined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term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one-</a:t>
            </a:r>
            <a:r>
              <a:rPr sz="2200" dirty="0">
                <a:latin typeface="Times New Roman"/>
                <a:cs typeface="Times New Roman"/>
              </a:rPr>
              <a:t>percenters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people</a:t>
            </a:r>
            <a:r>
              <a:rPr sz="2200" spc="-25" dirty="0">
                <a:latin typeface="Times New Roman"/>
                <a:cs typeface="Times New Roman"/>
              </a:rPr>
              <a:t> in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99th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percentile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wealth.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451" y="5529478"/>
            <a:ext cx="87490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median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22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murders</a:t>
            </a:r>
            <a:r>
              <a:rPr sz="22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per</a:t>
            </a:r>
            <a:r>
              <a:rPr sz="22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100,000</a:t>
            </a:r>
            <a:r>
              <a:rPr sz="2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people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although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quite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bit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variability: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percentile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1.6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95th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percentile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6.51.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97379" y="3220211"/>
            <a:ext cx="5996940" cy="2036445"/>
            <a:chOff x="1897379" y="3220211"/>
            <a:chExt cx="5996940" cy="20364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6523" y="3229355"/>
              <a:ext cx="5978652" cy="2017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01951" y="3224783"/>
              <a:ext cx="5988050" cy="2026920"/>
            </a:xfrm>
            <a:custGeom>
              <a:avLst/>
              <a:gdLst/>
              <a:ahLst/>
              <a:cxnLst/>
              <a:rect l="l" t="t" r="r" b="b"/>
              <a:pathLst>
                <a:path w="5988050" h="2026920">
                  <a:moveTo>
                    <a:pt x="0" y="2026919"/>
                  </a:moveTo>
                  <a:lnTo>
                    <a:pt x="5987796" y="2026919"/>
                  </a:lnTo>
                  <a:lnTo>
                    <a:pt x="5987796" y="0"/>
                  </a:lnTo>
                  <a:lnTo>
                    <a:pt x="0" y="0"/>
                  </a:lnTo>
                  <a:lnTo>
                    <a:pt x="0" y="2026919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Percentiles</a:t>
            </a:r>
            <a:r>
              <a:rPr spc="-11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Boxplots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57478"/>
            <a:ext cx="8851265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Boxplots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introduced</a:t>
            </a:r>
            <a:r>
              <a:rPr sz="2400" spc="3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Tukey</a:t>
            </a:r>
            <a:r>
              <a:rPr sz="2400" b="1" spc="305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[Tukey-</a:t>
            </a:r>
            <a:r>
              <a:rPr sz="2400" dirty="0">
                <a:latin typeface="Times New Roman"/>
                <a:cs typeface="Times New Roman"/>
              </a:rPr>
              <a:t>1977],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based</a:t>
            </a:r>
            <a:r>
              <a:rPr sz="2400" b="1" spc="31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on </a:t>
            </a:r>
            <a:r>
              <a:rPr sz="2400" b="1" dirty="0">
                <a:latin typeface="Times New Roman"/>
                <a:cs typeface="Times New Roman"/>
              </a:rPr>
              <a:t>percentiles</a:t>
            </a:r>
            <a:r>
              <a:rPr sz="2400" b="1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quick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visualize</a:t>
            </a:r>
            <a:r>
              <a:rPr sz="2400" b="1" spc="3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distribution</a:t>
            </a:r>
            <a:r>
              <a:rPr sz="2400" b="1" spc="3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1-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 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boxplot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state</a:t>
            </a:r>
            <a:endParaRPr sz="24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994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8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pandas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exploratory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plots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frame;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boxplots: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100" y="4205096"/>
            <a:ext cx="5057044" cy="4476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527292" y="3185158"/>
            <a:ext cx="5669280" cy="3677920"/>
            <a:chOff x="6527292" y="3185158"/>
            <a:chExt cx="5669280" cy="36779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6436" y="3194303"/>
              <a:ext cx="5655564" cy="36636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31864" y="3189730"/>
              <a:ext cx="5660390" cy="3668395"/>
            </a:xfrm>
            <a:custGeom>
              <a:avLst/>
              <a:gdLst/>
              <a:ahLst/>
              <a:cxnLst/>
              <a:rect l="l" t="t" r="r" b="b"/>
              <a:pathLst>
                <a:path w="5660390" h="3668395">
                  <a:moveTo>
                    <a:pt x="5660135" y="0"/>
                  </a:moveTo>
                  <a:lnTo>
                    <a:pt x="0" y="0"/>
                  </a:lnTo>
                  <a:lnTo>
                    <a:pt x="0" y="366826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Percentiles</a:t>
            </a:r>
            <a:r>
              <a:rPr spc="-11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Boxplots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751" y="1098041"/>
            <a:ext cx="6614159" cy="50965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68300" marR="18415" indent="-342900" algn="just">
              <a:lnSpc>
                <a:spcPts val="1920"/>
              </a:lnSpc>
              <a:spcBef>
                <a:spcPts val="56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 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boxplot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immediately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median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population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about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 </a:t>
            </a:r>
            <a:r>
              <a:rPr sz="2000" b="1" spc="-10" dirty="0">
                <a:latin typeface="Times New Roman"/>
                <a:cs typeface="Times New Roman"/>
              </a:rPr>
              <a:t>million</a:t>
            </a:r>
            <a:endParaRPr sz="2000">
              <a:latin typeface="Times New Roman"/>
              <a:cs typeface="Times New Roman"/>
            </a:endParaRPr>
          </a:p>
          <a:p>
            <a:pPr marL="368300" marR="19685" indent="-342900" algn="just">
              <a:lnSpc>
                <a:spcPct val="80000"/>
              </a:lnSpc>
              <a:spcBef>
                <a:spcPts val="101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3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Half</a:t>
            </a:r>
            <a:r>
              <a:rPr sz="2000" b="1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states</a:t>
            </a:r>
            <a:r>
              <a:rPr sz="2000" b="1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fall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about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million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about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7 </a:t>
            </a:r>
            <a:r>
              <a:rPr sz="2000" b="1" dirty="0">
                <a:latin typeface="Times New Roman"/>
                <a:cs typeface="Times New Roman"/>
              </a:rPr>
              <a:t>million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 </a:t>
            </a:r>
            <a:r>
              <a:rPr sz="2000" b="1" dirty="0">
                <a:latin typeface="Times New Roman"/>
                <a:cs typeface="Times New Roman"/>
              </a:rPr>
              <a:t>high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population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outliers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68300" marR="17780" indent="-342900" algn="just">
              <a:lnSpc>
                <a:spcPts val="1920"/>
              </a:lnSpc>
              <a:spcBef>
                <a:spcPts val="99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4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top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bottom</a:t>
            </a:r>
            <a:r>
              <a:rPr sz="2000" b="1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box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75th</a:t>
            </a:r>
            <a:r>
              <a:rPr sz="2000" b="1" spc="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spc="-20" dirty="0">
                <a:latin typeface="Times New Roman"/>
                <a:cs typeface="Times New Roman"/>
              </a:rPr>
              <a:t>25</a:t>
            </a:r>
            <a:r>
              <a:rPr sz="1950" b="1" spc="-30" baseline="25641" dirty="0">
                <a:latin typeface="Times New Roman"/>
                <a:cs typeface="Times New Roman"/>
              </a:rPr>
              <a:t>th </a:t>
            </a:r>
            <a:r>
              <a:rPr sz="2000" b="1" dirty="0">
                <a:latin typeface="Times New Roman"/>
                <a:cs typeface="Times New Roman"/>
              </a:rPr>
              <a:t>percentiles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respectively.</a:t>
            </a:r>
            <a:endParaRPr sz="2000">
              <a:latin typeface="Times New Roman"/>
              <a:cs typeface="Times New Roman"/>
            </a:endParaRPr>
          </a:p>
          <a:p>
            <a:pPr marL="25400" algn="just">
              <a:lnSpc>
                <a:spcPct val="100000"/>
              </a:lnSpc>
              <a:spcBef>
                <a:spcPts val="53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4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horizontal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line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box</a:t>
            </a:r>
            <a:r>
              <a:rPr sz="2000" spc="-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68300" marR="17780" indent="-342900" algn="just">
              <a:lnSpc>
                <a:spcPts val="1920"/>
              </a:lnSpc>
              <a:spcBef>
                <a:spcPts val="98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dashed</a:t>
            </a:r>
            <a:r>
              <a:rPr sz="2000" b="1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lines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whiskers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bottom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indicate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range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bulk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368300" marR="19685" indent="-342900" algn="just">
              <a:lnSpc>
                <a:spcPct val="80000"/>
              </a:lnSpc>
              <a:spcBef>
                <a:spcPts val="103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3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outside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whiskers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plotted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points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circles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often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considered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outliers</a:t>
            </a:r>
            <a:r>
              <a:rPr sz="2000" spc="-10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25400" algn="just">
              <a:lnSpc>
                <a:spcPct val="100000"/>
              </a:lnSpc>
              <a:spcBef>
                <a:spcPts val="51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3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range,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Max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formula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used:</a:t>
            </a:r>
            <a:endParaRPr sz="20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45"/>
              </a:spcBef>
            </a:pPr>
            <a:r>
              <a:rPr sz="150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spc="40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[Q1-</a:t>
            </a:r>
            <a:r>
              <a:rPr sz="1900" dirty="0">
                <a:latin typeface="Times New Roman"/>
                <a:cs typeface="Times New Roman"/>
              </a:rPr>
              <a:t>1.5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*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IQR,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Q3+1.5*IQR]</a:t>
            </a:r>
            <a:endParaRPr sz="19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55"/>
              </a:spcBef>
            </a:pPr>
            <a:r>
              <a:rPr sz="1500" spc="1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spc="42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Q1-</a:t>
            </a:r>
            <a:r>
              <a:rPr sz="1900" dirty="0">
                <a:latin typeface="Times New Roman"/>
                <a:cs typeface="Times New Roman"/>
              </a:rPr>
              <a:t>1.5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*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IQR</a:t>
            </a:r>
            <a:endParaRPr sz="19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40"/>
              </a:spcBef>
            </a:pPr>
            <a:r>
              <a:rPr sz="1500" spc="14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spc="434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Max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 </a:t>
            </a:r>
            <a:r>
              <a:rPr sz="1900" spc="-10" dirty="0">
                <a:latin typeface="Times New Roman"/>
                <a:cs typeface="Times New Roman"/>
              </a:rPr>
              <a:t>Q3+1.5*IQR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27976" y="682751"/>
            <a:ext cx="4422775" cy="5492750"/>
            <a:chOff x="7427976" y="682751"/>
            <a:chExt cx="4422775" cy="5492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120" y="691895"/>
              <a:ext cx="4404359" cy="54742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32548" y="687323"/>
              <a:ext cx="4413885" cy="5483860"/>
            </a:xfrm>
            <a:custGeom>
              <a:avLst/>
              <a:gdLst/>
              <a:ahLst/>
              <a:cxnLst/>
              <a:rect l="l" t="t" r="r" b="b"/>
              <a:pathLst>
                <a:path w="4413884" h="5483860">
                  <a:moveTo>
                    <a:pt x="0" y="5483352"/>
                  </a:moveTo>
                  <a:lnTo>
                    <a:pt x="4413504" y="5483352"/>
                  </a:lnTo>
                  <a:lnTo>
                    <a:pt x="4413504" y="0"/>
                  </a:lnTo>
                  <a:lnTo>
                    <a:pt x="0" y="0"/>
                  </a:lnTo>
                  <a:lnTo>
                    <a:pt x="0" y="548335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154</TotalTime>
  <Words>1436</Words>
  <Application>Microsoft Office PowerPoint</Application>
  <PresentationFormat>Widescreen</PresentationFormat>
  <Paragraphs>128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Arial MT</vt:lpstr>
      <vt:lpstr>Lucida Sans Unicode</vt:lpstr>
      <vt:lpstr>Times New Roman</vt:lpstr>
      <vt:lpstr>Trebuchet MS</vt:lpstr>
      <vt:lpstr>Wingdings</vt:lpstr>
      <vt:lpstr>Office Theme</vt:lpstr>
      <vt:lpstr>Exploratory Data Analysis Unit 02 Lecture 03</vt:lpstr>
      <vt:lpstr>Contents</vt:lpstr>
      <vt:lpstr>Estimates of Variability</vt:lpstr>
      <vt:lpstr>Estimates of Variability</vt:lpstr>
      <vt:lpstr>Standard Deviation &amp; Related Estimates</vt:lpstr>
      <vt:lpstr>Standard Deviation &amp; Related Estimates</vt:lpstr>
      <vt:lpstr>Standard Deviation &amp; Related Estimates</vt:lpstr>
      <vt:lpstr>Estimates Based on Percentiles</vt:lpstr>
      <vt:lpstr>Estimates Based on Percentiles</vt:lpstr>
      <vt:lpstr>Estimates Based on Percentiles</vt:lpstr>
      <vt:lpstr>Estimates Based on Percentiles</vt:lpstr>
      <vt:lpstr>PowerPoint Presentation</vt:lpstr>
      <vt:lpstr>PowerPoint Presentation</vt:lpstr>
      <vt:lpstr>Exploring the Data Distribution</vt:lpstr>
      <vt:lpstr>Percentiles and Boxplots</vt:lpstr>
      <vt:lpstr>Percentiles and Boxplots</vt:lpstr>
      <vt:lpstr>Percentiles and Boxplots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SIBAU</dc:creator>
  <cp:lastModifiedBy>Muhammad Ismail Mangrio</cp:lastModifiedBy>
  <cp:revision>1</cp:revision>
  <dcterms:created xsi:type="dcterms:W3CDTF">2025-10-01T13:36:59Z</dcterms:created>
  <dcterms:modified xsi:type="dcterms:W3CDTF">2025-10-16T08:00:45Z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2025-10-01T00:00:00Z</vt:filetime>
  </property>
  <property fmtid="{D5CDD505-2E9C-101B-9397-08002B2CF9AE}" pid="5" name="Producer">
    <vt:lpwstr>Microsoft® PowerPoint® 2013</vt:lpwstr>
  </property>
</Properties>
</file>
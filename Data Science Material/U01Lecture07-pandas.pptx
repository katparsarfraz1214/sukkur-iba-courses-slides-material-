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89" r:id="rId5"/>
    <p:sldId id="304" r:id="rId6"/>
    <p:sldId id="305" r:id="rId7"/>
    <p:sldId id="290" r:id="rId8"/>
    <p:sldId id="306" r:id="rId9"/>
    <p:sldId id="291" r:id="rId10"/>
    <p:sldId id="294" r:id="rId11"/>
    <p:sldId id="29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Science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Unit 01: Python for Data Science</a:t>
            </a:r>
          </a:p>
          <a:p>
            <a:r>
              <a:rPr lang="en-US" dirty="0"/>
              <a:t>Lecture </a:t>
            </a:r>
            <a:r>
              <a:rPr lang="en-US" dirty="0" smtClean="0"/>
              <a:t>05</a:t>
            </a:r>
          </a:p>
          <a:p>
            <a:r>
              <a:rPr lang="en-US" dirty="0" smtClean="0"/>
              <a:t>Introduction to Data Cleaning and pandas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/>
          <a:lstStyle/>
          <a:p>
            <a:r>
              <a:rPr lang="en-US" dirty="0" smtClean="0"/>
              <a:t>pandas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9465733" cy="3880773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pandas</a:t>
            </a:r>
            <a:r>
              <a:rPr lang="en-US" sz="2400" dirty="0" smtClean="0"/>
              <a:t> </a:t>
            </a:r>
            <a:r>
              <a:rPr lang="en-US" sz="2400" dirty="0"/>
              <a:t>is a Python library used for working with </a:t>
            </a:r>
            <a:r>
              <a:rPr lang="en-US" sz="2400" b="1" dirty="0"/>
              <a:t>data sets</a:t>
            </a:r>
            <a:r>
              <a:rPr lang="en-US" sz="2400" dirty="0"/>
              <a:t>.</a:t>
            </a:r>
          </a:p>
          <a:p>
            <a:r>
              <a:rPr lang="en-US" sz="2400" dirty="0" smtClean="0"/>
              <a:t>It </a:t>
            </a:r>
            <a:r>
              <a:rPr lang="en-US" sz="2400" dirty="0"/>
              <a:t>has functions for </a:t>
            </a:r>
            <a:r>
              <a:rPr lang="en-US" sz="2400" b="1" dirty="0"/>
              <a:t>analyzing</a:t>
            </a:r>
            <a:r>
              <a:rPr lang="en-US" sz="2400" dirty="0"/>
              <a:t>, </a:t>
            </a:r>
            <a:r>
              <a:rPr lang="en-US" sz="2400" b="1" dirty="0"/>
              <a:t>cleaning</a:t>
            </a:r>
            <a:r>
              <a:rPr lang="en-US" sz="2400" dirty="0"/>
              <a:t>, </a:t>
            </a:r>
            <a:r>
              <a:rPr lang="en-US" sz="2400" b="1" dirty="0"/>
              <a:t>exploring</a:t>
            </a:r>
            <a:r>
              <a:rPr lang="en-US" sz="2400" dirty="0"/>
              <a:t>, and </a:t>
            </a:r>
            <a:r>
              <a:rPr lang="en-US" sz="2400" b="1" dirty="0"/>
              <a:t>manipulating data</a:t>
            </a:r>
            <a:r>
              <a:rPr lang="en-US" sz="2400" dirty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name </a:t>
            </a:r>
            <a:r>
              <a:rPr lang="en-US" sz="2400" dirty="0" smtClean="0"/>
              <a:t>“</a:t>
            </a:r>
            <a:r>
              <a:rPr lang="en-US" sz="2400" b="1" dirty="0" smtClean="0"/>
              <a:t>pandas</a:t>
            </a:r>
            <a:r>
              <a:rPr lang="en-US" sz="2400" dirty="0"/>
              <a:t>" has a reference to both "</a:t>
            </a:r>
            <a:r>
              <a:rPr lang="en-US" sz="2400" b="1" dirty="0"/>
              <a:t>Panel Data</a:t>
            </a:r>
            <a:r>
              <a:rPr lang="en-US" sz="2400" dirty="0"/>
              <a:t>", and "</a:t>
            </a:r>
            <a:r>
              <a:rPr lang="en-US" sz="2400" b="1" dirty="0"/>
              <a:t>Python Data Analysis</a:t>
            </a:r>
            <a:r>
              <a:rPr lang="en-US" sz="2400" dirty="0"/>
              <a:t>" and was created by </a:t>
            </a:r>
            <a:r>
              <a:rPr lang="en-US" sz="2400" b="1" dirty="0"/>
              <a:t>Wes McKinney</a:t>
            </a:r>
            <a:r>
              <a:rPr lang="en-US" sz="2400" dirty="0"/>
              <a:t> in 2008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Pandas allows us to </a:t>
            </a:r>
            <a:r>
              <a:rPr lang="en-US" sz="2400" b="1" dirty="0"/>
              <a:t>analyze big data</a:t>
            </a:r>
            <a:r>
              <a:rPr lang="en-US" sz="2400" dirty="0"/>
              <a:t> and </a:t>
            </a:r>
            <a:r>
              <a:rPr lang="en-US" sz="2400" b="1" dirty="0"/>
              <a:t>make conclusions</a:t>
            </a:r>
            <a:r>
              <a:rPr lang="en-US" sz="2400" dirty="0"/>
              <a:t> based on </a:t>
            </a:r>
            <a:r>
              <a:rPr lang="en-US" sz="2400" b="1" dirty="0"/>
              <a:t>statistical theories</a:t>
            </a:r>
            <a:r>
              <a:rPr lang="en-US" sz="2400" dirty="0"/>
              <a:t>.</a:t>
            </a:r>
          </a:p>
          <a:p>
            <a:r>
              <a:rPr lang="en-US" sz="2400" dirty="0" smtClean="0"/>
              <a:t>Pandas </a:t>
            </a:r>
            <a:r>
              <a:rPr lang="en-US" sz="2400" b="1" dirty="0"/>
              <a:t>can clean messy data sets</a:t>
            </a:r>
            <a:r>
              <a:rPr lang="en-US" sz="2400" dirty="0"/>
              <a:t>, and make them </a:t>
            </a:r>
            <a:r>
              <a:rPr lang="en-US" sz="2400" b="1" dirty="0"/>
              <a:t>readable and relevant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018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Starting with pandas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sz="2000" dirty="0"/>
              <a:t>If you have Python and </a:t>
            </a:r>
            <a:r>
              <a:rPr lang="en-US" sz="2000" b="1" dirty="0"/>
              <a:t>PIP</a:t>
            </a:r>
            <a:r>
              <a:rPr lang="en-US" sz="2000" dirty="0"/>
              <a:t> already installed on a system, then installation of </a:t>
            </a:r>
            <a:r>
              <a:rPr lang="en-US" sz="2000" dirty="0" smtClean="0"/>
              <a:t>pandas </a:t>
            </a:r>
            <a:r>
              <a:rPr lang="en-US" sz="2000" dirty="0"/>
              <a:t>is very easy</a:t>
            </a:r>
            <a:r>
              <a:rPr lang="en-US" sz="2000" dirty="0" smtClean="0"/>
              <a:t>.</a:t>
            </a:r>
          </a:p>
          <a:p>
            <a:pPr lvl="1"/>
            <a:r>
              <a:rPr lang="en-US" sz="1800" b="1" dirty="0"/>
              <a:t>C:\Users\Your Name&gt;pip install </a:t>
            </a:r>
            <a:r>
              <a:rPr lang="en-US" sz="1800" b="1" dirty="0" smtClean="0"/>
              <a:t>pandas</a:t>
            </a:r>
          </a:p>
          <a:p>
            <a:r>
              <a:rPr lang="en-US" sz="2000" dirty="0" smtClean="0"/>
              <a:t>Python </a:t>
            </a:r>
            <a:r>
              <a:rPr lang="en-US" sz="2000" dirty="0"/>
              <a:t>distribution that </a:t>
            </a:r>
            <a:r>
              <a:rPr lang="en-US" sz="2000" b="1" dirty="0"/>
              <a:t>already has </a:t>
            </a:r>
            <a:r>
              <a:rPr lang="en-US" sz="2000" b="1" dirty="0" smtClean="0"/>
              <a:t>pandas </a:t>
            </a:r>
            <a:r>
              <a:rPr lang="en-US" sz="2000" dirty="0"/>
              <a:t>installed </a:t>
            </a:r>
            <a:r>
              <a:rPr lang="en-US" sz="2000" dirty="0" smtClean="0"/>
              <a:t>are, </a:t>
            </a:r>
            <a:r>
              <a:rPr lang="en-US" sz="2000" b="1" dirty="0"/>
              <a:t>Anaconda, </a:t>
            </a:r>
            <a:r>
              <a:rPr lang="en-US" sz="2000" b="1" dirty="0" err="1"/>
              <a:t>Spyder</a:t>
            </a:r>
            <a:r>
              <a:rPr lang="en-US" sz="2000" dirty="0"/>
              <a:t> </a:t>
            </a:r>
            <a:r>
              <a:rPr lang="en-US" sz="2000" dirty="0" err="1" smtClean="0"/>
              <a:t>etc</a:t>
            </a:r>
            <a:endParaRPr lang="en-US" sz="2000" dirty="0" smtClean="0"/>
          </a:p>
          <a:p>
            <a:r>
              <a:rPr lang="en-US" sz="2000" dirty="0"/>
              <a:t>Once </a:t>
            </a:r>
            <a:r>
              <a:rPr lang="en-US" sz="2000" dirty="0" smtClean="0"/>
              <a:t>pandas </a:t>
            </a:r>
            <a:r>
              <a:rPr lang="en-US" sz="2000" dirty="0"/>
              <a:t>is installed, </a:t>
            </a:r>
            <a:r>
              <a:rPr lang="en-US" sz="2000" b="1" dirty="0"/>
              <a:t>import</a:t>
            </a:r>
            <a:r>
              <a:rPr lang="en-US" sz="2000" dirty="0"/>
              <a:t> it in your applications by adding the </a:t>
            </a:r>
            <a:r>
              <a:rPr lang="en-US" sz="2000" dirty="0">
                <a:solidFill>
                  <a:srgbClr val="FF0000"/>
                </a:solidFill>
              </a:rPr>
              <a:t>impor</a:t>
            </a:r>
            <a:r>
              <a:rPr lang="en-US" sz="2000" dirty="0"/>
              <a:t>t keyword</a:t>
            </a:r>
            <a:r>
              <a:rPr lang="en-US" sz="2000" dirty="0" smtClean="0"/>
              <a:t>:</a:t>
            </a:r>
          </a:p>
          <a:p>
            <a:r>
              <a:rPr lang="en-US" sz="2000" dirty="0" smtClean="0"/>
              <a:t>pandas </a:t>
            </a:r>
            <a:r>
              <a:rPr lang="en-US" sz="2000" dirty="0"/>
              <a:t>is usually imported under the </a:t>
            </a:r>
            <a:r>
              <a:rPr lang="en-US" sz="2000" b="1" dirty="0" err="1" smtClean="0"/>
              <a:t>pd</a:t>
            </a:r>
            <a:r>
              <a:rPr lang="en-US" sz="2000" b="1" dirty="0" smtClean="0"/>
              <a:t> </a:t>
            </a:r>
            <a:r>
              <a:rPr lang="en-US" sz="2000" b="1" dirty="0"/>
              <a:t>alias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10680" y="2050419"/>
            <a:ext cx="5126644" cy="382151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endParaRPr lang="en-GB" sz="20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mydataset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'cars'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"BMW"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"Volvo"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"Ford"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 err="1">
                <a:solidFill>
                  <a:srgbClr val="A52A2A"/>
                </a:solidFill>
                <a:latin typeface="Consolas" panose="020B0609020204030204" pitchFamily="49" charset="0"/>
              </a:rPr>
              <a:t>passings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 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pd.DataFrame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mydataset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381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 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67943"/>
            <a:ext cx="5898033" cy="3880773"/>
          </a:xfrm>
        </p:spPr>
        <p:txBody>
          <a:bodyPr>
            <a:noAutofit/>
          </a:bodyPr>
          <a:lstStyle/>
          <a:p>
            <a:r>
              <a:rPr lang="en-US" sz="2000" dirty="0"/>
              <a:t>A Pandas </a:t>
            </a:r>
            <a:r>
              <a:rPr lang="en-US" sz="2000" b="1" dirty="0"/>
              <a:t>Series</a:t>
            </a:r>
            <a:r>
              <a:rPr lang="en-US" sz="2000" dirty="0"/>
              <a:t> is like </a:t>
            </a:r>
            <a:r>
              <a:rPr lang="en-US" sz="2000" b="1" dirty="0"/>
              <a:t>a column in a table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It is a </a:t>
            </a:r>
            <a:r>
              <a:rPr lang="en-US" sz="2000" b="1" dirty="0"/>
              <a:t>one-dimensional array </a:t>
            </a:r>
            <a:r>
              <a:rPr lang="en-US" sz="2000" dirty="0"/>
              <a:t>holding </a:t>
            </a:r>
            <a:r>
              <a:rPr lang="en-US" sz="2000" b="1" dirty="0"/>
              <a:t>data of any type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If nothing else is specified, the </a:t>
            </a:r>
            <a:r>
              <a:rPr lang="en-US" sz="2000" b="1" dirty="0"/>
              <a:t>values are labeled with their index number</a:t>
            </a:r>
            <a:r>
              <a:rPr lang="en-US" sz="2000" dirty="0"/>
              <a:t>. First value has index 0, second value has index 1 etc.</a:t>
            </a:r>
          </a:p>
          <a:p>
            <a:r>
              <a:rPr lang="en-US" sz="2000" dirty="0" smtClean="0"/>
              <a:t>This </a:t>
            </a:r>
            <a:r>
              <a:rPr lang="en-US" sz="2000" b="1" dirty="0"/>
              <a:t>label can be used to access a specified value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With the </a:t>
            </a:r>
            <a:r>
              <a:rPr lang="en-US" sz="2000" b="1" dirty="0"/>
              <a:t>index argument</a:t>
            </a:r>
            <a:r>
              <a:rPr lang="en-US" sz="2000" dirty="0"/>
              <a:t>, you </a:t>
            </a:r>
            <a:r>
              <a:rPr lang="en-US" sz="2000" b="1" dirty="0"/>
              <a:t>can name your own labels</a:t>
            </a:r>
            <a:r>
              <a:rPr lang="en-US" sz="20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84237" y="651581"/>
            <a:ext cx="5664200" cy="579128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Create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a simple Pandas Series from a list:</a:t>
            </a:r>
          </a:p>
          <a:p>
            <a:endParaRPr lang="en-US" sz="1600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pd.Series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(a)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Return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the first value of the Series:</a:t>
            </a:r>
          </a:p>
          <a:p>
            <a:endParaRPr lang="en-US" sz="1600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Create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your own labels:</a:t>
            </a:r>
          </a:p>
          <a:p>
            <a:endParaRPr lang="en-US" sz="1600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pd.Series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(a, index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"x"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"z"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When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you have created labels, you can access an item by referring to the label.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Return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the value of "y":</a:t>
            </a:r>
          </a:p>
          <a:p>
            <a:endParaRPr lang="en-US" sz="1600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"y</a:t>
            </a:r>
            <a:r>
              <a:rPr lang="en-US" sz="16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66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 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331" y="2160589"/>
            <a:ext cx="5898033" cy="3880773"/>
          </a:xfrm>
        </p:spPr>
        <p:txBody>
          <a:bodyPr>
            <a:noAutofit/>
          </a:bodyPr>
          <a:lstStyle/>
          <a:p>
            <a:r>
              <a:rPr lang="en-US" sz="2000" dirty="0"/>
              <a:t>You can also use a </a:t>
            </a:r>
            <a:r>
              <a:rPr lang="en-US" sz="2000" b="1" dirty="0"/>
              <a:t>key/value</a:t>
            </a:r>
            <a:r>
              <a:rPr lang="en-US" sz="2000" dirty="0"/>
              <a:t> object, like a dictionary, when </a:t>
            </a:r>
            <a:r>
              <a:rPr lang="en-US" sz="2000" b="1" dirty="0"/>
              <a:t>creating a Series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Note: </a:t>
            </a:r>
            <a:r>
              <a:rPr lang="en-US" sz="2000" dirty="0" smtClean="0"/>
              <a:t>The </a:t>
            </a:r>
            <a:r>
              <a:rPr lang="en-US" sz="2000" b="1" dirty="0" smtClean="0"/>
              <a:t>keys</a:t>
            </a:r>
            <a:r>
              <a:rPr lang="en-US" sz="2000" dirty="0" smtClean="0"/>
              <a:t> of </a:t>
            </a:r>
            <a:r>
              <a:rPr lang="en-US" sz="2000" dirty="0"/>
              <a:t>the dictionary </a:t>
            </a:r>
            <a:r>
              <a:rPr lang="en-US" sz="2000" b="1" dirty="0"/>
              <a:t>become the labels</a:t>
            </a:r>
            <a:r>
              <a:rPr lang="en-US" sz="2000" dirty="0" smtClean="0"/>
              <a:t>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To </a:t>
            </a:r>
            <a:r>
              <a:rPr lang="en-US" sz="2000" b="1" dirty="0"/>
              <a:t>select only some of the items </a:t>
            </a:r>
            <a:r>
              <a:rPr lang="en-US" sz="2000" dirty="0"/>
              <a:t>in the dictionary, </a:t>
            </a:r>
            <a:r>
              <a:rPr lang="en-US" sz="2000" b="1" dirty="0"/>
              <a:t>use the index argument </a:t>
            </a:r>
            <a:r>
              <a:rPr lang="en-US" sz="2000" dirty="0"/>
              <a:t>and specify only the items you want to include in the Series.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307661" y="57888"/>
            <a:ext cx="5867399" cy="677617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Create a simple Pandas Series from a dictionary:</a:t>
            </a:r>
          </a:p>
          <a:p>
            <a:endParaRPr lang="en-US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calories = {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"day1"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"day2"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380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"day3"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390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pd.Series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(calories)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Create a Series using only data from "day1" and "day2":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calories = {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"day1"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"day2"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380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"day3"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390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pd.Series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(calories, index = [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"day1"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"day2"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93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 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sz="2400" b="1" dirty="0"/>
              <a:t>Data sets</a:t>
            </a:r>
            <a:r>
              <a:rPr lang="en-US" sz="2400" dirty="0"/>
              <a:t> in Pandas are usually </a:t>
            </a:r>
            <a:r>
              <a:rPr lang="en-US" sz="2400" b="1" dirty="0"/>
              <a:t>multi-dimensional tables</a:t>
            </a:r>
            <a:r>
              <a:rPr lang="en-US" sz="2400" dirty="0"/>
              <a:t>, called </a:t>
            </a:r>
            <a:r>
              <a:rPr lang="en-US" sz="2400" b="1" dirty="0" err="1"/>
              <a:t>DataFrames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Series</a:t>
            </a:r>
            <a:r>
              <a:rPr lang="en-US" sz="2400" dirty="0"/>
              <a:t> is like </a:t>
            </a:r>
            <a:r>
              <a:rPr lang="en-US" sz="2400" b="1" dirty="0"/>
              <a:t>a column</a:t>
            </a:r>
            <a:r>
              <a:rPr lang="en-US" sz="2400" dirty="0"/>
              <a:t>, a </a:t>
            </a:r>
            <a:r>
              <a:rPr lang="en-US" sz="2400" b="1" dirty="0" err="1"/>
              <a:t>DataFrame</a:t>
            </a:r>
            <a:r>
              <a:rPr lang="en-US" sz="2400" dirty="0"/>
              <a:t> is the </a:t>
            </a:r>
            <a:r>
              <a:rPr lang="en-US" sz="2400" b="1" dirty="0"/>
              <a:t>whole table</a:t>
            </a:r>
            <a:r>
              <a:rPr lang="en-US" sz="24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868622" y="1593167"/>
            <a:ext cx="5126644" cy="443707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20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</a:rPr>
              <a:t>Create a </a:t>
            </a:r>
            <a:r>
              <a:rPr lang="en-US" sz="2000" dirty="0" err="1">
                <a:solidFill>
                  <a:srgbClr val="000000"/>
                </a:solidFill>
                <a:latin typeface="Verdana" panose="020B0604030504040204" pitchFamily="34" charset="0"/>
              </a:rPr>
              <a:t>DataFrame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</a:rPr>
              <a:t> from two Series:</a:t>
            </a:r>
          </a:p>
          <a:p>
            <a:endParaRPr lang="en-US" sz="2000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sz="20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data = {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"calories"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420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380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390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"duration"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 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45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pd.DataFrame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(data)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0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28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sz="2000" dirty="0"/>
              <a:t>A Pandas </a:t>
            </a:r>
            <a:r>
              <a:rPr lang="en-US" sz="2000" b="1" dirty="0" err="1"/>
              <a:t>DataFrame</a:t>
            </a:r>
            <a:r>
              <a:rPr lang="en-US" sz="2000" dirty="0"/>
              <a:t> is a </a:t>
            </a:r>
            <a:r>
              <a:rPr lang="en-US" sz="2000" b="1" dirty="0"/>
              <a:t>2 dimensional data structure</a:t>
            </a:r>
            <a:r>
              <a:rPr lang="en-US" sz="2000" dirty="0"/>
              <a:t>, like a </a:t>
            </a:r>
            <a:r>
              <a:rPr lang="en-US" sz="2000" b="1" dirty="0"/>
              <a:t>2 dimensional array</a:t>
            </a:r>
            <a:r>
              <a:rPr lang="en-US" sz="2000" dirty="0"/>
              <a:t>, or </a:t>
            </a:r>
            <a:r>
              <a:rPr lang="en-US" sz="2000" b="1" dirty="0"/>
              <a:t>a table with rows and columns</a:t>
            </a:r>
            <a:r>
              <a:rPr lang="en-US" sz="2000" dirty="0" smtClean="0"/>
              <a:t>..</a:t>
            </a:r>
          </a:p>
          <a:p>
            <a:endParaRPr lang="en-US" sz="2000" dirty="0"/>
          </a:p>
          <a:p>
            <a:r>
              <a:rPr lang="en-US" sz="2000" dirty="0"/>
              <a:t>As you can see from the result above, the </a:t>
            </a:r>
            <a:r>
              <a:rPr lang="en-US" sz="2000" dirty="0" err="1"/>
              <a:t>DataFrame</a:t>
            </a:r>
            <a:r>
              <a:rPr lang="en-US" sz="2000" dirty="0"/>
              <a:t> is like a table with rows and columns.</a:t>
            </a:r>
          </a:p>
          <a:p>
            <a:endParaRPr lang="en-US" sz="2000" dirty="0"/>
          </a:p>
          <a:p>
            <a:r>
              <a:rPr lang="en-US" sz="2000" dirty="0"/>
              <a:t>Pandas use the </a:t>
            </a:r>
            <a:r>
              <a:rPr lang="en-US" sz="2000" dirty="0" err="1">
                <a:solidFill>
                  <a:srgbClr val="FF0000"/>
                </a:solidFill>
              </a:rPr>
              <a:t>loc</a:t>
            </a:r>
            <a:r>
              <a:rPr lang="en-US" sz="2000" dirty="0"/>
              <a:t> attribute to return one or more specified row(s)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652491" y="38605"/>
            <a:ext cx="5126644" cy="671461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Create a simple Pandas </a:t>
            </a:r>
            <a:r>
              <a:rPr lang="en-US" sz="1200" dirty="0" err="1">
                <a:solidFill>
                  <a:srgbClr val="000000"/>
                </a:solidFill>
                <a:latin typeface="Verdana" panose="020B0604030504040204" pitchFamily="34" charset="0"/>
              </a:rPr>
              <a:t>DataFrame</a:t>
            </a: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data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{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"calories"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420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380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390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"duration"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load data into a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DataFrame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object: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pd.DataFrame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(data)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calories  duration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0       420        50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1       380        40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2       390        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45</a:t>
            </a:r>
          </a:p>
          <a:p>
            <a:r>
              <a:rPr lang="en-US" sz="1400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Return row 0: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#refer to the row index: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df.loc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calories    420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duration     50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Name: 0,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int64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Return row 0 and 1: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#use a list of indexes: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df.loc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calories  duration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0       420        50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1       380        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40</a:t>
            </a:r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35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sz="2000" dirty="0"/>
              <a:t>With the </a:t>
            </a:r>
            <a:r>
              <a:rPr lang="en-US" sz="2000" b="1" dirty="0"/>
              <a:t>index argument</a:t>
            </a:r>
            <a:r>
              <a:rPr lang="en-US" sz="2000" dirty="0"/>
              <a:t>, you can </a:t>
            </a:r>
            <a:r>
              <a:rPr lang="en-US" sz="2000" b="1" dirty="0"/>
              <a:t>name your own </a:t>
            </a:r>
            <a:r>
              <a:rPr lang="en-US" sz="2000" b="1" dirty="0" smtClean="0"/>
              <a:t>indexes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Use the named index in the </a:t>
            </a:r>
            <a:r>
              <a:rPr lang="en-US" sz="2000" dirty="0" err="1"/>
              <a:t>loc</a:t>
            </a:r>
            <a:r>
              <a:rPr lang="en-US" sz="2000" dirty="0"/>
              <a:t> attribute to return the specified row(s</a:t>
            </a:r>
            <a:r>
              <a:rPr lang="en-US" sz="2000" dirty="0" smtClean="0"/>
              <a:t>).</a:t>
            </a:r>
          </a:p>
          <a:p>
            <a:r>
              <a:rPr lang="en-US" sz="2000" dirty="0"/>
              <a:t>If your </a:t>
            </a:r>
            <a:r>
              <a:rPr lang="en-US" sz="2000" b="1" dirty="0"/>
              <a:t>data sets are stored in a file</a:t>
            </a:r>
            <a:r>
              <a:rPr lang="en-US" sz="2000" dirty="0"/>
              <a:t>, Pandas can </a:t>
            </a:r>
            <a:r>
              <a:rPr lang="en-US" sz="2000" b="1" dirty="0"/>
              <a:t>load </a:t>
            </a:r>
            <a:r>
              <a:rPr lang="en-US" sz="2000" dirty="0"/>
              <a:t>them </a:t>
            </a:r>
            <a:r>
              <a:rPr lang="en-US" sz="2000" b="1" dirty="0"/>
              <a:t>into a </a:t>
            </a:r>
            <a:r>
              <a:rPr lang="en-US" sz="2000" b="1" dirty="0" err="1"/>
              <a:t>DataFrame</a:t>
            </a:r>
            <a:r>
              <a:rPr lang="en-US" sz="20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652491" y="38606"/>
            <a:ext cx="5126644" cy="671461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Add a list of names to give each row a name:</a:t>
            </a:r>
          </a:p>
          <a:p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data = {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"calories"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420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380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390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"duration"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pd.DataFrame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(data, index = [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"day1"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"day2"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"day3"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calories  duration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day1       420        50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day2       380        40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day3       390        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45</a:t>
            </a:r>
          </a:p>
          <a:p>
            <a:endParaRPr lang="en-US" sz="1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Return "day2":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#refer to the named index: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df.loc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"day2"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calories    380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duration     40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Name: day2,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int64</a:t>
            </a:r>
            <a:endParaRPr lang="en-US" sz="1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4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US" sz="1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Load a comma separated file (CSV file) into a </a:t>
            </a:r>
            <a:r>
              <a:rPr lang="en-US" sz="1200" dirty="0" err="1">
                <a:solidFill>
                  <a:srgbClr val="000000"/>
                </a:solidFill>
                <a:latin typeface="Verdana" panose="020B0604030504040204" pitchFamily="34" charset="0"/>
              </a:rPr>
              <a:t>DataFrame</a:t>
            </a: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pd.read_csv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'data.csv'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854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Read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068" y="1618722"/>
            <a:ext cx="6211300" cy="3880773"/>
          </a:xfrm>
        </p:spPr>
        <p:txBody>
          <a:bodyPr>
            <a:noAutofit/>
          </a:bodyPr>
          <a:lstStyle/>
          <a:p>
            <a:r>
              <a:rPr lang="en-US" sz="2000" dirty="0"/>
              <a:t>A simple way to </a:t>
            </a:r>
            <a:r>
              <a:rPr lang="en-US" sz="2000" b="1" dirty="0"/>
              <a:t>store big data sets</a:t>
            </a:r>
            <a:r>
              <a:rPr lang="en-US" sz="2000" dirty="0"/>
              <a:t> is to </a:t>
            </a:r>
            <a:r>
              <a:rPr lang="en-US" sz="2000" b="1" dirty="0"/>
              <a:t>use CSV</a:t>
            </a:r>
            <a:r>
              <a:rPr lang="en-US" sz="2000" dirty="0"/>
              <a:t> files (</a:t>
            </a:r>
            <a:r>
              <a:rPr lang="en-US" sz="2000" b="1" dirty="0"/>
              <a:t>comma separated files</a:t>
            </a:r>
            <a:r>
              <a:rPr lang="en-US" sz="2000" dirty="0"/>
              <a:t>).</a:t>
            </a:r>
          </a:p>
          <a:p>
            <a:r>
              <a:rPr lang="en-US" sz="2000" dirty="0" smtClean="0"/>
              <a:t>CSV </a:t>
            </a:r>
            <a:r>
              <a:rPr lang="en-US" sz="2000" dirty="0"/>
              <a:t>files contains plain text and is a well know format that can be read by everyone including Pandas.</a:t>
            </a:r>
          </a:p>
          <a:p>
            <a:r>
              <a:rPr lang="en-US" sz="2000" dirty="0" smtClean="0"/>
              <a:t>In </a:t>
            </a:r>
            <a:r>
              <a:rPr lang="en-US" sz="2000" dirty="0"/>
              <a:t>our examples we will be using a CSV file called 'data.csv'.</a:t>
            </a:r>
          </a:p>
          <a:p>
            <a:r>
              <a:rPr lang="en-US" sz="2000" dirty="0" smtClean="0"/>
              <a:t>Download </a:t>
            </a:r>
            <a:r>
              <a:rPr lang="en-US" sz="2000" dirty="0"/>
              <a:t>data.csv. or Open </a:t>
            </a:r>
            <a:r>
              <a:rPr lang="en-US" sz="2000" dirty="0" smtClean="0"/>
              <a:t>data.csv from Data Science course on </a:t>
            </a:r>
            <a:r>
              <a:rPr lang="en-US" sz="2000" dirty="0" err="1" smtClean="0"/>
              <a:t>elearning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r>
              <a:rPr lang="en-US" sz="2000" dirty="0"/>
              <a:t>Tip: use </a:t>
            </a:r>
            <a:r>
              <a:rPr lang="en-US" sz="2000" dirty="0" err="1">
                <a:solidFill>
                  <a:srgbClr val="FF0000"/>
                </a:solidFill>
              </a:rPr>
              <a:t>to_string</a:t>
            </a:r>
            <a:r>
              <a:rPr lang="en-US" sz="2000" dirty="0">
                <a:solidFill>
                  <a:srgbClr val="FF0000"/>
                </a:solidFill>
              </a:rPr>
              <a:t>() </a:t>
            </a:r>
            <a:r>
              <a:rPr lang="en-US" sz="2000" dirty="0"/>
              <a:t>to print the </a:t>
            </a:r>
            <a:r>
              <a:rPr lang="en-US" sz="2000" b="1" dirty="0" smtClean="0"/>
              <a:t>entire</a:t>
            </a:r>
            <a:r>
              <a:rPr lang="en-US" sz="2000" dirty="0" smtClean="0"/>
              <a:t> </a:t>
            </a:r>
            <a:r>
              <a:rPr lang="en-US" sz="2000" dirty="0" err="1" smtClean="0"/>
              <a:t>DataFrame</a:t>
            </a:r>
            <a:endParaRPr lang="en-US" sz="2000" dirty="0" smtClean="0"/>
          </a:p>
          <a:p>
            <a:r>
              <a:rPr lang="en-US" sz="2000" dirty="0"/>
              <a:t>If you have a large </a:t>
            </a:r>
            <a:r>
              <a:rPr lang="en-US" sz="2000" dirty="0" err="1"/>
              <a:t>DataFrame</a:t>
            </a:r>
            <a:r>
              <a:rPr lang="en-US" sz="2000" dirty="0"/>
              <a:t> with many rows, Pandas </a:t>
            </a:r>
            <a:r>
              <a:rPr lang="en-US" sz="2000" b="1" dirty="0"/>
              <a:t>will only return the first 5 rows, and the last 5 rows</a:t>
            </a:r>
            <a:r>
              <a:rPr lang="en-US" sz="2000" dirty="0"/>
              <a:t>: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10679" y="1573371"/>
            <a:ext cx="5413587" cy="477562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Load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CSV into a </a:t>
            </a:r>
            <a:r>
              <a:rPr lang="en-US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DataFrame</a:t>
            </a:r>
            <a:endParaRPr lang="en-US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pd.read_csv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'data.csv'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df.to_string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 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Example: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Print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the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DataFrame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without the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to_string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method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pd.read_csv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'data.csv'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</a:p>
          <a:p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159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Read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93323"/>
            <a:ext cx="5898033" cy="3880773"/>
          </a:xfrm>
        </p:spPr>
        <p:txBody>
          <a:bodyPr>
            <a:noAutofit/>
          </a:bodyPr>
          <a:lstStyle/>
          <a:p>
            <a:r>
              <a:rPr lang="en-US" sz="2000" dirty="0" err="1" smtClean="0">
                <a:solidFill>
                  <a:srgbClr val="FF0000"/>
                </a:solidFill>
              </a:rPr>
              <a:t>max_rows</a:t>
            </a:r>
            <a:r>
              <a:rPr lang="en-US" sz="2000" dirty="0" smtClean="0"/>
              <a:t>: The </a:t>
            </a:r>
            <a:r>
              <a:rPr lang="en-US" sz="2000" dirty="0"/>
              <a:t>number of rows returned is defined in Pandas option settings.</a:t>
            </a:r>
          </a:p>
          <a:p>
            <a:endParaRPr lang="en-US" sz="2000" dirty="0"/>
          </a:p>
          <a:p>
            <a:r>
              <a:rPr lang="en-US" sz="2000" dirty="0"/>
              <a:t>You can check your system's maximum rows with the </a:t>
            </a:r>
            <a:r>
              <a:rPr lang="en-US" sz="2000" dirty="0" err="1">
                <a:solidFill>
                  <a:srgbClr val="FF0000"/>
                </a:solidFill>
              </a:rPr>
              <a:t>pd.options.display.max_rows</a:t>
            </a:r>
            <a:r>
              <a:rPr lang="en-US" sz="2000" dirty="0"/>
              <a:t> statement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In my system the number is 60, which means that if the </a:t>
            </a:r>
            <a:r>
              <a:rPr lang="en-US" sz="2000" dirty="0" err="1"/>
              <a:t>DataFrame</a:t>
            </a:r>
            <a:r>
              <a:rPr lang="en-US" sz="2000" dirty="0"/>
              <a:t> contains more than 60 rows, the print(</a:t>
            </a:r>
            <a:r>
              <a:rPr lang="en-US" sz="2000" dirty="0" err="1"/>
              <a:t>df</a:t>
            </a:r>
            <a:r>
              <a:rPr lang="en-US" sz="2000" dirty="0"/>
              <a:t>) statement will return only the headers and the first and last 5 rows.</a:t>
            </a:r>
          </a:p>
          <a:p>
            <a:endParaRPr lang="en-US" sz="2000" dirty="0"/>
          </a:p>
          <a:p>
            <a:r>
              <a:rPr lang="en-US" sz="2000" dirty="0"/>
              <a:t>You </a:t>
            </a:r>
            <a:r>
              <a:rPr lang="en-US" sz="2000" b="1" dirty="0"/>
              <a:t>can change the maximum rows </a:t>
            </a:r>
            <a:r>
              <a:rPr lang="en-US" sz="2000" dirty="0"/>
              <a:t>number with the same statement.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541499" y="1296372"/>
            <a:ext cx="5616633" cy="532962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Check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number of maximum returned rows:</a:t>
            </a:r>
          </a:p>
          <a:p>
            <a:endParaRPr lang="en-US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pd.options.display.max_rows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Increase the maximum number of rows to display the entire </a:t>
            </a: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DataFrame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endParaRPr lang="en-US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pd.options.display.max_rows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9999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pd.read_csv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'data.csv'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09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- Analyzing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dirty="0"/>
              <a:t>One of the most used method for getting a quick overview of the </a:t>
            </a:r>
            <a:r>
              <a:rPr lang="en-US" dirty="0" err="1"/>
              <a:t>DataFrame</a:t>
            </a:r>
            <a:r>
              <a:rPr lang="en-US" dirty="0"/>
              <a:t>, is the </a:t>
            </a:r>
            <a:r>
              <a:rPr lang="en-US" dirty="0">
                <a:solidFill>
                  <a:srgbClr val="FF0000"/>
                </a:solidFill>
              </a:rPr>
              <a:t>head()</a:t>
            </a:r>
            <a:r>
              <a:rPr lang="en-US" dirty="0"/>
              <a:t> method.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head() </a:t>
            </a:r>
            <a:r>
              <a:rPr lang="en-US" dirty="0"/>
              <a:t>method returns the headers and a specified number of rows, </a:t>
            </a:r>
            <a:r>
              <a:rPr lang="en-US" b="1" dirty="0"/>
              <a:t>starting from the top</a:t>
            </a:r>
            <a:r>
              <a:rPr lang="en-US" dirty="0" smtClean="0"/>
              <a:t>.</a:t>
            </a:r>
          </a:p>
          <a:p>
            <a:r>
              <a:rPr lang="en-US" dirty="0"/>
              <a:t>There is also a </a:t>
            </a:r>
            <a:r>
              <a:rPr lang="en-US" dirty="0">
                <a:solidFill>
                  <a:srgbClr val="FF0000"/>
                </a:solidFill>
              </a:rPr>
              <a:t>tail() </a:t>
            </a:r>
            <a:r>
              <a:rPr lang="en-US" dirty="0"/>
              <a:t>method for </a:t>
            </a:r>
            <a:r>
              <a:rPr lang="en-US" b="1" dirty="0"/>
              <a:t>viewing the last rows</a:t>
            </a:r>
            <a:r>
              <a:rPr lang="en-US" dirty="0"/>
              <a:t> of the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tail() </a:t>
            </a:r>
            <a:r>
              <a:rPr lang="en-US" dirty="0"/>
              <a:t>method returns the headers and a specified number of rows, </a:t>
            </a:r>
            <a:r>
              <a:rPr lang="en-US" b="1" dirty="0"/>
              <a:t>starting from the bottom</a:t>
            </a:r>
            <a:r>
              <a:rPr lang="en-US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52986" y="1404088"/>
            <a:ext cx="5126644" cy="480640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Get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a quick overview by printing the first 10 rows of the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DataFrame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endParaRPr lang="en-US" sz="1600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pd.read_csv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'data.csv'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df.head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Print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the first 5 rows of the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DataFrame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endParaRPr lang="en-US" sz="1600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pandas as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pd.read_csv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'data.csv'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df.head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 Example</a:t>
            </a:r>
          </a:p>
          <a:p>
            <a:endParaRPr lang="en-US" sz="16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Print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the last 5 rows of the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DataFrame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df.tail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 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53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Summary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this lecture we learned following concepts:</a:t>
            </a:r>
          </a:p>
          <a:p>
            <a:pPr lvl="1"/>
            <a:r>
              <a:rPr lang="en-GB" dirty="0" smtClean="0"/>
              <a:t>Detailed Introduction to pandas </a:t>
            </a:r>
            <a:r>
              <a:rPr lang="en-GB" dirty="0" smtClean="0"/>
              <a:t>library</a:t>
            </a:r>
          </a:p>
          <a:p>
            <a:pPr lvl="1"/>
            <a:r>
              <a:rPr lang="en-GB" dirty="0" smtClean="0"/>
              <a:t>Pandas series</a:t>
            </a:r>
          </a:p>
          <a:p>
            <a:pPr lvl="1"/>
            <a:r>
              <a:rPr lang="en-GB" dirty="0" smtClean="0"/>
              <a:t>Pandas </a:t>
            </a:r>
            <a:r>
              <a:rPr lang="en-GB" dirty="0" err="1" smtClean="0"/>
              <a:t>DataFrame</a:t>
            </a:r>
            <a:endParaRPr lang="en-GB" smtClean="0"/>
          </a:p>
          <a:p>
            <a:pPr lvl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7237174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1775</TotalTime>
  <Words>806</Words>
  <Application>Microsoft Office PowerPoint</Application>
  <PresentationFormat>Widescreen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Consolas</vt:lpstr>
      <vt:lpstr>Segoe UI</vt:lpstr>
      <vt:lpstr>Trebuchet MS</vt:lpstr>
      <vt:lpstr>Verdana</vt:lpstr>
      <vt:lpstr>Wingdings 3</vt:lpstr>
      <vt:lpstr>Facet</vt:lpstr>
      <vt:lpstr>Data Science</vt:lpstr>
      <vt:lpstr>pandas Introduction</vt:lpstr>
      <vt:lpstr>Starting with pandas</vt:lpstr>
      <vt:lpstr>Pandas Series</vt:lpstr>
      <vt:lpstr>Pandas Series</vt:lpstr>
      <vt:lpstr>Pandas Series</vt:lpstr>
      <vt:lpstr>Pandas DataFrames</vt:lpstr>
      <vt:lpstr>Pandas DataFrames</vt:lpstr>
      <vt:lpstr>Pandas Read CSV</vt:lpstr>
      <vt:lpstr>Pandas Read CSV</vt:lpstr>
      <vt:lpstr>Pandas - Analyzing DataFrames</vt:lpstr>
      <vt:lpstr>Summary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DR.ASIF</dc:creator>
  <cp:lastModifiedBy>DR.ASIF</cp:lastModifiedBy>
  <cp:revision>69</cp:revision>
  <dcterms:created xsi:type="dcterms:W3CDTF">2023-08-12T13:47:27Z</dcterms:created>
  <dcterms:modified xsi:type="dcterms:W3CDTF">2023-08-22T14:29:49Z</dcterms:modified>
</cp:coreProperties>
</file>
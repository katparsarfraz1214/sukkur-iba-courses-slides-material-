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trypython.asp?filename=demo_indentation_test" TargetMode="External"/><Relationship Id="rId2" Type="http://schemas.openxmlformats.org/officeDocument/2006/relationships/hyperlink" Target="https://www.w3schools.com/python/trypython.asp?filename=demo_indent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python/trypython.asp?filename=demo_indentation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ref_string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Science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01: Python for Data Science</a:t>
            </a:r>
          </a:p>
          <a:p>
            <a:r>
              <a:rPr lang="en-US" dirty="0"/>
              <a:t>Lecture 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2609"/>
            <a:ext cx="5898033" cy="3880773"/>
          </a:xfrm>
        </p:spPr>
        <p:txBody>
          <a:bodyPr>
            <a:noAutofit/>
          </a:bodyPr>
          <a:lstStyle/>
          <a:p>
            <a:r>
              <a:rPr lang="en-US" dirty="0" smtClean="0"/>
              <a:t>Python </a:t>
            </a:r>
            <a:r>
              <a:rPr lang="en-US" dirty="0"/>
              <a:t>syntax can be executed by writing directly in the Command Line:</a:t>
            </a:r>
          </a:p>
          <a:p>
            <a:r>
              <a:rPr lang="en-US" dirty="0" smtClean="0"/>
              <a:t>&gt;&gt;&gt; </a:t>
            </a:r>
            <a:r>
              <a:rPr lang="en-US" dirty="0">
                <a:solidFill>
                  <a:srgbClr val="FF0000"/>
                </a:solidFill>
              </a:rPr>
              <a:t>print</a:t>
            </a:r>
            <a:r>
              <a:rPr lang="en-US" dirty="0"/>
              <a:t>("Hello, World!")</a:t>
            </a:r>
          </a:p>
          <a:p>
            <a:r>
              <a:rPr lang="en-US" dirty="0"/>
              <a:t>Hello, World!</a:t>
            </a:r>
          </a:p>
          <a:p>
            <a:r>
              <a:rPr lang="en-US" dirty="0" smtClean="0"/>
              <a:t>Python </a:t>
            </a:r>
            <a:r>
              <a:rPr lang="en-US" b="1" dirty="0"/>
              <a:t>Indentation</a:t>
            </a:r>
          </a:p>
          <a:p>
            <a:pPr lvl="1"/>
            <a:r>
              <a:rPr lang="en-US" dirty="0"/>
              <a:t>Indentation refers to the spaces at the beginning of a code </a:t>
            </a:r>
            <a:r>
              <a:rPr lang="en-US" dirty="0" smtClean="0"/>
              <a:t>line.</a:t>
            </a:r>
          </a:p>
          <a:p>
            <a:pPr lvl="1"/>
            <a:r>
              <a:rPr lang="en-US" dirty="0" smtClean="0"/>
              <a:t>Where </a:t>
            </a:r>
            <a:r>
              <a:rPr lang="en-US" dirty="0"/>
              <a:t>in </a:t>
            </a:r>
            <a:r>
              <a:rPr lang="en-US" b="1" dirty="0"/>
              <a:t>other programming languages </a:t>
            </a:r>
            <a:r>
              <a:rPr lang="en-US" dirty="0"/>
              <a:t>the indentation in code is for </a:t>
            </a:r>
            <a:r>
              <a:rPr lang="en-US" b="1" dirty="0"/>
              <a:t>readability</a:t>
            </a:r>
            <a:r>
              <a:rPr lang="en-US" dirty="0"/>
              <a:t> only, the indentation in Python is very </a:t>
            </a:r>
            <a:r>
              <a:rPr lang="en-US" dirty="0" smtClean="0"/>
              <a:t>important.</a:t>
            </a:r>
          </a:p>
          <a:p>
            <a:pPr lvl="1"/>
            <a:r>
              <a:rPr lang="en-US" dirty="0" smtClean="0"/>
              <a:t>Python </a:t>
            </a:r>
            <a:r>
              <a:rPr lang="en-US" dirty="0"/>
              <a:t>uses indentation to </a:t>
            </a:r>
            <a:r>
              <a:rPr lang="en-US" b="1" dirty="0"/>
              <a:t>indicate a block of code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b="1" dirty="0"/>
              <a:t>number of spaces is up to you </a:t>
            </a:r>
            <a:r>
              <a:rPr lang="en-US" dirty="0"/>
              <a:t>as a programmer, the most common use is four, but it has to be at least one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649719" y="949096"/>
            <a:ext cx="5428673" cy="5483512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rint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"Five is greater than two!"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Source Sans Pro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Python will give you an error if you skip the indentation: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Syntax Error: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2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"Five is greater than two!"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Source Sans Pro"/>
              <a:hlinkClick r:id="rId3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number of spaces is up to you as a programmer, the most common use is four, but it has to be at least one.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"Five is greater than two!"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"Five is greater than two!"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Source Sans Pro"/>
              <a:hlinkClick r:id="rId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have to use the same number of spaces in the same block of code, otherwise Python will give you an error:</a:t>
            </a: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Syntax Error: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&gt;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"Five is greater than two!"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"Five is greater than two!"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8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Assign</a:t>
            </a:r>
            <a:r>
              <a:rPr lang="fr-FR" dirty="0" smtClean="0"/>
              <a:t> </a:t>
            </a:r>
            <a:r>
              <a:rPr lang="fr-FR" dirty="0"/>
              <a:t>Multiple </a:t>
            </a:r>
            <a:r>
              <a:rPr lang="fr-FR" dirty="0" smtClean="0"/>
              <a:t>Values to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5898033" cy="3880773"/>
          </a:xfrm>
        </p:spPr>
        <p:txBody>
          <a:bodyPr>
            <a:normAutofit/>
          </a:bodyPr>
          <a:lstStyle/>
          <a:p>
            <a:r>
              <a:rPr lang="en-US" dirty="0"/>
              <a:t>Python allows you to assign values to </a:t>
            </a:r>
            <a:r>
              <a:rPr lang="en-US" b="1" dirty="0"/>
              <a:t>multiple variables</a:t>
            </a:r>
            <a:r>
              <a:rPr lang="en-US" dirty="0"/>
              <a:t> in one line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And </a:t>
            </a:r>
            <a:r>
              <a:rPr lang="en-US" dirty="0"/>
              <a:t>you can assign the </a:t>
            </a:r>
            <a:r>
              <a:rPr lang="en-US" b="1" i="1" dirty="0"/>
              <a:t>same</a:t>
            </a:r>
            <a:r>
              <a:rPr lang="en-US" dirty="0"/>
              <a:t> value </a:t>
            </a:r>
            <a:r>
              <a:rPr lang="en-US" b="1" dirty="0"/>
              <a:t>to multiple variables</a:t>
            </a:r>
            <a:r>
              <a:rPr lang="en-US" dirty="0"/>
              <a:t> in one line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r>
              <a:rPr lang="en-US" dirty="0"/>
              <a:t>If you have a collection of values in a list, tuple etc. </a:t>
            </a:r>
            <a:r>
              <a:rPr lang="en-US" b="1" dirty="0"/>
              <a:t>Python allows</a:t>
            </a:r>
            <a:r>
              <a:rPr lang="en-US" dirty="0"/>
              <a:t> you to </a:t>
            </a:r>
            <a:r>
              <a:rPr lang="en-US" b="1" dirty="0"/>
              <a:t>extract the values into variables</a:t>
            </a:r>
            <a:r>
              <a:rPr lang="en-US" dirty="0"/>
              <a:t>. This is called </a:t>
            </a:r>
            <a:r>
              <a:rPr lang="en-US" b="1" i="1" dirty="0"/>
              <a:t>unpacking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815975" y="1313816"/>
            <a:ext cx="5126644" cy="523729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y, z =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(z</a:t>
            </a:r>
            <a:r>
              <a:rPr lang="en-US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x = y = z = </a:t>
            </a:r>
            <a:r>
              <a:rPr lang="fr-FR" sz="1600" dirty="0">
                <a:solidFill>
                  <a:srgbClr val="A52A2A"/>
                </a:solidFill>
                <a:latin typeface="Consolas" panose="020B0609020204030204" pitchFamily="49" charset="0"/>
              </a:rPr>
              <a:t>"Orange"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(z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fr-FR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fruits 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= [</a:t>
            </a:r>
            <a:r>
              <a:rPr lang="fr-FR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fr-FR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apple</a:t>
            </a:r>
            <a:r>
              <a:rPr lang="fr-FR" sz="1600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fr-FR" sz="1600" dirty="0">
                <a:solidFill>
                  <a:srgbClr val="A52A2A"/>
                </a:solidFill>
                <a:latin typeface="Consolas" panose="020B0609020204030204" pitchFamily="49" charset="0"/>
              </a:rPr>
              <a:t>"banana"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fr-FR" sz="1600" dirty="0">
                <a:solidFill>
                  <a:srgbClr val="A52A2A"/>
                </a:solidFill>
                <a:latin typeface="Consolas" panose="020B0609020204030204" pitchFamily="49" charset="0"/>
              </a:rPr>
              <a:t>"cherry"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x, y, z = fruits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(z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8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Output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5898033" cy="4478569"/>
          </a:xfrm>
        </p:spPr>
        <p:txBody>
          <a:bodyPr>
            <a:noAutofit/>
          </a:bodyPr>
          <a:lstStyle/>
          <a:p>
            <a:r>
              <a:rPr lang="en-US" sz="2000" dirty="0"/>
              <a:t>The Python </a:t>
            </a:r>
            <a:r>
              <a:rPr lang="en-US" sz="2000" dirty="0">
                <a:solidFill>
                  <a:srgbClr val="FF0000"/>
                </a:solidFill>
              </a:rPr>
              <a:t>print() </a:t>
            </a:r>
            <a:r>
              <a:rPr lang="en-US" sz="2000" dirty="0"/>
              <a:t>function is often used to output variables.</a:t>
            </a:r>
            <a:endParaRPr lang="en-US" sz="2000" dirty="0" smtClean="0"/>
          </a:p>
          <a:p>
            <a:r>
              <a:rPr lang="en-US" sz="2000" dirty="0" smtClean="0"/>
              <a:t>In </a:t>
            </a:r>
            <a:r>
              <a:rPr lang="en-US" sz="2000" dirty="0"/>
              <a:t>the </a:t>
            </a:r>
            <a:r>
              <a:rPr lang="en-US" sz="2000" dirty="0" smtClean="0">
                <a:solidFill>
                  <a:srgbClr val="FF0000"/>
                </a:solidFill>
              </a:rPr>
              <a:t>print() </a:t>
            </a:r>
            <a:r>
              <a:rPr lang="en-US" sz="2000" dirty="0" smtClean="0"/>
              <a:t>function</a:t>
            </a:r>
            <a:r>
              <a:rPr lang="en-US" sz="2000" dirty="0"/>
              <a:t>, you output multiple variables, separated by a </a:t>
            </a:r>
            <a:r>
              <a:rPr lang="en-US" sz="2000" dirty="0" smtClean="0"/>
              <a:t>comma</a:t>
            </a:r>
            <a:r>
              <a:rPr lang="en-US" sz="2000" dirty="0"/>
              <a:t>.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/>
              <a:t>You can also use the 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 operator to output multiple </a:t>
            </a:r>
            <a:r>
              <a:rPr lang="en-US" sz="2000" dirty="0" smtClean="0"/>
              <a:t>variables</a:t>
            </a:r>
            <a:r>
              <a:rPr lang="en-US" sz="2000" dirty="0"/>
              <a:t>.</a:t>
            </a:r>
            <a:endParaRPr lang="en-US" sz="2000" dirty="0" smtClean="0"/>
          </a:p>
          <a:p>
            <a:r>
              <a:rPr lang="en-US" sz="2000" dirty="0"/>
              <a:t>For numbers, the </a:t>
            </a:r>
            <a:r>
              <a:rPr lang="en-US" sz="2000" dirty="0">
                <a:solidFill>
                  <a:srgbClr val="FF0000"/>
                </a:solidFill>
              </a:rPr>
              <a:t>+</a:t>
            </a:r>
            <a:r>
              <a:rPr lang="en-US" sz="2000" dirty="0"/>
              <a:t> character works as a mathematical operator</a:t>
            </a:r>
            <a:r>
              <a:rPr lang="en-US" sz="2000" dirty="0" smtClean="0"/>
              <a:t>:</a:t>
            </a:r>
          </a:p>
          <a:p>
            <a:r>
              <a:rPr lang="en-US" sz="2000" dirty="0"/>
              <a:t>The best way to </a:t>
            </a:r>
            <a:r>
              <a:rPr lang="en-US" sz="2000" b="1" dirty="0"/>
              <a:t>output multiple variables </a:t>
            </a:r>
            <a:r>
              <a:rPr lang="en-US" sz="2000" dirty="0"/>
              <a:t>in the print() function is to separate them with commas, which even support different data types: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949440" y="609600"/>
            <a:ext cx="5126644" cy="5945177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US" dirty="0">
              <a:solidFill>
                <a:srgbClr val="FFFFFF"/>
              </a:solidFill>
              <a:latin typeface="Source Sans Pro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"Python is awesome"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</a:p>
          <a:p>
            <a:r>
              <a:rPr lang="en-US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"Python"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"is"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z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"awesome"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(x, y, z)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  <a:endParaRPr lang="fr-F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"Python "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"is "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z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"awesome"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 + y + z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s-ES" dirty="0"/>
              <a:t/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y = 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s-ES" dirty="0"/>
              <a:t/>
            </a:r>
            <a:br>
              <a:rPr lang="es-ES" dirty="0"/>
            </a:br>
            <a:r>
              <a:rPr lang="es-ES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 + y</a:t>
            </a:r>
            <a:r>
              <a:rPr lang="es-E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Your answer on the output of below code?</a:t>
            </a:r>
          </a:p>
          <a:p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s-E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s-ES" dirty="0"/>
              <a:t/>
            </a:r>
            <a:br>
              <a:rPr lang="es-ES" dirty="0"/>
            </a:b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y = </a:t>
            </a:r>
            <a:r>
              <a:rPr lang="es-ES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s-ES" dirty="0"/>
              <a:t/>
            </a:r>
            <a:br>
              <a:rPr lang="es-ES" dirty="0"/>
            </a:br>
            <a:r>
              <a:rPr lang="es-ES" dirty="0" err="1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s-ES" dirty="0">
                <a:solidFill>
                  <a:srgbClr val="000000"/>
                </a:solidFill>
                <a:latin typeface="Consolas" panose="020B0609020204030204" pitchFamily="49" charset="0"/>
              </a:rPr>
              <a:t>(x + y</a:t>
            </a:r>
            <a:r>
              <a:rPr lang="es-E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4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Global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5898033" cy="4478569"/>
          </a:xfrm>
        </p:spPr>
        <p:txBody>
          <a:bodyPr>
            <a:normAutofit/>
          </a:bodyPr>
          <a:lstStyle/>
          <a:p>
            <a:r>
              <a:rPr lang="en-US" dirty="0"/>
              <a:t>Variables that are created </a:t>
            </a:r>
            <a:r>
              <a:rPr lang="en-US" b="1" dirty="0"/>
              <a:t>outside of </a:t>
            </a:r>
            <a:r>
              <a:rPr lang="en-US" b="1"/>
              <a:t>a </a:t>
            </a:r>
            <a:r>
              <a:rPr lang="en-US" b="1" smtClean="0"/>
              <a:t>function</a:t>
            </a:r>
            <a:r>
              <a:rPr lang="en-US" smtClean="0"/>
              <a:t> </a:t>
            </a:r>
            <a:r>
              <a:rPr lang="en-US" dirty="0"/>
              <a:t>are known as </a:t>
            </a:r>
            <a:r>
              <a:rPr lang="en-US" b="1" dirty="0"/>
              <a:t>global variables</a:t>
            </a:r>
            <a:r>
              <a:rPr lang="en-US" b="1" dirty="0" smtClean="0"/>
              <a:t>.</a:t>
            </a:r>
            <a:endParaRPr lang="en-US" b="1" dirty="0"/>
          </a:p>
          <a:p>
            <a:r>
              <a:rPr lang="en-US" b="1" dirty="0"/>
              <a:t>Global variables </a:t>
            </a:r>
            <a:r>
              <a:rPr lang="en-US" dirty="0"/>
              <a:t>can be used by everyone, both inside of functions and outside</a:t>
            </a:r>
            <a:r>
              <a:rPr lang="en-US" dirty="0" smtClean="0"/>
              <a:t>.</a:t>
            </a:r>
          </a:p>
          <a:p>
            <a:r>
              <a:rPr lang="en-US" dirty="0"/>
              <a:t>If you create a </a:t>
            </a:r>
            <a:r>
              <a:rPr lang="en-US" b="1" dirty="0"/>
              <a:t>variable</a:t>
            </a:r>
            <a:r>
              <a:rPr lang="en-US" dirty="0"/>
              <a:t> with the </a:t>
            </a:r>
            <a:r>
              <a:rPr lang="en-US" b="1" dirty="0"/>
              <a:t>same name inside a function</a:t>
            </a:r>
            <a:r>
              <a:rPr lang="en-US" dirty="0"/>
              <a:t>, this variable will be </a:t>
            </a:r>
            <a:r>
              <a:rPr lang="en-US" b="1" dirty="0"/>
              <a:t>local</a:t>
            </a:r>
            <a:r>
              <a:rPr lang="en-US" dirty="0"/>
              <a:t>, and can only be used inside the function.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global variable with the same name will remain as it was, global and with the original value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6710680" y="731798"/>
            <a:ext cx="5126644" cy="566817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US" sz="2000" dirty="0">
              <a:solidFill>
                <a:srgbClr val="FFFFFF"/>
              </a:solidFill>
              <a:latin typeface="Source Sans Pro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"awesome"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"Python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+ x)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0" i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Example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"awesome"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>
                <a:solidFill>
                  <a:srgbClr val="0000CD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x = 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"fantastic"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"Python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+ x)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52A2A"/>
                </a:solidFill>
                <a:latin typeface="Consolas" panose="020B0609020204030204" pitchFamily="49" charset="0"/>
              </a:rPr>
              <a:t>"Python is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+ x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721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</a:t>
            </a:r>
            <a:r>
              <a:rPr lang="fr-FR" dirty="0" err="1"/>
              <a:t>Yourself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7693582" cy="4478569"/>
          </a:xfrm>
        </p:spPr>
        <p:txBody>
          <a:bodyPr>
            <a:normAutofit/>
          </a:bodyPr>
          <a:lstStyle/>
          <a:p>
            <a:r>
              <a:rPr lang="en-US" dirty="0"/>
              <a:t>Create a variable named </a:t>
            </a:r>
            <a:r>
              <a:rPr lang="en-US" dirty="0" err="1">
                <a:solidFill>
                  <a:srgbClr val="FF0000"/>
                </a:solidFill>
              </a:rPr>
              <a:t>carname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assign the value </a:t>
            </a:r>
            <a:r>
              <a:rPr lang="en-US" dirty="0">
                <a:solidFill>
                  <a:srgbClr val="FF0000"/>
                </a:solidFill>
              </a:rPr>
              <a:t>Volvo</a:t>
            </a:r>
            <a:r>
              <a:rPr lang="en-US" dirty="0"/>
              <a:t> to it</a:t>
            </a:r>
            <a:r>
              <a:rPr lang="en-US" dirty="0" smtClean="0"/>
              <a:t>.</a:t>
            </a:r>
          </a:p>
          <a:p>
            <a:r>
              <a:rPr lang="en-US" dirty="0"/>
              <a:t>Create a variable named 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dirty="0"/>
              <a:t> and assign the value </a:t>
            </a:r>
            <a:r>
              <a:rPr lang="en-US" dirty="0">
                <a:solidFill>
                  <a:srgbClr val="FF0000"/>
                </a:solidFill>
              </a:rPr>
              <a:t>50</a:t>
            </a:r>
            <a:r>
              <a:rPr lang="en-US" dirty="0"/>
              <a:t> to it.</a:t>
            </a:r>
            <a:endParaRPr lang="en-US" dirty="0" smtClean="0"/>
          </a:p>
          <a:p>
            <a:r>
              <a:rPr lang="en-US" dirty="0"/>
              <a:t>Display the sum of </a:t>
            </a:r>
            <a:r>
              <a:rPr lang="en-US" dirty="0">
                <a:solidFill>
                  <a:srgbClr val="FF0000"/>
                </a:solidFill>
              </a:rPr>
              <a:t>5 + 10</a:t>
            </a:r>
            <a:r>
              <a:rPr lang="en-US" dirty="0"/>
              <a:t>, using two variables: 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y</a:t>
            </a:r>
            <a:r>
              <a:rPr lang="en-US" dirty="0"/>
              <a:t>.</a:t>
            </a:r>
          </a:p>
          <a:p>
            <a:r>
              <a:rPr lang="en-US" dirty="0"/>
              <a:t>Create a variable called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, assign </a:t>
            </a:r>
            <a:r>
              <a:rPr lang="en-US" dirty="0">
                <a:solidFill>
                  <a:srgbClr val="FF0000"/>
                </a:solidFill>
              </a:rPr>
              <a:t>x + y </a:t>
            </a:r>
            <a:r>
              <a:rPr lang="en-US" dirty="0"/>
              <a:t>to it, and display the result.</a:t>
            </a:r>
            <a:endParaRPr lang="en-US" dirty="0" smtClean="0"/>
          </a:p>
          <a:p>
            <a:r>
              <a:rPr lang="en-US" dirty="0"/>
              <a:t>Remove the illegal characters in the variable name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2my-first_name = "</a:t>
            </a:r>
            <a:r>
              <a:rPr lang="en-US" dirty="0" smtClean="0"/>
              <a:t>John“</a:t>
            </a:r>
          </a:p>
          <a:p>
            <a:r>
              <a:rPr lang="en-US" dirty="0"/>
              <a:t>Insert the correct syntax to assign the same value to all three variables in one code line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x </a:t>
            </a:r>
            <a:r>
              <a:rPr lang="en-US" dirty="0" smtClean="0"/>
              <a:t>   y    z    </a:t>
            </a:r>
            <a:r>
              <a:rPr lang="en-US" dirty="0"/>
              <a:t>"</a:t>
            </a:r>
            <a:r>
              <a:rPr lang="en-US" dirty="0" smtClean="0"/>
              <a:t>Orange“</a:t>
            </a:r>
          </a:p>
          <a:p>
            <a:r>
              <a:rPr lang="en-US" dirty="0"/>
              <a:t>Insert the correct keyword to make the variable x belong to the global scope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2772299" y="5654096"/>
            <a:ext cx="1974269" cy="774531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400" dirty="0" err="1">
                <a:solidFill>
                  <a:srgbClr val="000000"/>
                </a:solidFill>
                <a:latin typeface="Segoe UI" panose="020B0502040204020203" pitchFamily="34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Segoe UI" panose="020B0502040204020203" pitchFamily="34" charset="0"/>
              </a:rPr>
              <a:t>myfunc</a:t>
            </a:r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():</a:t>
            </a:r>
          </a:p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          x</a:t>
            </a:r>
            <a:endParaRPr lang="en-US" sz="1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  </a:t>
            </a:r>
            <a:r>
              <a:rPr lang="en-US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  x </a:t>
            </a:r>
            <a:r>
              <a:rPr lang="en-US" sz="1400" dirty="0">
                <a:solidFill>
                  <a:srgbClr val="000000"/>
                </a:solidFill>
                <a:latin typeface="Segoe UI" panose="020B0502040204020203" pitchFamily="34" charset="0"/>
              </a:rPr>
              <a:t>= "fantastic"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67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62793"/>
            <a:ext cx="11176615" cy="4478569"/>
          </a:xfrm>
        </p:spPr>
        <p:txBody>
          <a:bodyPr>
            <a:normAutofit/>
          </a:bodyPr>
          <a:lstStyle/>
          <a:p>
            <a:r>
              <a:rPr lang="en-GB" sz="2400" dirty="0"/>
              <a:t>Built-in Data </a:t>
            </a:r>
            <a:r>
              <a:rPr lang="en-GB" sz="2400" dirty="0" smtClean="0"/>
              <a:t>Types</a:t>
            </a:r>
            <a:endParaRPr lang="en-GB" sz="2400" dirty="0"/>
          </a:p>
          <a:p>
            <a:r>
              <a:rPr lang="en-GB" sz="2400" dirty="0" smtClean="0"/>
              <a:t>Python </a:t>
            </a:r>
            <a:r>
              <a:rPr lang="en-GB" sz="2400" dirty="0"/>
              <a:t>has the following data types built-in by default, in these categories:</a:t>
            </a:r>
          </a:p>
          <a:p>
            <a:pPr lvl="1"/>
            <a:r>
              <a:rPr lang="en-GB" sz="2000" dirty="0" smtClean="0"/>
              <a:t>Text </a:t>
            </a:r>
            <a:r>
              <a:rPr lang="en-GB" sz="2000" dirty="0"/>
              <a:t>Type:	</a:t>
            </a:r>
            <a:r>
              <a:rPr lang="en-GB" sz="2000" b="1" dirty="0" err="1"/>
              <a:t>str</a:t>
            </a:r>
            <a:endParaRPr lang="en-GB" sz="2000" b="1" dirty="0"/>
          </a:p>
          <a:p>
            <a:pPr lvl="1"/>
            <a:r>
              <a:rPr lang="en-GB" sz="2000" dirty="0"/>
              <a:t>Numeric Types:	</a:t>
            </a:r>
            <a:r>
              <a:rPr lang="en-GB" sz="2000" b="1" dirty="0" err="1"/>
              <a:t>int</a:t>
            </a:r>
            <a:r>
              <a:rPr lang="en-GB" sz="2000" b="1" dirty="0"/>
              <a:t>, float, complex</a:t>
            </a:r>
          </a:p>
          <a:p>
            <a:pPr lvl="1"/>
            <a:r>
              <a:rPr lang="en-GB" sz="2000" dirty="0"/>
              <a:t>Sequence Types:	</a:t>
            </a:r>
            <a:r>
              <a:rPr lang="en-GB" sz="2000" b="1" dirty="0"/>
              <a:t>list, tuple, range</a:t>
            </a:r>
          </a:p>
          <a:p>
            <a:pPr lvl="1"/>
            <a:r>
              <a:rPr lang="en-GB" sz="2000" dirty="0"/>
              <a:t>Mapping Type:	</a:t>
            </a:r>
            <a:r>
              <a:rPr lang="en-GB" sz="2000" b="1" dirty="0" err="1"/>
              <a:t>dict</a:t>
            </a:r>
            <a:endParaRPr lang="en-GB" sz="2000" b="1" dirty="0"/>
          </a:p>
          <a:p>
            <a:pPr lvl="1"/>
            <a:r>
              <a:rPr lang="en-GB" sz="2000" dirty="0"/>
              <a:t>Set Types:	</a:t>
            </a:r>
            <a:r>
              <a:rPr lang="en-GB" sz="2000" b="1" dirty="0"/>
              <a:t>set, </a:t>
            </a:r>
            <a:r>
              <a:rPr lang="en-GB" sz="2000" b="1" dirty="0" err="1"/>
              <a:t>frozenset</a:t>
            </a:r>
            <a:endParaRPr lang="en-GB" sz="2000" b="1" dirty="0"/>
          </a:p>
          <a:p>
            <a:pPr lvl="1"/>
            <a:r>
              <a:rPr lang="en-GB" sz="2000" dirty="0"/>
              <a:t>Boolean Type:	</a:t>
            </a:r>
            <a:r>
              <a:rPr lang="en-GB" sz="2000" b="1" dirty="0"/>
              <a:t>bool</a:t>
            </a:r>
          </a:p>
          <a:p>
            <a:pPr lvl="1"/>
            <a:r>
              <a:rPr lang="en-GB" sz="2000" dirty="0"/>
              <a:t>Binary Types:	</a:t>
            </a:r>
            <a:r>
              <a:rPr lang="en-GB" sz="2000" b="1" dirty="0"/>
              <a:t>bytes, </a:t>
            </a:r>
            <a:r>
              <a:rPr lang="en-GB" sz="2000" b="1" dirty="0" err="1"/>
              <a:t>bytearray</a:t>
            </a:r>
            <a:r>
              <a:rPr lang="en-GB" sz="2000" b="1" dirty="0"/>
              <a:t>, </a:t>
            </a:r>
            <a:r>
              <a:rPr lang="en-GB" sz="2000" b="1" dirty="0" err="1"/>
              <a:t>memoryview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2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4537462" cy="4478569"/>
          </a:xfrm>
        </p:spPr>
        <p:txBody>
          <a:bodyPr>
            <a:normAutofit/>
          </a:bodyPr>
          <a:lstStyle/>
          <a:p>
            <a:r>
              <a:rPr lang="en-GB" sz="2400" dirty="0"/>
              <a:t>Getting the Data Type</a:t>
            </a:r>
          </a:p>
          <a:p>
            <a:pPr lvl="1"/>
            <a:r>
              <a:rPr lang="en-GB" sz="2000" dirty="0"/>
              <a:t>You can get the data type of any object by using the </a:t>
            </a:r>
            <a:r>
              <a:rPr lang="en-GB" sz="2000" dirty="0">
                <a:solidFill>
                  <a:srgbClr val="FF0000"/>
                </a:solidFill>
              </a:rPr>
              <a:t>type() </a:t>
            </a:r>
            <a:r>
              <a:rPr lang="en-GB" sz="2000" dirty="0"/>
              <a:t>function</a:t>
            </a:r>
            <a:r>
              <a:rPr lang="en-GB" sz="2000" dirty="0" smtClean="0"/>
              <a:t>:</a:t>
            </a:r>
          </a:p>
          <a:p>
            <a:endParaRPr lang="en-GB" sz="2400" dirty="0" smtClean="0"/>
          </a:p>
          <a:p>
            <a:r>
              <a:rPr lang="en-GB" sz="2400" dirty="0" smtClean="0"/>
              <a:t>Setting </a:t>
            </a:r>
            <a:r>
              <a:rPr lang="en-GB" sz="2400" dirty="0"/>
              <a:t>the Data Type</a:t>
            </a:r>
          </a:p>
          <a:p>
            <a:pPr lvl="1"/>
            <a:r>
              <a:rPr lang="en-GB" sz="2000" dirty="0"/>
              <a:t>In Python, the data type is set when you assign a value to a variable: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5316322" y="588628"/>
            <a:ext cx="6055489" cy="603751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Verdana" panose="020B0604030504040204" pitchFamily="34" charset="0"/>
              </a:rPr>
              <a:t>Print the data type of the variable x: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 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type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(x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endParaRPr lang="en-GB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Example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"Hello World"	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20	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20.5	float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1j	complex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["apple", "banana", "cherry"]	list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("apple", "banana", "cherry")	tuple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range(6)	range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{"name" : "John", "age" : 36}	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dict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{"apple", "banana", "cherry"}	set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frozenset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({"apple", "banana", "cherry"})	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frozenset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True	bool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b"Hello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"	bytes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endParaRPr lang="en-GB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25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9056870" cy="4478569"/>
          </a:xfrm>
        </p:spPr>
        <p:txBody>
          <a:bodyPr>
            <a:normAutofit/>
          </a:bodyPr>
          <a:lstStyle/>
          <a:p>
            <a:r>
              <a:rPr lang="en-GB" sz="2000" dirty="0"/>
              <a:t>Setting the Specific Data Type</a:t>
            </a:r>
          </a:p>
          <a:p>
            <a:pPr lvl="1"/>
            <a:r>
              <a:rPr lang="en-GB" sz="1800" dirty="0"/>
              <a:t>If you want to specify the data type, you can use the following constructor functions: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1299322" y="3010993"/>
            <a:ext cx="6706680" cy="3144410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</a:t>
            </a:r>
            <a:r>
              <a:rPr lang="en-GB" sz="1400" dirty="0" err="1">
                <a:solidFill>
                  <a:srgbClr val="000000"/>
                </a:solidFill>
                <a:latin typeface="Segoe UI" panose="020B0502040204020203" pitchFamily="34" charset="0"/>
              </a:rPr>
              <a:t>str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("Hello World")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		</a:t>
            </a:r>
            <a:r>
              <a:rPr lang="en-GB" sz="1400" b="1" dirty="0" err="1" smtClean="0">
                <a:solidFill>
                  <a:srgbClr val="000000"/>
                </a:solidFill>
                <a:latin typeface="Segoe UI" panose="020B0502040204020203" pitchFamily="34" charset="0"/>
              </a:rPr>
              <a:t>str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</a:t>
            </a:r>
            <a:r>
              <a:rPr lang="en-GB" sz="1400" dirty="0" err="1">
                <a:solidFill>
                  <a:srgbClr val="000000"/>
                </a:solidFill>
                <a:latin typeface="Segoe UI" panose="020B0502040204020203" pitchFamily="34" charset="0"/>
              </a:rPr>
              <a:t>int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(20)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				</a:t>
            </a:r>
            <a:r>
              <a:rPr lang="en-GB" sz="1400" b="1" dirty="0" err="1" smtClean="0">
                <a:solidFill>
                  <a:srgbClr val="000000"/>
                </a:solidFill>
                <a:latin typeface="Segoe UI" panose="020B0502040204020203" pitchFamily="34" charset="0"/>
              </a:rPr>
              <a:t>int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float(20.5)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		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float</a:t>
            </a:r>
            <a:r>
              <a:rPr lang="en-GB" sz="1400" b="1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complex(1j)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		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complex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list(("apple", "banana", "cherry"))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list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tuple(("apple", "banana", "cherry"))</a:t>
            </a:r>
            <a:r>
              <a:rPr lang="en-GB" sz="1400" b="1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tuple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range(6)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		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range</a:t>
            </a:r>
            <a:r>
              <a:rPr lang="en-GB" sz="1400" b="1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</a:t>
            </a:r>
            <a:r>
              <a:rPr lang="en-GB" sz="1400" dirty="0" err="1">
                <a:solidFill>
                  <a:srgbClr val="000000"/>
                </a:solidFill>
                <a:latin typeface="Segoe UI" panose="020B0502040204020203" pitchFamily="34" charset="0"/>
              </a:rPr>
              <a:t>dict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(name="John", age=36)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</a:t>
            </a:r>
            <a:r>
              <a:rPr lang="en-GB" sz="1400" b="1" dirty="0" err="1" smtClean="0">
                <a:solidFill>
                  <a:srgbClr val="000000"/>
                </a:solidFill>
                <a:latin typeface="Segoe UI" panose="020B0502040204020203" pitchFamily="34" charset="0"/>
              </a:rPr>
              <a:t>dict</a:t>
            </a:r>
            <a:r>
              <a:rPr lang="en-GB" sz="1400" b="1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set(("apple", "banana", "cherry"))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set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</a:t>
            </a:r>
            <a:r>
              <a:rPr lang="en-GB" sz="1400" dirty="0" err="1">
                <a:solidFill>
                  <a:srgbClr val="000000"/>
                </a:solidFill>
                <a:latin typeface="Segoe UI" panose="020B0502040204020203" pitchFamily="34" charset="0"/>
              </a:rPr>
              <a:t>frozenset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(("apple", "banana", "cherry"))	</a:t>
            </a:r>
            <a:r>
              <a:rPr lang="en-GB" sz="1400" b="1" dirty="0" err="1">
                <a:solidFill>
                  <a:srgbClr val="000000"/>
                </a:solidFill>
                <a:latin typeface="Segoe UI" panose="020B0502040204020203" pitchFamily="34" charset="0"/>
              </a:rPr>
              <a:t>frozenset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bool(5)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			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bool</a:t>
            </a:r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	</a:t>
            </a:r>
          </a:p>
          <a:p>
            <a:r>
              <a:rPr lang="en-GB" sz="1400" dirty="0">
                <a:solidFill>
                  <a:srgbClr val="000000"/>
                </a:solidFill>
                <a:latin typeface="Segoe UI" panose="020B0502040204020203" pitchFamily="34" charset="0"/>
              </a:rPr>
              <a:t>x = bytes(5)	</a:t>
            </a:r>
            <a:r>
              <a:rPr lang="en-GB" sz="14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					</a:t>
            </a:r>
            <a:r>
              <a:rPr lang="en-GB" sz="1400" b="1" dirty="0" smtClean="0">
                <a:solidFill>
                  <a:srgbClr val="000000"/>
                </a:solidFill>
                <a:latin typeface="Segoe UI" panose="020B0502040204020203" pitchFamily="34" charset="0"/>
              </a:rPr>
              <a:t>bytes</a:t>
            </a:r>
            <a:endParaRPr lang="en-GB" sz="14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965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62793"/>
            <a:ext cx="5914660" cy="4478569"/>
          </a:xfrm>
        </p:spPr>
        <p:txBody>
          <a:bodyPr>
            <a:normAutofit/>
          </a:bodyPr>
          <a:lstStyle/>
          <a:p>
            <a:r>
              <a:rPr lang="en-GB" sz="2000" b="1" dirty="0"/>
              <a:t>Strings</a:t>
            </a:r>
            <a:r>
              <a:rPr lang="en-GB" sz="2000" dirty="0"/>
              <a:t> in python are surrounded by either </a:t>
            </a:r>
            <a:r>
              <a:rPr lang="en-GB" sz="2000" b="1" dirty="0"/>
              <a:t>single quotation</a:t>
            </a:r>
            <a:r>
              <a:rPr lang="en-GB" sz="2000" dirty="0"/>
              <a:t> marks, or </a:t>
            </a:r>
            <a:r>
              <a:rPr lang="en-GB" sz="2000" b="1" dirty="0"/>
              <a:t>double quotation </a:t>
            </a:r>
            <a:r>
              <a:rPr lang="en-GB" sz="2000" dirty="0"/>
              <a:t>marks.</a:t>
            </a:r>
          </a:p>
          <a:p>
            <a:pPr lvl="1"/>
            <a:r>
              <a:rPr lang="en-GB" sz="1800" dirty="0" smtClean="0"/>
              <a:t>'hello</a:t>
            </a:r>
            <a:r>
              <a:rPr lang="en-GB" sz="1800" dirty="0"/>
              <a:t>' is the same as "hello".</a:t>
            </a:r>
          </a:p>
          <a:p>
            <a:pPr lvl="1"/>
            <a:r>
              <a:rPr lang="en-GB" sz="1800" dirty="0" smtClean="0"/>
              <a:t>You </a:t>
            </a:r>
            <a:r>
              <a:rPr lang="en-GB" sz="1800" dirty="0"/>
              <a:t>can display a string literal with the </a:t>
            </a:r>
            <a:r>
              <a:rPr lang="en-GB" sz="1800" dirty="0">
                <a:solidFill>
                  <a:srgbClr val="FF0000"/>
                </a:solidFill>
              </a:rPr>
              <a:t>print()</a:t>
            </a:r>
            <a:r>
              <a:rPr lang="en-GB" sz="1800" dirty="0"/>
              <a:t> function</a:t>
            </a:r>
            <a:r>
              <a:rPr lang="en-GB" sz="1800" dirty="0" smtClean="0"/>
              <a:t>:</a:t>
            </a:r>
          </a:p>
          <a:p>
            <a:r>
              <a:rPr lang="en-GB" sz="2000" dirty="0"/>
              <a:t>You can assign a </a:t>
            </a:r>
            <a:r>
              <a:rPr lang="en-GB" sz="2000" b="1" dirty="0"/>
              <a:t>multiline string </a:t>
            </a:r>
            <a:r>
              <a:rPr lang="en-GB" sz="2000" dirty="0"/>
              <a:t>to a variable by using </a:t>
            </a:r>
            <a:r>
              <a:rPr lang="en-GB" sz="2000" b="1" dirty="0"/>
              <a:t>three quotes</a:t>
            </a:r>
            <a:r>
              <a:rPr lang="en-GB" sz="2000" dirty="0" smtClean="0"/>
              <a:t>:</a:t>
            </a:r>
          </a:p>
          <a:p>
            <a:r>
              <a:rPr lang="en-US" sz="2000" dirty="0"/>
              <a:t>Or </a:t>
            </a:r>
            <a:r>
              <a:rPr lang="en-US" sz="2000" b="1" dirty="0"/>
              <a:t>three single quotes</a:t>
            </a:r>
            <a:r>
              <a:rPr lang="en-US" sz="2000" dirty="0"/>
              <a:t>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6705308" y="834849"/>
            <a:ext cx="5506849" cy="5206513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"Hello"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'Hello</a:t>
            </a:r>
            <a:r>
              <a:rPr lang="en-GB" dirty="0" smtClean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"""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Lorem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ipsum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dolor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sit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amet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,</a:t>
            </a:r>
            <a:b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consectetur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adipiscing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elit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,</a:t>
            </a:r>
            <a:b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sed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do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eiusmod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tempor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incididunt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/>
            </a:r>
            <a:b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ut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labore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et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dolore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magna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aliqua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."""</a:t>
            </a:r>
            <a:r>
              <a:rPr lang="en-GB" dirty="0"/>
              <a:t/>
            </a:r>
            <a:br>
              <a:rPr lang="en-GB" dirty="0"/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(a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en-GB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'''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Lorem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ipsum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dolor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sit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amet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,</a:t>
            </a:r>
            <a:b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consectetur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adipiscing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elit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,</a:t>
            </a:r>
            <a:b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sed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do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eiusmod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tempor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incididunt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/>
            </a:r>
            <a:b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</a:b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ut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labore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et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dolore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 magna </a:t>
            </a:r>
            <a:r>
              <a:rPr lang="en-GB" dirty="0" err="1">
                <a:solidFill>
                  <a:srgbClr val="A52A2A"/>
                </a:solidFill>
                <a:latin typeface="Consolas" panose="020B0609020204030204" pitchFamily="49" charset="0"/>
              </a:rPr>
              <a:t>aliqua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.'''</a:t>
            </a:r>
            <a:r>
              <a:rPr lang="en-GB" dirty="0"/>
              <a:t/>
            </a:r>
            <a:br>
              <a:rPr lang="en-GB" dirty="0"/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(a)</a:t>
            </a:r>
          </a:p>
          <a:p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65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5856470" cy="4478569"/>
          </a:xfrm>
        </p:spPr>
        <p:txBody>
          <a:bodyPr>
            <a:normAutofit/>
          </a:bodyPr>
          <a:lstStyle/>
          <a:p>
            <a:r>
              <a:rPr lang="en-GB" b="1" dirty="0" smtClean="0"/>
              <a:t>Slicing</a:t>
            </a:r>
            <a:r>
              <a:rPr lang="en-GB" dirty="0" smtClean="0"/>
              <a:t>: You </a:t>
            </a:r>
            <a:r>
              <a:rPr lang="en-GB" dirty="0"/>
              <a:t>can return </a:t>
            </a:r>
            <a:r>
              <a:rPr lang="en-GB" b="1" dirty="0"/>
              <a:t>a range of characters</a:t>
            </a:r>
            <a:r>
              <a:rPr lang="en-GB" dirty="0"/>
              <a:t> by using the slice syntax.</a:t>
            </a:r>
          </a:p>
          <a:p>
            <a:r>
              <a:rPr lang="en-GB" b="1" dirty="0" smtClean="0"/>
              <a:t>Specify</a:t>
            </a:r>
            <a:r>
              <a:rPr lang="en-GB" dirty="0" smtClean="0"/>
              <a:t> </a:t>
            </a:r>
            <a:r>
              <a:rPr lang="en-GB" dirty="0"/>
              <a:t>the </a:t>
            </a:r>
            <a:r>
              <a:rPr lang="en-GB" b="1" dirty="0"/>
              <a:t>start index</a:t>
            </a:r>
            <a:r>
              <a:rPr lang="en-GB" dirty="0"/>
              <a:t> and the </a:t>
            </a:r>
            <a:r>
              <a:rPr lang="en-GB" b="1" dirty="0"/>
              <a:t>end index</a:t>
            </a:r>
            <a:r>
              <a:rPr lang="en-GB" dirty="0"/>
              <a:t>, separated by a colon, to return a part of the string</a:t>
            </a:r>
            <a:r>
              <a:rPr lang="en-GB" dirty="0" smtClean="0"/>
              <a:t>.</a:t>
            </a:r>
          </a:p>
          <a:p>
            <a:r>
              <a:rPr lang="en-GB" dirty="0"/>
              <a:t>By leaving out the start index, the range will start at the first character</a:t>
            </a:r>
            <a:r>
              <a:rPr lang="en-GB" dirty="0" smtClean="0"/>
              <a:t>:</a:t>
            </a:r>
          </a:p>
          <a:p>
            <a:r>
              <a:rPr lang="en-GB" dirty="0"/>
              <a:t>By leaving out the end index, the range will go to the end</a:t>
            </a:r>
            <a:r>
              <a:rPr lang="en-GB" dirty="0" smtClean="0"/>
              <a:t>:</a:t>
            </a:r>
          </a:p>
          <a:p>
            <a:r>
              <a:rPr lang="en-GB" dirty="0"/>
              <a:t>Use </a:t>
            </a:r>
            <a:r>
              <a:rPr lang="en-GB" b="1" dirty="0"/>
              <a:t>negative indexes</a:t>
            </a:r>
            <a:r>
              <a:rPr lang="en-GB" dirty="0"/>
              <a:t> to start the slice from the end of the string</a:t>
            </a:r>
            <a:r>
              <a:rPr lang="en-GB" dirty="0" smtClean="0"/>
              <a:t>:</a:t>
            </a:r>
          </a:p>
          <a:p>
            <a:r>
              <a:rPr lang="en-GB" dirty="0" smtClean="0"/>
              <a:t>For more string method :</a:t>
            </a:r>
          </a:p>
          <a:p>
            <a:pPr lvl="1"/>
            <a:r>
              <a:rPr lang="en-GB" dirty="0" smtClean="0">
                <a:hlinkClick r:id="rId2"/>
              </a:rPr>
              <a:t>String Methods link of W3schools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6771049" y="1147503"/>
            <a:ext cx="4284878" cy="5175735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20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GB" sz="2000" dirty="0">
                <a:solidFill>
                  <a:srgbClr val="A52A2A"/>
                </a:solidFill>
                <a:latin typeface="Consolas" panose="020B0609020204030204" pitchFamily="49" charset="0"/>
              </a:rPr>
              <a:t>"Hello, World!"</a:t>
            </a:r>
            <a:r>
              <a:rPr lang="en-GB" sz="2000" dirty="0"/>
              <a:t/>
            </a:r>
            <a:br>
              <a:rPr lang="en-GB" sz="2000" dirty="0"/>
            </a:br>
            <a:r>
              <a:rPr lang="en-GB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(b[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GB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sz="20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20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GB" sz="2000" dirty="0">
                <a:solidFill>
                  <a:srgbClr val="A52A2A"/>
                </a:solidFill>
                <a:latin typeface="Consolas" panose="020B0609020204030204" pitchFamily="49" charset="0"/>
              </a:rPr>
              <a:t>"Hello, World!"</a:t>
            </a:r>
            <a:r>
              <a:rPr lang="en-GB" sz="2000" dirty="0"/>
              <a:t/>
            </a:r>
            <a:br>
              <a:rPr lang="en-GB" sz="2000" dirty="0"/>
            </a:br>
            <a:r>
              <a:rPr lang="en-GB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(b[: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GB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sz="20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20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 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GB" sz="2000" dirty="0">
                <a:solidFill>
                  <a:srgbClr val="A52A2A"/>
                </a:solidFill>
                <a:latin typeface="Consolas" panose="020B0609020204030204" pitchFamily="49" charset="0"/>
              </a:rPr>
              <a:t>"Hello, World!"</a:t>
            </a:r>
            <a:r>
              <a:rPr lang="en-GB" sz="2000" dirty="0"/>
              <a:t/>
            </a:r>
            <a:br>
              <a:rPr lang="en-GB" sz="2000" dirty="0"/>
            </a:br>
            <a:r>
              <a:rPr lang="en-GB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(b[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:])</a:t>
            </a:r>
          </a:p>
          <a:p>
            <a:endParaRPr lang="en-GB" sz="2000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2000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  <a:endParaRPr lang="en-GB" sz="20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 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GB" sz="2000" dirty="0">
                <a:solidFill>
                  <a:srgbClr val="A52A2A"/>
                </a:solidFill>
                <a:latin typeface="Consolas" panose="020B0609020204030204" pitchFamily="49" charset="0"/>
              </a:rPr>
              <a:t>"Hello, World!"</a:t>
            </a:r>
            <a:r>
              <a:rPr lang="en-GB" sz="2000" dirty="0"/>
              <a:t/>
            </a:r>
            <a:br>
              <a:rPr lang="en-GB" sz="2000" dirty="0"/>
            </a:br>
            <a:r>
              <a:rPr lang="en-GB" sz="2000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(b[-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:-</a:t>
            </a:r>
            <a:r>
              <a:rPr lang="en-GB" sz="20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609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Strings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5445322" cy="4478569"/>
          </a:xfrm>
        </p:spPr>
        <p:txBody>
          <a:bodyPr>
            <a:normAutofit/>
          </a:bodyPr>
          <a:lstStyle/>
          <a:p>
            <a:r>
              <a:rPr lang="en-GB" sz="2000" dirty="0"/>
              <a:t>String </a:t>
            </a:r>
            <a:r>
              <a:rPr lang="en-GB" sz="2000" b="1" dirty="0"/>
              <a:t>Concatenation</a:t>
            </a:r>
          </a:p>
          <a:p>
            <a:r>
              <a:rPr lang="en-GB" sz="2000" dirty="0"/>
              <a:t>To concatenate, or combine, two strings you can use the </a:t>
            </a:r>
            <a:r>
              <a:rPr lang="en-GB" sz="2000" b="1" dirty="0">
                <a:solidFill>
                  <a:srgbClr val="FF0000"/>
                </a:solidFill>
              </a:rPr>
              <a:t>+ </a:t>
            </a:r>
            <a:r>
              <a:rPr lang="en-GB" sz="2000" dirty="0"/>
              <a:t>operator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But we can combine strings and numbers by using the </a:t>
            </a:r>
            <a:r>
              <a:rPr lang="en-GB" sz="2000" dirty="0">
                <a:solidFill>
                  <a:srgbClr val="FF0000"/>
                </a:solidFill>
              </a:rPr>
              <a:t>format() </a:t>
            </a:r>
            <a:r>
              <a:rPr lang="en-GB" sz="2000" dirty="0"/>
              <a:t>method!</a:t>
            </a:r>
          </a:p>
          <a:p>
            <a:r>
              <a:rPr lang="en-GB" sz="2000" dirty="0" smtClean="0"/>
              <a:t>The </a:t>
            </a:r>
            <a:r>
              <a:rPr lang="en-GB" sz="2000" dirty="0">
                <a:solidFill>
                  <a:srgbClr val="FF0000"/>
                </a:solidFill>
              </a:rPr>
              <a:t>format() </a:t>
            </a:r>
            <a:r>
              <a:rPr lang="en-GB" sz="2000" dirty="0"/>
              <a:t>method takes the passed arguments, formats them, and places them in the string where the placeholders </a:t>
            </a:r>
            <a:r>
              <a:rPr lang="en-GB" sz="2000" dirty="0">
                <a:solidFill>
                  <a:srgbClr val="FF0000"/>
                </a:solidFill>
              </a:rPr>
              <a:t>{}</a:t>
            </a:r>
            <a:r>
              <a:rPr lang="en-GB" sz="2000" dirty="0"/>
              <a:t> are: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Rectangle 20"/>
          <p:cNvSpPr>
            <a:spLocks noChangeArrowheads="1"/>
          </p:cNvSpPr>
          <p:nvPr/>
        </p:nvSpPr>
        <p:spPr bwMode="auto">
          <a:xfrm>
            <a:off x="6122656" y="93506"/>
            <a:ext cx="6005613" cy="6714618"/>
          </a:xfrm>
          <a:prstGeom prst="rect">
            <a:avLst/>
          </a:prstGeom>
          <a:solidFill>
            <a:srgbClr val="E7E9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GB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"Hello"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GB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"World"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 = a + b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(c)</a:t>
            </a:r>
          </a:p>
          <a:p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 = </a:t>
            </a:r>
            <a:r>
              <a:rPr lang="en-GB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"Hello"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b = </a:t>
            </a:r>
            <a:r>
              <a:rPr lang="en-GB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"World"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 = a + </a:t>
            </a:r>
            <a:r>
              <a:rPr lang="en-GB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 "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+ b</a:t>
            </a:r>
            <a:b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(c)</a:t>
            </a:r>
          </a:p>
          <a:p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age = </a:t>
            </a:r>
            <a:r>
              <a:rPr lang="en-GB" dirty="0" smtClean="0">
                <a:solidFill>
                  <a:srgbClr val="FF0000"/>
                </a:solidFill>
                <a:latin typeface="Consolas" panose="020B0609020204030204" pitchFamily="49" charset="0"/>
              </a:rPr>
              <a:t>36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txt = </a:t>
            </a:r>
            <a:r>
              <a:rPr lang="en-GB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"My name is John, and I am {}"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txt.</a:t>
            </a:r>
            <a:r>
              <a:rPr lang="en-GB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format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(age))</a:t>
            </a:r>
          </a:p>
          <a:p>
            <a:endParaRPr lang="en-GB" dirty="0" smtClean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quantity = 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GB" dirty="0"/>
              <a:t/>
            </a:r>
            <a:br>
              <a:rPr lang="en-GB" dirty="0"/>
            </a:b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itemno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567</a:t>
            </a:r>
            <a:r>
              <a:rPr lang="en-GB" dirty="0"/>
              <a:t/>
            </a:r>
            <a:br>
              <a:rPr lang="en-GB" dirty="0"/>
            </a:b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price = 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49.95</a:t>
            </a:r>
            <a:r>
              <a:rPr lang="en-GB" dirty="0"/>
              <a:t/>
            </a:r>
            <a:br>
              <a:rPr lang="en-GB" dirty="0"/>
            </a:b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myorder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GB" dirty="0">
                <a:solidFill>
                  <a:srgbClr val="A52A2A"/>
                </a:solidFill>
                <a:latin typeface="Consolas" panose="020B0609020204030204" pitchFamily="49" charset="0"/>
              </a:rPr>
              <a:t>"I want {} pieces of item {} for {} dollars."</a:t>
            </a:r>
            <a:r>
              <a:rPr lang="en-GB" dirty="0"/>
              <a:t/>
            </a:r>
            <a:br>
              <a:rPr lang="en-GB" dirty="0"/>
            </a:br>
            <a:r>
              <a:rPr lang="en-GB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myorder.</a:t>
            </a:r>
            <a:r>
              <a:rPr lang="en-GB" dirty="0" err="1">
                <a:solidFill>
                  <a:srgbClr val="0000CD"/>
                </a:solidFill>
                <a:latin typeface="Consolas" panose="020B0609020204030204" pitchFamily="49" charset="0"/>
              </a:rPr>
              <a:t>format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(quantity, 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itemno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 price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195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Escape </a:t>
            </a:r>
            <a:r>
              <a:rPr lang="fr-FR" dirty="0" err="1"/>
              <a:t>Characters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4537462" cy="4478569"/>
          </a:xfrm>
        </p:spPr>
        <p:txBody>
          <a:bodyPr>
            <a:normAutofit/>
          </a:bodyPr>
          <a:lstStyle/>
          <a:p>
            <a:r>
              <a:rPr lang="en-GB" b="1" dirty="0"/>
              <a:t>Escape</a:t>
            </a:r>
            <a:r>
              <a:rPr lang="en-GB" dirty="0"/>
              <a:t> Characters</a:t>
            </a:r>
          </a:p>
          <a:p>
            <a:r>
              <a:rPr lang="en-GB" dirty="0"/>
              <a:t>Other escape characters used in Python:</a:t>
            </a:r>
          </a:p>
          <a:p>
            <a:r>
              <a:rPr lang="en-GB" dirty="0" smtClean="0"/>
              <a:t>\'</a:t>
            </a:r>
            <a:r>
              <a:rPr lang="en-GB" dirty="0"/>
              <a:t>	</a:t>
            </a:r>
            <a:r>
              <a:rPr lang="en-GB" dirty="0" smtClean="0"/>
              <a:t>Single </a:t>
            </a:r>
            <a:r>
              <a:rPr lang="en-GB" dirty="0"/>
              <a:t>Quote	</a:t>
            </a:r>
          </a:p>
          <a:p>
            <a:r>
              <a:rPr lang="en-GB" dirty="0"/>
              <a:t>\\	Backslash	</a:t>
            </a:r>
          </a:p>
          <a:p>
            <a:r>
              <a:rPr lang="en-GB" dirty="0"/>
              <a:t>\n	New Line	</a:t>
            </a:r>
          </a:p>
          <a:p>
            <a:r>
              <a:rPr lang="en-GB" dirty="0"/>
              <a:t>\r	Carriage Return	</a:t>
            </a:r>
          </a:p>
          <a:p>
            <a:r>
              <a:rPr lang="en-GB" dirty="0"/>
              <a:t>\t	Tab	</a:t>
            </a:r>
          </a:p>
          <a:p>
            <a:r>
              <a:rPr lang="en-GB" dirty="0"/>
              <a:t>\b	Backspace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50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 smtClean="0"/>
              <a:t>Arithmatic</a:t>
            </a:r>
            <a:r>
              <a:rPr lang="fr-FR" dirty="0" smtClean="0"/>
              <a:t> </a:t>
            </a:r>
            <a:r>
              <a:rPr lang="fr-FR" dirty="0" err="1" smtClean="0"/>
              <a:t>Operators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2793"/>
            <a:ext cx="4537462" cy="447856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38901" y="5164050"/>
            <a:ext cx="5145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545359"/>
              </p:ext>
            </p:extLst>
          </p:nvPr>
        </p:nvGraphicFramePr>
        <p:xfrm>
          <a:off x="805757" y="1562794"/>
          <a:ext cx="5550902" cy="4522348"/>
        </p:xfrm>
        <a:graphic>
          <a:graphicData uri="http://schemas.openxmlformats.org/drawingml/2006/table">
            <a:tbl>
              <a:tblPr/>
              <a:tblGrid>
                <a:gridCol w="1542331"/>
                <a:gridCol w="2158831"/>
                <a:gridCol w="1849740"/>
              </a:tblGrid>
              <a:tr h="591074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Operator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Name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Example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074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+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Addition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+ y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91074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-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Subtraction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x - y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074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*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Multiplication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x * y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91074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/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Division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/ y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1074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%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Modulus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% y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91074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**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Exponentiation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** y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715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//</a:t>
                      </a:r>
                    </a:p>
                  </a:txBody>
                  <a:tcPr marL="80030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Floor division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x // y</a:t>
                      </a:r>
                    </a:p>
                  </a:txBody>
                  <a:tcPr marL="40015" marR="40015" marT="40015" marB="4001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873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 smtClean="0"/>
              <a:t>Assignment</a:t>
            </a:r>
            <a:r>
              <a:rPr lang="fr-FR" dirty="0" smtClean="0"/>
              <a:t> </a:t>
            </a:r>
            <a:r>
              <a:rPr lang="fr-FR" dirty="0" err="1" smtClean="0"/>
              <a:t>Operators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069639"/>
              </p:ext>
            </p:extLst>
          </p:nvPr>
        </p:nvGraphicFramePr>
        <p:xfrm>
          <a:off x="1575073" y="1362590"/>
          <a:ext cx="8078885" cy="5299076"/>
        </p:xfrm>
        <a:graphic>
          <a:graphicData uri="http://schemas.openxmlformats.org/drawingml/2006/table">
            <a:tbl>
              <a:tblPr/>
              <a:tblGrid>
                <a:gridCol w="3107357"/>
                <a:gridCol w="2485764"/>
                <a:gridCol w="2485764"/>
              </a:tblGrid>
              <a:tr h="278409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Operator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Example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Same As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5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5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+=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+=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+ 3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-=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-=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- 3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*=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*=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*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/=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/=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/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%=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%=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%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//=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//=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//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**=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**=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**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&amp;=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&amp;=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&amp;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|=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|=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|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^=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^=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^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8700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&gt;&gt;=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&gt;&gt;=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= x &gt;&gt;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409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&lt;&lt;=</a:t>
                      </a:r>
                    </a:p>
                  </a:txBody>
                  <a:tcPr marL="53206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&lt;&lt;=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x = x &lt;&lt; 3</a:t>
                      </a:r>
                    </a:p>
                  </a:txBody>
                  <a:tcPr marL="26603" marR="26603" marT="26603" marB="26603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416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 smtClean="0"/>
              <a:t>Comparison</a:t>
            </a:r>
            <a:r>
              <a:rPr lang="fr-FR" dirty="0" smtClean="0"/>
              <a:t> </a:t>
            </a:r>
            <a:r>
              <a:rPr lang="fr-FR" dirty="0" err="1" smtClean="0"/>
              <a:t>Operators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387244"/>
              </p:ext>
            </p:extLst>
          </p:nvPr>
        </p:nvGraphicFramePr>
        <p:xfrm>
          <a:off x="1267085" y="1762236"/>
          <a:ext cx="7487615" cy="4412226"/>
        </p:xfrm>
        <a:graphic>
          <a:graphicData uri="http://schemas.openxmlformats.org/drawingml/2006/table">
            <a:tbl>
              <a:tblPr/>
              <a:tblGrid>
                <a:gridCol w="2080959"/>
                <a:gridCol w="2910709"/>
                <a:gridCol w="2495947"/>
              </a:tblGrid>
              <a:tr h="63031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Operator</a:t>
                      </a:r>
                    </a:p>
                  </a:txBody>
                  <a:tcPr marL="86639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Name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Example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31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==</a:t>
                      </a:r>
                    </a:p>
                  </a:txBody>
                  <a:tcPr marL="86639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Equal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== y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63031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!=</a:t>
                      </a:r>
                    </a:p>
                  </a:txBody>
                  <a:tcPr marL="86639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Not equal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!= y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31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&gt;</a:t>
                      </a:r>
                    </a:p>
                  </a:txBody>
                  <a:tcPr marL="86639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Greater than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&gt; y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63031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&lt;</a:t>
                      </a:r>
                    </a:p>
                  </a:txBody>
                  <a:tcPr marL="86639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Less than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&lt; y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31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&gt;=</a:t>
                      </a:r>
                    </a:p>
                  </a:txBody>
                  <a:tcPr marL="86639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Greater than or equal to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&gt;= y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63031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&lt;=</a:t>
                      </a:r>
                    </a:p>
                  </a:txBody>
                  <a:tcPr marL="86639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Less than or equal to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x &lt;= y</a:t>
                      </a:r>
                    </a:p>
                  </a:txBody>
                  <a:tcPr marL="43320" marR="43320" marT="43320" marB="433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102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 smtClean="0"/>
              <a:t>Logical</a:t>
            </a:r>
            <a:r>
              <a:rPr lang="fr-FR" dirty="0" smtClean="0"/>
              <a:t> </a:t>
            </a:r>
            <a:r>
              <a:rPr lang="fr-FR" dirty="0" err="1" smtClean="0"/>
              <a:t>Operators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253139"/>
              </p:ext>
            </p:extLst>
          </p:nvPr>
        </p:nvGraphicFramePr>
        <p:xfrm>
          <a:off x="1628455" y="1930400"/>
          <a:ext cx="6794521" cy="4264363"/>
        </p:xfrm>
        <a:graphic>
          <a:graphicData uri="http://schemas.openxmlformats.org/drawingml/2006/table">
            <a:tbl>
              <a:tblPr/>
              <a:tblGrid>
                <a:gridCol w="1887972"/>
                <a:gridCol w="2642101"/>
                <a:gridCol w="2264448"/>
              </a:tblGrid>
              <a:tr h="64124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Operator</a:t>
                      </a:r>
                    </a:p>
                  </a:txBody>
                  <a:tcPr marL="99269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Description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Example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7705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and </a:t>
                      </a:r>
                    </a:p>
                  </a:txBody>
                  <a:tcPr marL="99269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Returns True if both statements are true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&lt; 5 and  x &lt; 10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207705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or</a:t>
                      </a:r>
                    </a:p>
                  </a:txBody>
                  <a:tcPr marL="99269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Returns True if one of the statements is true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&lt; 5 or x &lt; 4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7705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not</a:t>
                      </a:r>
                    </a:p>
                  </a:txBody>
                  <a:tcPr marL="99269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Reverse the result, returns False if the result is true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not(x &lt; 5 and x &lt; 10)</a:t>
                      </a:r>
                    </a:p>
                  </a:txBody>
                  <a:tcPr marL="49635" marR="49635" marT="49635" marB="49635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137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 smtClean="0"/>
              <a:t>Identity</a:t>
            </a:r>
            <a:r>
              <a:rPr lang="fr-FR" dirty="0" smtClean="0"/>
              <a:t> </a:t>
            </a:r>
            <a:r>
              <a:rPr lang="fr-FR" dirty="0" err="1" smtClean="0"/>
              <a:t>Operators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329787"/>
              </p:ext>
            </p:extLst>
          </p:nvPr>
        </p:nvGraphicFramePr>
        <p:xfrm>
          <a:off x="1035689" y="2224221"/>
          <a:ext cx="7501728" cy="3072055"/>
        </p:xfrm>
        <a:graphic>
          <a:graphicData uri="http://schemas.openxmlformats.org/drawingml/2006/table">
            <a:tbl>
              <a:tblPr/>
              <a:tblGrid>
                <a:gridCol w="2084482"/>
                <a:gridCol w="2917104"/>
                <a:gridCol w="2500142"/>
              </a:tblGrid>
              <a:tr h="416359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Operator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Description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Example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784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is 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Returns True if both variables are the same object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x is y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327848"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is not</a:t>
                      </a:r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>
                          <a:effectLst/>
                        </a:rPr>
                        <a:t>Returns True if both variables are not the same object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000" dirty="0">
                          <a:effectLst/>
                        </a:rPr>
                        <a:t>x is no</a:t>
                      </a: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808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 smtClean="0"/>
              <a:t>bitwise</a:t>
            </a:r>
            <a:r>
              <a:rPr lang="fr-FR" dirty="0" smtClean="0"/>
              <a:t> </a:t>
            </a:r>
            <a:r>
              <a:rPr lang="fr-FR" dirty="0" err="1" smtClean="0"/>
              <a:t>Operators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945410"/>
              </p:ext>
            </p:extLst>
          </p:nvPr>
        </p:nvGraphicFramePr>
        <p:xfrm>
          <a:off x="677334" y="1730386"/>
          <a:ext cx="8267489" cy="4885127"/>
        </p:xfrm>
        <a:graphic>
          <a:graphicData uri="http://schemas.openxmlformats.org/drawingml/2006/table">
            <a:tbl>
              <a:tblPr/>
              <a:tblGrid>
                <a:gridCol w="1140693"/>
                <a:gridCol w="1347315"/>
                <a:gridCol w="3114911"/>
                <a:gridCol w="2664570"/>
              </a:tblGrid>
              <a:tr h="51994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Operator</a:t>
                      </a:r>
                    </a:p>
                  </a:txBody>
                  <a:tcPr marL="4857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Name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Description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Example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994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&amp; </a:t>
                      </a:r>
                    </a:p>
                  </a:txBody>
                  <a:tcPr marL="4857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AND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Sets each bit to 1 if both bits are 1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&amp; y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1994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|</a:t>
                      </a:r>
                    </a:p>
                  </a:txBody>
                  <a:tcPr marL="4857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OR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Sets each bit to 1 if one of two bits is 1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| y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96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^</a:t>
                      </a:r>
                    </a:p>
                  </a:txBody>
                  <a:tcPr marL="4857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XOR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Sets each bit to 1 if only one of two bits is 1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^ y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6493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~</a:t>
                      </a:r>
                    </a:p>
                  </a:txBody>
                  <a:tcPr marL="4857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NOT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Inverts all the bits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~x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4992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&lt;&lt;</a:t>
                      </a:r>
                    </a:p>
                  </a:txBody>
                  <a:tcPr marL="4857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Zero fill left shift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Shift left by pushing zeros in from the right and let the leftmost bits fall off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x &lt;&lt; 2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1140007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&gt;&gt;</a:t>
                      </a:r>
                    </a:p>
                  </a:txBody>
                  <a:tcPr marL="4857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Signed right shift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Shift right by pushing copies of the leftmost bit in from the left, and let the rightmost bits fall off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x &gt;&gt; 2</a:t>
                      </a:r>
                    </a:p>
                  </a:txBody>
                  <a:tcPr marL="24289" marR="24289" marT="24289" marB="2428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654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</a:t>
            </a:r>
            <a:r>
              <a:rPr lang="fr-FR" dirty="0" err="1" smtClean="0"/>
              <a:t>Operators</a:t>
            </a:r>
            <a:r>
              <a:rPr lang="fr-FR" dirty="0" smtClean="0"/>
              <a:t>’ </a:t>
            </a:r>
            <a:r>
              <a:rPr lang="fr-FR" dirty="0" err="1" smtClean="0"/>
              <a:t>Precedence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7818311"/>
              </p:ext>
            </p:extLst>
          </p:nvPr>
        </p:nvGraphicFramePr>
        <p:xfrm>
          <a:off x="516048" y="1548139"/>
          <a:ext cx="8664165" cy="5098472"/>
        </p:xfrm>
        <a:graphic>
          <a:graphicData uri="http://schemas.openxmlformats.org/drawingml/2006/table">
            <a:tbl>
              <a:tblPr/>
              <a:tblGrid>
                <a:gridCol w="2408198"/>
                <a:gridCol w="6255967"/>
              </a:tblGrid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Operator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Description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()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Parentheses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**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Exponentiation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+x  -x  ~x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Unary plus, unary minus, and bitwise NOT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*  /  //  %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Multiplication, division, floor division, and modulus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+  -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Addition and subtraction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&lt;&lt;  &gt;&gt;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Bitwise left and right shifts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&amp;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Bitwise AND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^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Bitwise XOR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|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Bitwise OR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506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==  !=  &gt;  &gt;=  &lt;  &lt;=  is  </a:t>
                      </a:r>
                      <a:r>
                        <a:rPr lang="en-GB" sz="1800" dirty="0" err="1">
                          <a:effectLst/>
                        </a:rPr>
                        <a:t>is</a:t>
                      </a:r>
                      <a:r>
                        <a:rPr lang="en-GB" sz="1800" dirty="0">
                          <a:effectLst/>
                        </a:rPr>
                        <a:t> not  in  not in 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Comparisons, identity, and membership operators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not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Logical NOT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  <a:tr h="349483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and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AND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2045"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>
                          <a:effectLst/>
                        </a:rPr>
                        <a:t>or</a:t>
                      </a:r>
                    </a:p>
                  </a:txBody>
                  <a:tcPr marL="40857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800" dirty="0">
                          <a:effectLst/>
                        </a:rPr>
                        <a:t>OR</a:t>
                      </a:r>
                    </a:p>
                  </a:txBody>
                  <a:tcPr marL="20429" marR="20429" marT="20429" marB="20429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052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Summary</a:t>
            </a:r>
            <a:r>
              <a:rPr lang="fr-FR" dirty="0"/>
              <a:t/>
            </a:r>
            <a:br>
              <a:rPr lang="fr-FR" dirty="0"/>
            </a:b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274002" y="28263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 this lecture we learned following concepts:</a:t>
            </a:r>
          </a:p>
          <a:p>
            <a:pPr lvl="1"/>
            <a:r>
              <a:rPr lang="en-GB" dirty="0" smtClean="0"/>
              <a:t>Python </a:t>
            </a:r>
            <a:r>
              <a:rPr lang="en-GB" b="1" dirty="0" smtClean="0"/>
              <a:t>syntax</a:t>
            </a:r>
          </a:p>
          <a:p>
            <a:pPr lvl="1"/>
            <a:r>
              <a:rPr lang="en-GB" b="1" dirty="0" smtClean="0"/>
              <a:t>Assigning</a:t>
            </a:r>
            <a:r>
              <a:rPr lang="en-GB" dirty="0" smtClean="0"/>
              <a:t> variables</a:t>
            </a:r>
          </a:p>
          <a:p>
            <a:pPr lvl="1"/>
            <a:r>
              <a:rPr lang="en-GB" b="1" dirty="0" smtClean="0"/>
              <a:t>Global</a:t>
            </a:r>
            <a:r>
              <a:rPr lang="en-GB" dirty="0" smtClean="0"/>
              <a:t> variables in Python</a:t>
            </a:r>
          </a:p>
          <a:p>
            <a:pPr lvl="1"/>
            <a:r>
              <a:rPr lang="en-GB" dirty="0" smtClean="0"/>
              <a:t>Python </a:t>
            </a:r>
            <a:r>
              <a:rPr lang="en-GB" b="1" dirty="0" smtClean="0"/>
              <a:t>data types</a:t>
            </a:r>
          </a:p>
          <a:p>
            <a:pPr lvl="1"/>
            <a:r>
              <a:rPr lang="en-GB" dirty="0" smtClean="0"/>
              <a:t>Python </a:t>
            </a:r>
            <a:r>
              <a:rPr lang="en-GB" b="1" dirty="0" smtClean="0"/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17237174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150</TotalTime>
  <Words>1297</Words>
  <Application>Microsoft Office PowerPoint</Application>
  <PresentationFormat>Widescreen</PresentationFormat>
  <Paragraphs>381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Consolas</vt:lpstr>
      <vt:lpstr>Segoe UI</vt:lpstr>
      <vt:lpstr>Source Sans Pro</vt:lpstr>
      <vt:lpstr>Trebuchet MS</vt:lpstr>
      <vt:lpstr>Verdana</vt:lpstr>
      <vt:lpstr>Wingdings 3</vt:lpstr>
      <vt:lpstr>Facet</vt:lpstr>
      <vt:lpstr>Data Science</vt:lpstr>
      <vt:lpstr>Python Syntax</vt:lpstr>
      <vt:lpstr>Assign Multiple Values to Variables</vt:lpstr>
      <vt:lpstr>Output Variables</vt:lpstr>
      <vt:lpstr>Global Variables</vt:lpstr>
      <vt:lpstr>Test Yourself With Exercises</vt:lpstr>
      <vt:lpstr>Python Data Types</vt:lpstr>
      <vt:lpstr>Python Data Types</vt:lpstr>
      <vt:lpstr>Python Data Types</vt:lpstr>
      <vt:lpstr>Python Strings</vt:lpstr>
      <vt:lpstr>Python Strings</vt:lpstr>
      <vt:lpstr>Python Strings</vt:lpstr>
      <vt:lpstr>Python Escape Characters </vt:lpstr>
      <vt:lpstr>Python Arithmatic Operators </vt:lpstr>
      <vt:lpstr>Python Assignment Operators </vt:lpstr>
      <vt:lpstr>Python Comparison Operators </vt:lpstr>
      <vt:lpstr>Python Logical Operators </vt:lpstr>
      <vt:lpstr>Python Identity Operators </vt:lpstr>
      <vt:lpstr>Python bitwise Operators </vt:lpstr>
      <vt:lpstr>Python Operators’ Precedence </vt:lpstr>
      <vt:lpstr>Summary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</dc:title>
  <dc:creator>DR.ASIF</dc:creator>
  <cp:lastModifiedBy>DR.ASIF</cp:lastModifiedBy>
  <cp:revision>21</cp:revision>
  <dcterms:created xsi:type="dcterms:W3CDTF">2023-08-12T13:47:27Z</dcterms:created>
  <dcterms:modified xsi:type="dcterms:W3CDTF">2023-08-20T11:07:46Z</dcterms:modified>
</cp:coreProperties>
</file>
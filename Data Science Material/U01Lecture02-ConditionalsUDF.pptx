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handoutMasterIdLst>
    <p:handoutMasterId r:id="rId16"/>
  </p:handoutMasterIdLst>
  <p:sldIdLst>
    <p:sldId id="256" r:id="rId2"/>
    <p:sldId id="257" r:id="rId3"/>
    <p:sldId id="283" r:id="rId4"/>
    <p:sldId id="284" r:id="rId5"/>
    <p:sldId id="285" r:id="rId6"/>
    <p:sldId id="282" r:id="rId7"/>
    <p:sldId id="286" r:id="rId8"/>
    <p:sldId id="287" r:id="rId9"/>
    <p:sldId id="288" r:id="rId10"/>
    <p:sldId id="289" r:id="rId11"/>
    <p:sldId id="290" r:id="rId12"/>
    <p:sldId id="291" r:id="rId13"/>
    <p:sldId id="292" r:id="rId14"/>
    <p:sldId id="276" r:id="rId15"/>
  </p:sldIdLst>
  <p:sldSz cx="12192000" cy="6858000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E79F6C61-CC8F-4121-A9A2-27BE69CC46B1}" type="datetimeFigureOut">
              <a:rPr lang="en-US" smtClean="0"/>
              <a:t>8/20/2023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724E70C8-EF38-4382-95D9-8EDC09782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0887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8/20/2023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8/20/2023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8/20/2023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8/20/2023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8/20/2023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8/20/2023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8/20/2023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Data Science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Unit 01: Python for Data Science</a:t>
            </a:r>
          </a:p>
          <a:p>
            <a:r>
              <a:rPr lang="en-US" dirty="0"/>
              <a:t>Lecture </a:t>
            </a:r>
            <a:r>
              <a:rPr lang="en-US" dirty="0" smtClean="0"/>
              <a:t>02</a:t>
            </a:r>
          </a:p>
          <a:p>
            <a:r>
              <a:rPr lang="en-US" dirty="0" smtClean="0"/>
              <a:t>Conditionals, Loops, User defined functions and </a:t>
            </a:r>
            <a:r>
              <a:rPr lang="en-US" smtClean="0"/>
              <a:t>lambda function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06227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If ... Else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467943"/>
            <a:ext cx="5898033" cy="3880773"/>
          </a:xfrm>
        </p:spPr>
        <p:txBody>
          <a:bodyPr>
            <a:noAutofit/>
          </a:bodyPr>
          <a:lstStyle/>
          <a:p>
            <a:r>
              <a:rPr lang="en-US" sz="1600" dirty="0"/>
              <a:t>Python supports the usual </a:t>
            </a:r>
            <a:r>
              <a:rPr lang="en-US" sz="1600" b="1" dirty="0"/>
              <a:t>logical conditions</a:t>
            </a:r>
            <a:r>
              <a:rPr lang="en-US" sz="1600" dirty="0"/>
              <a:t> from mathematics:</a:t>
            </a:r>
          </a:p>
          <a:p>
            <a:pPr lvl="1"/>
            <a:r>
              <a:rPr lang="en-US" dirty="0" smtClean="0"/>
              <a:t>Equals</a:t>
            </a:r>
            <a:r>
              <a:rPr lang="en-US" dirty="0"/>
              <a:t>: a == b</a:t>
            </a:r>
          </a:p>
          <a:p>
            <a:pPr lvl="1"/>
            <a:r>
              <a:rPr lang="en-US" dirty="0"/>
              <a:t>Not Equals: a != b</a:t>
            </a:r>
          </a:p>
          <a:p>
            <a:pPr lvl="1"/>
            <a:r>
              <a:rPr lang="en-US" dirty="0"/>
              <a:t>Less than: a &lt; b</a:t>
            </a:r>
          </a:p>
          <a:p>
            <a:pPr lvl="1"/>
            <a:r>
              <a:rPr lang="en-US" dirty="0"/>
              <a:t>Less than or equal to: a &lt;= b</a:t>
            </a:r>
          </a:p>
          <a:p>
            <a:pPr lvl="1"/>
            <a:r>
              <a:rPr lang="en-US" dirty="0"/>
              <a:t>Greater than: a &gt; b</a:t>
            </a:r>
          </a:p>
          <a:p>
            <a:pPr lvl="1"/>
            <a:r>
              <a:rPr lang="en-US" dirty="0"/>
              <a:t>Greater than or equal to: a &gt;= b</a:t>
            </a:r>
          </a:p>
          <a:p>
            <a:r>
              <a:rPr lang="en-US" sz="1600" dirty="0"/>
              <a:t>These conditions can be used in several ways, most commonly in "</a:t>
            </a:r>
            <a:r>
              <a:rPr lang="en-US" sz="1600" b="1" dirty="0"/>
              <a:t>if statements</a:t>
            </a:r>
            <a:r>
              <a:rPr lang="en-US" sz="1600" dirty="0"/>
              <a:t>" and </a:t>
            </a:r>
            <a:r>
              <a:rPr lang="en-US" sz="1600" b="1" dirty="0"/>
              <a:t>loops</a:t>
            </a:r>
            <a:r>
              <a:rPr lang="en-US" sz="1600" dirty="0"/>
              <a:t>.</a:t>
            </a:r>
          </a:p>
          <a:p>
            <a:r>
              <a:rPr lang="en-US" sz="1600" dirty="0" smtClean="0"/>
              <a:t>An </a:t>
            </a:r>
            <a:r>
              <a:rPr lang="en-US" sz="1600" dirty="0"/>
              <a:t>"if statement" is written by using the </a:t>
            </a:r>
            <a:r>
              <a:rPr lang="en-US" sz="1600" b="1" dirty="0"/>
              <a:t>if</a:t>
            </a:r>
            <a:r>
              <a:rPr lang="en-US" sz="1600" dirty="0"/>
              <a:t> keyword</a:t>
            </a:r>
            <a:r>
              <a:rPr lang="en-US" sz="1600" dirty="0" smtClean="0"/>
              <a:t>.</a:t>
            </a:r>
          </a:p>
          <a:p>
            <a:r>
              <a:rPr lang="en-US" sz="1600" dirty="0"/>
              <a:t>Python relies on </a:t>
            </a:r>
            <a:r>
              <a:rPr lang="en-US" sz="1600" b="1" dirty="0"/>
              <a:t>indentation</a:t>
            </a:r>
            <a:r>
              <a:rPr lang="en-US" sz="1600" dirty="0"/>
              <a:t> (whitespace at the beginning of a line) to define scope in the code. Other programming languages often use </a:t>
            </a:r>
            <a:r>
              <a:rPr lang="en-US" sz="1600" b="1" dirty="0"/>
              <a:t>curly-brackets</a:t>
            </a:r>
            <a:r>
              <a:rPr lang="en-US" sz="1600" dirty="0"/>
              <a:t> for this purpose.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38901" y="5164050"/>
            <a:ext cx="5145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</a:t>
            </a:r>
            <a:endParaRPr lang="en-US" dirty="0"/>
          </a:p>
        </p:txBody>
      </p:sp>
      <p:sp>
        <p:nvSpPr>
          <p:cNvPr id="24" name="Rectangle 20"/>
          <p:cNvSpPr>
            <a:spLocks noChangeArrowheads="1"/>
          </p:cNvSpPr>
          <p:nvPr/>
        </p:nvSpPr>
        <p:spPr bwMode="auto">
          <a:xfrm>
            <a:off x="6558743" y="1580038"/>
            <a:ext cx="5577840" cy="4221628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dirty="0" smtClean="0">
                <a:solidFill>
                  <a:srgbClr val="000000"/>
                </a:solidFill>
                <a:latin typeface="Segoe UI" panose="020B0502040204020203" pitchFamily="34" charset="0"/>
              </a:rPr>
              <a:t>Example</a:t>
            </a:r>
            <a:endParaRPr lang="en-US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If statement: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a =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33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b =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200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b &gt; a:</a:t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"b is greater than a</a:t>
            </a:r>
            <a:r>
              <a:rPr lang="en-US" dirty="0" smtClean="0">
                <a:solidFill>
                  <a:srgbClr val="A52A2A"/>
                </a:solidFill>
                <a:latin typeface="Consolas" panose="020B0609020204030204" pitchFamily="49" charset="0"/>
              </a:rPr>
              <a:t>"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endParaRPr lang="en-US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b="0" i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Example</a:t>
            </a:r>
          </a:p>
          <a:p>
            <a:r>
              <a:rPr lang="en-US" sz="1400" dirty="0" smtClean="0">
                <a:solidFill>
                  <a:srgbClr val="000000"/>
                </a:solidFill>
                <a:latin typeface="Verdana" panose="020B0604030504040204" pitchFamily="34" charset="0"/>
              </a:rPr>
              <a:t>#If </a:t>
            </a:r>
            <a:r>
              <a:rPr lang="en-US" sz="1400" dirty="0">
                <a:solidFill>
                  <a:srgbClr val="000000"/>
                </a:solidFill>
                <a:latin typeface="Verdana" panose="020B0604030504040204" pitchFamily="34" charset="0"/>
              </a:rPr>
              <a:t>statement, without indentation (will raise an error):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a =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33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b =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200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b &gt; a:</a:t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"b is greater than a"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 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# you will get an error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01816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Python Elif and Else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652609"/>
            <a:ext cx="5898033" cy="3880773"/>
          </a:xfrm>
        </p:spPr>
        <p:txBody>
          <a:bodyPr>
            <a:normAutofit/>
          </a:bodyPr>
          <a:lstStyle/>
          <a:p>
            <a:r>
              <a:rPr lang="en-US" sz="2000" dirty="0"/>
              <a:t>The </a:t>
            </a:r>
            <a:r>
              <a:rPr lang="en-US" sz="2000" b="1" dirty="0" err="1"/>
              <a:t>elif</a:t>
            </a:r>
            <a:r>
              <a:rPr lang="en-US" sz="2000" dirty="0"/>
              <a:t> keyword is Python's way of saying "if the previous conditions were not true, then try this </a:t>
            </a:r>
            <a:r>
              <a:rPr lang="en-US" sz="2000" dirty="0" smtClean="0"/>
              <a:t>condition".</a:t>
            </a:r>
          </a:p>
          <a:p>
            <a:endParaRPr lang="en-US" sz="2000" dirty="0" smtClean="0"/>
          </a:p>
          <a:p>
            <a:r>
              <a:rPr lang="en-US" sz="2000" dirty="0"/>
              <a:t>The </a:t>
            </a:r>
            <a:r>
              <a:rPr lang="en-US" sz="2000" b="1" dirty="0"/>
              <a:t>else</a:t>
            </a:r>
            <a:r>
              <a:rPr lang="en-US" sz="2000" dirty="0"/>
              <a:t> keyword catches anything which isn't caught </a:t>
            </a:r>
            <a:r>
              <a:rPr lang="en-US" sz="2000" dirty="0" smtClean="0"/>
              <a:t>by </a:t>
            </a:r>
            <a:r>
              <a:rPr lang="en-US" sz="2000" dirty="0"/>
              <a:t>the preceding conditions</a:t>
            </a:r>
            <a:r>
              <a:rPr lang="en-US" sz="2000" dirty="0" smtClean="0"/>
              <a:t>.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838901" y="5164050"/>
            <a:ext cx="5145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</a:t>
            </a:r>
            <a:endParaRPr lang="en-US" dirty="0"/>
          </a:p>
        </p:txBody>
      </p:sp>
      <p:sp>
        <p:nvSpPr>
          <p:cNvPr id="24" name="Rectangle 20"/>
          <p:cNvSpPr>
            <a:spLocks noChangeArrowheads="1"/>
          </p:cNvSpPr>
          <p:nvPr/>
        </p:nvSpPr>
        <p:spPr bwMode="auto">
          <a:xfrm>
            <a:off x="6649720" y="175260"/>
            <a:ext cx="5126644" cy="6499175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600" dirty="0" smtClean="0">
                <a:solidFill>
                  <a:srgbClr val="000000"/>
                </a:solidFill>
                <a:latin typeface="Segoe UI" panose="020B0502040204020203" pitchFamily="34" charset="0"/>
              </a:rPr>
              <a:t>Example</a:t>
            </a:r>
            <a:endParaRPr lang="en-US" sz="16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a =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33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b =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33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b &gt; a: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"b is greater than a"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 err="1">
                <a:solidFill>
                  <a:srgbClr val="0000CD"/>
                </a:solidFill>
                <a:latin typeface="Consolas" panose="020B0609020204030204" pitchFamily="49" charset="0"/>
              </a:rPr>
              <a:t>elif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a == b: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"a and b are equal</a:t>
            </a:r>
            <a:r>
              <a:rPr lang="en-US" sz="1600" dirty="0" smtClean="0">
                <a:solidFill>
                  <a:srgbClr val="A52A2A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endParaRPr lang="en-US" sz="16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b="0" i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Example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a =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200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b =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33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b &gt; a: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"b is greater than a"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>
                <a:solidFill>
                  <a:srgbClr val="0000CD"/>
                </a:solidFill>
                <a:latin typeface="Consolas" panose="020B0609020204030204" pitchFamily="49" charset="0"/>
              </a:rPr>
              <a:t>elif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a == b: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"a and b are equal"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else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"a is greater than b</a:t>
            </a:r>
            <a:r>
              <a:rPr lang="en-US" dirty="0" smtClean="0">
                <a:solidFill>
                  <a:srgbClr val="A52A2A"/>
                </a:solidFill>
                <a:latin typeface="Consolas" panose="020B0609020204030204" pitchFamily="49" charset="0"/>
              </a:rPr>
              <a:t>"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b="0" i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Example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a =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200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b =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33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b &gt; a: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"b is greater than a"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else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"b is not greater than a"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7137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894" y="484909"/>
            <a:ext cx="8596668" cy="1320800"/>
          </a:xfrm>
        </p:spPr>
        <p:txBody>
          <a:bodyPr/>
          <a:lstStyle/>
          <a:p>
            <a:r>
              <a:rPr lang="en-US" smtClean="0"/>
              <a:t>Short </a:t>
            </a:r>
            <a:r>
              <a:rPr lang="en-US"/>
              <a:t>Hand If &amp; </a:t>
            </a:r>
            <a:r>
              <a:rPr lang="en-US" smtClean="0"/>
              <a:t>If </a:t>
            </a:r>
            <a:r>
              <a:rPr lang="en-US"/>
              <a:t>... Else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819" y="1652609"/>
            <a:ext cx="5898033" cy="388077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If you have only one statement to execute, you can put it on the same line as the if statement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/>
              <a:t>If you have only one statement to execute, one for if, and one for else, you can put it all on the same line</a:t>
            </a:r>
            <a:r>
              <a:rPr lang="en-US" dirty="0" smtClean="0"/>
              <a:t>:</a:t>
            </a:r>
          </a:p>
          <a:p>
            <a:r>
              <a:rPr lang="en-US" dirty="0"/>
              <a:t>This technique is known as </a:t>
            </a:r>
            <a:r>
              <a:rPr lang="en-US" b="1" dirty="0"/>
              <a:t>Ternary Operators</a:t>
            </a:r>
            <a:r>
              <a:rPr lang="en-US" dirty="0"/>
              <a:t>, or </a:t>
            </a:r>
            <a:r>
              <a:rPr lang="en-US" b="1" dirty="0"/>
              <a:t>Conditional Expressions</a:t>
            </a:r>
            <a:r>
              <a:rPr lang="en-US" dirty="0" smtClean="0"/>
              <a:t>.</a:t>
            </a:r>
          </a:p>
          <a:p>
            <a:r>
              <a:rPr lang="en-US" dirty="0" smtClean="0"/>
              <a:t>You </a:t>
            </a:r>
            <a:r>
              <a:rPr lang="en-US" dirty="0"/>
              <a:t>can also have multiple else statements on the same line</a:t>
            </a:r>
            <a:r>
              <a:rPr lang="en-US" dirty="0" smtClean="0"/>
              <a:t>:</a:t>
            </a:r>
          </a:p>
          <a:p>
            <a:r>
              <a:rPr lang="en-US" dirty="0"/>
              <a:t>The </a:t>
            </a:r>
            <a:r>
              <a:rPr lang="en-US" b="1" dirty="0">
                <a:solidFill>
                  <a:srgbClr val="FF0000"/>
                </a:solidFill>
              </a:rPr>
              <a:t>and</a:t>
            </a:r>
            <a:r>
              <a:rPr lang="en-US" dirty="0"/>
              <a:t> keyword is a logical operator, and is used to combine conditional statements: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38901" y="5164050"/>
            <a:ext cx="5145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</a:t>
            </a:r>
            <a:endParaRPr lang="en-US" dirty="0"/>
          </a:p>
        </p:txBody>
      </p:sp>
      <p:sp>
        <p:nvSpPr>
          <p:cNvPr id="24" name="Rectangle 20"/>
          <p:cNvSpPr>
            <a:spLocks noChangeArrowheads="1"/>
          </p:cNvSpPr>
          <p:nvPr/>
        </p:nvSpPr>
        <p:spPr bwMode="auto">
          <a:xfrm>
            <a:off x="6497551" y="104525"/>
            <a:ext cx="5772034" cy="6560730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600" dirty="0" smtClean="0">
                <a:solidFill>
                  <a:srgbClr val="000000"/>
                </a:solidFill>
                <a:latin typeface="Segoe UI" panose="020B0502040204020203" pitchFamily="34" charset="0"/>
              </a:rPr>
              <a:t>Example	</a:t>
            </a:r>
            <a:endParaRPr lang="en-US" sz="16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Verdana" panose="020B0604030504040204" pitchFamily="34" charset="0"/>
              </a:rPr>
              <a:t>One line if statement:</a:t>
            </a:r>
          </a:p>
          <a:p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a &gt; b: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"a is greater than b"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endParaRPr lang="en-US" sz="16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b="0" i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Example</a:t>
            </a:r>
          </a:p>
          <a:p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One line if else statement: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a =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b =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330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"A"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a &gt; b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else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"B</a:t>
            </a:r>
            <a:r>
              <a:rPr lang="en-US" dirty="0" smtClean="0">
                <a:solidFill>
                  <a:srgbClr val="A52A2A"/>
                </a:solidFill>
                <a:latin typeface="Consolas" panose="020B0609020204030204" pitchFamily="49" charset="0"/>
              </a:rPr>
              <a:t>"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b="0" i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Example</a:t>
            </a:r>
          </a:p>
          <a:p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One line if else statement, with 3 conditions: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a =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330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b =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330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"A"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a &gt; b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else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"="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a 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== b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else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"B</a:t>
            </a:r>
            <a:r>
              <a:rPr lang="en-US" dirty="0" smtClean="0">
                <a:solidFill>
                  <a:srgbClr val="A52A2A"/>
                </a:solidFill>
                <a:latin typeface="Consolas" panose="020B0609020204030204" pitchFamily="49" charset="0"/>
              </a:rPr>
              <a:t>"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endParaRPr lang="en-US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b="0" i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Example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a =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200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b =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33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c =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500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a &gt; b and c &gt; a:</a:t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"Both conditions are True"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endParaRPr lang="en-US" sz="14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25783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Or, not and nested if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652609"/>
            <a:ext cx="5898033" cy="3880773"/>
          </a:xfrm>
        </p:spPr>
        <p:txBody>
          <a:bodyPr>
            <a:normAutofit/>
          </a:bodyPr>
          <a:lstStyle/>
          <a:p>
            <a:r>
              <a:rPr lang="en-US" dirty="0"/>
              <a:t>The </a:t>
            </a:r>
            <a:r>
              <a:rPr lang="en-US" dirty="0">
                <a:solidFill>
                  <a:srgbClr val="FF0000"/>
                </a:solidFill>
              </a:rPr>
              <a:t>or</a:t>
            </a:r>
            <a:r>
              <a:rPr lang="en-US" dirty="0"/>
              <a:t> keyword is a logical operator, and is used to </a:t>
            </a:r>
            <a:r>
              <a:rPr lang="en-US" b="1" dirty="0"/>
              <a:t>combine conditional statements</a:t>
            </a:r>
            <a:r>
              <a:rPr lang="en-US" dirty="0"/>
              <a:t>:</a:t>
            </a:r>
          </a:p>
          <a:p>
            <a:r>
              <a:rPr lang="en-US" dirty="0"/>
              <a:t>The </a:t>
            </a:r>
            <a:r>
              <a:rPr lang="en-US" dirty="0">
                <a:solidFill>
                  <a:srgbClr val="FF0000"/>
                </a:solidFill>
              </a:rPr>
              <a:t>not</a:t>
            </a:r>
            <a:r>
              <a:rPr lang="en-US" dirty="0"/>
              <a:t> keyword is a logical operator, and is used to </a:t>
            </a:r>
            <a:r>
              <a:rPr lang="en-US" b="1" dirty="0"/>
              <a:t>reverse the result </a:t>
            </a:r>
            <a:r>
              <a:rPr lang="en-US" dirty="0"/>
              <a:t>of the conditional statement</a:t>
            </a:r>
            <a:r>
              <a:rPr lang="en-US" dirty="0" smtClean="0"/>
              <a:t>:</a:t>
            </a:r>
          </a:p>
          <a:p>
            <a:endParaRPr lang="en-US" dirty="0" smtClean="0"/>
          </a:p>
          <a:p>
            <a:r>
              <a:rPr lang="en-US" dirty="0"/>
              <a:t>You can have if statements inside if statements, this is called </a:t>
            </a:r>
            <a:r>
              <a:rPr lang="en-US" b="1" dirty="0"/>
              <a:t>nested if statements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/>
              <a:t>if statements cannot be empty, but if you for some reason have an if statement with no content, put in the </a:t>
            </a:r>
            <a:r>
              <a:rPr lang="en-US" dirty="0">
                <a:solidFill>
                  <a:srgbClr val="FF0000"/>
                </a:solidFill>
              </a:rPr>
              <a:t>pass</a:t>
            </a:r>
            <a:r>
              <a:rPr lang="en-US" dirty="0"/>
              <a:t> statement to avoid getting an error.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38901" y="5164050"/>
            <a:ext cx="5145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</a:t>
            </a:r>
            <a:endParaRPr lang="en-US" dirty="0"/>
          </a:p>
        </p:txBody>
      </p:sp>
      <p:sp>
        <p:nvSpPr>
          <p:cNvPr id="24" name="Rectangle 20"/>
          <p:cNvSpPr>
            <a:spLocks noChangeArrowheads="1"/>
          </p:cNvSpPr>
          <p:nvPr/>
        </p:nvSpPr>
        <p:spPr bwMode="auto">
          <a:xfrm>
            <a:off x="6941130" y="-37399"/>
            <a:ext cx="5250870" cy="6745396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400" dirty="0" smtClean="0">
                <a:solidFill>
                  <a:srgbClr val="000000"/>
                </a:solidFill>
                <a:latin typeface="Segoe UI" panose="020B0502040204020203" pitchFamily="34" charset="0"/>
              </a:rPr>
              <a:t>Example	</a:t>
            </a:r>
            <a:endParaRPr lang="en-US" sz="14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r>
              <a:rPr lang="en-US" sz="1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a 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= 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200</a:t>
            </a:r>
            <a:r>
              <a:rPr lang="en-US" sz="1400" dirty="0"/>
              <a:t/>
            </a:r>
            <a:br>
              <a:rPr lang="en-US" sz="1400" dirty="0"/>
            </a:b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b = 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33</a:t>
            </a:r>
            <a:r>
              <a:rPr lang="en-US" sz="1400" dirty="0"/>
              <a:t/>
            </a:r>
            <a:br>
              <a:rPr lang="en-US" sz="1400" dirty="0"/>
            </a:b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c = 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500</a:t>
            </a:r>
            <a:r>
              <a:rPr lang="en-US" sz="1400" dirty="0"/>
              <a:t/>
            </a:r>
            <a:br>
              <a:rPr lang="en-US" sz="1400" dirty="0"/>
            </a:br>
            <a:r>
              <a:rPr lang="en-US" sz="1400" dirty="0">
                <a:solidFill>
                  <a:srgbClr val="0000CD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a &gt; b or a &gt; c:</a:t>
            </a:r>
            <a:r>
              <a:rPr lang="en-US" sz="1400" dirty="0"/>
              <a:t/>
            </a:r>
            <a:br>
              <a:rPr lang="en-US" sz="1400" dirty="0"/>
            </a:b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sz="1400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A52A2A"/>
                </a:solidFill>
                <a:latin typeface="Consolas" panose="020B0609020204030204" pitchFamily="49" charset="0"/>
              </a:rPr>
              <a:t>"At least one of the conditions is True</a:t>
            </a:r>
            <a:r>
              <a:rPr lang="en-US" sz="1400" dirty="0" smtClean="0">
                <a:solidFill>
                  <a:srgbClr val="A52A2A"/>
                </a:solidFill>
                <a:latin typeface="Consolas" panose="020B0609020204030204" pitchFamily="49" charset="0"/>
              </a:rPr>
              <a:t>"</a:t>
            </a:r>
            <a:r>
              <a:rPr lang="en-US" sz="1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endParaRPr lang="en-US" sz="14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i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Example</a:t>
            </a:r>
          </a:p>
          <a:p>
            <a:r>
              <a:rPr 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a 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=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33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b =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200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not a &gt; b: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"a is NOT greater than b</a:t>
            </a:r>
            <a:r>
              <a:rPr lang="en-US" sz="1600" dirty="0" smtClean="0">
                <a:solidFill>
                  <a:srgbClr val="A52A2A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endParaRPr lang="en-US" sz="16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Example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x =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41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 smtClean="0">
                <a:solidFill>
                  <a:srgbClr val="0000CD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x &gt;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10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"Above ten,"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x &gt;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20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"and also above 20!"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"but not above 20</a:t>
            </a:r>
            <a:r>
              <a:rPr lang="en-US" sz="1600" dirty="0" smtClean="0">
                <a:solidFill>
                  <a:srgbClr val="A52A2A"/>
                </a:solidFill>
                <a:latin typeface="Consolas" panose="020B0609020204030204" pitchFamily="49" charset="0"/>
              </a:rPr>
              <a:t>."</a:t>
            </a:r>
            <a:r>
              <a:rPr 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endParaRPr lang="en-US" sz="16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Example</a:t>
            </a:r>
            <a:endParaRPr lang="en-US" sz="16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a =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33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b =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200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 smtClean="0">
                <a:solidFill>
                  <a:srgbClr val="0000CD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b &gt; a: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sz="1600" dirty="0" smtClean="0">
                <a:solidFill>
                  <a:srgbClr val="0000CD"/>
                </a:solidFill>
                <a:latin typeface="Consolas" panose="020B0609020204030204" pitchFamily="49" charset="0"/>
              </a:rPr>
              <a:t>pass</a:t>
            </a:r>
            <a:endParaRPr lang="en-US" sz="16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87835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Python While Loops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652609"/>
            <a:ext cx="5898033" cy="3880773"/>
          </a:xfrm>
        </p:spPr>
        <p:txBody>
          <a:bodyPr>
            <a:noAutofit/>
          </a:bodyPr>
          <a:lstStyle/>
          <a:p>
            <a:r>
              <a:rPr lang="en-US" sz="2000" dirty="0"/>
              <a:t>Python has two primitive loop commands:</a:t>
            </a:r>
          </a:p>
          <a:p>
            <a:pPr lvl="1"/>
            <a:r>
              <a:rPr lang="en-US" b="1" dirty="0" smtClean="0"/>
              <a:t>while </a:t>
            </a:r>
            <a:r>
              <a:rPr lang="en-US" b="1" dirty="0"/>
              <a:t>loops</a:t>
            </a:r>
          </a:p>
          <a:p>
            <a:pPr lvl="1"/>
            <a:r>
              <a:rPr lang="en-US" b="1" dirty="0"/>
              <a:t>for </a:t>
            </a:r>
            <a:r>
              <a:rPr lang="en-US" b="1" dirty="0" smtClean="0"/>
              <a:t>loops</a:t>
            </a:r>
          </a:p>
          <a:p>
            <a:r>
              <a:rPr lang="en-US" dirty="0"/>
              <a:t>With the while loop we can execute a set of statements as long as a condition is true</a:t>
            </a:r>
            <a:r>
              <a:rPr lang="en-US" dirty="0" smtClean="0"/>
              <a:t>.</a:t>
            </a:r>
          </a:p>
          <a:p>
            <a:r>
              <a:rPr lang="en-US" dirty="0"/>
              <a:t>With the </a:t>
            </a:r>
            <a:r>
              <a:rPr lang="en-US" dirty="0">
                <a:solidFill>
                  <a:srgbClr val="FF0000"/>
                </a:solidFill>
              </a:rPr>
              <a:t>break</a:t>
            </a:r>
            <a:r>
              <a:rPr lang="en-US" dirty="0"/>
              <a:t> statement we can stop the loop even if the while condition is true</a:t>
            </a:r>
            <a:r>
              <a:rPr lang="en-US" dirty="0" smtClean="0"/>
              <a:t>:</a:t>
            </a:r>
          </a:p>
          <a:p>
            <a:r>
              <a:rPr lang="en-US" dirty="0" smtClean="0"/>
              <a:t>With </a:t>
            </a:r>
            <a:r>
              <a:rPr lang="en-US" dirty="0"/>
              <a:t>the </a:t>
            </a:r>
            <a:r>
              <a:rPr lang="en-US" dirty="0">
                <a:solidFill>
                  <a:srgbClr val="FF0000"/>
                </a:solidFill>
              </a:rPr>
              <a:t>continue</a:t>
            </a:r>
            <a:r>
              <a:rPr lang="en-US" dirty="0"/>
              <a:t> statement we can stop the current iteration, and continue with the next</a:t>
            </a:r>
            <a:r>
              <a:rPr lang="en-US" dirty="0" smtClean="0"/>
              <a:t>:</a:t>
            </a:r>
          </a:p>
          <a:p>
            <a:r>
              <a:rPr lang="en-US" dirty="0"/>
              <a:t>With the </a:t>
            </a:r>
            <a:r>
              <a:rPr lang="en-US" dirty="0">
                <a:solidFill>
                  <a:srgbClr val="FF0000"/>
                </a:solidFill>
              </a:rPr>
              <a:t>else</a:t>
            </a:r>
            <a:r>
              <a:rPr lang="en-US" dirty="0"/>
              <a:t> statement we can run a block of code once when the condition no longer is true: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38901" y="5164050"/>
            <a:ext cx="5145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</a:t>
            </a:r>
            <a:endParaRPr lang="en-US" dirty="0"/>
          </a:p>
        </p:txBody>
      </p:sp>
      <p:sp>
        <p:nvSpPr>
          <p:cNvPr id="24" name="Rectangle 20"/>
          <p:cNvSpPr>
            <a:spLocks noChangeArrowheads="1"/>
          </p:cNvSpPr>
          <p:nvPr/>
        </p:nvSpPr>
        <p:spPr bwMode="auto">
          <a:xfrm>
            <a:off x="6794861" y="81826"/>
            <a:ext cx="4958281" cy="6776174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GB" sz="1600" dirty="0" smtClean="0">
                <a:solidFill>
                  <a:srgbClr val="000000"/>
                </a:solidFill>
                <a:latin typeface="Segoe UI" panose="020B0502040204020203" pitchFamily="34" charset="0"/>
              </a:rPr>
              <a:t>Example</a:t>
            </a:r>
            <a:endParaRPr lang="en-GB" sz="16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i = </a:t>
            </a:r>
            <a:r>
              <a:rPr lang="nn-NO" sz="1600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nn-NO" sz="1600" dirty="0"/>
              <a:t/>
            </a:r>
            <a:br>
              <a:rPr lang="nn-NO" sz="1600" dirty="0"/>
            </a:br>
            <a:r>
              <a:rPr lang="nn-NO" sz="1600" dirty="0">
                <a:solidFill>
                  <a:srgbClr val="0000CD"/>
                </a:solidFill>
                <a:latin typeface="Consolas" panose="020B0609020204030204" pitchFamily="49" charset="0"/>
              </a:rPr>
              <a:t>while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 i &lt; </a:t>
            </a:r>
            <a:r>
              <a:rPr lang="nn-NO" sz="1600" dirty="0">
                <a:solidFill>
                  <a:srgbClr val="FF0000"/>
                </a:solidFill>
                <a:latin typeface="Consolas" panose="020B0609020204030204" pitchFamily="49" charset="0"/>
              </a:rPr>
              <a:t>6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nn-NO" sz="1600" dirty="0"/>
              <a:t/>
            </a:r>
            <a:br>
              <a:rPr lang="nn-NO" sz="1600" dirty="0"/>
            </a:b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nn-NO" sz="1600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(i)</a:t>
            </a:r>
            <a:r>
              <a:rPr lang="nn-NO" sz="1600" dirty="0"/>
              <a:t/>
            </a:r>
            <a:br>
              <a:rPr lang="nn-NO" sz="1600" dirty="0"/>
            </a:b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i += </a:t>
            </a:r>
            <a:r>
              <a:rPr lang="nn-NO" sz="1600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endParaRPr lang="en-GB" sz="16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dirty="0" smtClean="0">
                <a:solidFill>
                  <a:srgbClr val="000000"/>
                </a:solidFill>
                <a:latin typeface="Segoe UI" panose="020B0502040204020203" pitchFamily="34" charset="0"/>
              </a:rPr>
              <a:t>Example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while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&lt;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6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==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break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+=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endParaRPr lang="en-GB" sz="16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Example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while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&lt;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6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+=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==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continue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GB" sz="1600" dirty="0" smtClean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endParaRPr lang="en-GB" sz="16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r>
              <a:rPr lang="en-GB" sz="1600" dirty="0" smtClean="0">
                <a:solidFill>
                  <a:srgbClr val="000000"/>
                </a:solidFill>
                <a:latin typeface="Segoe UI" panose="020B0502040204020203" pitchFamily="34" charset="0"/>
              </a:rPr>
              <a:t>Example</a:t>
            </a:r>
            <a:endParaRPr lang="en-GB" sz="16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while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&lt;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6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+=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 err="1">
                <a:solidFill>
                  <a:srgbClr val="A52A2A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 is no longer less than 6</a:t>
            </a:r>
            <a:r>
              <a:rPr lang="en-US" sz="1600" dirty="0" smtClean="0">
                <a:solidFill>
                  <a:srgbClr val="A52A2A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GB" sz="1600" dirty="0" smtClean="0">
              <a:solidFill>
                <a:srgbClr val="000000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41277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Python For Loops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652609"/>
            <a:ext cx="6117527" cy="3880773"/>
          </a:xfrm>
        </p:spPr>
        <p:txBody>
          <a:bodyPr>
            <a:noAutofit/>
          </a:bodyPr>
          <a:lstStyle/>
          <a:p>
            <a:r>
              <a:rPr lang="en-US" sz="1600" dirty="0"/>
              <a:t>A </a:t>
            </a:r>
            <a:r>
              <a:rPr lang="en-US" sz="1600" b="1" dirty="0"/>
              <a:t>for loop </a:t>
            </a:r>
            <a:r>
              <a:rPr lang="en-US" sz="1600" dirty="0"/>
              <a:t>is used for </a:t>
            </a:r>
            <a:r>
              <a:rPr lang="en-US" sz="1600" b="1" dirty="0"/>
              <a:t>iterating</a:t>
            </a:r>
            <a:r>
              <a:rPr lang="en-US" sz="1600" dirty="0"/>
              <a:t> over a sequence (that is either a list, a tuple, a dictionary, a set, or a string).</a:t>
            </a:r>
          </a:p>
          <a:p>
            <a:r>
              <a:rPr lang="en-US" sz="1600" dirty="0" smtClean="0"/>
              <a:t>This </a:t>
            </a:r>
            <a:r>
              <a:rPr lang="en-US" sz="1600" dirty="0"/>
              <a:t>is less like the </a:t>
            </a:r>
            <a:r>
              <a:rPr lang="en-US" sz="1600" dirty="0">
                <a:solidFill>
                  <a:srgbClr val="FF0000"/>
                </a:solidFill>
              </a:rPr>
              <a:t>for</a:t>
            </a:r>
            <a:r>
              <a:rPr lang="en-US" sz="1600" dirty="0"/>
              <a:t> keyword in other programming languages, and works more like an </a:t>
            </a:r>
            <a:r>
              <a:rPr lang="en-US" sz="1600" b="1" dirty="0"/>
              <a:t>iterator</a:t>
            </a:r>
            <a:r>
              <a:rPr lang="en-US" sz="1600" dirty="0"/>
              <a:t> method as found in other object-orientated programming languages.</a:t>
            </a:r>
          </a:p>
          <a:p>
            <a:r>
              <a:rPr lang="en-US" sz="1600" dirty="0" smtClean="0"/>
              <a:t>With </a:t>
            </a:r>
            <a:r>
              <a:rPr lang="en-US" sz="1600" dirty="0"/>
              <a:t>the for loop we can execute a set of statements, once for each item in a list, tuple, set etc</a:t>
            </a:r>
            <a:r>
              <a:rPr lang="en-US" sz="1600" dirty="0" smtClean="0"/>
              <a:t>.</a:t>
            </a:r>
          </a:p>
          <a:p>
            <a:r>
              <a:rPr lang="en-US" sz="1600" dirty="0"/>
              <a:t>The </a:t>
            </a:r>
            <a:r>
              <a:rPr lang="en-US" sz="1600" b="1" dirty="0"/>
              <a:t>for loop does not require an indexing variable </a:t>
            </a:r>
            <a:r>
              <a:rPr lang="en-US" sz="1600" dirty="0"/>
              <a:t>to set beforehand</a:t>
            </a:r>
            <a:r>
              <a:rPr lang="en-US" sz="1600" dirty="0"/>
              <a:t>.</a:t>
            </a:r>
          </a:p>
          <a:p>
            <a:r>
              <a:rPr lang="en-US" sz="1600" dirty="0"/>
              <a:t>Even </a:t>
            </a:r>
            <a:r>
              <a:rPr lang="en-US" sz="1600" b="1" dirty="0"/>
              <a:t>strings are </a:t>
            </a:r>
            <a:r>
              <a:rPr lang="en-US" sz="1600" b="1" dirty="0" err="1"/>
              <a:t>iterable</a:t>
            </a:r>
            <a:r>
              <a:rPr lang="en-US" sz="1600" b="1" dirty="0"/>
              <a:t> objects</a:t>
            </a:r>
            <a:r>
              <a:rPr lang="en-US" sz="1600" dirty="0"/>
              <a:t>, they contain a sequence of characters</a:t>
            </a:r>
            <a:r>
              <a:rPr lang="en-US" sz="1600" dirty="0"/>
              <a:t>:</a:t>
            </a:r>
          </a:p>
          <a:p>
            <a:r>
              <a:rPr lang="en-US" sz="1600" dirty="0"/>
              <a:t>With the break statement we can stop the loop before it has looped through all the items</a:t>
            </a:r>
            <a:r>
              <a:rPr lang="en-US" sz="1600" dirty="0"/>
              <a:t>:</a:t>
            </a:r>
          </a:p>
          <a:p>
            <a:r>
              <a:rPr lang="en-US" sz="1600" dirty="0"/>
              <a:t>With the continue statement we can stop the current iteration of the loop, and continue with the next: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838901" y="5164050"/>
            <a:ext cx="5145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</a:t>
            </a:r>
            <a:endParaRPr lang="en-US" dirty="0"/>
          </a:p>
        </p:txBody>
      </p:sp>
      <p:sp>
        <p:nvSpPr>
          <p:cNvPr id="24" name="Rectangle 20"/>
          <p:cNvSpPr>
            <a:spLocks noChangeArrowheads="1"/>
          </p:cNvSpPr>
          <p:nvPr/>
        </p:nvSpPr>
        <p:spPr bwMode="auto">
          <a:xfrm>
            <a:off x="6794861" y="246221"/>
            <a:ext cx="4958281" cy="6529952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GB" sz="1600" dirty="0" smtClean="0">
                <a:solidFill>
                  <a:srgbClr val="000000"/>
                </a:solidFill>
                <a:latin typeface="Segoe UI" panose="020B0502040204020203" pitchFamily="34" charset="0"/>
              </a:rPr>
              <a:t>Example</a:t>
            </a:r>
            <a:endParaRPr lang="en-GB" sz="16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fruits = [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"apple"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"banana"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"cherry"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for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x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in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fruits: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(x</a:t>
            </a:r>
            <a:r>
              <a:rPr 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GB" sz="1600" dirty="0" smtClean="0">
                <a:solidFill>
                  <a:srgbClr val="000000"/>
                </a:solidFill>
                <a:latin typeface="Segoe UI" panose="020B0502040204020203" pitchFamily="34" charset="0"/>
              </a:rPr>
              <a:t>Example</a:t>
            </a:r>
            <a:endParaRPr lang="en-GB" sz="1600" dirty="0" smtClean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for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x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in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"banana"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(x</a:t>
            </a:r>
            <a:r>
              <a:rPr 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Example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fruits = [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"apple"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"banana"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"cherry"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for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x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in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fruits: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(x)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x == 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"banana"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break</a:t>
            </a:r>
            <a:endParaRPr lang="en-GB" sz="16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r>
              <a:rPr lang="en-GB" sz="1600" dirty="0" smtClean="0">
                <a:solidFill>
                  <a:srgbClr val="000000"/>
                </a:solidFill>
                <a:latin typeface="Segoe UI" panose="020B0502040204020203" pitchFamily="34" charset="0"/>
              </a:rPr>
              <a:t>Example</a:t>
            </a:r>
            <a:endParaRPr lang="en-GB" sz="16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fruits = [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"apple"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"banana"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"cherry"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for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x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in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fruits: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x == 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"banana"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break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(x</a:t>
            </a:r>
            <a:r>
              <a:rPr 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Example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fruits = [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"apple"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"banana"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"cherry"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for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x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in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fruits: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x == 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"banana"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continue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(x</a:t>
            </a:r>
            <a:r>
              <a:rPr 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GB" sz="1600" dirty="0" smtClean="0">
              <a:solidFill>
                <a:srgbClr val="000000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97080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Range() &amp; Else in loop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9145" y="1652609"/>
            <a:ext cx="6175716" cy="3880773"/>
          </a:xfrm>
        </p:spPr>
        <p:txBody>
          <a:bodyPr>
            <a:noAutofit/>
          </a:bodyPr>
          <a:lstStyle/>
          <a:p>
            <a:r>
              <a:rPr lang="en-US" dirty="0"/>
              <a:t>To loop through a set of code a specified </a:t>
            </a:r>
            <a:r>
              <a:rPr lang="en-US" b="1" dirty="0"/>
              <a:t>number of times</a:t>
            </a:r>
            <a:r>
              <a:rPr lang="en-US" dirty="0"/>
              <a:t>, we can use the </a:t>
            </a:r>
            <a:r>
              <a:rPr lang="en-US" dirty="0">
                <a:solidFill>
                  <a:srgbClr val="FF0000"/>
                </a:solidFill>
              </a:rPr>
              <a:t>range() </a:t>
            </a:r>
            <a:r>
              <a:rPr lang="en-US" dirty="0"/>
              <a:t>function,</a:t>
            </a:r>
          </a:p>
          <a:p>
            <a:r>
              <a:rPr lang="en-US" dirty="0"/>
              <a:t>The </a:t>
            </a:r>
            <a:r>
              <a:rPr lang="en-US" dirty="0">
                <a:solidFill>
                  <a:srgbClr val="FF0000"/>
                </a:solidFill>
              </a:rPr>
              <a:t>range() </a:t>
            </a:r>
            <a:r>
              <a:rPr lang="en-US" dirty="0"/>
              <a:t>function </a:t>
            </a:r>
            <a:r>
              <a:rPr lang="en-US" b="1" dirty="0"/>
              <a:t>returns a</a:t>
            </a:r>
            <a:r>
              <a:rPr lang="en-US" dirty="0"/>
              <a:t> </a:t>
            </a:r>
            <a:r>
              <a:rPr lang="en-US" b="1" dirty="0"/>
              <a:t>sequence of numbers</a:t>
            </a:r>
            <a:r>
              <a:rPr lang="en-US" dirty="0"/>
              <a:t>, starting from 0 by default, and increments by 1 (by default), and ends at a specified number</a:t>
            </a:r>
            <a:r>
              <a:rPr lang="en-US" dirty="0" smtClean="0"/>
              <a:t>.</a:t>
            </a:r>
          </a:p>
          <a:p>
            <a:r>
              <a:rPr lang="en-US" dirty="0"/>
              <a:t>The </a:t>
            </a:r>
            <a:r>
              <a:rPr lang="en-US" dirty="0">
                <a:solidFill>
                  <a:srgbClr val="FF0000"/>
                </a:solidFill>
              </a:rPr>
              <a:t>range() </a:t>
            </a:r>
            <a:r>
              <a:rPr lang="en-US" dirty="0"/>
              <a:t>function defaults to 0 as a starting value, however it is possible to specify the starting value by adding a parameter: range(2, 6), which means values from 2 to 6 (but not including 6</a:t>
            </a:r>
            <a:r>
              <a:rPr lang="en-US" dirty="0"/>
              <a:t>):</a:t>
            </a:r>
          </a:p>
          <a:p>
            <a:r>
              <a:rPr lang="en-US" dirty="0"/>
              <a:t>The </a:t>
            </a:r>
            <a:r>
              <a:rPr lang="en-US" dirty="0">
                <a:solidFill>
                  <a:srgbClr val="FF0000"/>
                </a:solidFill>
              </a:rPr>
              <a:t>range() </a:t>
            </a:r>
            <a:r>
              <a:rPr lang="en-US" dirty="0"/>
              <a:t>function defaults to increment the sequence by 1, however it is possible to specify the increment value by adding a third parameter: </a:t>
            </a:r>
            <a:r>
              <a:rPr lang="en-US" b="1" dirty="0"/>
              <a:t>range(2, 30, 3</a:t>
            </a:r>
            <a:r>
              <a:rPr lang="en-US" dirty="0"/>
              <a:t>):</a:t>
            </a:r>
          </a:p>
          <a:p>
            <a:r>
              <a:rPr lang="en-US" dirty="0"/>
              <a:t>The </a:t>
            </a:r>
            <a:r>
              <a:rPr lang="en-US" dirty="0">
                <a:solidFill>
                  <a:srgbClr val="FF0000"/>
                </a:solidFill>
              </a:rPr>
              <a:t>else</a:t>
            </a:r>
            <a:r>
              <a:rPr lang="en-US" dirty="0"/>
              <a:t> keyword in a for loop specifies a block of code to be executed when the loop is finished: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38901" y="5164050"/>
            <a:ext cx="5145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</a:t>
            </a:r>
            <a:endParaRPr lang="en-US" dirty="0"/>
          </a:p>
        </p:txBody>
      </p:sp>
      <p:sp>
        <p:nvSpPr>
          <p:cNvPr id="24" name="Rectangle 20"/>
          <p:cNvSpPr>
            <a:spLocks noChangeArrowheads="1"/>
          </p:cNvSpPr>
          <p:nvPr/>
        </p:nvSpPr>
        <p:spPr bwMode="auto">
          <a:xfrm>
            <a:off x="6794861" y="23293"/>
            <a:ext cx="4958281" cy="6776174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GB" dirty="0" smtClean="0">
                <a:solidFill>
                  <a:srgbClr val="000000"/>
                </a:solidFill>
                <a:latin typeface="Segoe UI" panose="020B0502040204020203" pitchFamily="34" charset="0"/>
              </a:rPr>
              <a:t>Example</a:t>
            </a:r>
            <a:endParaRPr lang="en-GB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for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x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in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range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6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(x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dirty="0" smtClean="0">
                <a:solidFill>
                  <a:srgbClr val="000000"/>
                </a:solidFill>
                <a:latin typeface="Segoe UI" panose="020B0502040204020203" pitchFamily="34" charset="0"/>
              </a:rPr>
              <a:t>Example</a:t>
            </a:r>
          </a:p>
          <a:p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for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x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in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range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6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(x)</a:t>
            </a:r>
          </a:p>
          <a:p>
            <a:endParaRPr lang="en-GB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dirty="0" smtClean="0">
                <a:solidFill>
                  <a:srgbClr val="000000"/>
                </a:solidFill>
                <a:latin typeface="Consolas" panose="020B0609020204030204" pitchFamily="49" charset="0"/>
              </a:rPr>
              <a:t>Example</a:t>
            </a:r>
            <a:endParaRPr lang="en-GB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for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x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in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range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30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(x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endParaRPr lang="en-GB" dirty="0" smtClean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r>
              <a:rPr lang="en-GB" dirty="0" smtClean="0">
                <a:solidFill>
                  <a:srgbClr val="000000"/>
                </a:solidFill>
                <a:latin typeface="Segoe UI" panose="020B0502040204020203" pitchFamily="34" charset="0"/>
              </a:rPr>
              <a:t>Example</a:t>
            </a:r>
            <a:endParaRPr lang="en-GB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for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x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in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range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6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(x)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else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"Finally finished</a:t>
            </a:r>
            <a:r>
              <a:rPr lang="en-US" dirty="0" smtClean="0">
                <a:solidFill>
                  <a:srgbClr val="A52A2A"/>
                </a:solidFill>
                <a:latin typeface="Consolas" panose="020B0609020204030204" pitchFamily="49" charset="0"/>
              </a:rPr>
              <a:t>!"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endParaRPr lang="en-US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Example</a:t>
            </a:r>
            <a:endParaRPr lang="en-US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for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x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in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range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6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x ==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break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(x)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else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"Finally finished!"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GB" dirty="0" smtClean="0">
              <a:solidFill>
                <a:srgbClr val="000000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44912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Nest loops and pass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652609"/>
            <a:ext cx="5898033" cy="3880773"/>
          </a:xfrm>
        </p:spPr>
        <p:txBody>
          <a:bodyPr>
            <a:noAutofit/>
          </a:bodyPr>
          <a:lstStyle/>
          <a:p>
            <a:r>
              <a:rPr lang="en-US" sz="2000" dirty="0"/>
              <a:t>A </a:t>
            </a:r>
            <a:r>
              <a:rPr lang="en-US" sz="2000" b="1" dirty="0"/>
              <a:t>nested loop </a:t>
            </a:r>
            <a:r>
              <a:rPr lang="en-US" sz="2000" dirty="0"/>
              <a:t>is a loop inside a loop.</a:t>
            </a:r>
          </a:p>
          <a:p>
            <a:endParaRPr lang="en-US" sz="2000" dirty="0"/>
          </a:p>
          <a:p>
            <a:r>
              <a:rPr lang="en-US" sz="2000" dirty="0"/>
              <a:t>The "</a:t>
            </a:r>
            <a:r>
              <a:rPr lang="en-US" sz="2000" b="1" dirty="0"/>
              <a:t>inner loop</a:t>
            </a:r>
            <a:r>
              <a:rPr lang="en-US" sz="2000" dirty="0"/>
              <a:t>" will be executed one time for each iteration of the "</a:t>
            </a:r>
            <a:r>
              <a:rPr lang="en-US" sz="2000" b="1" dirty="0"/>
              <a:t>outer loop</a:t>
            </a:r>
            <a:r>
              <a:rPr lang="en-US" sz="2000" dirty="0" smtClean="0"/>
              <a:t>":</a:t>
            </a:r>
          </a:p>
          <a:p>
            <a:endParaRPr lang="en-US" sz="2000" dirty="0"/>
          </a:p>
          <a:p>
            <a:r>
              <a:rPr lang="en-US" sz="2000" b="1" dirty="0"/>
              <a:t>for loops cannot be empty</a:t>
            </a:r>
            <a:r>
              <a:rPr lang="en-US" sz="2000" dirty="0"/>
              <a:t>, but if you for some reason have a for loop with no content, put in the </a:t>
            </a:r>
            <a:r>
              <a:rPr lang="en-US" sz="2000" dirty="0">
                <a:solidFill>
                  <a:srgbClr val="FF0000"/>
                </a:solidFill>
              </a:rPr>
              <a:t>pass </a:t>
            </a:r>
            <a:r>
              <a:rPr lang="en-US" sz="2000" dirty="0"/>
              <a:t>statement to avoid getting an error.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38901" y="5164050"/>
            <a:ext cx="5145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</a:t>
            </a:r>
            <a:endParaRPr lang="en-US" dirty="0"/>
          </a:p>
        </p:txBody>
      </p:sp>
      <p:sp>
        <p:nvSpPr>
          <p:cNvPr id="24" name="Rectangle 20"/>
          <p:cNvSpPr>
            <a:spLocks noChangeArrowheads="1"/>
          </p:cNvSpPr>
          <p:nvPr/>
        </p:nvSpPr>
        <p:spPr bwMode="auto">
          <a:xfrm>
            <a:off x="6794861" y="1667075"/>
            <a:ext cx="5516288" cy="3205965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GB" sz="2000" dirty="0" smtClean="0">
                <a:solidFill>
                  <a:srgbClr val="000000"/>
                </a:solidFill>
                <a:latin typeface="Segoe UI" panose="020B0502040204020203" pitchFamily="34" charset="0"/>
              </a:rPr>
              <a:t>Example</a:t>
            </a:r>
            <a:endParaRPr lang="en-GB" sz="20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adj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= [</a:t>
            </a:r>
            <a:r>
              <a:rPr lang="en-US" sz="2000" dirty="0">
                <a:solidFill>
                  <a:srgbClr val="A52A2A"/>
                </a:solidFill>
                <a:latin typeface="Consolas" panose="020B0609020204030204" pitchFamily="49" charset="0"/>
              </a:rPr>
              <a:t>"red"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2000" dirty="0">
                <a:solidFill>
                  <a:srgbClr val="A52A2A"/>
                </a:solidFill>
                <a:latin typeface="Consolas" panose="020B0609020204030204" pitchFamily="49" charset="0"/>
              </a:rPr>
              <a:t>"big"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2000" dirty="0">
                <a:solidFill>
                  <a:srgbClr val="A52A2A"/>
                </a:solidFill>
                <a:latin typeface="Consolas" panose="020B0609020204030204" pitchFamily="49" charset="0"/>
              </a:rPr>
              <a:t>"tasty"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fruits = [</a:t>
            </a:r>
            <a:r>
              <a:rPr lang="en-US" sz="2000" dirty="0">
                <a:solidFill>
                  <a:srgbClr val="A52A2A"/>
                </a:solidFill>
                <a:latin typeface="Consolas" panose="020B0609020204030204" pitchFamily="49" charset="0"/>
              </a:rPr>
              <a:t>"apple"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2000" dirty="0">
                <a:solidFill>
                  <a:srgbClr val="A52A2A"/>
                </a:solidFill>
                <a:latin typeface="Consolas" panose="020B0609020204030204" pitchFamily="49" charset="0"/>
              </a:rPr>
              <a:t>"banana"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2000" dirty="0">
                <a:solidFill>
                  <a:srgbClr val="A52A2A"/>
                </a:solidFill>
                <a:latin typeface="Consolas" panose="020B0609020204030204" pitchFamily="49" charset="0"/>
              </a:rPr>
              <a:t>"cherry"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>
                <a:solidFill>
                  <a:srgbClr val="0000CD"/>
                </a:solidFill>
                <a:latin typeface="Consolas" panose="020B0609020204030204" pitchFamily="49" charset="0"/>
              </a:rPr>
              <a:t>for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x </a:t>
            </a:r>
            <a:r>
              <a:rPr lang="en-US" sz="2000" dirty="0">
                <a:solidFill>
                  <a:srgbClr val="0000CD"/>
                </a:solidFill>
                <a:latin typeface="Consolas" panose="020B0609020204030204" pitchFamily="49" charset="0"/>
              </a:rPr>
              <a:t>in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adj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sz="2000" dirty="0">
                <a:solidFill>
                  <a:srgbClr val="0000CD"/>
                </a:solidFill>
                <a:latin typeface="Consolas" panose="020B0609020204030204" pitchFamily="49" charset="0"/>
              </a:rPr>
              <a:t>for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y </a:t>
            </a:r>
            <a:r>
              <a:rPr lang="en-US" sz="2000" dirty="0">
                <a:solidFill>
                  <a:srgbClr val="0000CD"/>
                </a:solidFill>
                <a:latin typeface="Consolas" panose="020B0609020204030204" pitchFamily="49" charset="0"/>
              </a:rPr>
              <a:t>in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fruits:</a:t>
            </a: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000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(x, y</a:t>
            </a:r>
            <a:r>
              <a:rPr lang="en-US" sz="20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GB" sz="2000" dirty="0" smtClean="0">
                <a:solidFill>
                  <a:srgbClr val="000000"/>
                </a:solidFill>
                <a:latin typeface="Segoe UI" panose="020B0502040204020203" pitchFamily="34" charset="0"/>
              </a:rPr>
              <a:t>Example</a:t>
            </a:r>
          </a:p>
          <a:p>
            <a:r>
              <a:rPr lang="en-US" sz="2000" dirty="0">
                <a:solidFill>
                  <a:srgbClr val="0000CD"/>
                </a:solidFill>
                <a:latin typeface="Consolas" panose="020B0609020204030204" pitchFamily="49" charset="0"/>
              </a:rPr>
              <a:t>for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x </a:t>
            </a:r>
            <a:r>
              <a:rPr lang="en-US" sz="2000" dirty="0">
                <a:solidFill>
                  <a:srgbClr val="0000CD"/>
                </a:solidFill>
                <a:latin typeface="Consolas" panose="020B0609020204030204" pitchFamily="49" charset="0"/>
              </a:rPr>
              <a:t>in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[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]:</a:t>
            </a: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sz="2000" dirty="0">
                <a:solidFill>
                  <a:srgbClr val="0000CD"/>
                </a:solidFill>
                <a:latin typeface="Consolas" panose="020B0609020204030204" pitchFamily="49" charset="0"/>
              </a:rPr>
              <a:t>pass</a:t>
            </a:r>
            <a:endParaRPr lang="en-GB" sz="2000" dirty="0" smtClean="0">
              <a:solidFill>
                <a:srgbClr val="000000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00741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Python udf functions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0327" y="1652609"/>
            <a:ext cx="6595355" cy="3880773"/>
          </a:xfrm>
        </p:spPr>
        <p:txBody>
          <a:bodyPr>
            <a:noAutofit/>
          </a:bodyPr>
          <a:lstStyle/>
          <a:p>
            <a:r>
              <a:rPr lang="en-US" dirty="0"/>
              <a:t>A</a:t>
            </a:r>
            <a:r>
              <a:rPr lang="en-US" b="1" dirty="0"/>
              <a:t> function </a:t>
            </a:r>
            <a:r>
              <a:rPr lang="en-US" dirty="0"/>
              <a:t>is a block of code which only runs when it is called.</a:t>
            </a:r>
          </a:p>
          <a:p>
            <a:r>
              <a:rPr lang="en-US" dirty="0" smtClean="0"/>
              <a:t>You </a:t>
            </a:r>
            <a:r>
              <a:rPr lang="en-US" dirty="0"/>
              <a:t>can pass data, known as </a:t>
            </a:r>
            <a:r>
              <a:rPr lang="en-US" b="1" dirty="0"/>
              <a:t>parameters</a:t>
            </a:r>
            <a:r>
              <a:rPr lang="en-US" dirty="0"/>
              <a:t>, into a function.</a:t>
            </a:r>
          </a:p>
          <a:p>
            <a:r>
              <a:rPr lang="en-US" dirty="0" smtClean="0"/>
              <a:t>A </a:t>
            </a:r>
            <a:r>
              <a:rPr lang="en-US" dirty="0"/>
              <a:t>function </a:t>
            </a:r>
            <a:r>
              <a:rPr lang="en-US" b="1" dirty="0"/>
              <a:t>can return </a:t>
            </a:r>
            <a:r>
              <a:rPr lang="en-US" dirty="0"/>
              <a:t>data as a result</a:t>
            </a:r>
            <a:r>
              <a:rPr lang="en-US" dirty="0" smtClean="0"/>
              <a:t>.</a:t>
            </a:r>
          </a:p>
          <a:p>
            <a:r>
              <a:rPr lang="en-US" dirty="0"/>
              <a:t>In Python a function is defined using the </a:t>
            </a:r>
            <a:r>
              <a:rPr lang="en-US" dirty="0" err="1">
                <a:solidFill>
                  <a:srgbClr val="FF0000"/>
                </a:solidFill>
              </a:rPr>
              <a:t>def</a:t>
            </a:r>
            <a:r>
              <a:rPr lang="en-US" dirty="0"/>
              <a:t> keyword</a:t>
            </a:r>
            <a:r>
              <a:rPr lang="en-US" dirty="0" smtClean="0"/>
              <a:t>:</a:t>
            </a:r>
          </a:p>
          <a:p>
            <a:r>
              <a:rPr lang="en-US" dirty="0"/>
              <a:t>To </a:t>
            </a:r>
            <a:r>
              <a:rPr lang="en-US" b="1" dirty="0"/>
              <a:t>call</a:t>
            </a:r>
            <a:r>
              <a:rPr lang="en-US" dirty="0"/>
              <a:t> a function, use the function </a:t>
            </a:r>
            <a:r>
              <a:rPr lang="en-US" b="1" dirty="0"/>
              <a:t>name followed by parenthesis</a:t>
            </a:r>
            <a:r>
              <a:rPr lang="en-US" dirty="0" smtClean="0"/>
              <a:t>:</a:t>
            </a:r>
          </a:p>
          <a:p>
            <a:r>
              <a:rPr lang="en-US" dirty="0"/>
              <a:t>Information can be passed into functions as</a:t>
            </a:r>
            <a:r>
              <a:rPr lang="en-US" b="1" dirty="0"/>
              <a:t> arguments</a:t>
            </a:r>
            <a:r>
              <a:rPr lang="en-US" dirty="0"/>
              <a:t>.</a:t>
            </a:r>
          </a:p>
          <a:p>
            <a:r>
              <a:rPr lang="en-US" dirty="0" smtClean="0"/>
              <a:t>Arguments </a:t>
            </a:r>
            <a:r>
              <a:rPr lang="en-US" dirty="0"/>
              <a:t>are specified after the function name, inside the parentheses. You can add as many arguments as you want, just separate them with a comma.</a:t>
            </a:r>
          </a:p>
          <a:p>
            <a:r>
              <a:rPr lang="en-US" dirty="0" smtClean="0"/>
              <a:t>In the </a:t>
            </a:r>
            <a:r>
              <a:rPr lang="en-US" dirty="0"/>
              <a:t>example </a:t>
            </a:r>
            <a:r>
              <a:rPr lang="en-US" dirty="0" smtClean="0"/>
              <a:t>a </a:t>
            </a:r>
            <a:r>
              <a:rPr lang="en-US" dirty="0"/>
              <a:t>function with one argument (</a:t>
            </a:r>
            <a:r>
              <a:rPr lang="en-US" dirty="0" err="1"/>
              <a:t>fname</a:t>
            </a:r>
            <a:r>
              <a:rPr lang="en-US" dirty="0"/>
              <a:t>). When the function is called, we pass along a first name, which is used inside the function to print the full name: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38901" y="5164050"/>
            <a:ext cx="5145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</a:t>
            </a:r>
            <a:endParaRPr lang="en-US" dirty="0"/>
          </a:p>
        </p:txBody>
      </p:sp>
      <p:sp>
        <p:nvSpPr>
          <p:cNvPr id="24" name="Rectangle 20"/>
          <p:cNvSpPr>
            <a:spLocks noChangeArrowheads="1"/>
          </p:cNvSpPr>
          <p:nvPr/>
        </p:nvSpPr>
        <p:spPr bwMode="auto">
          <a:xfrm>
            <a:off x="7135683" y="1270000"/>
            <a:ext cx="4958281" cy="4006185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GB" dirty="0" smtClean="0">
                <a:solidFill>
                  <a:srgbClr val="000000"/>
                </a:solidFill>
                <a:latin typeface="Segoe UI" panose="020B0502040204020203" pitchFamily="34" charset="0"/>
              </a:rPr>
              <a:t>Example</a:t>
            </a:r>
            <a:endParaRPr lang="en-GB" dirty="0" smtClean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r>
              <a:rPr lang="en-US" dirty="0" err="1">
                <a:solidFill>
                  <a:srgbClr val="0000CD"/>
                </a:solidFill>
                <a:latin typeface="Consolas" panose="020B060902020403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my_function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():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"Hello from a function"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my_function</a:t>
            </a:r>
            <a:r>
              <a:rPr lang="en-US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endParaRPr lang="en-US" b="1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Example</a:t>
            </a:r>
          </a:p>
          <a:p>
            <a:r>
              <a:rPr lang="en-US" dirty="0" err="1">
                <a:solidFill>
                  <a:srgbClr val="0000CD"/>
                </a:solidFill>
                <a:latin typeface="Consolas" panose="020B060902020403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my_function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fname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fname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+ 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 </a:t>
            </a:r>
            <a:r>
              <a:rPr lang="en-US" dirty="0" err="1">
                <a:solidFill>
                  <a:srgbClr val="A52A2A"/>
                </a:solidFill>
                <a:latin typeface="Consolas" panose="020B0609020204030204" pitchFamily="49" charset="0"/>
              </a:rPr>
              <a:t>Refsnes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my_function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A52A2A"/>
                </a:solidFill>
                <a:latin typeface="Consolas" panose="020B0609020204030204" pitchFamily="49" charset="0"/>
              </a:rPr>
              <a:t>"Emil"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my_function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A52A2A"/>
                </a:solidFill>
                <a:latin typeface="Consolas" panose="020B0609020204030204" pitchFamily="49" charset="0"/>
              </a:rPr>
              <a:t>"Tobias"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my_function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A52A2A"/>
                </a:solidFill>
                <a:latin typeface="Consolas" panose="020B0609020204030204" pitchFamily="49" charset="0"/>
              </a:rPr>
              <a:t>"Linus</a:t>
            </a:r>
            <a:r>
              <a:rPr lang="en-US" b="1" dirty="0" smtClean="0">
                <a:solidFill>
                  <a:srgbClr val="A52A2A"/>
                </a:solidFill>
                <a:latin typeface="Consolas" panose="020B0609020204030204" pitchFamily="49" charset="0"/>
              </a:rPr>
              <a:t>"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endParaRPr lang="en-GB" dirty="0" smtClean="0">
              <a:solidFill>
                <a:srgbClr val="000000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59832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Python udf functions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652609"/>
            <a:ext cx="5898033" cy="3880773"/>
          </a:xfrm>
        </p:spPr>
        <p:txBody>
          <a:bodyPr>
            <a:noAutofit/>
          </a:bodyPr>
          <a:lstStyle/>
          <a:p>
            <a:r>
              <a:rPr lang="en-US" sz="1400" dirty="0"/>
              <a:t>The terms </a:t>
            </a:r>
            <a:r>
              <a:rPr lang="en-US" sz="1400" b="1" dirty="0"/>
              <a:t>parameter and argument </a:t>
            </a:r>
            <a:r>
              <a:rPr lang="en-US" sz="1400" dirty="0"/>
              <a:t>can be used for the same thing: information that are passed into a function.</a:t>
            </a:r>
          </a:p>
          <a:p>
            <a:pPr lvl="1"/>
            <a:r>
              <a:rPr lang="en-US" sz="1400" b="1" dirty="0" smtClean="0"/>
              <a:t>From </a:t>
            </a:r>
            <a:r>
              <a:rPr lang="en-US" sz="1400" b="1" dirty="0"/>
              <a:t>a function's </a:t>
            </a:r>
            <a:r>
              <a:rPr lang="en-US" sz="1400" b="1" dirty="0" smtClean="0"/>
              <a:t>perspective</a:t>
            </a:r>
            <a:r>
              <a:rPr lang="en-US" sz="1400" dirty="0" smtClean="0"/>
              <a:t>: A </a:t>
            </a:r>
            <a:r>
              <a:rPr lang="en-US" sz="1400" b="1" dirty="0"/>
              <a:t>paramete</a:t>
            </a:r>
            <a:r>
              <a:rPr lang="en-US" sz="1400" dirty="0"/>
              <a:t>r is the variable listed inside the parentheses in the function definition</a:t>
            </a:r>
            <a:r>
              <a:rPr lang="en-US" sz="1400" dirty="0" smtClean="0"/>
              <a:t>.</a:t>
            </a:r>
            <a:endParaRPr lang="en-US" sz="1400" dirty="0"/>
          </a:p>
          <a:p>
            <a:pPr lvl="1"/>
            <a:r>
              <a:rPr lang="en-US" sz="1400" dirty="0"/>
              <a:t>An </a:t>
            </a:r>
            <a:r>
              <a:rPr lang="en-US" sz="1400" b="1" dirty="0"/>
              <a:t>argument</a:t>
            </a:r>
            <a:r>
              <a:rPr lang="en-US" sz="1400" dirty="0"/>
              <a:t> is the value that is sent to the function when it is called</a:t>
            </a:r>
            <a:r>
              <a:rPr lang="en-US" sz="1400" dirty="0" smtClean="0"/>
              <a:t>.</a:t>
            </a:r>
          </a:p>
          <a:p>
            <a:r>
              <a:rPr lang="en-US" sz="1400" b="1" dirty="0"/>
              <a:t>By default</a:t>
            </a:r>
            <a:r>
              <a:rPr lang="en-US" sz="1400" dirty="0"/>
              <a:t>, a function must be called with the correct number of arguments. Meaning that if your function expects 2 arguments, you have to call the function with 2 arguments, not more, and not less</a:t>
            </a:r>
            <a:r>
              <a:rPr lang="en-US" sz="1400" dirty="0" smtClean="0"/>
              <a:t>.</a:t>
            </a:r>
          </a:p>
          <a:p>
            <a:r>
              <a:rPr lang="en-US" sz="1400" dirty="0"/>
              <a:t>If you do not know how many arguments that will be passed into your function, add </a:t>
            </a:r>
            <a:r>
              <a:rPr lang="en-US" sz="1400" dirty="0">
                <a:solidFill>
                  <a:srgbClr val="FF0000"/>
                </a:solidFill>
              </a:rPr>
              <a:t>a * </a:t>
            </a:r>
            <a:r>
              <a:rPr lang="en-US" sz="1400" dirty="0"/>
              <a:t>before the parameter name in the function definition.</a:t>
            </a:r>
          </a:p>
          <a:p>
            <a:r>
              <a:rPr lang="en-US" sz="1400" dirty="0" smtClean="0"/>
              <a:t>This </a:t>
            </a:r>
            <a:r>
              <a:rPr lang="en-US" sz="1400" dirty="0"/>
              <a:t>way the function will receive a tuple of arguments, and can access the items accordingly</a:t>
            </a:r>
            <a:r>
              <a:rPr lang="en-US" dirty="0"/>
              <a:t>:</a:t>
            </a:r>
          </a:p>
          <a:p>
            <a:endParaRPr lang="en-US" sz="1600" dirty="0"/>
          </a:p>
        </p:txBody>
      </p:sp>
      <p:sp>
        <p:nvSpPr>
          <p:cNvPr id="4" name="TextBox 3"/>
          <p:cNvSpPr txBox="1"/>
          <p:nvPr/>
        </p:nvSpPr>
        <p:spPr>
          <a:xfrm>
            <a:off x="7838901" y="5164050"/>
            <a:ext cx="5145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</a:t>
            </a:r>
            <a:endParaRPr lang="en-US" dirty="0"/>
          </a:p>
        </p:txBody>
      </p:sp>
      <p:sp>
        <p:nvSpPr>
          <p:cNvPr id="24" name="Rectangle 20"/>
          <p:cNvSpPr>
            <a:spLocks noChangeArrowheads="1"/>
          </p:cNvSpPr>
          <p:nvPr/>
        </p:nvSpPr>
        <p:spPr bwMode="auto">
          <a:xfrm>
            <a:off x="6794861" y="1697854"/>
            <a:ext cx="4958281" cy="3144410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GB" sz="1400" dirty="0" smtClean="0">
                <a:solidFill>
                  <a:srgbClr val="000000"/>
                </a:solidFill>
                <a:latin typeface="Segoe UI" panose="020B0502040204020203" pitchFamily="34" charset="0"/>
              </a:rPr>
              <a:t>Example</a:t>
            </a:r>
            <a:endParaRPr lang="en-GB" sz="14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r>
              <a:rPr lang="en-US" sz="1400">
                <a:solidFill>
                  <a:srgbClr val="0000CD"/>
                </a:solidFill>
                <a:latin typeface="Consolas" panose="020B0609020204030204" pitchFamily="49" charset="0"/>
              </a:rPr>
              <a:t>def</a:t>
            </a: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 my_function(fname, lname):</a:t>
            </a:r>
            <a:r>
              <a:rPr lang="en-US" sz="1400"/>
              <a:t/>
            </a:r>
            <a:br>
              <a:rPr lang="en-US" sz="1400"/>
            </a:b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sz="140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(fname + </a:t>
            </a:r>
            <a:r>
              <a:rPr lang="en-US" sz="1400">
                <a:solidFill>
                  <a:srgbClr val="A52A2A"/>
                </a:solidFill>
                <a:latin typeface="Consolas" panose="020B0609020204030204" pitchFamily="49" charset="0"/>
              </a:rPr>
              <a:t>" "</a:t>
            </a: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 + lname)</a:t>
            </a:r>
            <a:r>
              <a:rPr lang="en-US" sz="1400"/>
              <a:t/>
            </a:r>
            <a:br>
              <a:rPr lang="en-US" sz="1400"/>
            </a:br>
            <a:r>
              <a:rPr lang="en-US" sz="1400"/>
              <a:t/>
            </a:r>
            <a:br>
              <a:rPr lang="en-US" sz="1400"/>
            </a:b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my_function(</a:t>
            </a:r>
            <a:r>
              <a:rPr lang="en-US" sz="1400">
                <a:solidFill>
                  <a:srgbClr val="A52A2A"/>
                </a:solidFill>
                <a:latin typeface="Consolas" panose="020B0609020204030204" pitchFamily="49" charset="0"/>
              </a:rPr>
              <a:t>"Emil"</a:t>
            </a: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400">
                <a:solidFill>
                  <a:srgbClr val="A52A2A"/>
                </a:solidFill>
                <a:latin typeface="Consolas" panose="020B0609020204030204" pitchFamily="49" charset="0"/>
              </a:rPr>
              <a:t>"Refsnes</a:t>
            </a:r>
            <a:r>
              <a:rPr lang="en-US" sz="1400" smtClean="0">
                <a:solidFill>
                  <a:srgbClr val="A52A2A"/>
                </a:solidFill>
                <a:latin typeface="Consolas" panose="020B0609020204030204" pitchFamily="49" charset="0"/>
              </a:rPr>
              <a:t>"</a:t>
            </a:r>
            <a:r>
              <a:rPr lang="en-US" sz="1400" smtClean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400"/>
              <a:t/>
            </a:r>
            <a:br>
              <a:rPr lang="en-US" sz="1400"/>
            </a:br>
            <a:r>
              <a:rPr lang="en-US" sz="1400"/>
              <a:t/>
            </a:r>
            <a:br>
              <a:rPr lang="en-US" sz="1400"/>
            </a:br>
            <a:r>
              <a:rPr lang="en-US" sz="1400" b="1" smtClean="0">
                <a:solidFill>
                  <a:srgbClr val="000000"/>
                </a:solidFill>
                <a:latin typeface="Consolas" panose="020B0609020204030204" pitchFamily="49" charset="0"/>
              </a:rPr>
              <a:t>Example</a:t>
            </a:r>
          </a:p>
          <a:p>
            <a:r>
              <a:rPr lang="en-US" sz="1400">
                <a:solidFill>
                  <a:srgbClr val="0000CD"/>
                </a:solidFill>
                <a:latin typeface="Consolas" panose="020B0609020204030204" pitchFamily="49" charset="0"/>
              </a:rPr>
              <a:t>def</a:t>
            </a: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 my_function(*kids):</a:t>
            </a:r>
            <a:r>
              <a:rPr lang="en-US" sz="1400"/>
              <a:t/>
            </a:r>
            <a:br>
              <a:rPr lang="en-US" sz="1400"/>
            </a:b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sz="140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>
                <a:solidFill>
                  <a:srgbClr val="A52A2A"/>
                </a:solidFill>
                <a:latin typeface="Consolas" panose="020B0609020204030204" pitchFamily="49" charset="0"/>
              </a:rPr>
              <a:t>"The youngest child is "</a:t>
            </a: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 + kids[</a:t>
            </a:r>
            <a:r>
              <a:rPr lang="en-US" sz="140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  <a:r>
              <a:rPr lang="en-US" sz="1400"/>
              <a:t/>
            </a:r>
            <a:br>
              <a:rPr lang="en-US" sz="1400"/>
            </a:br>
            <a:r>
              <a:rPr lang="en-US" sz="1400"/>
              <a:t/>
            </a:r>
            <a:br>
              <a:rPr lang="en-US" sz="1400"/>
            </a:b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my_function(</a:t>
            </a:r>
            <a:r>
              <a:rPr lang="en-US" sz="1400">
                <a:solidFill>
                  <a:srgbClr val="A52A2A"/>
                </a:solidFill>
                <a:latin typeface="Consolas" panose="020B0609020204030204" pitchFamily="49" charset="0"/>
              </a:rPr>
              <a:t>"Emil"</a:t>
            </a: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400">
                <a:solidFill>
                  <a:srgbClr val="A52A2A"/>
                </a:solidFill>
                <a:latin typeface="Consolas" panose="020B0609020204030204" pitchFamily="49" charset="0"/>
              </a:rPr>
              <a:t>"Tobias"</a:t>
            </a: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400">
                <a:solidFill>
                  <a:srgbClr val="A52A2A"/>
                </a:solidFill>
                <a:latin typeface="Consolas" panose="020B0609020204030204" pitchFamily="49" charset="0"/>
              </a:rPr>
              <a:t>"Linus</a:t>
            </a:r>
            <a:r>
              <a:rPr lang="en-US" sz="1400" smtClean="0">
                <a:solidFill>
                  <a:srgbClr val="A52A2A"/>
                </a:solidFill>
                <a:latin typeface="Consolas" panose="020B0609020204030204" pitchFamily="49" charset="0"/>
              </a:rPr>
              <a:t>"</a:t>
            </a:r>
            <a:r>
              <a:rPr lang="en-US" sz="1400" smtClean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endParaRPr lang="en-US" sz="140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endParaRPr lang="en-GB" sz="1400" smtClean="0">
              <a:solidFill>
                <a:srgbClr val="000000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28382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Python udf functions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5636" y="1329673"/>
            <a:ext cx="6093229" cy="3880773"/>
          </a:xfrm>
        </p:spPr>
        <p:txBody>
          <a:bodyPr>
            <a:noAutofit/>
          </a:bodyPr>
          <a:lstStyle/>
          <a:p>
            <a:r>
              <a:rPr lang="en-US" dirty="0"/>
              <a:t>You can also send arguments with the </a:t>
            </a:r>
            <a:r>
              <a:rPr lang="en-US" b="1" dirty="0"/>
              <a:t>key = value </a:t>
            </a:r>
            <a:r>
              <a:rPr lang="en-US" dirty="0"/>
              <a:t>syntax.</a:t>
            </a:r>
          </a:p>
          <a:p>
            <a:r>
              <a:rPr lang="en-US" dirty="0" smtClean="0"/>
              <a:t>This </a:t>
            </a:r>
            <a:r>
              <a:rPr lang="en-US" dirty="0"/>
              <a:t>way the order of the arguments does not matter</a:t>
            </a:r>
            <a:r>
              <a:rPr lang="en-US" dirty="0" smtClean="0"/>
              <a:t>.</a:t>
            </a:r>
          </a:p>
          <a:p>
            <a:r>
              <a:rPr lang="en-US" sz="2000" dirty="0"/>
              <a:t>If we call the function without argument, it uses the </a:t>
            </a:r>
            <a:r>
              <a:rPr lang="en-US" sz="2000" b="1" dirty="0"/>
              <a:t>default value</a:t>
            </a:r>
            <a:r>
              <a:rPr lang="en-US" sz="2000" dirty="0" smtClean="0"/>
              <a:t>:</a:t>
            </a:r>
          </a:p>
          <a:p>
            <a:r>
              <a:rPr lang="en-US" dirty="0"/>
              <a:t>You can send any data types of argument to a function (string, number, list, dictionary etc.), and it will be </a:t>
            </a:r>
            <a:r>
              <a:rPr lang="en-US" b="1" dirty="0"/>
              <a:t>treated as </a:t>
            </a:r>
            <a:r>
              <a:rPr lang="en-US" dirty="0"/>
              <a:t>the </a:t>
            </a:r>
            <a:r>
              <a:rPr lang="en-US" b="1" dirty="0"/>
              <a:t>same data type </a:t>
            </a:r>
            <a:r>
              <a:rPr lang="en-US" dirty="0"/>
              <a:t>inside the function.</a:t>
            </a:r>
          </a:p>
          <a:p>
            <a:pPr lvl="1"/>
            <a:r>
              <a:rPr lang="en-US" dirty="0" smtClean="0"/>
              <a:t>E.g</a:t>
            </a:r>
            <a:r>
              <a:rPr lang="en-US" dirty="0"/>
              <a:t>. </a:t>
            </a:r>
            <a:r>
              <a:rPr lang="en-US" dirty="0"/>
              <a:t>if you send a List as an argument, it will still be a List when it reaches the function</a:t>
            </a:r>
            <a:r>
              <a:rPr lang="en-US" dirty="0"/>
              <a:t>:</a:t>
            </a:r>
          </a:p>
          <a:p>
            <a:r>
              <a:rPr lang="en-US" dirty="0"/>
              <a:t>To let a function return a value, use the </a:t>
            </a:r>
            <a:r>
              <a:rPr lang="en-US" dirty="0">
                <a:solidFill>
                  <a:srgbClr val="FF0000"/>
                </a:solidFill>
              </a:rPr>
              <a:t>return </a:t>
            </a:r>
            <a:r>
              <a:rPr lang="en-US" dirty="0"/>
              <a:t>statement:</a:t>
            </a:r>
          </a:p>
          <a:p>
            <a:endParaRPr lang="en-US" sz="1600" dirty="0"/>
          </a:p>
        </p:txBody>
      </p:sp>
      <p:sp>
        <p:nvSpPr>
          <p:cNvPr id="24" name="Rectangle 20"/>
          <p:cNvSpPr>
            <a:spLocks noChangeArrowheads="1"/>
          </p:cNvSpPr>
          <p:nvPr/>
        </p:nvSpPr>
        <p:spPr bwMode="auto">
          <a:xfrm>
            <a:off x="6575367" y="5084"/>
            <a:ext cx="5616633" cy="6529952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GB" sz="1600" dirty="0" smtClean="0">
                <a:solidFill>
                  <a:srgbClr val="000000"/>
                </a:solidFill>
                <a:latin typeface="Segoe UI" panose="020B0502040204020203" pitchFamily="34" charset="0"/>
              </a:rPr>
              <a:t>Example</a:t>
            </a:r>
            <a:endParaRPr lang="en-GB" sz="16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r>
              <a:rPr lang="en-US" sz="1600" dirty="0" err="1">
                <a:solidFill>
                  <a:srgbClr val="0000CD"/>
                </a:solidFill>
                <a:latin typeface="Consolas" panose="020B0609020204030204" pitchFamily="49" charset="0"/>
              </a:rPr>
              <a:t>def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my_function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(child3, child2, child1):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"The youngest child is 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+ child3)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my_function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(child1 = 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"Emil"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child2 = 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"Tobias"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child3 = 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"Linus"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/>
              <a:t/>
            </a:r>
            <a:br>
              <a:rPr lang="en-US" sz="1600" dirty="0"/>
            </a:br>
            <a:r>
              <a:rPr lang="en-US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Example</a:t>
            </a:r>
          </a:p>
          <a:p>
            <a:r>
              <a:rPr lang="en-US" sz="1600" dirty="0" err="1" smtClean="0">
                <a:solidFill>
                  <a:srgbClr val="0000CD"/>
                </a:solidFill>
                <a:latin typeface="Consolas" panose="020B0609020204030204" pitchFamily="49" charset="0"/>
              </a:rPr>
              <a:t>def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my_function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country = </a:t>
            </a:r>
            <a:r>
              <a:rPr lang="en-US" sz="1600" b="1" dirty="0">
                <a:solidFill>
                  <a:srgbClr val="A52A2A"/>
                </a:solidFill>
                <a:latin typeface="Consolas" panose="020B0609020204030204" pitchFamily="49" charset="0"/>
              </a:rPr>
              <a:t>"Norway"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"I am from 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+ country)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my_function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 smtClean="0">
                <a:solidFill>
                  <a:srgbClr val="A52A2A"/>
                </a:solidFill>
                <a:latin typeface="Consolas" panose="020B0609020204030204" pitchFamily="49" charset="0"/>
              </a:rPr>
              <a:t>Sweden"</a:t>
            </a:r>
            <a:r>
              <a:rPr 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my_function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"India"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my_function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my_function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"Brazil</a:t>
            </a:r>
            <a:r>
              <a:rPr lang="en-US" sz="1600" dirty="0" smtClean="0">
                <a:solidFill>
                  <a:srgbClr val="A52A2A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Example</a:t>
            </a:r>
          </a:p>
          <a:p>
            <a:r>
              <a:rPr lang="en-US" sz="1600" dirty="0" err="1">
                <a:solidFill>
                  <a:srgbClr val="0000CD"/>
                </a:solidFill>
                <a:latin typeface="Consolas" panose="020B0609020204030204" pitchFamily="49" charset="0"/>
              </a:rPr>
              <a:t>def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my_function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(food):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for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x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in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food: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(x)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fruits 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= [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"apple"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"banana"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"cherry"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my_function</a:t>
            </a:r>
            <a:r>
              <a:rPr 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(fruits</a:t>
            </a:r>
            <a:r>
              <a:rPr 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Example</a:t>
            </a:r>
          </a:p>
          <a:p>
            <a:r>
              <a:rPr lang="en-US" sz="1600" dirty="0" err="1">
                <a:solidFill>
                  <a:srgbClr val="0000CD"/>
                </a:solidFill>
                <a:latin typeface="Consolas" panose="020B0609020204030204" pitchFamily="49" charset="0"/>
              </a:rPr>
              <a:t>def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my_function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(x):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sz="1600" b="1" dirty="0">
                <a:solidFill>
                  <a:srgbClr val="0000CD"/>
                </a:solidFill>
                <a:latin typeface="Consolas" panose="020B0609020204030204" pitchFamily="49" charset="0"/>
              </a:rPr>
              <a:t>return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5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 * x</a:t>
            </a:r>
            <a:b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 smtClean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my_function</a:t>
            </a:r>
            <a:r>
              <a:rPr 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my_function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5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my_function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9</a:t>
            </a:r>
            <a:r>
              <a:rPr 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  <a:endParaRPr lang="en-GB" sz="1600" dirty="0" smtClean="0">
              <a:solidFill>
                <a:srgbClr val="000000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98395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Python Lambda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448" y="1428165"/>
            <a:ext cx="6217920" cy="3880773"/>
          </a:xfrm>
        </p:spPr>
        <p:txBody>
          <a:bodyPr>
            <a:noAutofit/>
          </a:bodyPr>
          <a:lstStyle/>
          <a:p>
            <a:r>
              <a:rPr lang="en-US" sz="1600" dirty="0"/>
              <a:t>A </a:t>
            </a:r>
            <a:r>
              <a:rPr lang="en-US" sz="1600" dirty="0">
                <a:solidFill>
                  <a:srgbClr val="FF0000"/>
                </a:solidFill>
              </a:rPr>
              <a:t>lambda</a:t>
            </a:r>
            <a:r>
              <a:rPr lang="en-US" sz="1600" dirty="0"/>
              <a:t> function is a small anonymous function.</a:t>
            </a:r>
          </a:p>
          <a:p>
            <a:r>
              <a:rPr lang="en-US" sz="1600" dirty="0" smtClean="0"/>
              <a:t>A </a:t>
            </a:r>
            <a:r>
              <a:rPr lang="en-US" sz="1600" dirty="0">
                <a:solidFill>
                  <a:srgbClr val="FF0000"/>
                </a:solidFill>
              </a:rPr>
              <a:t>lambda</a:t>
            </a:r>
            <a:r>
              <a:rPr lang="en-US" sz="1600" dirty="0"/>
              <a:t> function can take </a:t>
            </a:r>
            <a:r>
              <a:rPr lang="en-US" sz="1600" b="1" dirty="0"/>
              <a:t>any number of arguments</a:t>
            </a:r>
            <a:r>
              <a:rPr lang="en-US" sz="1600" dirty="0"/>
              <a:t>, but </a:t>
            </a:r>
            <a:r>
              <a:rPr lang="en-US" sz="1600" b="1" dirty="0"/>
              <a:t>can only have one expression</a:t>
            </a:r>
            <a:r>
              <a:rPr lang="en-US" sz="1600" dirty="0" smtClean="0"/>
              <a:t>.</a:t>
            </a:r>
          </a:p>
          <a:p>
            <a:r>
              <a:rPr lang="en-US" dirty="0" smtClean="0"/>
              <a:t>Syntax:</a:t>
            </a:r>
            <a:endParaRPr lang="en-US" dirty="0"/>
          </a:p>
          <a:p>
            <a:pPr lvl="1"/>
            <a:r>
              <a:rPr lang="en-US" b="1" dirty="0"/>
              <a:t>lambda arguments : expression</a:t>
            </a:r>
          </a:p>
          <a:p>
            <a:pPr lvl="1"/>
            <a:r>
              <a:rPr lang="en-US" dirty="0"/>
              <a:t>The expression is executed and the result is returned</a:t>
            </a:r>
            <a:r>
              <a:rPr lang="en-US" dirty="0" smtClean="0"/>
              <a:t>:</a:t>
            </a:r>
          </a:p>
          <a:p>
            <a:r>
              <a:rPr lang="en-US" sz="1600" dirty="0"/>
              <a:t>Lambda functions can take any number of arguments:</a:t>
            </a:r>
          </a:p>
          <a:p>
            <a:r>
              <a:rPr lang="en-US" sz="1600" dirty="0"/>
              <a:t>Summarize argument a, b, and c and return the result:</a:t>
            </a:r>
          </a:p>
          <a:p>
            <a:r>
              <a:rPr lang="en-US" sz="1600" dirty="0"/>
              <a:t>The power of lambda is better shown when you use them as an </a:t>
            </a:r>
            <a:r>
              <a:rPr lang="en-US" sz="1600" b="1" dirty="0"/>
              <a:t>anonymous function inside another function.</a:t>
            </a:r>
          </a:p>
          <a:p>
            <a:r>
              <a:rPr lang="en-US" sz="1600" dirty="0" smtClean="0"/>
              <a:t>Say </a:t>
            </a:r>
            <a:r>
              <a:rPr lang="en-US" sz="1600" dirty="0"/>
              <a:t>you have a function definition that takes one argument, and that argument will be multiplied with an unknown number:</a:t>
            </a:r>
          </a:p>
        </p:txBody>
      </p:sp>
      <p:sp>
        <p:nvSpPr>
          <p:cNvPr id="24" name="Rectangle 20"/>
          <p:cNvSpPr>
            <a:spLocks noChangeArrowheads="1"/>
          </p:cNvSpPr>
          <p:nvPr/>
        </p:nvSpPr>
        <p:spPr bwMode="auto">
          <a:xfrm>
            <a:off x="6794861" y="328254"/>
            <a:ext cx="5217030" cy="5883622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Example</a:t>
            </a:r>
          </a:p>
          <a:p>
            <a:r>
              <a:rPr lang="pt-BR" sz="2000" dirty="0">
                <a:solidFill>
                  <a:srgbClr val="000000"/>
                </a:solidFill>
                <a:latin typeface="Consolas" panose="020B0609020204030204" pitchFamily="49" charset="0"/>
              </a:rPr>
              <a:t>x = </a:t>
            </a:r>
            <a:r>
              <a:rPr lang="pt-BR" sz="2000" dirty="0">
                <a:solidFill>
                  <a:srgbClr val="0000CD"/>
                </a:solidFill>
                <a:latin typeface="Consolas" panose="020B0609020204030204" pitchFamily="49" charset="0"/>
              </a:rPr>
              <a:t>lambda</a:t>
            </a:r>
            <a:r>
              <a:rPr lang="pt-BR" sz="2000" dirty="0">
                <a:solidFill>
                  <a:srgbClr val="000000"/>
                </a:solidFill>
                <a:latin typeface="Consolas" panose="020B0609020204030204" pitchFamily="49" charset="0"/>
              </a:rPr>
              <a:t> a : a + </a:t>
            </a:r>
            <a:r>
              <a:rPr lang="pt-BR" sz="2000" dirty="0">
                <a:solidFill>
                  <a:srgbClr val="FF0000"/>
                </a:solidFill>
                <a:latin typeface="Consolas" panose="020B0609020204030204" pitchFamily="49" charset="0"/>
              </a:rPr>
              <a:t>10</a:t>
            </a:r>
            <a:r>
              <a:rPr lang="pt-BR" sz="2000" dirty="0"/>
              <a:t/>
            </a:r>
            <a:br>
              <a:rPr lang="pt-BR" sz="2000" dirty="0"/>
            </a:br>
            <a:r>
              <a:rPr lang="pt-BR" sz="2000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pt-BR" sz="2000" dirty="0">
                <a:solidFill>
                  <a:srgbClr val="000000"/>
                </a:solidFill>
                <a:latin typeface="Consolas" panose="020B0609020204030204" pitchFamily="49" charset="0"/>
              </a:rPr>
              <a:t>(x(</a:t>
            </a:r>
            <a:r>
              <a:rPr lang="pt-BR" sz="2000" dirty="0">
                <a:solidFill>
                  <a:srgbClr val="FF0000"/>
                </a:solidFill>
                <a:latin typeface="Consolas" panose="020B0609020204030204" pitchFamily="49" charset="0"/>
              </a:rPr>
              <a:t>5</a:t>
            </a:r>
            <a:r>
              <a:rPr lang="pt-BR" sz="20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</a:p>
          <a:p>
            <a:endParaRPr lang="pt-BR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Example</a:t>
            </a:r>
          </a:p>
          <a:p>
            <a:r>
              <a:rPr lang="pt-BR" sz="2000" dirty="0">
                <a:solidFill>
                  <a:srgbClr val="000000"/>
                </a:solidFill>
                <a:latin typeface="Consolas" panose="020B0609020204030204" pitchFamily="49" charset="0"/>
              </a:rPr>
              <a:t>x = </a:t>
            </a:r>
            <a:r>
              <a:rPr lang="pt-BR" sz="2000" dirty="0">
                <a:solidFill>
                  <a:srgbClr val="0000CD"/>
                </a:solidFill>
                <a:latin typeface="Consolas" panose="020B0609020204030204" pitchFamily="49" charset="0"/>
              </a:rPr>
              <a:t>lambda</a:t>
            </a:r>
            <a:r>
              <a:rPr lang="pt-BR" sz="2000" dirty="0">
                <a:solidFill>
                  <a:srgbClr val="000000"/>
                </a:solidFill>
                <a:latin typeface="Consolas" panose="020B0609020204030204" pitchFamily="49" charset="0"/>
              </a:rPr>
              <a:t> a, b : a * b</a:t>
            </a:r>
            <a:r>
              <a:rPr lang="pt-BR" sz="2000" dirty="0"/>
              <a:t/>
            </a:r>
            <a:br>
              <a:rPr lang="pt-BR" sz="2000" dirty="0"/>
            </a:br>
            <a:r>
              <a:rPr lang="pt-BR" sz="2000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pt-BR" sz="2000" dirty="0">
                <a:solidFill>
                  <a:srgbClr val="000000"/>
                </a:solidFill>
                <a:latin typeface="Consolas" panose="020B0609020204030204" pitchFamily="49" charset="0"/>
              </a:rPr>
              <a:t>(x(</a:t>
            </a:r>
            <a:r>
              <a:rPr lang="pt-BR" sz="2000" dirty="0">
                <a:solidFill>
                  <a:srgbClr val="FF0000"/>
                </a:solidFill>
                <a:latin typeface="Consolas" panose="020B0609020204030204" pitchFamily="49" charset="0"/>
              </a:rPr>
              <a:t>5</a:t>
            </a:r>
            <a:r>
              <a:rPr lang="pt-BR" sz="20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pt-BR" sz="2000" dirty="0">
                <a:solidFill>
                  <a:srgbClr val="FF0000"/>
                </a:solidFill>
                <a:latin typeface="Consolas" panose="020B0609020204030204" pitchFamily="49" charset="0"/>
              </a:rPr>
              <a:t>6</a:t>
            </a:r>
            <a:r>
              <a:rPr lang="pt-BR" sz="20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</a:p>
          <a:p>
            <a:endParaRPr lang="pt-BR" sz="20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Example</a:t>
            </a:r>
          </a:p>
          <a:p>
            <a:r>
              <a:rPr lang="pt-BR" sz="2000" dirty="0">
                <a:solidFill>
                  <a:srgbClr val="000000"/>
                </a:solidFill>
                <a:latin typeface="Consolas" panose="020B0609020204030204" pitchFamily="49" charset="0"/>
              </a:rPr>
              <a:t>x = </a:t>
            </a:r>
            <a:r>
              <a:rPr lang="pt-BR" sz="2000" dirty="0">
                <a:solidFill>
                  <a:srgbClr val="0000CD"/>
                </a:solidFill>
                <a:latin typeface="Consolas" panose="020B0609020204030204" pitchFamily="49" charset="0"/>
              </a:rPr>
              <a:t>lambda</a:t>
            </a:r>
            <a:r>
              <a:rPr lang="pt-BR" sz="2000" dirty="0">
                <a:solidFill>
                  <a:srgbClr val="000000"/>
                </a:solidFill>
                <a:latin typeface="Consolas" panose="020B0609020204030204" pitchFamily="49" charset="0"/>
              </a:rPr>
              <a:t> a, b, c : a + b + c</a:t>
            </a:r>
            <a:r>
              <a:rPr lang="pt-BR" sz="2000" dirty="0"/>
              <a:t/>
            </a:r>
            <a:br>
              <a:rPr lang="pt-BR" sz="2000" dirty="0"/>
            </a:br>
            <a:r>
              <a:rPr lang="pt-BR" sz="2000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pt-BR" sz="2000" dirty="0">
                <a:solidFill>
                  <a:srgbClr val="000000"/>
                </a:solidFill>
                <a:latin typeface="Consolas" panose="020B0609020204030204" pitchFamily="49" charset="0"/>
              </a:rPr>
              <a:t>(x(</a:t>
            </a:r>
            <a:r>
              <a:rPr lang="pt-BR" sz="2000" dirty="0">
                <a:solidFill>
                  <a:srgbClr val="FF0000"/>
                </a:solidFill>
                <a:latin typeface="Consolas" panose="020B0609020204030204" pitchFamily="49" charset="0"/>
              </a:rPr>
              <a:t>5</a:t>
            </a:r>
            <a:r>
              <a:rPr lang="pt-BR" sz="20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pt-BR" sz="2000" dirty="0">
                <a:solidFill>
                  <a:srgbClr val="FF0000"/>
                </a:solidFill>
                <a:latin typeface="Consolas" panose="020B0609020204030204" pitchFamily="49" charset="0"/>
              </a:rPr>
              <a:t>6</a:t>
            </a:r>
            <a:r>
              <a:rPr lang="pt-BR" sz="20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pt-BR" sz="2000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pt-BR" sz="2000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  <a:endParaRPr lang="en-US" sz="2000" b="1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2000" dirty="0" smtClean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r>
              <a:rPr lang="en-US" sz="2000" dirty="0" smtClean="0">
                <a:solidFill>
                  <a:srgbClr val="000000"/>
                </a:solidFill>
                <a:latin typeface="Verdana" panose="020B0604030504040204" pitchFamily="34" charset="0"/>
              </a:rPr>
              <a:t>Example</a:t>
            </a:r>
          </a:p>
          <a:p>
            <a:r>
              <a:rPr lang="pt-BR" sz="2000" dirty="0">
                <a:solidFill>
                  <a:srgbClr val="0000CD"/>
                </a:solidFill>
                <a:latin typeface="Consolas" panose="020B0609020204030204" pitchFamily="49" charset="0"/>
              </a:rPr>
              <a:t>def</a:t>
            </a:r>
            <a:r>
              <a:rPr lang="pt-BR" sz="2000" dirty="0">
                <a:solidFill>
                  <a:srgbClr val="000000"/>
                </a:solidFill>
                <a:latin typeface="Consolas" panose="020B0609020204030204" pitchFamily="49" charset="0"/>
              </a:rPr>
              <a:t> myfunc(n):</a:t>
            </a:r>
            <a:r>
              <a:rPr lang="pt-BR" sz="2000" dirty="0"/>
              <a:t/>
            </a:r>
            <a:br>
              <a:rPr lang="pt-BR" sz="2000" dirty="0"/>
            </a:br>
            <a:r>
              <a:rPr lang="pt-BR" sz="2000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pt-BR" sz="2000" dirty="0">
                <a:solidFill>
                  <a:srgbClr val="0000CD"/>
                </a:solidFill>
                <a:latin typeface="Consolas" panose="020B0609020204030204" pitchFamily="49" charset="0"/>
              </a:rPr>
              <a:t>return</a:t>
            </a:r>
            <a:r>
              <a:rPr lang="pt-BR" sz="20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pt-BR" sz="2000" dirty="0">
                <a:solidFill>
                  <a:srgbClr val="0000CD"/>
                </a:solidFill>
                <a:latin typeface="Consolas" panose="020B0609020204030204" pitchFamily="49" charset="0"/>
              </a:rPr>
              <a:t>lambda</a:t>
            </a:r>
            <a:r>
              <a:rPr lang="pt-BR" sz="2000" dirty="0">
                <a:solidFill>
                  <a:srgbClr val="000000"/>
                </a:solidFill>
                <a:latin typeface="Consolas" panose="020B0609020204030204" pitchFamily="49" charset="0"/>
              </a:rPr>
              <a:t> a : a * </a:t>
            </a:r>
            <a:r>
              <a:rPr lang="pt-BR" sz="20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n</a:t>
            </a:r>
          </a:p>
          <a:p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mydoubler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myfunc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mydoubler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11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  <a:endParaRPr lang="en-US" sz="20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endParaRPr lang="en-GB" sz="1400" dirty="0" smtClean="0">
              <a:solidFill>
                <a:srgbClr val="000000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56351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 smtClean="0"/>
              <a:t>Summary</a:t>
            </a:r>
            <a:r>
              <a:rPr lang="fr-FR" dirty="0"/>
              <a:t/>
            </a:r>
            <a:br>
              <a:rPr lang="fr-FR" dirty="0"/>
            </a:b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9274002" y="282632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In this lecture we learned following concepts:</a:t>
            </a:r>
          </a:p>
          <a:p>
            <a:pPr lvl="1"/>
            <a:r>
              <a:rPr lang="en-GB" dirty="0" smtClean="0"/>
              <a:t>If Else statements</a:t>
            </a:r>
          </a:p>
          <a:p>
            <a:pPr lvl="1"/>
            <a:r>
              <a:rPr lang="en-GB" dirty="0" smtClean="0"/>
              <a:t>While and For loop</a:t>
            </a:r>
          </a:p>
          <a:p>
            <a:pPr lvl="1"/>
            <a:r>
              <a:rPr lang="en-GB" dirty="0" smtClean="0"/>
              <a:t>User defined </a:t>
            </a:r>
            <a:r>
              <a:rPr lang="en-GB" dirty="0" smtClean="0"/>
              <a:t>functions</a:t>
            </a:r>
          </a:p>
          <a:p>
            <a:pPr lvl="1"/>
            <a:r>
              <a:rPr lang="en-GB" dirty="0" smtClean="0"/>
              <a:t>Lambda function</a:t>
            </a:r>
            <a:endParaRPr lang="en-GB" dirty="0" smtClean="0"/>
          </a:p>
          <a:p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1723717469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1444</TotalTime>
  <Words>1387</Words>
  <Application>Microsoft Office PowerPoint</Application>
  <PresentationFormat>Widescreen</PresentationFormat>
  <Paragraphs>215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Calibri</vt:lpstr>
      <vt:lpstr>Consolas</vt:lpstr>
      <vt:lpstr>Segoe UI</vt:lpstr>
      <vt:lpstr>Trebuchet MS</vt:lpstr>
      <vt:lpstr>Verdana</vt:lpstr>
      <vt:lpstr>Wingdings 3</vt:lpstr>
      <vt:lpstr>Facet</vt:lpstr>
      <vt:lpstr>Data Science</vt:lpstr>
      <vt:lpstr>Python If ... Else</vt:lpstr>
      <vt:lpstr>Python Elif and Else</vt:lpstr>
      <vt:lpstr>Short Hand If &amp; If ... Else</vt:lpstr>
      <vt:lpstr>Or, not and nested if</vt:lpstr>
      <vt:lpstr>Python While Loops</vt:lpstr>
      <vt:lpstr>Python For Loops</vt:lpstr>
      <vt:lpstr>Range() &amp; Else in loop</vt:lpstr>
      <vt:lpstr>Nest loops and pass </vt:lpstr>
      <vt:lpstr>Python udf functions</vt:lpstr>
      <vt:lpstr>Python udf functions</vt:lpstr>
      <vt:lpstr>Python udf functions</vt:lpstr>
      <vt:lpstr>Python Lambda</vt:lpstr>
      <vt:lpstr>Summary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Science</dc:title>
  <dc:creator>DR.ASIF</dc:creator>
  <cp:lastModifiedBy>DR.ASIF</cp:lastModifiedBy>
  <cp:revision>34</cp:revision>
  <cp:lastPrinted>2023-08-20T12:11:36Z</cp:lastPrinted>
  <dcterms:created xsi:type="dcterms:W3CDTF">2023-08-12T13:47:27Z</dcterms:created>
  <dcterms:modified xsi:type="dcterms:W3CDTF">2023-08-20T12:12:21Z</dcterms:modified>
</cp:coreProperties>
</file>
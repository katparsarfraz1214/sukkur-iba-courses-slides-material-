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81" r:id="rId8"/>
    <p:sldId id="280" r:id="rId9"/>
    <p:sldId id="282" r:id="rId10"/>
    <p:sldId id="283" r:id="rId11"/>
    <p:sldId id="284" r:id="rId12"/>
    <p:sldId id="285" r:id="rId13"/>
    <p:sldId id="286" r:id="rId14"/>
    <p:sldId id="287" r:id="rId15"/>
    <p:sldId id="27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63248EFC-7A40-4E2D-8417-2D1AC9504F6F}"/>
    <pc:docChg chg="custSel modSld">
      <pc:chgData name="Muhammad Ismail Mangrio" userId="590c352b-06fa-4bd0-9f05-47e253030496" providerId="ADAL" clId="{63248EFC-7A40-4E2D-8417-2D1AC9504F6F}" dt="2025-08-25T13:07:11.822" v="0" actId="478"/>
      <pc:docMkLst>
        <pc:docMk/>
      </pc:docMkLst>
      <pc:sldChg chg="delSp mod">
        <pc:chgData name="Muhammad Ismail Mangrio" userId="590c352b-06fa-4bd0-9f05-47e253030496" providerId="ADAL" clId="{63248EFC-7A40-4E2D-8417-2D1AC9504F6F}" dt="2025-08-25T13:07:11.822" v="0" actId="478"/>
        <pc:sldMkLst>
          <pc:docMk/>
          <pc:sldMk cId="2773478617" sldId="287"/>
        </pc:sldMkLst>
        <pc:spChg chg="del">
          <ac:chgData name="Muhammad Ismail Mangrio" userId="590c352b-06fa-4bd0-9f05-47e253030496" providerId="ADAL" clId="{63248EFC-7A40-4E2D-8417-2D1AC9504F6F}" dt="2025-08-25T13:07:11.822" v="0" actId="478"/>
          <ac:spMkLst>
            <pc:docMk/>
            <pc:sldMk cId="2773478617" sldId="28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ref_list_insert.asp" TargetMode="External"/><Relationship Id="rId3" Type="http://schemas.openxmlformats.org/officeDocument/2006/relationships/hyperlink" Target="https://www.w3schools.com/python/ref_list_clear.asp" TargetMode="External"/><Relationship Id="rId7" Type="http://schemas.openxmlformats.org/officeDocument/2006/relationships/hyperlink" Target="https://www.w3schools.com/python/ref_list_index.asp" TargetMode="External"/><Relationship Id="rId12" Type="http://schemas.openxmlformats.org/officeDocument/2006/relationships/hyperlink" Target="https://www.w3schools.com/python/ref_list_sort.asp" TargetMode="External"/><Relationship Id="rId2" Type="http://schemas.openxmlformats.org/officeDocument/2006/relationships/hyperlink" Target="https://www.w3schools.com/python/ref_list_append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list_extend.asp" TargetMode="External"/><Relationship Id="rId11" Type="http://schemas.openxmlformats.org/officeDocument/2006/relationships/hyperlink" Target="https://www.w3schools.com/python/ref_list_reverse.asp" TargetMode="External"/><Relationship Id="rId5" Type="http://schemas.openxmlformats.org/officeDocument/2006/relationships/hyperlink" Target="https://www.w3schools.com/python/ref_list_count.asp" TargetMode="External"/><Relationship Id="rId10" Type="http://schemas.openxmlformats.org/officeDocument/2006/relationships/hyperlink" Target="https://www.w3schools.com/python/ref_list_remove.asp" TargetMode="External"/><Relationship Id="rId4" Type="http://schemas.openxmlformats.org/officeDocument/2006/relationships/hyperlink" Target="https://www.w3schools.com/python/ref_list_copy.asp" TargetMode="External"/><Relationship Id="rId9" Type="http://schemas.openxmlformats.org/officeDocument/2006/relationships/hyperlink" Target="https://www.w3schools.com/python/ref_list_pop.asp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Unit 01: Python for Data Science</a:t>
            </a:r>
          </a:p>
          <a:p>
            <a:r>
              <a:rPr lang="en-US" dirty="0"/>
              <a:t>Lecture 03</a:t>
            </a:r>
          </a:p>
          <a:p>
            <a:r>
              <a:rPr lang="en-US"/>
              <a:t>List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52609"/>
            <a:ext cx="7277485" cy="3880773"/>
          </a:xfrm>
        </p:spPr>
        <p:txBody>
          <a:bodyPr>
            <a:noAutofit/>
          </a:bodyPr>
          <a:lstStyle/>
          <a:p>
            <a:r>
              <a:rPr lang="en-GB" b="1" dirty="0"/>
              <a:t>Lists</a:t>
            </a:r>
            <a:r>
              <a:rPr lang="en-GB" dirty="0"/>
              <a:t> are used to </a:t>
            </a:r>
            <a:r>
              <a:rPr lang="en-GB" b="1" dirty="0"/>
              <a:t>store multiple items in a single variable</a:t>
            </a:r>
            <a:r>
              <a:rPr lang="en-GB" dirty="0"/>
              <a:t>.</a:t>
            </a:r>
          </a:p>
          <a:p>
            <a:r>
              <a:rPr lang="en-GB" dirty="0"/>
              <a:t>Lists are one of 4 built-in data types in Python </a:t>
            </a:r>
            <a:r>
              <a:rPr lang="en-GB" b="1" dirty="0"/>
              <a:t>used to store collections of data</a:t>
            </a:r>
            <a:r>
              <a:rPr lang="en-GB" dirty="0"/>
              <a:t>, the other 3 are </a:t>
            </a:r>
            <a:r>
              <a:rPr lang="en-GB" b="1" dirty="0"/>
              <a:t>Tuple</a:t>
            </a:r>
            <a:r>
              <a:rPr lang="en-GB" dirty="0"/>
              <a:t>, </a:t>
            </a:r>
            <a:r>
              <a:rPr lang="en-GB" b="1" dirty="0"/>
              <a:t>Set</a:t>
            </a:r>
            <a:r>
              <a:rPr lang="en-GB" dirty="0"/>
              <a:t>, and </a:t>
            </a:r>
            <a:r>
              <a:rPr lang="en-GB" b="1" dirty="0"/>
              <a:t>Dictionary</a:t>
            </a:r>
            <a:r>
              <a:rPr lang="en-GB" dirty="0"/>
              <a:t>, all with different qualities and usage.</a:t>
            </a:r>
          </a:p>
          <a:p>
            <a:r>
              <a:rPr lang="en-GB" dirty="0"/>
              <a:t>Lists are created using </a:t>
            </a:r>
            <a:r>
              <a:rPr lang="en-GB" b="1" dirty="0"/>
              <a:t>square brackets</a:t>
            </a:r>
            <a:r>
              <a:rPr lang="en-GB" dirty="0"/>
              <a:t>:</a:t>
            </a:r>
          </a:p>
          <a:p>
            <a:r>
              <a:rPr lang="en-GB" dirty="0"/>
              <a:t>List Items are </a:t>
            </a:r>
            <a:r>
              <a:rPr lang="en-GB" b="1" dirty="0"/>
              <a:t>ordered</a:t>
            </a:r>
            <a:r>
              <a:rPr lang="en-GB" dirty="0"/>
              <a:t>, </a:t>
            </a:r>
            <a:r>
              <a:rPr lang="en-GB" b="1" dirty="0"/>
              <a:t>changeable</a:t>
            </a:r>
            <a:r>
              <a:rPr lang="en-GB" dirty="0"/>
              <a:t>, and </a:t>
            </a:r>
            <a:r>
              <a:rPr lang="en-GB" b="1" dirty="0"/>
              <a:t>allow duplicate values</a:t>
            </a:r>
            <a:r>
              <a:rPr lang="en-GB" dirty="0"/>
              <a:t>.</a:t>
            </a:r>
          </a:p>
          <a:p>
            <a:r>
              <a:rPr lang="en-GB" dirty="0"/>
              <a:t>List items are </a:t>
            </a:r>
            <a:r>
              <a:rPr lang="en-GB" b="1" dirty="0"/>
              <a:t>indexed</a:t>
            </a:r>
            <a:r>
              <a:rPr lang="en-GB" dirty="0"/>
              <a:t>, the first item has </a:t>
            </a:r>
            <a:r>
              <a:rPr lang="en-GB" dirty="0">
                <a:solidFill>
                  <a:srgbClr val="FF0000"/>
                </a:solidFill>
              </a:rPr>
              <a:t>index [0]</a:t>
            </a:r>
            <a:r>
              <a:rPr lang="en-GB" dirty="0"/>
              <a:t>, the second item has </a:t>
            </a:r>
            <a:r>
              <a:rPr lang="en-GB" dirty="0">
                <a:solidFill>
                  <a:srgbClr val="FF0000"/>
                </a:solidFill>
              </a:rPr>
              <a:t>index [1] </a:t>
            </a:r>
            <a:r>
              <a:rPr lang="en-GB" dirty="0"/>
              <a:t>etc.</a:t>
            </a:r>
          </a:p>
          <a:p>
            <a:r>
              <a:rPr lang="en-GB" dirty="0"/>
              <a:t>When we say that lists are ordered, it means that the items have a defined order, and that order will not change.</a:t>
            </a:r>
          </a:p>
          <a:p>
            <a:r>
              <a:rPr lang="en-GB" dirty="0"/>
              <a:t>If you add new items to a list, the new items will be placed at the end of the list.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954818" y="1751487"/>
            <a:ext cx="4237182" cy="368301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lvl="0" defTabSz="914400"/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1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1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1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100" dirty="0"/>
            </a:br>
            <a:r>
              <a:rPr lang="en-GB" sz="11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/>
            <a:endParaRPr kumimoji="0" lang="en-GB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defTabSz="914400"/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a = ['foo', 'bar', '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baz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', '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qux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']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b = ['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baz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', '</a:t>
            </a:r>
            <a:r>
              <a:rPr lang="en-US" dirty="0" err="1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qux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', 'bar', 'foo']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a == b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a is b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</a:p>
          <a:p>
            <a:pPr lvl="0" defTabSz="914400"/>
            <a:endParaRPr lang="en-US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&gt;&gt;&gt; [1, 2, 3, 4] == [4, 1, 3, 2]</a:t>
            </a:r>
          </a:p>
          <a:p>
            <a:pPr lvl="0" defTabSz="914400"/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GB" dirty="0"/>
              <a:t>The list is </a:t>
            </a:r>
            <a:r>
              <a:rPr lang="en-GB" b="1" dirty="0"/>
              <a:t>changeable</a:t>
            </a:r>
            <a:r>
              <a:rPr lang="en-GB" dirty="0"/>
              <a:t>, meaning that we can change, </a:t>
            </a:r>
            <a:r>
              <a:rPr lang="en-GB" b="1" dirty="0"/>
              <a:t>add</a:t>
            </a:r>
            <a:r>
              <a:rPr lang="en-GB" dirty="0"/>
              <a:t>, and </a:t>
            </a:r>
            <a:r>
              <a:rPr lang="en-GB" b="1" dirty="0"/>
              <a:t>remove items </a:t>
            </a:r>
            <a:r>
              <a:rPr lang="en-GB" dirty="0"/>
              <a:t>in a list after it has been created.</a:t>
            </a:r>
            <a:endParaRPr lang="en-US" dirty="0"/>
          </a:p>
          <a:p>
            <a:r>
              <a:rPr lang="en-GB" b="1" dirty="0"/>
              <a:t>Allow Duplicates: </a:t>
            </a:r>
            <a:r>
              <a:rPr lang="en-GB" dirty="0"/>
              <a:t>Since lists are indexed, lists can have items with the same value:</a:t>
            </a:r>
          </a:p>
          <a:p>
            <a:r>
              <a:rPr lang="en-GB" b="1" dirty="0"/>
              <a:t>List Length</a:t>
            </a:r>
            <a:r>
              <a:rPr lang="en-GB" dirty="0"/>
              <a:t>: To determine how many items a list has, use the </a:t>
            </a:r>
            <a:r>
              <a:rPr lang="en-GB" dirty="0" err="1">
                <a:solidFill>
                  <a:srgbClr val="FF0000"/>
                </a:solidFill>
              </a:rPr>
              <a:t>len</a:t>
            </a:r>
            <a:r>
              <a:rPr lang="en-GB" dirty="0">
                <a:solidFill>
                  <a:srgbClr val="FF0000"/>
                </a:solidFill>
              </a:rPr>
              <a:t>() </a:t>
            </a:r>
            <a:r>
              <a:rPr lang="en-GB" dirty="0"/>
              <a:t>function:</a:t>
            </a:r>
          </a:p>
          <a:p>
            <a:r>
              <a:rPr lang="en-GB" dirty="0"/>
              <a:t>List </a:t>
            </a:r>
            <a:r>
              <a:rPr lang="en-GB" b="1" dirty="0"/>
              <a:t>items</a:t>
            </a:r>
            <a:r>
              <a:rPr lang="en-GB" dirty="0"/>
              <a:t> can be of </a:t>
            </a:r>
            <a:r>
              <a:rPr lang="en-GB" b="1" dirty="0"/>
              <a:t>any data type</a:t>
            </a:r>
            <a:r>
              <a:rPr lang="en-GB" dirty="0"/>
              <a:t>:</a:t>
            </a:r>
            <a:endParaRPr lang="en-US" dirty="0"/>
          </a:p>
          <a:p>
            <a:r>
              <a:rPr lang="en-GB" dirty="0"/>
              <a:t>A list </a:t>
            </a:r>
            <a:r>
              <a:rPr lang="en-GB" b="1" dirty="0"/>
              <a:t>can</a:t>
            </a:r>
            <a:r>
              <a:rPr lang="en-GB" dirty="0"/>
              <a:t> contain </a:t>
            </a:r>
            <a:r>
              <a:rPr lang="en-GB" b="1" dirty="0"/>
              <a:t>different data types</a:t>
            </a:r>
            <a:r>
              <a:rPr lang="en-GB" dirty="0"/>
              <a:t>:</a:t>
            </a:r>
          </a:p>
          <a:p>
            <a:r>
              <a:rPr lang="en-GB" dirty="0"/>
              <a:t>Check, What is the </a:t>
            </a:r>
            <a:r>
              <a:rPr lang="en-GB" b="1" dirty="0"/>
              <a:t>data type of a list?</a:t>
            </a:r>
          </a:p>
          <a:p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1867050"/>
            <a:ext cx="5503026" cy="446784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Lists allow duplicate values: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String, </a:t>
            </a:r>
            <a:r>
              <a:rPr lang="en-GB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int</a:t>
            </a:r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 and </a:t>
            </a:r>
            <a:r>
              <a:rPr lang="en-GB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 data types: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list2 = [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list3 = [</a:t>
            </a: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A list with strings, integers and </a:t>
            </a:r>
            <a:r>
              <a:rPr lang="en-GB" sz="1600" dirty="0" err="1">
                <a:solidFill>
                  <a:srgbClr val="000000"/>
                </a:solidFill>
                <a:latin typeface="Verdana" panose="020B0604030504040204" pitchFamily="34" charset="0"/>
              </a:rPr>
              <a:t>boolean</a:t>
            </a:r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 values: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abc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34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40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"male"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331190" cy="3880773"/>
          </a:xfrm>
        </p:spPr>
        <p:txBody>
          <a:bodyPr>
            <a:normAutofit/>
          </a:bodyPr>
          <a:lstStyle/>
          <a:p>
            <a:r>
              <a:rPr lang="en-GB" sz="2400" dirty="0"/>
              <a:t>It is also possible to use the </a:t>
            </a:r>
            <a:r>
              <a:rPr lang="en-GB" sz="2400" dirty="0">
                <a:solidFill>
                  <a:srgbClr val="FF0000"/>
                </a:solidFill>
              </a:rPr>
              <a:t>list() </a:t>
            </a:r>
            <a:r>
              <a:rPr lang="en-GB" sz="2400" dirty="0"/>
              <a:t>constructor when creating a new list.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1826742" y="3418201"/>
            <a:ext cx="8090341" cy="151319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list((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# note the double round-brackets</a:t>
            </a:r>
            <a:b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35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Python List (Access List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List </a:t>
            </a:r>
            <a:r>
              <a:rPr lang="en-GB" b="1" dirty="0"/>
              <a:t>items are indexed </a:t>
            </a:r>
            <a:r>
              <a:rPr lang="en-GB" dirty="0"/>
              <a:t>and you can </a:t>
            </a:r>
            <a:r>
              <a:rPr lang="en-GB" b="1" dirty="0"/>
              <a:t>access </a:t>
            </a:r>
            <a:r>
              <a:rPr lang="en-GB" dirty="0"/>
              <a:t>them by referring to the </a:t>
            </a:r>
            <a:r>
              <a:rPr lang="en-GB" b="1" dirty="0"/>
              <a:t>index number</a:t>
            </a:r>
            <a:r>
              <a:rPr lang="en-GB" dirty="0"/>
              <a:t>:</a:t>
            </a:r>
          </a:p>
          <a:p>
            <a:r>
              <a:rPr lang="en-GB" b="1" dirty="0"/>
              <a:t>Negative indexing </a:t>
            </a:r>
            <a:r>
              <a:rPr lang="en-GB" dirty="0"/>
              <a:t>means start from the end</a:t>
            </a:r>
          </a:p>
          <a:p>
            <a:r>
              <a:rPr lang="en-GB" dirty="0"/>
              <a:t>-1 refers to the last item, -2 refers to the second last item etc.</a:t>
            </a:r>
          </a:p>
          <a:p>
            <a:r>
              <a:rPr lang="en-GB" dirty="0"/>
              <a:t>You can </a:t>
            </a:r>
            <a:r>
              <a:rPr lang="en-GB" b="1" dirty="0"/>
              <a:t>specify a range </a:t>
            </a:r>
            <a:r>
              <a:rPr lang="en-GB" dirty="0"/>
              <a:t>of indexes by specifying where to start and where to end the range.</a:t>
            </a:r>
          </a:p>
          <a:p>
            <a:r>
              <a:rPr lang="en-GB" dirty="0"/>
              <a:t>When specifying a range, the return value will be a new list with the specified items.</a:t>
            </a:r>
          </a:p>
          <a:p>
            <a:r>
              <a:rPr lang="en-GB" dirty="0"/>
              <a:t>By leaving out the start value, the range will start at the first item:</a:t>
            </a:r>
          </a:p>
          <a:p>
            <a:r>
              <a:rPr lang="en-GB" dirty="0"/>
              <a:t>By leaving out the end value, the range will go on to the end of the list: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221211"/>
            <a:ext cx="5616633" cy="652995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[-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"melon"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"melon"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[: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"melon"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:])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(Access List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148" y="1742425"/>
            <a:ext cx="9048557" cy="3880773"/>
          </a:xfrm>
        </p:spPr>
        <p:txBody>
          <a:bodyPr>
            <a:normAutofit/>
          </a:bodyPr>
          <a:lstStyle/>
          <a:p>
            <a:r>
              <a:rPr lang="en-GB" dirty="0"/>
              <a:t>Range of </a:t>
            </a:r>
            <a:r>
              <a:rPr lang="en-GB" b="1" dirty="0"/>
              <a:t>Negative Indexes</a:t>
            </a:r>
            <a:r>
              <a:rPr lang="en-GB" dirty="0"/>
              <a:t>: Specify negative indexes if you want to start the search from the end of the list:</a:t>
            </a:r>
          </a:p>
          <a:p>
            <a:r>
              <a:rPr lang="en-GB" b="1" dirty="0"/>
              <a:t>Check if Item Exists</a:t>
            </a:r>
            <a:r>
              <a:rPr lang="en-GB" dirty="0"/>
              <a:t>: To determine if a specified item is present in a list use the in keyword: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482138" y="3225612"/>
            <a:ext cx="11635047" cy="317518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#This example returns the items from "orange" (-4) to, but NOT including "mango" (-1):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"melon"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[-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:-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#Check if "apple" is present in the list: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"Yes, 'apple' is in the fruits list"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042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(Change List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To </a:t>
            </a:r>
            <a:r>
              <a:rPr lang="en-GB" b="1" dirty="0"/>
              <a:t>change the value of a specific </a:t>
            </a:r>
            <a:r>
              <a:rPr lang="en-GB" dirty="0"/>
              <a:t>item, refer to the </a:t>
            </a:r>
            <a:r>
              <a:rPr lang="en-GB" b="1" dirty="0"/>
              <a:t>index number</a:t>
            </a:r>
            <a:r>
              <a:rPr lang="en-GB" dirty="0"/>
              <a:t>:</a:t>
            </a:r>
          </a:p>
          <a:p>
            <a:r>
              <a:rPr lang="en-GB" b="1" dirty="0"/>
              <a:t>Change a Range of Item Values</a:t>
            </a:r>
            <a:r>
              <a:rPr lang="en-GB" dirty="0"/>
              <a:t>: To change the value of items within a specific range, define a list with the new values, and refer to the range of index numbers where you want to insert the new values:</a:t>
            </a:r>
          </a:p>
          <a:p>
            <a:r>
              <a:rPr lang="en-GB" b="1" dirty="0"/>
              <a:t>If you insert more items than you replace</a:t>
            </a:r>
            <a:r>
              <a:rPr lang="en-GB" dirty="0"/>
              <a:t>, the new items will be inserted where you specified, and the remaining items will move accordingly:</a:t>
            </a:r>
          </a:p>
          <a:p>
            <a:r>
              <a:rPr lang="en-GB" b="1" dirty="0"/>
              <a:t>To insert a new list item, without replacing </a:t>
            </a:r>
            <a:r>
              <a:rPr lang="en-GB" dirty="0"/>
              <a:t>any of the existing values, we can use the </a:t>
            </a:r>
            <a:r>
              <a:rPr lang="en-GB" dirty="0">
                <a:solidFill>
                  <a:srgbClr val="FF0000"/>
                </a:solidFill>
              </a:rPr>
              <a:t>insert() </a:t>
            </a:r>
            <a:r>
              <a:rPr lang="en-GB" dirty="0"/>
              <a:t>method.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insert() </a:t>
            </a:r>
            <a:r>
              <a:rPr lang="en-GB" dirty="0"/>
              <a:t>method inserts an item at the specified index: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575367" y="1270000"/>
            <a:ext cx="5616633" cy="551429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/>
            </a:b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"blackcurrant"</a:t>
            </a:r>
            <a:br>
              <a:rPr lang="en-GB" sz="1400" dirty="0"/>
            </a:br>
            <a:r>
              <a:rPr lang="en-GB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Change the values "banana" and "cherry" with the values "blackcurrant" and "watermelon":</a:t>
            </a:r>
          </a:p>
          <a:p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"blackcurrant"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"watermelon"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Change the second value by replacing it with </a:t>
            </a:r>
            <a:r>
              <a:rPr lang="en-GB" sz="1400" i="1" dirty="0">
                <a:solidFill>
                  <a:srgbClr val="000000"/>
                </a:solidFill>
                <a:latin typeface="Verdana" panose="020B0604030504040204" pitchFamily="34" charset="0"/>
              </a:rPr>
              <a:t>two</a:t>
            </a:r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 new values:</a:t>
            </a:r>
          </a:p>
          <a:p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"blackcurrant"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"watermelon"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)#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400" dirty="0"/>
            </a:b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thislist.insert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400" dirty="0">
                <a:solidFill>
                  <a:srgbClr val="A52A2A"/>
                </a:solidFill>
                <a:latin typeface="Consolas" panose="020B0609020204030204" pitchFamily="49" charset="0"/>
              </a:rPr>
              <a:t>"watermelon"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sz="1400" dirty="0"/>
            </a:br>
            <a:r>
              <a:rPr lang="en-GB" sz="14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377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(Add List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823" y="2160589"/>
            <a:ext cx="5993476" cy="3880773"/>
          </a:xfrm>
        </p:spPr>
        <p:txBody>
          <a:bodyPr>
            <a:normAutofit/>
          </a:bodyPr>
          <a:lstStyle/>
          <a:p>
            <a:r>
              <a:rPr lang="en-GB" b="1" dirty="0"/>
              <a:t>Append Items</a:t>
            </a:r>
            <a:r>
              <a:rPr lang="en-GB" dirty="0"/>
              <a:t>: To add an item to the end of the list, use the </a:t>
            </a:r>
            <a:r>
              <a:rPr lang="en-GB" dirty="0">
                <a:solidFill>
                  <a:srgbClr val="FF0000"/>
                </a:solidFill>
              </a:rPr>
              <a:t>append()</a:t>
            </a:r>
            <a:r>
              <a:rPr lang="en-GB" dirty="0"/>
              <a:t> method:</a:t>
            </a:r>
          </a:p>
          <a:p>
            <a:r>
              <a:rPr lang="en-GB" dirty="0"/>
              <a:t>To insert a list item at a specified index, use the </a:t>
            </a:r>
            <a:r>
              <a:rPr lang="en-GB" dirty="0">
                <a:solidFill>
                  <a:srgbClr val="FF0000"/>
                </a:solidFill>
              </a:rPr>
              <a:t>insert() </a:t>
            </a:r>
            <a:r>
              <a:rPr lang="en-GB" dirty="0"/>
              <a:t>method.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insert() </a:t>
            </a:r>
            <a:r>
              <a:rPr lang="en-GB" dirty="0"/>
              <a:t>method inserts an item at the specified index:</a:t>
            </a:r>
          </a:p>
          <a:p>
            <a:r>
              <a:rPr lang="en-GB" dirty="0"/>
              <a:t>To </a:t>
            </a:r>
            <a:r>
              <a:rPr lang="en-GB" b="1" dirty="0"/>
              <a:t>append</a:t>
            </a:r>
            <a:r>
              <a:rPr lang="en-GB" dirty="0"/>
              <a:t> elements </a:t>
            </a:r>
            <a:r>
              <a:rPr lang="en-GB" b="1" dirty="0"/>
              <a:t>from another list </a:t>
            </a:r>
            <a:r>
              <a:rPr lang="en-GB" dirty="0"/>
              <a:t>to the </a:t>
            </a:r>
            <a:r>
              <a:rPr lang="en-GB" b="1" dirty="0"/>
              <a:t>current list</a:t>
            </a:r>
            <a:r>
              <a:rPr lang="en-GB" dirty="0"/>
              <a:t>, use the </a:t>
            </a:r>
            <a:r>
              <a:rPr lang="en-GB" dirty="0">
                <a:solidFill>
                  <a:srgbClr val="FF0000"/>
                </a:solidFill>
              </a:rPr>
              <a:t>extend() </a:t>
            </a:r>
            <a:r>
              <a:rPr lang="en-GB" dirty="0"/>
              <a:t>method.</a:t>
            </a:r>
          </a:p>
          <a:p>
            <a:r>
              <a:rPr lang="en-GB" b="1" dirty="0"/>
              <a:t>Add Any </a:t>
            </a:r>
            <a:r>
              <a:rPr lang="en-GB" b="1" dirty="0" err="1"/>
              <a:t>Iterable</a:t>
            </a:r>
            <a:r>
              <a:rPr lang="en-GB" dirty="0"/>
              <a:t>: The </a:t>
            </a:r>
            <a:r>
              <a:rPr lang="en-GB" dirty="0">
                <a:solidFill>
                  <a:srgbClr val="FF0000"/>
                </a:solidFill>
              </a:rPr>
              <a:t>extend() </a:t>
            </a:r>
            <a:r>
              <a:rPr lang="en-GB" dirty="0"/>
              <a:t>method does not have to append lists, you can add any </a:t>
            </a:r>
            <a:r>
              <a:rPr lang="en-GB" dirty="0" err="1"/>
              <a:t>iterable</a:t>
            </a:r>
            <a:r>
              <a:rPr lang="en-GB" dirty="0"/>
              <a:t> object (tuples, sets, dictionaries etc.).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34051" y="383411"/>
            <a:ext cx="5757949" cy="622217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/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thislist.append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/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thislist.insert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/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tropical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"pineapple"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"papaya"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/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thislist.extend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(tropical)</a:t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Add elements of a tuple to a list:</a:t>
            </a:r>
          </a:p>
          <a:p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thislist.extend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thistuple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110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Python List (Remove List Items)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513" y="1652609"/>
            <a:ext cx="6591991" cy="3880773"/>
          </a:xfrm>
        </p:spPr>
        <p:txBody>
          <a:bodyPr>
            <a:noAutofit/>
          </a:bodyPr>
          <a:lstStyle/>
          <a:p>
            <a:r>
              <a:rPr lang="en-GB" sz="2200" dirty="0"/>
              <a:t>The </a:t>
            </a:r>
            <a:r>
              <a:rPr lang="en-GB" sz="2200" dirty="0">
                <a:solidFill>
                  <a:srgbClr val="FF0000"/>
                </a:solidFill>
              </a:rPr>
              <a:t>remove() </a:t>
            </a:r>
            <a:r>
              <a:rPr lang="en-GB" sz="2200" dirty="0"/>
              <a:t>method removes the </a:t>
            </a:r>
            <a:r>
              <a:rPr lang="en-GB" sz="2200" b="1" dirty="0"/>
              <a:t>specified item.</a:t>
            </a:r>
          </a:p>
          <a:p>
            <a:r>
              <a:rPr lang="en-GB" sz="2200" dirty="0"/>
              <a:t>The </a:t>
            </a:r>
            <a:r>
              <a:rPr lang="en-GB" sz="2200" dirty="0">
                <a:solidFill>
                  <a:srgbClr val="FF0000"/>
                </a:solidFill>
              </a:rPr>
              <a:t>pop() </a:t>
            </a:r>
            <a:r>
              <a:rPr lang="en-GB" sz="2200" dirty="0"/>
              <a:t>method removes the </a:t>
            </a:r>
            <a:r>
              <a:rPr lang="en-GB" sz="2200" b="1" dirty="0"/>
              <a:t>specified index</a:t>
            </a:r>
            <a:r>
              <a:rPr lang="en-GB" sz="2200" dirty="0"/>
              <a:t>.</a:t>
            </a:r>
          </a:p>
          <a:p>
            <a:r>
              <a:rPr lang="en-GB" sz="2200" dirty="0"/>
              <a:t>If you do not specify the index, the </a:t>
            </a:r>
            <a:r>
              <a:rPr lang="en-GB" sz="2200" dirty="0">
                <a:solidFill>
                  <a:srgbClr val="FF0000"/>
                </a:solidFill>
              </a:rPr>
              <a:t>pop() </a:t>
            </a:r>
            <a:r>
              <a:rPr lang="en-GB" sz="2200" dirty="0"/>
              <a:t>method removes </a:t>
            </a:r>
            <a:r>
              <a:rPr lang="en-GB" sz="2200" b="1" dirty="0"/>
              <a:t>the last item</a:t>
            </a:r>
            <a:r>
              <a:rPr lang="en-GB" sz="2200" dirty="0"/>
              <a:t>.</a:t>
            </a:r>
          </a:p>
          <a:p>
            <a:r>
              <a:rPr lang="en-GB" sz="2200" dirty="0"/>
              <a:t>The</a:t>
            </a:r>
            <a:r>
              <a:rPr lang="en-GB" sz="2200" dirty="0">
                <a:solidFill>
                  <a:srgbClr val="FF0000"/>
                </a:solidFill>
              </a:rPr>
              <a:t> del </a:t>
            </a:r>
            <a:r>
              <a:rPr lang="en-GB" sz="2200" dirty="0"/>
              <a:t>keyword also </a:t>
            </a:r>
            <a:r>
              <a:rPr lang="en-GB" sz="2200" b="1" dirty="0"/>
              <a:t>removes the specified index:</a:t>
            </a:r>
          </a:p>
          <a:p>
            <a:r>
              <a:rPr lang="en-GB" sz="2200" dirty="0"/>
              <a:t>The </a:t>
            </a:r>
            <a:r>
              <a:rPr lang="en-GB" sz="2200" dirty="0">
                <a:solidFill>
                  <a:srgbClr val="FF0000"/>
                </a:solidFill>
              </a:rPr>
              <a:t>del</a:t>
            </a:r>
            <a:r>
              <a:rPr lang="en-GB" sz="2200" dirty="0"/>
              <a:t> keyword can also </a:t>
            </a:r>
            <a:r>
              <a:rPr lang="en-GB" sz="2200" b="1" dirty="0"/>
              <a:t>delete the list completely.</a:t>
            </a:r>
          </a:p>
          <a:p>
            <a:r>
              <a:rPr lang="en-GB" sz="2200" dirty="0"/>
              <a:t>The </a:t>
            </a:r>
            <a:r>
              <a:rPr lang="en-GB" sz="2200" dirty="0">
                <a:solidFill>
                  <a:srgbClr val="FF0000"/>
                </a:solidFill>
              </a:rPr>
              <a:t>clear() </a:t>
            </a:r>
            <a:r>
              <a:rPr lang="en-GB" sz="2200" dirty="0"/>
              <a:t>method </a:t>
            </a:r>
            <a:r>
              <a:rPr lang="en-GB" sz="2200" b="1" dirty="0"/>
              <a:t>empties the list</a:t>
            </a:r>
            <a:r>
              <a:rPr lang="en-GB" sz="2200" dirty="0"/>
              <a:t>.</a:t>
            </a:r>
          </a:p>
          <a:p>
            <a:r>
              <a:rPr lang="en-GB" sz="2200" dirty="0"/>
              <a:t>The list still remains, but it has no content.</a:t>
            </a:r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057504" y="49878"/>
            <a:ext cx="5101244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Remove "banana":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thislist.remove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thislist.pop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thislist.pop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del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/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Delete the entire list: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del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Clear the list content: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GB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thislist.clear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412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(Loop in Lists)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4" y="1652609"/>
            <a:ext cx="6500553" cy="3880773"/>
          </a:xfrm>
        </p:spPr>
        <p:txBody>
          <a:bodyPr>
            <a:noAutofit/>
          </a:bodyPr>
          <a:lstStyle/>
          <a:p>
            <a:r>
              <a:rPr lang="en-US" dirty="0"/>
              <a:t>You can loop through the list items by using a </a:t>
            </a:r>
            <a:r>
              <a:rPr lang="en-US" b="1" dirty="0"/>
              <a:t>for loop</a:t>
            </a:r>
            <a:r>
              <a:rPr lang="en-US" dirty="0"/>
              <a:t>:</a:t>
            </a:r>
          </a:p>
          <a:p>
            <a:r>
              <a:rPr lang="en-US" dirty="0"/>
              <a:t>You can also loop through the list items by referring to their index number.</a:t>
            </a:r>
          </a:p>
          <a:p>
            <a:r>
              <a:rPr lang="en-US" dirty="0"/>
              <a:t>Use the </a:t>
            </a:r>
            <a:r>
              <a:rPr lang="en-US" dirty="0">
                <a:solidFill>
                  <a:srgbClr val="FF0000"/>
                </a:solidFill>
              </a:rPr>
              <a:t>range() </a:t>
            </a:r>
            <a:r>
              <a:rPr lang="en-US" dirty="0"/>
              <a:t>and </a:t>
            </a:r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functions </a:t>
            </a:r>
            <a:r>
              <a:rPr lang="en-US" b="1" dirty="0"/>
              <a:t>to create a suitable </a:t>
            </a:r>
            <a:r>
              <a:rPr lang="en-US" b="1" dirty="0" err="1"/>
              <a:t>iterable</a:t>
            </a:r>
            <a:r>
              <a:rPr lang="en-US" dirty="0"/>
              <a:t>.</a:t>
            </a:r>
          </a:p>
          <a:p>
            <a:r>
              <a:rPr lang="en-US" dirty="0"/>
              <a:t>You can loop through the list items by using a </a:t>
            </a:r>
            <a:r>
              <a:rPr lang="en-US" b="1" dirty="0"/>
              <a:t>while loop</a:t>
            </a:r>
            <a:r>
              <a:rPr lang="en-US" dirty="0"/>
              <a:t>.</a:t>
            </a:r>
          </a:p>
          <a:p>
            <a:r>
              <a:rPr lang="en-US" dirty="0"/>
              <a:t>Use the </a:t>
            </a:r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 to </a:t>
            </a:r>
            <a:r>
              <a:rPr lang="en-US" b="1" dirty="0"/>
              <a:t>determine the length of the list</a:t>
            </a:r>
            <a:r>
              <a:rPr lang="en-US" dirty="0"/>
              <a:t>, then start at 0 and loop your way through the list items by referring to their indexes.</a:t>
            </a:r>
          </a:p>
          <a:p>
            <a:r>
              <a:rPr lang="en-US" dirty="0"/>
              <a:t>Remember to increase the index by 1 after each iteration.</a:t>
            </a:r>
          </a:p>
          <a:p>
            <a:r>
              <a:rPr lang="en-US" b="1" dirty="0"/>
              <a:t>List Comprehension </a:t>
            </a:r>
            <a:r>
              <a:rPr lang="en-US" dirty="0"/>
              <a:t>offers the shortest syntax for looping through lists: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999317" y="1169272"/>
            <a:ext cx="5192684" cy="5298846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+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(Comprehension)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52609"/>
            <a:ext cx="6841375" cy="3880773"/>
          </a:xfrm>
        </p:spPr>
        <p:txBody>
          <a:bodyPr>
            <a:noAutofit/>
          </a:bodyPr>
          <a:lstStyle/>
          <a:p>
            <a:r>
              <a:rPr lang="en-US" sz="1600" b="1" dirty="0"/>
              <a:t>List comprehension </a:t>
            </a:r>
            <a:r>
              <a:rPr lang="en-US" sz="1600" dirty="0"/>
              <a:t>offers a </a:t>
            </a:r>
            <a:r>
              <a:rPr lang="en-US" sz="1600" b="1" dirty="0"/>
              <a:t>shorter syntax </a:t>
            </a:r>
            <a:r>
              <a:rPr lang="en-US" sz="1600" dirty="0"/>
              <a:t>when you want to create a new list based on the values of an existing list.</a:t>
            </a:r>
          </a:p>
          <a:p>
            <a:r>
              <a:rPr lang="en-US" sz="1600" dirty="0"/>
              <a:t>Example: Based on a list of fruits, you want a new list, containing only the fruits with the letter "a" in the name.</a:t>
            </a:r>
          </a:p>
          <a:p>
            <a:r>
              <a:rPr lang="en-US" sz="1600" b="1" dirty="0"/>
              <a:t>Without list comprehension </a:t>
            </a:r>
            <a:r>
              <a:rPr lang="en-US" sz="1600" dirty="0"/>
              <a:t>you will </a:t>
            </a:r>
            <a:r>
              <a:rPr lang="en-US" sz="1600" b="1" dirty="0"/>
              <a:t>have to write a for statement with a conditional</a:t>
            </a:r>
            <a:r>
              <a:rPr lang="en-US" sz="1600" dirty="0"/>
              <a:t> test inside:</a:t>
            </a:r>
          </a:p>
          <a:p>
            <a:r>
              <a:rPr lang="en-US" sz="1600" b="1" dirty="0"/>
              <a:t>With list comprehension </a:t>
            </a:r>
            <a:r>
              <a:rPr lang="en-US" sz="1600" dirty="0"/>
              <a:t>you can do all that with </a:t>
            </a:r>
            <a:r>
              <a:rPr lang="en-US" sz="1600" b="1" dirty="0"/>
              <a:t>only one line of code</a:t>
            </a:r>
            <a:r>
              <a:rPr lang="en-US" sz="1600" dirty="0"/>
              <a:t>:</a:t>
            </a:r>
          </a:p>
          <a:p>
            <a:r>
              <a:rPr lang="en-US" sz="1600" b="1" dirty="0" err="1"/>
              <a:t>newlist</a:t>
            </a:r>
            <a:r>
              <a:rPr lang="en-US" sz="1600" b="1" dirty="0"/>
              <a:t> = [expression for item in </a:t>
            </a:r>
            <a:r>
              <a:rPr lang="en-US" sz="1600" b="1" dirty="0" err="1"/>
              <a:t>iterable</a:t>
            </a:r>
            <a:r>
              <a:rPr lang="en-US" sz="1600" b="1" dirty="0"/>
              <a:t> if condition == True]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41375" y="648731"/>
            <a:ext cx="5289843" cy="5791289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[]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newlist.append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fruits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x]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fruits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 !=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newlist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range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6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(Sorting)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1" y="1652609"/>
            <a:ext cx="6151418" cy="3880773"/>
          </a:xfrm>
        </p:spPr>
        <p:txBody>
          <a:bodyPr>
            <a:noAutofit/>
          </a:bodyPr>
          <a:lstStyle/>
          <a:p>
            <a:r>
              <a:rPr lang="en-US" sz="1600" dirty="0"/>
              <a:t>List objects have a </a:t>
            </a:r>
            <a:r>
              <a:rPr lang="en-US" sz="1600" dirty="0">
                <a:solidFill>
                  <a:srgbClr val="FF0000"/>
                </a:solidFill>
              </a:rPr>
              <a:t>sort() </a:t>
            </a:r>
            <a:r>
              <a:rPr lang="en-US" sz="1600" dirty="0"/>
              <a:t>method that will </a:t>
            </a:r>
            <a:r>
              <a:rPr lang="en-US" sz="1600" b="1" dirty="0"/>
              <a:t>sort the list alphanumerically, ascending</a:t>
            </a:r>
            <a:r>
              <a:rPr lang="en-US" sz="1600" dirty="0"/>
              <a:t>, by default:</a:t>
            </a:r>
          </a:p>
          <a:p>
            <a:pPr lvl="1"/>
            <a:r>
              <a:rPr lang="en-US" sz="1400" dirty="0"/>
              <a:t>The list can be sorted numerically:</a:t>
            </a:r>
          </a:p>
          <a:p>
            <a:r>
              <a:rPr lang="en-US" sz="1600" dirty="0"/>
              <a:t>To sort descending, use the keyword argument </a:t>
            </a:r>
            <a:r>
              <a:rPr lang="en-US" sz="1600" dirty="0">
                <a:solidFill>
                  <a:srgbClr val="FF0000"/>
                </a:solidFill>
              </a:rPr>
              <a:t>reverse = True</a:t>
            </a:r>
            <a:r>
              <a:rPr lang="en-US" sz="1600" dirty="0"/>
              <a:t>:</a:t>
            </a:r>
          </a:p>
          <a:p>
            <a:r>
              <a:rPr lang="en-US" sz="1600" dirty="0"/>
              <a:t>You can also </a:t>
            </a:r>
            <a:r>
              <a:rPr lang="en-US" sz="1600" b="1" dirty="0"/>
              <a:t>customize</a:t>
            </a:r>
            <a:r>
              <a:rPr lang="en-US" sz="1600" dirty="0"/>
              <a:t> your own function by using the keyword argument </a:t>
            </a:r>
            <a:r>
              <a:rPr lang="en-US" sz="1600" dirty="0">
                <a:solidFill>
                  <a:srgbClr val="FF0000"/>
                </a:solidFill>
              </a:rPr>
              <a:t>key = function</a:t>
            </a:r>
            <a:r>
              <a:rPr lang="en-US" sz="1600" dirty="0"/>
              <a:t>.</a:t>
            </a:r>
          </a:p>
          <a:p>
            <a:r>
              <a:rPr lang="en-US" sz="1600" dirty="0"/>
              <a:t>The function will return a number that will be used to sort the list (</a:t>
            </a:r>
            <a:r>
              <a:rPr lang="en-US" sz="1600" b="1" dirty="0"/>
              <a:t>the lowest number first</a:t>
            </a:r>
            <a:r>
              <a:rPr lang="en-US" sz="1600" dirty="0"/>
              <a:t>):</a:t>
            </a:r>
          </a:p>
          <a:p>
            <a:r>
              <a:rPr lang="en-US" sz="1600" dirty="0"/>
              <a:t>By default the </a:t>
            </a:r>
            <a:r>
              <a:rPr lang="en-US" sz="1600" dirty="0">
                <a:solidFill>
                  <a:srgbClr val="FF0000"/>
                </a:solidFill>
              </a:rPr>
              <a:t>sort() </a:t>
            </a:r>
            <a:r>
              <a:rPr lang="en-US" sz="1600" dirty="0"/>
              <a:t>method is </a:t>
            </a:r>
            <a:r>
              <a:rPr lang="en-US" sz="1600" b="1" dirty="0"/>
              <a:t>case sensitive</a:t>
            </a:r>
            <a:r>
              <a:rPr lang="en-US" sz="1600" dirty="0"/>
              <a:t>, resulting in all capital letters being sorted before lower case letters: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134793" y="277889"/>
            <a:ext cx="6023956" cy="652995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"pineapple"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thislist.sort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thislist.sort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"mango"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"pineapple"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thislist.sort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(reverse =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(n):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abs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(n -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65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82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thislist.sort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(key 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"Kiwi"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thislist.sort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926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(Copy &amp; Join)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58" y="1652609"/>
            <a:ext cx="6799811" cy="3880773"/>
          </a:xfrm>
        </p:spPr>
        <p:txBody>
          <a:bodyPr>
            <a:noAutofit/>
          </a:bodyPr>
          <a:lstStyle/>
          <a:p>
            <a:r>
              <a:rPr lang="en-US" b="1" dirty="0"/>
              <a:t>You cannot copy a list </a:t>
            </a:r>
            <a:r>
              <a:rPr lang="en-US" dirty="0"/>
              <a:t>simply by typing </a:t>
            </a:r>
            <a:r>
              <a:rPr lang="en-US" dirty="0">
                <a:solidFill>
                  <a:srgbClr val="FF0000"/>
                </a:solidFill>
              </a:rPr>
              <a:t>list2 = list1</a:t>
            </a:r>
            <a:r>
              <a:rPr lang="en-US" dirty="0"/>
              <a:t>, because: list2 will only be a </a:t>
            </a:r>
            <a:r>
              <a:rPr lang="en-US" b="1" dirty="0"/>
              <a:t>reference</a:t>
            </a:r>
            <a:r>
              <a:rPr lang="en-US" dirty="0"/>
              <a:t> to list1, and changes made in list1 will automatically also be made in list2.</a:t>
            </a:r>
          </a:p>
          <a:p>
            <a:r>
              <a:rPr lang="en-US" dirty="0"/>
              <a:t>There are ways to make a </a:t>
            </a:r>
            <a:r>
              <a:rPr lang="en-US" b="1" dirty="0"/>
              <a:t>copy</a:t>
            </a:r>
            <a:r>
              <a:rPr lang="en-US" dirty="0"/>
              <a:t>, one way is to use the built-in List method </a:t>
            </a:r>
            <a:r>
              <a:rPr lang="en-US" dirty="0">
                <a:solidFill>
                  <a:srgbClr val="FF0000"/>
                </a:solidFill>
              </a:rPr>
              <a:t>copy()</a:t>
            </a:r>
            <a:r>
              <a:rPr lang="en-US" dirty="0"/>
              <a:t>.</a:t>
            </a:r>
          </a:p>
          <a:p>
            <a:r>
              <a:rPr lang="en-US" dirty="0"/>
              <a:t>Another way to make a copy is to use the built-in method </a:t>
            </a:r>
            <a:r>
              <a:rPr lang="en-US" dirty="0">
                <a:solidFill>
                  <a:srgbClr val="FF0000"/>
                </a:solidFill>
              </a:rPr>
              <a:t>list()</a:t>
            </a:r>
            <a:r>
              <a:rPr lang="en-US" dirty="0"/>
              <a:t>.</a:t>
            </a:r>
          </a:p>
          <a:p>
            <a:r>
              <a:rPr lang="en-US" dirty="0"/>
              <a:t>There are several ways to </a:t>
            </a:r>
            <a:r>
              <a:rPr lang="en-US" b="1" dirty="0"/>
              <a:t>join</a:t>
            </a:r>
            <a:r>
              <a:rPr lang="en-US" dirty="0"/>
              <a:t>, or </a:t>
            </a:r>
            <a:r>
              <a:rPr lang="en-US" b="1" dirty="0"/>
              <a:t>concatenate</a:t>
            </a:r>
            <a:r>
              <a:rPr lang="en-US" dirty="0"/>
              <a:t>, two or more lists in Python.</a:t>
            </a:r>
          </a:p>
          <a:p>
            <a:r>
              <a:rPr lang="en-US" dirty="0"/>
              <a:t>One of the easiest ways are by using the </a:t>
            </a:r>
            <a:r>
              <a:rPr lang="en-US" b="1" dirty="0">
                <a:solidFill>
                  <a:srgbClr val="FF0000"/>
                </a:solidFill>
              </a:rPr>
              <a:t>+ </a:t>
            </a:r>
            <a:r>
              <a:rPr lang="en-US" b="1" dirty="0"/>
              <a:t>operator</a:t>
            </a:r>
            <a:r>
              <a:rPr lang="en-US" dirty="0"/>
              <a:t>.</a:t>
            </a:r>
          </a:p>
          <a:p>
            <a:r>
              <a:rPr lang="en-US" dirty="0"/>
              <a:t>you can use the </a:t>
            </a:r>
            <a:r>
              <a:rPr lang="en-US" dirty="0">
                <a:solidFill>
                  <a:srgbClr val="FF0000"/>
                </a:solidFill>
              </a:rPr>
              <a:t>extend() </a:t>
            </a:r>
            <a:r>
              <a:rPr lang="en-US" dirty="0"/>
              <a:t>method, where the purpose is to add elements from one list to another list: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7164778" y="31596"/>
            <a:ext cx="4958281" cy="6776174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thislist.copy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"apple"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thislist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list2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list3 = list1 + list2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(list3)</a:t>
            </a:r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endParaRPr lang="en-GB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list2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list2: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list1.append(x)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(list1)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 = [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list2 = 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list1.extend(list2)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(list1)</a:t>
            </a:r>
          </a:p>
        </p:txBody>
      </p:sp>
    </p:spTree>
    <p:extLst>
      <p:ext uri="{BB962C8B-B14F-4D97-AF65-F5344CB8AC3E}">
        <p14:creationId xmlns:p14="http://schemas.microsoft.com/office/powerpoint/2010/main" val="1599968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 (Methods)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3628657"/>
              </p:ext>
            </p:extLst>
          </p:nvPr>
        </p:nvGraphicFramePr>
        <p:xfrm>
          <a:off x="677863" y="1962818"/>
          <a:ext cx="9089592" cy="3693562"/>
        </p:xfrm>
        <a:graphic>
          <a:graphicData uri="http://schemas.openxmlformats.org/drawingml/2006/table">
            <a:tbl>
              <a:tblPr/>
              <a:tblGrid>
                <a:gridCol w="292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Method</a:t>
                      </a: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Description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2"/>
                        </a:rPr>
                        <a:t>append()</a:t>
                      </a:r>
                      <a:endParaRPr lang="en-US" sz="1400" b="0" cap="none" spc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Adds an element at the end of the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3"/>
                        </a:rPr>
                        <a:t>clear()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all the elements from the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4"/>
                        </a:rPr>
                        <a:t>copy()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a copy of the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5"/>
                        </a:rPr>
                        <a:t>count()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the number of elements with the specified value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74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6"/>
                        </a:rPr>
                        <a:t>extend()</a:t>
                      </a:r>
                      <a:endParaRPr lang="en-US" sz="1400" b="0" cap="none" spc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 the elements of a list (or any iterable), to the end of the current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74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7"/>
                        </a:rPr>
                        <a:t>index()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Returns the index of the first element with the specified value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8"/>
                        </a:rPr>
                        <a:t>insert()</a:t>
                      </a:r>
                      <a:endParaRPr lang="en-US" sz="1400" b="0" cap="none" spc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Adds an element at the specified position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9"/>
                        </a:rPr>
                        <a:t>pop()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the element at the specified position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10"/>
                        </a:rPr>
                        <a:t>remove()</a:t>
                      </a:r>
                      <a:endParaRPr lang="en-US" sz="1400" b="0" cap="none" spc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Removes the item with the specified value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11"/>
                        </a:rPr>
                        <a:t>reverse()</a:t>
                      </a:r>
                      <a:endParaRPr lang="en-US" sz="1400" b="0" cap="none" spc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Reverses the order of the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4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cap="none" spc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hlinkClick r:id="rId12"/>
                        </a:rPr>
                        <a:t>sort()</a:t>
                      </a:r>
                      <a:endParaRPr lang="en-US" sz="1400" b="0" cap="none" spc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1248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Sorts the list</a:t>
                      </a:r>
                    </a:p>
                  </a:txBody>
                  <a:tcPr marL="40624" marR="40624" marT="40624" marB="4062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478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lecture we learned following concepts:</a:t>
            </a:r>
          </a:p>
          <a:p>
            <a:pPr lvl="1"/>
            <a:r>
              <a:rPr lang="en-GB" dirty="0"/>
              <a:t>General concept of Python list</a:t>
            </a:r>
          </a:p>
          <a:p>
            <a:pPr lvl="1"/>
            <a:r>
              <a:rPr lang="en-GB" dirty="0"/>
              <a:t>Adding to List</a:t>
            </a:r>
          </a:p>
          <a:p>
            <a:pPr lvl="1"/>
            <a:r>
              <a:rPr lang="en-GB" dirty="0"/>
              <a:t>Removing items from the list</a:t>
            </a:r>
          </a:p>
          <a:p>
            <a:pPr lvl="1"/>
            <a:r>
              <a:rPr lang="en-GB" dirty="0"/>
              <a:t>Copying list</a:t>
            </a:r>
          </a:p>
          <a:p>
            <a:pPr lvl="1"/>
            <a:r>
              <a:rPr lang="en-GB"/>
              <a:t>List Comprehension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320</TotalTime>
  <Words>2737</Words>
  <Application>Microsoft Office PowerPoint</Application>
  <PresentationFormat>Widescreen</PresentationFormat>
  <Paragraphs>263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Consolas</vt:lpstr>
      <vt:lpstr>Segoe UI</vt:lpstr>
      <vt:lpstr>Trebuchet MS</vt:lpstr>
      <vt:lpstr>Verdana</vt:lpstr>
      <vt:lpstr>Wingdings 3</vt:lpstr>
      <vt:lpstr>Facet</vt:lpstr>
      <vt:lpstr>Data Science</vt:lpstr>
      <vt:lpstr>Python List</vt:lpstr>
      <vt:lpstr>Python List</vt:lpstr>
      <vt:lpstr>Python List</vt:lpstr>
      <vt:lpstr>Python List (Access List Items)</vt:lpstr>
      <vt:lpstr>Python List (Access List Items)</vt:lpstr>
      <vt:lpstr>Python List (Change List Items)</vt:lpstr>
      <vt:lpstr>Python List (Add List Items)</vt:lpstr>
      <vt:lpstr>Python List (Remove List Items)</vt:lpstr>
      <vt:lpstr>Python List (Loop in Lists)</vt:lpstr>
      <vt:lpstr>Python List (Comprehension)</vt:lpstr>
      <vt:lpstr>Python List (Sorting)</vt:lpstr>
      <vt:lpstr>Python List (Copy &amp; Join)</vt:lpstr>
      <vt:lpstr>Python List (Methods)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Muhammad Ismail Mangrio</cp:lastModifiedBy>
  <cp:revision>36</cp:revision>
  <dcterms:created xsi:type="dcterms:W3CDTF">2023-08-12T13:47:27Z</dcterms:created>
  <dcterms:modified xsi:type="dcterms:W3CDTF">2025-08-25T13:07:13Z</dcterms:modified>
</cp:coreProperties>
</file>
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258" r:id="rId12"/>
    <p:sldId id="321" r:id="rId13"/>
    <p:sldId id="322" r:id="rId14"/>
    <p:sldId id="323" r:id="rId15"/>
    <p:sldId id="324" r:id="rId16"/>
    <p:sldId id="325" r:id="rId17"/>
    <p:sldId id="307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35" r:id="rId28"/>
    <p:sldId id="336" r:id="rId29"/>
    <p:sldId id="337" r:id="rId30"/>
    <p:sldId id="338" r:id="rId31"/>
    <p:sldId id="339" r:id="rId32"/>
    <p:sldId id="340" r:id="rId33"/>
    <p:sldId id="343" r:id="rId34"/>
    <p:sldId id="342" r:id="rId35"/>
    <p:sldId id="341" r:id="rId36"/>
    <p:sldId id="308" r:id="rId37"/>
    <p:sldId id="344" r:id="rId38"/>
    <p:sldId id="345" r:id="rId39"/>
    <p:sldId id="346" r:id="rId40"/>
    <p:sldId id="347" r:id="rId41"/>
    <p:sldId id="348" r:id="rId42"/>
    <p:sldId id="349" r:id="rId43"/>
    <p:sldId id="276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olors/colors_names.asp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Science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Unit 01: Python for Data Science</a:t>
            </a:r>
          </a:p>
          <a:p>
            <a:r>
              <a:rPr lang="en-US" dirty="0"/>
              <a:t>Lecture </a:t>
            </a:r>
            <a:r>
              <a:rPr lang="en-US" dirty="0" smtClean="0"/>
              <a:t>09</a:t>
            </a:r>
          </a:p>
          <a:p>
            <a:r>
              <a:rPr lang="en-US" dirty="0" smtClean="0"/>
              <a:t>Data Visualization using </a:t>
            </a:r>
            <a:r>
              <a:rPr lang="en-US" dirty="0" err="1" smtClean="0"/>
              <a:t>matplotlib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22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8502"/>
          </a:xfrm>
        </p:spPr>
        <p:txBody>
          <a:bodyPr/>
          <a:lstStyle/>
          <a:p>
            <a:r>
              <a:rPr lang="en-US" dirty="0" smtClean="0"/>
              <a:t>Data Visualization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02" y="1562677"/>
            <a:ext cx="9237132" cy="3880773"/>
          </a:xfrm>
        </p:spPr>
        <p:txBody>
          <a:bodyPr>
            <a:noAutofit/>
          </a:bodyPr>
          <a:lstStyle/>
          <a:p>
            <a:r>
              <a:rPr lang="en-US" b="1" dirty="0" err="1" smtClean="0"/>
              <a:t>matplotlib</a:t>
            </a:r>
            <a:r>
              <a:rPr lang="en-US" dirty="0" smtClean="0"/>
              <a:t> </a:t>
            </a:r>
            <a:r>
              <a:rPr lang="en-US" dirty="0"/>
              <a:t>is a low level </a:t>
            </a:r>
            <a:r>
              <a:rPr lang="en-US" b="1" dirty="0"/>
              <a:t>graph plotting</a:t>
            </a:r>
            <a:r>
              <a:rPr lang="en-US" dirty="0"/>
              <a:t> library in python that serves as a visualization utility.</a:t>
            </a:r>
          </a:p>
          <a:p>
            <a:endParaRPr lang="en-US" dirty="0"/>
          </a:p>
          <a:p>
            <a:r>
              <a:rPr lang="en-US" dirty="0" err="1"/>
              <a:t>Matplotlib</a:t>
            </a:r>
            <a:r>
              <a:rPr lang="en-US" dirty="0"/>
              <a:t> was created by </a:t>
            </a:r>
            <a:r>
              <a:rPr lang="en-US" b="1" dirty="0"/>
              <a:t>John D. Hunter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Matplotlib</a:t>
            </a:r>
            <a:r>
              <a:rPr lang="en-US" dirty="0"/>
              <a:t> is </a:t>
            </a:r>
            <a:r>
              <a:rPr lang="en-US" b="1" dirty="0"/>
              <a:t>open source </a:t>
            </a:r>
            <a:r>
              <a:rPr lang="en-US" dirty="0"/>
              <a:t>and we can use it freely.</a:t>
            </a:r>
          </a:p>
          <a:p>
            <a:endParaRPr lang="en-US" dirty="0"/>
          </a:p>
          <a:p>
            <a:r>
              <a:rPr lang="en-US" dirty="0" err="1"/>
              <a:t>Matplotlib</a:t>
            </a:r>
            <a:r>
              <a:rPr lang="en-US" dirty="0"/>
              <a:t> is mostly written in python, a few segments are written in C, Objective-C and </a:t>
            </a:r>
            <a:r>
              <a:rPr lang="en-US" dirty="0" err="1"/>
              <a:t>Javascript</a:t>
            </a:r>
            <a:r>
              <a:rPr lang="en-US" dirty="0"/>
              <a:t> for Platform </a:t>
            </a:r>
            <a:r>
              <a:rPr lang="en-US" dirty="0" smtClean="0"/>
              <a:t>compatibility.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18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8502"/>
          </a:xfrm>
        </p:spPr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 </a:t>
            </a:r>
            <a:r>
              <a:rPr lang="en-US" dirty="0" err="1"/>
              <a:t>Pyplot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02" y="1562677"/>
            <a:ext cx="6069098" cy="3880773"/>
          </a:xfrm>
        </p:spPr>
        <p:txBody>
          <a:bodyPr>
            <a:noAutofit/>
          </a:bodyPr>
          <a:lstStyle/>
          <a:p>
            <a:r>
              <a:rPr lang="en-US" dirty="0"/>
              <a:t>Most of the </a:t>
            </a:r>
            <a:r>
              <a:rPr lang="en-US" dirty="0" err="1"/>
              <a:t>Matplotlib</a:t>
            </a:r>
            <a:r>
              <a:rPr lang="en-US" dirty="0"/>
              <a:t> utilities lies under the </a:t>
            </a:r>
            <a:r>
              <a:rPr lang="en-US" dirty="0" err="1"/>
              <a:t>pyplot</a:t>
            </a:r>
            <a:r>
              <a:rPr lang="en-US" dirty="0"/>
              <a:t> </a:t>
            </a:r>
            <a:r>
              <a:rPr lang="en-US" dirty="0" err="1"/>
              <a:t>submodule</a:t>
            </a:r>
            <a:r>
              <a:rPr lang="en-US" dirty="0"/>
              <a:t>, and are usually imported under the </a:t>
            </a:r>
            <a:r>
              <a:rPr lang="en-US" dirty="0" err="1"/>
              <a:t>plt</a:t>
            </a:r>
            <a:r>
              <a:rPr lang="en-US" dirty="0"/>
              <a:t> alias</a:t>
            </a:r>
            <a:r>
              <a:rPr lang="en-US" dirty="0" smtClean="0"/>
              <a:t>:</a:t>
            </a:r>
          </a:p>
          <a:p>
            <a:r>
              <a:rPr lang="en-US" dirty="0"/>
              <a:t>Now the </a:t>
            </a:r>
            <a:r>
              <a:rPr lang="en-US" dirty="0" err="1"/>
              <a:t>Pyplot</a:t>
            </a:r>
            <a:r>
              <a:rPr lang="en-US" dirty="0"/>
              <a:t> package can be referred to as </a:t>
            </a:r>
            <a:r>
              <a:rPr lang="en-US" dirty="0" err="1"/>
              <a:t>plt</a:t>
            </a:r>
            <a:r>
              <a:rPr lang="en-US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966202" y="3349743"/>
            <a:ext cx="5548898" cy="3021300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Draw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a line in a diagram from position (0,0) to position (6,250):</a:t>
            </a:r>
          </a:p>
          <a:p>
            <a:endParaRPr lang="en-US" sz="1600" dirty="0" smtClean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xpoints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250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xpoints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209" y="2864929"/>
            <a:ext cx="4790901" cy="357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812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457" y="3191933"/>
            <a:ext cx="4908543" cy="36660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850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Matplotlib</a:t>
            </a:r>
            <a:r>
              <a:rPr lang="en-US" dirty="0"/>
              <a:t> Plotting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02" y="1562677"/>
            <a:ext cx="6069098" cy="3880773"/>
          </a:xfrm>
        </p:spPr>
        <p:txBody>
          <a:bodyPr>
            <a:noAutofit/>
          </a:bodyPr>
          <a:lstStyle/>
          <a:p>
            <a:r>
              <a:rPr lang="en-US" b="1" dirty="0"/>
              <a:t>Plotting x and y points</a:t>
            </a:r>
          </a:p>
          <a:p>
            <a:r>
              <a:rPr lang="en-US" dirty="0" smtClean="0"/>
              <a:t>The </a:t>
            </a:r>
            <a:r>
              <a:rPr lang="en-US" dirty="0">
                <a:solidFill>
                  <a:srgbClr val="FF0000"/>
                </a:solidFill>
              </a:rPr>
              <a:t>plot() </a:t>
            </a:r>
            <a:r>
              <a:rPr lang="en-US" dirty="0"/>
              <a:t>function is used to draw points (</a:t>
            </a:r>
            <a:r>
              <a:rPr lang="en-US" b="1" dirty="0"/>
              <a:t>markers</a:t>
            </a:r>
            <a:r>
              <a:rPr lang="en-US" dirty="0"/>
              <a:t>) in a diagram.</a:t>
            </a:r>
          </a:p>
          <a:p>
            <a:r>
              <a:rPr lang="en-US" dirty="0" smtClean="0"/>
              <a:t>By </a:t>
            </a:r>
            <a:r>
              <a:rPr lang="en-US" dirty="0"/>
              <a:t>default, the </a:t>
            </a:r>
            <a:r>
              <a:rPr lang="en-US" dirty="0">
                <a:solidFill>
                  <a:srgbClr val="FF0000"/>
                </a:solidFill>
              </a:rPr>
              <a:t>plot() </a:t>
            </a:r>
            <a:r>
              <a:rPr lang="en-US" dirty="0"/>
              <a:t>function draws a line from </a:t>
            </a:r>
            <a:r>
              <a:rPr lang="en-US" b="1" dirty="0"/>
              <a:t>point to point</a:t>
            </a:r>
            <a:r>
              <a:rPr lang="en-US" dirty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function takes parameters for specifying points in the diagram.</a:t>
            </a:r>
          </a:p>
          <a:p>
            <a:r>
              <a:rPr lang="en-US" b="1" dirty="0" smtClean="0"/>
              <a:t>Parameter </a:t>
            </a:r>
            <a:r>
              <a:rPr lang="en-US" b="1" dirty="0"/>
              <a:t>1 </a:t>
            </a:r>
            <a:r>
              <a:rPr lang="en-US" dirty="0"/>
              <a:t>is an </a:t>
            </a:r>
            <a:r>
              <a:rPr lang="en-US" b="1" dirty="0"/>
              <a:t>array containing the points on the x-axis</a:t>
            </a:r>
            <a:r>
              <a:rPr lang="en-US" dirty="0"/>
              <a:t>.</a:t>
            </a:r>
          </a:p>
          <a:p>
            <a:r>
              <a:rPr lang="en-US" b="1" dirty="0" smtClean="0"/>
              <a:t>Parameter </a:t>
            </a:r>
            <a:r>
              <a:rPr lang="en-US" b="1" dirty="0"/>
              <a:t>2</a:t>
            </a:r>
            <a:r>
              <a:rPr lang="en-US" dirty="0"/>
              <a:t> is an </a:t>
            </a:r>
            <a:r>
              <a:rPr lang="en-US" b="1" dirty="0"/>
              <a:t>array containing the points on the y-axis</a:t>
            </a:r>
            <a:r>
              <a:rPr lang="en-US" dirty="0"/>
              <a:t>.</a:t>
            </a:r>
          </a:p>
          <a:p>
            <a:r>
              <a:rPr lang="en-US" dirty="0" smtClean="0"/>
              <a:t>If </a:t>
            </a:r>
            <a:r>
              <a:rPr lang="en-US" dirty="0"/>
              <a:t>we need to plot a line from (1, 3) to (8, 10), we have to pass two arrays [1, 8] and [3, 10] to the plot function.</a:t>
            </a: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6426200" y="233266"/>
            <a:ext cx="5765800" cy="3175188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US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Draw a line in a diagram from position (1, 3) to position (8, 10):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690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850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Matplotlib</a:t>
            </a:r>
            <a:r>
              <a:rPr lang="en-US" dirty="0"/>
              <a:t> Plotting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02" y="1562677"/>
            <a:ext cx="6069098" cy="3880773"/>
          </a:xfrm>
        </p:spPr>
        <p:txBody>
          <a:bodyPr>
            <a:noAutofit/>
          </a:bodyPr>
          <a:lstStyle/>
          <a:p>
            <a:r>
              <a:rPr lang="en-US" b="1" dirty="0"/>
              <a:t>Plotting Without Line</a:t>
            </a:r>
          </a:p>
          <a:p>
            <a:r>
              <a:rPr lang="en-US" dirty="0"/>
              <a:t>To plot only the markers, you can use shortcut string notation parameter '</a:t>
            </a:r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dirty="0"/>
              <a:t>', which means '</a:t>
            </a:r>
            <a:r>
              <a:rPr lang="en-US" dirty="0">
                <a:solidFill>
                  <a:srgbClr val="FF0000"/>
                </a:solidFill>
              </a:rPr>
              <a:t>rings</a:t>
            </a:r>
            <a:r>
              <a:rPr lang="en-US" dirty="0" smtClean="0"/>
              <a:t>'.</a:t>
            </a:r>
          </a:p>
          <a:p>
            <a:endParaRPr lang="en-US" dirty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432723" y="3192319"/>
            <a:ext cx="6641408" cy="289818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Draw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two points in the diagram, one at position (1, 3) and one in position (8, 10):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'o'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752" y="3027150"/>
            <a:ext cx="4887884" cy="365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633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850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Matplotlib</a:t>
            </a:r>
            <a:r>
              <a:rPr lang="en-US" dirty="0"/>
              <a:t> Plotting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02" y="1562677"/>
            <a:ext cx="6069098" cy="3880773"/>
          </a:xfrm>
        </p:spPr>
        <p:txBody>
          <a:bodyPr>
            <a:noAutofit/>
          </a:bodyPr>
          <a:lstStyle/>
          <a:p>
            <a:r>
              <a:rPr lang="en-US" b="1" dirty="0"/>
              <a:t>Multiple Points</a:t>
            </a:r>
          </a:p>
          <a:p>
            <a:r>
              <a:rPr lang="en-US" dirty="0"/>
              <a:t>You can plot as many points as you like, just make sure you have the same number of points in both axis.</a:t>
            </a: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582697" y="3100232"/>
            <a:ext cx="6267797" cy="3175188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Draw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a line in a diagram from position (1, 3) to (2, 8) then to (6, 1) and finally to position (8, 10):</a:t>
            </a:r>
          </a:p>
          <a:p>
            <a:endParaRPr lang="en-US" dirty="0" smtClean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494" y="2515110"/>
            <a:ext cx="5206538" cy="388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610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850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Matplotlib</a:t>
            </a:r>
            <a:r>
              <a:rPr lang="en-US" dirty="0"/>
              <a:t> Plotting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02" y="1562677"/>
            <a:ext cx="6069098" cy="3880773"/>
          </a:xfrm>
        </p:spPr>
        <p:txBody>
          <a:bodyPr>
            <a:noAutofit/>
          </a:bodyPr>
          <a:lstStyle/>
          <a:p>
            <a:r>
              <a:rPr lang="en-US" b="1" dirty="0"/>
              <a:t>Default X-Points</a:t>
            </a:r>
          </a:p>
          <a:p>
            <a:r>
              <a:rPr lang="en-US" dirty="0"/>
              <a:t>If we do not specify the points on the x-axis, they will get the default values 0, 1, 2, 3 (etc., depending on the length of the y-points.</a:t>
            </a:r>
          </a:p>
          <a:p>
            <a:r>
              <a:rPr lang="en-US" dirty="0" smtClean="0"/>
              <a:t>So</a:t>
            </a:r>
            <a:r>
              <a:rPr lang="en-US" dirty="0"/>
              <a:t>, if we take the same example as above, and leave out the x-points, the diagram will look like this:</a:t>
            </a: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805584" y="4032701"/>
            <a:ext cx="5832763" cy="2590412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2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Plotting </a:t>
            </a: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</a:rPr>
              <a:t>without x-points:</a:t>
            </a:r>
          </a:p>
          <a:p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20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347" y="2787681"/>
            <a:ext cx="5449799" cy="407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629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8502"/>
          </a:xfrm>
        </p:spPr>
        <p:txBody>
          <a:bodyPr>
            <a:normAutofit/>
          </a:bodyPr>
          <a:lstStyle/>
          <a:p>
            <a:r>
              <a:rPr lang="en-US" dirty="0" err="1"/>
              <a:t>Matplotlib</a:t>
            </a:r>
            <a:r>
              <a:rPr lang="en-US" dirty="0"/>
              <a:t> Markers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02" y="1562677"/>
            <a:ext cx="6069098" cy="3880773"/>
          </a:xfrm>
        </p:spPr>
        <p:txBody>
          <a:bodyPr>
            <a:noAutofit/>
          </a:bodyPr>
          <a:lstStyle/>
          <a:p>
            <a:r>
              <a:rPr lang="en-US" b="1" dirty="0"/>
              <a:t>Markers</a:t>
            </a:r>
          </a:p>
          <a:p>
            <a:r>
              <a:rPr lang="en-US" dirty="0"/>
              <a:t>You can use the keyword argument marker to emphasize each point with a specified marker:</a:t>
            </a: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677334" y="3351828"/>
            <a:ext cx="5832763" cy="289818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2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Mark </a:t>
            </a: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</a:rPr>
              <a:t>each point with a circle</a:t>
            </a:r>
            <a:r>
              <a:rPr lang="en-US" sz="2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</a:p>
          <a:p>
            <a:endParaRPr lang="en-US" sz="20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marker =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'o'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20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051" y="3101845"/>
            <a:ext cx="4549833" cy="339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378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8502"/>
          </a:xfrm>
        </p:spPr>
        <p:txBody>
          <a:bodyPr>
            <a:normAutofit/>
          </a:bodyPr>
          <a:lstStyle/>
          <a:p>
            <a:r>
              <a:rPr lang="en-US" dirty="0" err="1"/>
              <a:t>Matplotlib</a:t>
            </a:r>
            <a:r>
              <a:rPr lang="en-US" dirty="0"/>
              <a:t> </a:t>
            </a:r>
            <a:r>
              <a:rPr lang="en-US" dirty="0" smtClean="0"/>
              <a:t>Markers </a:t>
            </a:r>
            <a:endParaRPr lang="en-US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1511048"/>
              </p:ext>
            </p:extLst>
          </p:nvPr>
        </p:nvGraphicFramePr>
        <p:xfrm>
          <a:off x="2385800" y="1214246"/>
          <a:ext cx="4382418" cy="5577250"/>
        </p:xfrm>
        <a:graphic>
          <a:graphicData uri="http://schemas.openxmlformats.org/drawingml/2006/table">
            <a:tbl>
              <a:tblPr/>
              <a:tblGrid>
                <a:gridCol w="1460806"/>
                <a:gridCol w="2840762"/>
                <a:gridCol w="80850"/>
              </a:tblGrid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 dirty="0">
                          <a:effectLst/>
                        </a:rPr>
                        <a:t>Marker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100" b="1" dirty="0">
                          <a:effectLst/>
                        </a:rPr>
                        <a:t>Description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'o'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 dirty="0">
                          <a:effectLst/>
                        </a:rPr>
                        <a:t>Circle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 rowSpan="24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E9EB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'*'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 dirty="0">
                          <a:effectLst/>
                        </a:rPr>
                        <a:t>Star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'.'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Point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','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 dirty="0">
                          <a:effectLst/>
                        </a:rPr>
                        <a:t>Pixel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'x'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X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'X'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X (filled)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'+'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Plus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'P'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Plus (filled)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's'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Square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'D'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Diamond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'd'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Diamond (thin)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'p'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Pentagon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'H'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Hexagon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'h'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Hexagon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'v'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Triangle Down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'^'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Triangle Up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'&lt;'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Triangle Left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'&gt;'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Triangle Right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'1'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Tri Down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'2'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Tri Up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'3'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Tri Left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'4'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Tri Right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'|'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>
                          <a:effectLst/>
                        </a:rPr>
                        <a:t>Vline</a:t>
                      </a: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700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155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 dirty="0">
                          <a:effectLst/>
                        </a:rPr>
                        <a:t>'_'</a:t>
                      </a:r>
                    </a:p>
                  </a:txBody>
                  <a:tcPr marL="55449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 dirty="0" err="1">
                          <a:effectLst/>
                        </a:rPr>
                        <a:t>Hline</a:t>
                      </a:r>
                      <a:endParaRPr lang="en-US" sz="1100" b="1" dirty="0">
                        <a:effectLst/>
                      </a:endParaRPr>
                    </a:p>
                  </a:txBody>
                  <a:tcPr marL="27725" marR="27725" marT="27725" marB="27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269" marR="33269" marT="16635" marB="1663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835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8502"/>
          </a:xfrm>
        </p:spPr>
        <p:txBody>
          <a:bodyPr>
            <a:normAutofit/>
          </a:bodyPr>
          <a:lstStyle/>
          <a:p>
            <a:r>
              <a:rPr lang="en-US" dirty="0" err="1"/>
              <a:t>Matplotlib</a:t>
            </a:r>
            <a:r>
              <a:rPr lang="en-US" dirty="0"/>
              <a:t> Markers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02" y="1562678"/>
            <a:ext cx="6069098" cy="2444058"/>
          </a:xfrm>
        </p:spPr>
        <p:txBody>
          <a:bodyPr>
            <a:noAutofit/>
          </a:bodyPr>
          <a:lstStyle/>
          <a:p>
            <a:r>
              <a:rPr lang="en-US" b="1" dirty="0"/>
              <a:t>Format Strings </a:t>
            </a:r>
            <a:r>
              <a:rPr lang="en-US" dirty="0" err="1">
                <a:solidFill>
                  <a:srgbClr val="FF0000"/>
                </a:solidFill>
              </a:rPr>
              <a:t>fmt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You can also use the shortcut string notation parameter to specify the marker.</a:t>
            </a:r>
          </a:p>
          <a:p>
            <a:r>
              <a:rPr lang="en-US" dirty="0" smtClean="0"/>
              <a:t>This </a:t>
            </a:r>
            <a:r>
              <a:rPr lang="en-US" dirty="0"/>
              <a:t>parameter is also called </a:t>
            </a:r>
            <a:r>
              <a:rPr lang="en-US" dirty="0" err="1">
                <a:solidFill>
                  <a:srgbClr val="FF0000"/>
                </a:solidFill>
              </a:rPr>
              <a:t>fmt</a:t>
            </a:r>
            <a:r>
              <a:rPr lang="en-US" dirty="0"/>
              <a:t>, and is written with this syntax: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marker|line|color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805584" y="4032701"/>
            <a:ext cx="6019165" cy="2590412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2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Mark </a:t>
            </a: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</a:rPr>
              <a:t>each point with a circle:</a:t>
            </a:r>
          </a:p>
          <a:p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'</a:t>
            </a:r>
            <a:r>
              <a:rPr lang="en-US" sz="2000" dirty="0" err="1">
                <a:solidFill>
                  <a:srgbClr val="A52A2A"/>
                </a:solidFill>
                <a:latin typeface="Consolas" panose="020B0609020204030204" pitchFamily="49" charset="0"/>
              </a:rPr>
              <a:t>o:r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'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20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395" y="2784707"/>
            <a:ext cx="5368605" cy="400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574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Markers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668" y="2160589"/>
            <a:ext cx="6236700" cy="3880773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1900" dirty="0" smtClean="0"/>
              <a:t>The </a:t>
            </a:r>
            <a:r>
              <a:rPr lang="en-US" sz="1900" dirty="0"/>
              <a:t>line value can be one of the following:</a:t>
            </a:r>
          </a:p>
          <a:p>
            <a:pPr>
              <a:lnSpc>
                <a:spcPct val="120000"/>
              </a:lnSpc>
            </a:pPr>
            <a:r>
              <a:rPr lang="en-US" sz="1900" b="1" dirty="0" smtClean="0"/>
              <a:t>Line Reference</a:t>
            </a:r>
          </a:p>
          <a:p>
            <a:pPr>
              <a:lnSpc>
                <a:spcPct val="120000"/>
              </a:lnSpc>
            </a:pPr>
            <a:endParaRPr lang="en-US" sz="1900" dirty="0"/>
          </a:p>
          <a:p>
            <a:pPr>
              <a:lnSpc>
                <a:spcPct val="120000"/>
              </a:lnSpc>
            </a:pPr>
            <a:endParaRPr lang="en-US" sz="1900" dirty="0" smtClean="0"/>
          </a:p>
          <a:p>
            <a:pPr>
              <a:lnSpc>
                <a:spcPct val="120000"/>
              </a:lnSpc>
            </a:pPr>
            <a:endParaRPr lang="en-US" sz="1900" dirty="0"/>
          </a:p>
          <a:p>
            <a:pPr>
              <a:lnSpc>
                <a:spcPct val="120000"/>
              </a:lnSpc>
            </a:pPr>
            <a:endParaRPr lang="en-US" sz="1900" dirty="0" smtClean="0"/>
          </a:p>
          <a:p>
            <a:pPr>
              <a:lnSpc>
                <a:spcPct val="120000"/>
              </a:lnSpc>
            </a:pPr>
            <a:endParaRPr lang="en-US" sz="1900" dirty="0"/>
          </a:p>
          <a:p>
            <a:pPr>
              <a:lnSpc>
                <a:spcPct val="120000"/>
              </a:lnSpc>
            </a:pPr>
            <a:r>
              <a:rPr lang="en-US" dirty="0"/>
              <a:t>Note: If you leave out the line value in the </a:t>
            </a:r>
            <a:r>
              <a:rPr lang="en-US" dirty="0" err="1">
                <a:solidFill>
                  <a:srgbClr val="FF0000"/>
                </a:solidFill>
              </a:rPr>
              <a:t>fmt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parameter, no line will be plotted.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466873"/>
              </p:ext>
            </p:extLst>
          </p:nvPr>
        </p:nvGraphicFramePr>
        <p:xfrm>
          <a:off x="677864" y="3034506"/>
          <a:ext cx="5756188" cy="2133600"/>
        </p:xfrm>
        <a:graphic>
          <a:graphicData uri="http://schemas.openxmlformats.org/drawingml/2006/table">
            <a:tbl>
              <a:tblPr/>
              <a:tblGrid>
                <a:gridCol w="2398412"/>
                <a:gridCol w="3357776"/>
              </a:tblGrid>
              <a:tr h="42672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Line Syntax</a:t>
                      </a:r>
                    </a:p>
                  </a:txBody>
                  <a:tcPr marL="1524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'-'</a:t>
                      </a:r>
                    </a:p>
                  </a:txBody>
                  <a:tcPr marL="1524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Solid line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':'</a:t>
                      </a:r>
                    </a:p>
                  </a:txBody>
                  <a:tcPr marL="1524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Dotted line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'--'</a:t>
                      </a:r>
                    </a:p>
                  </a:txBody>
                  <a:tcPr marL="1524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Dashed line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'-.'</a:t>
                      </a:r>
                    </a:p>
                  </a:txBody>
                  <a:tcPr marL="1524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Dashed/dotted line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381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Markers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668" y="2160589"/>
            <a:ext cx="6236700" cy="388077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900" dirty="0"/>
              <a:t>The short color value can be one of the following:</a:t>
            </a:r>
          </a:p>
          <a:p>
            <a:pPr>
              <a:lnSpc>
                <a:spcPct val="120000"/>
              </a:lnSpc>
            </a:pPr>
            <a:r>
              <a:rPr lang="en-US" sz="1900" b="1" dirty="0" smtClean="0"/>
              <a:t>Color </a:t>
            </a:r>
            <a:r>
              <a:rPr lang="en-US" sz="1900" b="1" dirty="0"/>
              <a:t>Reference</a:t>
            </a:r>
          </a:p>
          <a:p>
            <a:pPr>
              <a:lnSpc>
                <a:spcPct val="120000"/>
              </a:lnSpc>
            </a:pPr>
            <a:endParaRPr lang="en-US" sz="1900" dirty="0" smtClean="0"/>
          </a:p>
          <a:p>
            <a:pPr>
              <a:lnSpc>
                <a:spcPct val="120000"/>
              </a:lnSpc>
            </a:pPr>
            <a:endParaRPr lang="en-US" sz="1900" dirty="0"/>
          </a:p>
          <a:p>
            <a:pPr>
              <a:lnSpc>
                <a:spcPct val="120000"/>
              </a:lnSpc>
            </a:pPr>
            <a:endParaRPr lang="en-US" sz="1900" dirty="0" smtClean="0"/>
          </a:p>
          <a:p>
            <a:pPr>
              <a:lnSpc>
                <a:spcPct val="120000"/>
              </a:lnSpc>
            </a:pPr>
            <a:endParaRPr lang="en-US" sz="19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941491"/>
              </p:ext>
            </p:extLst>
          </p:nvPr>
        </p:nvGraphicFramePr>
        <p:xfrm>
          <a:off x="755983" y="3036202"/>
          <a:ext cx="8596311" cy="3447774"/>
        </p:xfrm>
        <a:graphic>
          <a:graphicData uri="http://schemas.openxmlformats.org/drawingml/2006/table">
            <a:tbl>
              <a:tblPr/>
              <a:tblGrid>
                <a:gridCol w="2865437"/>
                <a:gridCol w="5730874"/>
              </a:tblGrid>
              <a:tr h="30454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Color Syntax</a:t>
                      </a:r>
                    </a:p>
                  </a:txBody>
                  <a:tcPr marL="108766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Description</a:t>
                      </a:r>
                    </a:p>
                  </a:txBody>
                  <a:tcPr marL="54383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54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'r'</a:t>
                      </a:r>
                    </a:p>
                  </a:txBody>
                  <a:tcPr marL="108766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Red</a:t>
                      </a:r>
                    </a:p>
                  </a:txBody>
                  <a:tcPr marL="54383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0454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'g'</a:t>
                      </a:r>
                    </a:p>
                  </a:txBody>
                  <a:tcPr marL="108766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Green</a:t>
                      </a:r>
                    </a:p>
                  </a:txBody>
                  <a:tcPr marL="54383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54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'b'</a:t>
                      </a:r>
                    </a:p>
                  </a:txBody>
                  <a:tcPr marL="108766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Blue</a:t>
                      </a:r>
                    </a:p>
                  </a:txBody>
                  <a:tcPr marL="54383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0454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'c'</a:t>
                      </a:r>
                    </a:p>
                  </a:txBody>
                  <a:tcPr marL="108766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Cyan</a:t>
                      </a:r>
                    </a:p>
                  </a:txBody>
                  <a:tcPr marL="54383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54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'm'</a:t>
                      </a:r>
                    </a:p>
                  </a:txBody>
                  <a:tcPr marL="108766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Magenta</a:t>
                      </a:r>
                    </a:p>
                  </a:txBody>
                  <a:tcPr marL="54383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0454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'y'</a:t>
                      </a:r>
                    </a:p>
                  </a:txBody>
                  <a:tcPr marL="108766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Yellow</a:t>
                      </a:r>
                    </a:p>
                  </a:txBody>
                  <a:tcPr marL="54383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54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'k'</a:t>
                      </a:r>
                    </a:p>
                  </a:txBody>
                  <a:tcPr marL="108766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Black</a:t>
                      </a:r>
                    </a:p>
                  </a:txBody>
                  <a:tcPr marL="54383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0454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'w'</a:t>
                      </a:r>
                    </a:p>
                  </a:txBody>
                  <a:tcPr marL="108766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White</a:t>
                      </a:r>
                    </a:p>
                  </a:txBody>
                  <a:tcPr marL="54383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693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763" y="2870030"/>
            <a:ext cx="5339542" cy="39879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Markers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668" y="2160589"/>
            <a:ext cx="9029776" cy="388077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900" b="1" dirty="0"/>
              <a:t>Marker Size</a:t>
            </a:r>
          </a:p>
          <a:p>
            <a:pPr>
              <a:lnSpc>
                <a:spcPct val="120000"/>
              </a:lnSpc>
            </a:pPr>
            <a:r>
              <a:rPr lang="en-US" sz="1900" dirty="0"/>
              <a:t>You can use the keyword argument </a:t>
            </a:r>
            <a:r>
              <a:rPr lang="en-US" sz="1900" b="1" dirty="0" err="1"/>
              <a:t>markersize</a:t>
            </a:r>
            <a:r>
              <a:rPr lang="en-US" sz="1900" dirty="0"/>
              <a:t> or the shorter version, </a:t>
            </a:r>
            <a:r>
              <a:rPr lang="en-US" sz="1900" dirty="0" err="1"/>
              <a:t>ms</a:t>
            </a:r>
            <a:r>
              <a:rPr lang="en-US" sz="1900" dirty="0"/>
              <a:t> to set the size of the markers:</a:t>
            </a:r>
            <a:endParaRPr lang="en-US" sz="1900" dirty="0" smtClean="0"/>
          </a:p>
          <a:p>
            <a:pPr>
              <a:lnSpc>
                <a:spcPct val="120000"/>
              </a:lnSpc>
            </a:pPr>
            <a:endParaRPr lang="en-US" sz="1900" dirty="0"/>
          </a:p>
          <a:p>
            <a:pPr>
              <a:lnSpc>
                <a:spcPct val="120000"/>
              </a:lnSpc>
            </a:pPr>
            <a:endParaRPr lang="en-US" sz="1900" dirty="0" smtClean="0"/>
          </a:p>
          <a:p>
            <a:pPr>
              <a:lnSpc>
                <a:spcPct val="120000"/>
              </a:lnSpc>
            </a:pPr>
            <a:endParaRPr lang="en-US" sz="1900" dirty="0"/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auto">
          <a:xfrm>
            <a:off x="677334" y="3823977"/>
            <a:ext cx="5832763" cy="289818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2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Set </a:t>
            </a: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</a:rPr>
              <a:t>the size of the markers to 20</a:t>
            </a:r>
            <a:r>
              <a:rPr lang="en-US" sz="2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</a:p>
          <a:p>
            <a:endParaRPr lang="en-US" sz="20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marker =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'o'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20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885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688" y="2670325"/>
            <a:ext cx="5606929" cy="41876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Markers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668" y="2160589"/>
            <a:ext cx="9029776" cy="388077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900" b="1" dirty="0"/>
              <a:t>Marker Color</a:t>
            </a:r>
          </a:p>
          <a:p>
            <a:pPr>
              <a:lnSpc>
                <a:spcPct val="120000"/>
              </a:lnSpc>
            </a:pPr>
            <a:r>
              <a:rPr lang="en-US" sz="1900" dirty="0"/>
              <a:t>You can use the keyword argument </a:t>
            </a:r>
            <a:r>
              <a:rPr lang="en-US" sz="1900" dirty="0" err="1"/>
              <a:t>markeredgecolor</a:t>
            </a:r>
            <a:r>
              <a:rPr lang="en-US" sz="1900" dirty="0"/>
              <a:t> or the shorter </a:t>
            </a:r>
            <a:r>
              <a:rPr lang="en-US" sz="1900" dirty="0" err="1"/>
              <a:t>mec</a:t>
            </a:r>
            <a:r>
              <a:rPr lang="en-US" sz="1900" dirty="0"/>
              <a:t> to set the color of the edge of the markers:</a:t>
            </a:r>
          </a:p>
          <a:p>
            <a:pPr>
              <a:lnSpc>
                <a:spcPct val="120000"/>
              </a:lnSpc>
            </a:pPr>
            <a:endParaRPr lang="en-US" sz="1900" dirty="0" smtClean="0"/>
          </a:p>
          <a:p>
            <a:pPr>
              <a:lnSpc>
                <a:spcPct val="120000"/>
              </a:lnSpc>
            </a:pPr>
            <a:endParaRPr lang="en-US" sz="1900" dirty="0"/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auto">
          <a:xfrm>
            <a:off x="677334" y="3662681"/>
            <a:ext cx="6077354" cy="289818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2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Set </a:t>
            </a: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</a:rPr>
              <a:t>the EDGE color to red:</a:t>
            </a:r>
          </a:p>
          <a:p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marker =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'o'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mec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'r'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20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274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793" y="2682067"/>
            <a:ext cx="5591207" cy="41759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Markers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668" y="2160589"/>
            <a:ext cx="9029776" cy="388077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900" dirty="0"/>
              <a:t>You can use the keyword argument </a:t>
            </a:r>
            <a:r>
              <a:rPr lang="en-US" sz="1900" b="1" dirty="0" err="1"/>
              <a:t>markerfacecolor</a:t>
            </a:r>
            <a:r>
              <a:rPr lang="en-US" sz="1900" dirty="0"/>
              <a:t> or the shorter </a:t>
            </a:r>
            <a:r>
              <a:rPr lang="en-US" sz="1900" dirty="0" err="1">
                <a:solidFill>
                  <a:srgbClr val="FF0000"/>
                </a:solidFill>
              </a:rPr>
              <a:t>mfc</a:t>
            </a:r>
            <a:r>
              <a:rPr lang="en-US" sz="1900" dirty="0"/>
              <a:t> to set the color inside the edge of the markers:</a:t>
            </a:r>
            <a:endParaRPr lang="en-US" sz="1900" dirty="0" smtClean="0"/>
          </a:p>
          <a:p>
            <a:pPr>
              <a:lnSpc>
                <a:spcPct val="120000"/>
              </a:lnSpc>
            </a:pPr>
            <a:endParaRPr lang="en-US" sz="1900" dirty="0"/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auto">
          <a:xfrm>
            <a:off x="438424" y="3459437"/>
            <a:ext cx="6461140" cy="2621190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Set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the FACE color to red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marker 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'o'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mfc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'r'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00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502" y="2734887"/>
            <a:ext cx="5267498" cy="41231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Markers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476" y="1703389"/>
            <a:ext cx="10318248" cy="388077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900" dirty="0"/>
              <a:t>Use both the </a:t>
            </a:r>
            <a:r>
              <a:rPr lang="en-US" sz="1900" dirty="0" err="1"/>
              <a:t>mec</a:t>
            </a:r>
            <a:r>
              <a:rPr lang="en-US" sz="1900" dirty="0"/>
              <a:t> and </a:t>
            </a:r>
            <a:r>
              <a:rPr lang="en-US" sz="1900" dirty="0" err="1"/>
              <a:t>mfc</a:t>
            </a:r>
            <a:r>
              <a:rPr lang="en-US" sz="1900" dirty="0"/>
              <a:t> arguments to color the entire marker</a:t>
            </a:r>
            <a:r>
              <a:rPr lang="en-US" sz="1900" dirty="0" smtClean="0"/>
              <a:t>:</a:t>
            </a:r>
          </a:p>
          <a:p>
            <a:pPr>
              <a:lnSpc>
                <a:spcPct val="120000"/>
              </a:lnSpc>
            </a:pPr>
            <a:r>
              <a:rPr lang="en-US" sz="1900" dirty="0"/>
              <a:t>You can also use Hexadecimal color values</a:t>
            </a:r>
            <a:r>
              <a:rPr lang="en-US" sz="1900" dirty="0" smtClean="0"/>
              <a:t>:</a:t>
            </a:r>
          </a:p>
          <a:p>
            <a:pPr lvl="1">
              <a:lnSpc>
                <a:spcPct val="120000"/>
              </a:lnSpc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marker = </a:t>
            </a:r>
            <a:r>
              <a:rPr lang="en-US" sz="1800" dirty="0">
                <a:solidFill>
                  <a:srgbClr val="A52A2A"/>
                </a:solidFill>
                <a:latin typeface="Consolas" panose="020B0609020204030204" pitchFamily="49" charset="0"/>
              </a:rPr>
              <a:t>'o'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mec</a:t>
            </a:r>
            <a:r>
              <a:rPr lang="en-US" sz="1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A52A2A"/>
                </a:solidFill>
                <a:latin typeface="Consolas" panose="020B0609020204030204" pitchFamily="49" charset="0"/>
              </a:rPr>
              <a:t>'#4CAF50'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mfc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1800" dirty="0">
                <a:solidFill>
                  <a:srgbClr val="A52A2A"/>
                </a:solidFill>
                <a:latin typeface="Consolas" panose="020B0609020204030204" pitchFamily="49" charset="0"/>
              </a:rPr>
              <a:t>'#4CAF50</a:t>
            </a:r>
            <a:r>
              <a:rPr lang="en-US" sz="1800" dirty="0" smtClean="0">
                <a:solidFill>
                  <a:srgbClr val="A52A2A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>
              <a:lnSpc>
                <a:spcPct val="120000"/>
              </a:lnSpc>
            </a:pPr>
            <a:r>
              <a:rPr lang="en-US" sz="1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List of different </a:t>
            </a:r>
            <a:r>
              <a:rPr lang="en-US" sz="18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colours</a:t>
            </a:r>
            <a:r>
              <a:rPr lang="en-US" sz="1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smtClean="0">
                <a:solidFill>
                  <a:srgbClr val="000000"/>
                </a:solidFill>
                <a:latin typeface="Consolas" panose="020B0609020204030204" pitchFamily="49" charset="0"/>
                <a:hlinkClick r:id="rId3"/>
              </a:rPr>
              <a:t>Link</a:t>
            </a:r>
            <a:endParaRPr lang="en-US" sz="1700" dirty="0"/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auto">
          <a:xfrm>
            <a:off x="147475" y="3905958"/>
            <a:ext cx="7067971" cy="2344191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Set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the color of both the </a:t>
            </a:r>
            <a:r>
              <a:rPr lang="en-US" sz="1600" i="1" dirty="0">
                <a:solidFill>
                  <a:srgbClr val="000000"/>
                </a:solidFill>
                <a:latin typeface="Verdana" panose="020B0604030504040204" pitchFamily="34" charset="0"/>
              </a:rPr>
              <a:t>edge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 and the </a:t>
            </a:r>
            <a:r>
              <a:rPr lang="en-US" sz="1600" i="1" dirty="0">
                <a:solidFill>
                  <a:srgbClr val="000000"/>
                </a:solidFill>
                <a:latin typeface="Verdana" panose="020B0604030504040204" pitchFamily="34" charset="0"/>
              </a:rPr>
              <a:t>face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 to red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</a:p>
          <a:p>
            <a:endParaRPr lang="en-US" sz="16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marker =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'o'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mec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'r'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mfc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'r'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227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143" y="2693321"/>
            <a:ext cx="6282857" cy="41925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1347789"/>
            <a:ext cx="7160028" cy="3880773"/>
          </a:xfrm>
        </p:spPr>
        <p:txBody>
          <a:bodyPr>
            <a:noAutofit/>
          </a:bodyPr>
          <a:lstStyle/>
          <a:p>
            <a:r>
              <a:rPr lang="en-US" sz="2000" b="1" dirty="0" err="1" smtClean="0"/>
              <a:t>Linestyle</a:t>
            </a:r>
            <a:r>
              <a:rPr lang="en-US" sz="2000" b="1" dirty="0" smtClean="0"/>
              <a:t>: </a:t>
            </a:r>
            <a:r>
              <a:rPr lang="en-US" sz="2000" dirty="0" smtClean="0"/>
              <a:t>You </a:t>
            </a:r>
            <a:r>
              <a:rPr lang="en-US" sz="2000" dirty="0"/>
              <a:t>can use the keyword argument </a:t>
            </a:r>
            <a:r>
              <a:rPr lang="en-US" sz="2000" b="1" dirty="0" err="1"/>
              <a:t>linestyle</a:t>
            </a:r>
            <a:r>
              <a:rPr lang="en-US" sz="2000" dirty="0"/>
              <a:t>, or shorter </a:t>
            </a:r>
            <a:r>
              <a:rPr lang="en-US" sz="2000" dirty="0" err="1"/>
              <a:t>ls</a:t>
            </a:r>
            <a:r>
              <a:rPr lang="en-US" sz="2000" dirty="0"/>
              <a:t>, to change the style of the plotted line</a:t>
            </a:r>
            <a:r>
              <a:rPr lang="en-US" sz="2000" dirty="0" smtClean="0"/>
              <a:t>: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for dash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plt.plot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ypoints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linestyle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 = 'dashed')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394701" y="3443831"/>
            <a:ext cx="5816599" cy="2621190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Use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a dotted line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linestyle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'dotted'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512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1347789"/>
            <a:ext cx="7160028" cy="3880773"/>
          </a:xfrm>
        </p:spPr>
        <p:txBody>
          <a:bodyPr>
            <a:noAutofit/>
          </a:bodyPr>
          <a:lstStyle/>
          <a:p>
            <a:r>
              <a:rPr lang="en-US" sz="2000" dirty="0"/>
              <a:t>You can use the keyword argument </a:t>
            </a:r>
            <a:r>
              <a:rPr lang="en-US" sz="2000" b="1" dirty="0"/>
              <a:t>color</a:t>
            </a:r>
            <a:r>
              <a:rPr lang="en-US" sz="2000" dirty="0"/>
              <a:t> or the shorter </a:t>
            </a:r>
            <a:r>
              <a:rPr lang="en-US" sz="2000" b="1" dirty="0"/>
              <a:t>c</a:t>
            </a:r>
            <a:r>
              <a:rPr lang="en-US" sz="2000" dirty="0"/>
              <a:t> to set the color of the line: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7334" y="3695066"/>
            <a:ext cx="5816599" cy="2344191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Set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the line color to red: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color 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'r'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643" y="2245033"/>
            <a:ext cx="6176357" cy="461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477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1347789"/>
            <a:ext cx="7160028" cy="3880773"/>
          </a:xfrm>
        </p:spPr>
        <p:txBody>
          <a:bodyPr>
            <a:noAutofit/>
          </a:bodyPr>
          <a:lstStyle/>
          <a:p>
            <a:r>
              <a:rPr lang="en-US" sz="2000" b="1" dirty="0"/>
              <a:t>Line Width</a:t>
            </a:r>
          </a:p>
          <a:p>
            <a:r>
              <a:rPr lang="en-US" sz="2000" dirty="0"/>
              <a:t>You can use the keyword argument </a:t>
            </a:r>
            <a:r>
              <a:rPr lang="en-US" sz="2000" b="1" dirty="0" err="1"/>
              <a:t>linewidth</a:t>
            </a:r>
            <a:r>
              <a:rPr lang="en-US" sz="2000" dirty="0"/>
              <a:t> or the shorter </a:t>
            </a:r>
            <a:r>
              <a:rPr lang="en-US" sz="2000" b="1" dirty="0" err="1"/>
              <a:t>lw</a:t>
            </a:r>
            <a:r>
              <a:rPr lang="en-US" sz="2000" b="1" dirty="0"/>
              <a:t> </a:t>
            </a:r>
            <a:r>
              <a:rPr lang="en-US" sz="2000" dirty="0"/>
              <a:t>to change the width of the line.</a:t>
            </a:r>
          </a:p>
          <a:p>
            <a:endParaRPr lang="en-US" sz="2000" dirty="0"/>
          </a:p>
          <a:p>
            <a:r>
              <a:rPr lang="en-US" sz="2000" dirty="0"/>
              <a:t>The value is a floating number, in points: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7334" y="3695066"/>
            <a:ext cx="5816599" cy="2344191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Plot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with a 20.5pt wide line: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ypoints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linewidth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'20.5'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188" y="2348509"/>
            <a:ext cx="6037812" cy="450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31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1347789"/>
            <a:ext cx="7160028" cy="3880773"/>
          </a:xfrm>
        </p:spPr>
        <p:txBody>
          <a:bodyPr>
            <a:noAutofit/>
          </a:bodyPr>
          <a:lstStyle/>
          <a:p>
            <a:r>
              <a:rPr lang="en-US" sz="2000" b="1" dirty="0"/>
              <a:t>Multiple </a:t>
            </a:r>
            <a:r>
              <a:rPr lang="en-US" sz="2000" b="1" dirty="0" smtClean="0"/>
              <a:t>Lines!</a:t>
            </a:r>
            <a:endParaRPr lang="en-US" sz="2000" b="1" dirty="0"/>
          </a:p>
          <a:p>
            <a:r>
              <a:rPr lang="en-US" sz="2000" dirty="0"/>
              <a:t>You can plot as many lines as you like by simply adding more </a:t>
            </a:r>
            <a:r>
              <a:rPr lang="en-US" sz="2000" dirty="0" err="1"/>
              <a:t>plt.plot</a:t>
            </a:r>
            <a:r>
              <a:rPr lang="en-US" sz="2000" dirty="0"/>
              <a:t>() functions: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7334" y="3149381"/>
            <a:ext cx="5816599" cy="3452187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Example: Draw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two lines by specifying a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function for each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line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y1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y2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(y1)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(y2)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706" y="2216554"/>
            <a:ext cx="609600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52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467" y="2884761"/>
            <a:ext cx="5319818" cy="397323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47789"/>
            <a:ext cx="9978043" cy="3880773"/>
          </a:xfrm>
        </p:spPr>
        <p:txBody>
          <a:bodyPr>
            <a:noAutofit/>
          </a:bodyPr>
          <a:lstStyle/>
          <a:p>
            <a:r>
              <a:rPr lang="en-US" sz="2000" b="1" dirty="0"/>
              <a:t>Multiple </a:t>
            </a:r>
            <a:r>
              <a:rPr lang="en-US" sz="2000" b="1" dirty="0" smtClean="0"/>
              <a:t>Lines!</a:t>
            </a:r>
            <a:endParaRPr lang="en-US" sz="2000" b="1" dirty="0"/>
          </a:p>
          <a:p>
            <a:r>
              <a:rPr lang="en-US" sz="2000" dirty="0"/>
              <a:t>You can also plot </a:t>
            </a:r>
            <a:r>
              <a:rPr lang="en-US" sz="2000" b="1" dirty="0"/>
              <a:t>many lines </a:t>
            </a:r>
            <a:r>
              <a:rPr lang="en-US" sz="2000" dirty="0"/>
              <a:t>by adding the </a:t>
            </a:r>
            <a:r>
              <a:rPr lang="en-US" sz="2000" b="1" dirty="0"/>
              <a:t>points for the x- and y-axis for each line</a:t>
            </a:r>
            <a:r>
              <a:rPr lang="en-US" sz="2000" dirty="0"/>
              <a:t> in the same </a:t>
            </a:r>
            <a:r>
              <a:rPr lang="en-US" sz="2000" dirty="0" err="1">
                <a:solidFill>
                  <a:srgbClr val="FF0000"/>
                </a:solidFill>
              </a:rPr>
              <a:t>plt.plot</a:t>
            </a:r>
            <a:r>
              <a:rPr lang="en-US" sz="2000" dirty="0">
                <a:solidFill>
                  <a:srgbClr val="FF0000"/>
                </a:solidFill>
              </a:rPr>
              <a:t>() </a:t>
            </a:r>
            <a:r>
              <a:rPr lang="en-US" sz="2000" dirty="0"/>
              <a:t>function.</a:t>
            </a:r>
          </a:p>
          <a:p>
            <a:r>
              <a:rPr lang="en-US" sz="2000" dirty="0" smtClean="0"/>
              <a:t>(</a:t>
            </a:r>
            <a:r>
              <a:rPr lang="en-US" sz="2000" dirty="0"/>
              <a:t>In the examples above we only specified the points on the y-axis, meaning that the points on the x-axis got the </a:t>
            </a:r>
            <a:r>
              <a:rPr lang="en-US" sz="2000" dirty="0" err="1"/>
              <a:t>the</a:t>
            </a:r>
            <a:r>
              <a:rPr lang="en-US" sz="2000" dirty="0"/>
              <a:t> default values (0, 1, 2, 3).)</a:t>
            </a:r>
          </a:p>
          <a:p>
            <a:endParaRPr lang="en-US" sz="2000" dirty="0"/>
          </a:p>
          <a:p>
            <a:r>
              <a:rPr lang="en-US" sz="2000" dirty="0"/>
              <a:t>The x- and y- values come in pairs: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7334" y="3194157"/>
            <a:ext cx="5816599" cy="3729186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Draw two lines by </a:t>
            </a:r>
            <a:r>
              <a:rPr lang="en-US" dirty="0" err="1">
                <a:solidFill>
                  <a:srgbClr val="000000"/>
                </a:solidFill>
                <a:latin typeface="Verdana" panose="020B0604030504040204" pitchFamily="34" charset="0"/>
              </a:rPr>
              <a:t>specifiyng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 the x- and y-point values for both lines: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x1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y1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x2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y2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(x1, y1, x2, y2)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258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Labels and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47789"/>
            <a:ext cx="9978043" cy="3880773"/>
          </a:xfrm>
        </p:spPr>
        <p:txBody>
          <a:bodyPr>
            <a:noAutofit/>
          </a:bodyPr>
          <a:lstStyle/>
          <a:p>
            <a:r>
              <a:rPr lang="en-US" sz="2000" dirty="0"/>
              <a:t>Create Labels for a Plot</a:t>
            </a:r>
          </a:p>
          <a:p>
            <a:r>
              <a:rPr lang="en-US" sz="2000" dirty="0"/>
              <a:t>With </a:t>
            </a:r>
            <a:r>
              <a:rPr lang="en-US" sz="2000" dirty="0" err="1"/>
              <a:t>Pyplot</a:t>
            </a:r>
            <a:r>
              <a:rPr lang="en-US" sz="2000" dirty="0"/>
              <a:t>, you can use the </a:t>
            </a:r>
            <a:r>
              <a:rPr lang="en-US" sz="2000" dirty="0" err="1">
                <a:solidFill>
                  <a:srgbClr val="FF0000"/>
                </a:solidFill>
              </a:rPr>
              <a:t>xlabel</a:t>
            </a:r>
            <a:r>
              <a:rPr lang="en-US" sz="2000" dirty="0">
                <a:solidFill>
                  <a:srgbClr val="FF0000"/>
                </a:solidFill>
              </a:rPr>
              <a:t>()</a:t>
            </a:r>
            <a:r>
              <a:rPr lang="en-US" sz="2000" dirty="0"/>
              <a:t> and </a:t>
            </a:r>
            <a:r>
              <a:rPr lang="en-US" sz="2000" dirty="0" err="1">
                <a:solidFill>
                  <a:srgbClr val="FF0000"/>
                </a:solidFill>
              </a:rPr>
              <a:t>ylabel</a:t>
            </a:r>
            <a:r>
              <a:rPr lang="en-US" sz="2000" dirty="0">
                <a:solidFill>
                  <a:srgbClr val="FF0000"/>
                </a:solidFill>
              </a:rPr>
              <a:t>() </a:t>
            </a:r>
            <a:r>
              <a:rPr lang="en-US" sz="2000" dirty="0"/>
              <a:t>functions to set a label for the x- and y-axis.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94288" y="2639986"/>
            <a:ext cx="7656022" cy="4006185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Add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labels to the x- and y-axis: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90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95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115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120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125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240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250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260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270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280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290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320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330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(x, y)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plt.xlabel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"Average Pulse"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plt.ylabel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"Calorie 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Burnage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311" y="2984268"/>
            <a:ext cx="4562900" cy="342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45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Labels and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47789"/>
            <a:ext cx="9978043" cy="3880773"/>
          </a:xfrm>
        </p:spPr>
        <p:txBody>
          <a:bodyPr>
            <a:noAutofit/>
          </a:bodyPr>
          <a:lstStyle/>
          <a:p>
            <a:r>
              <a:rPr lang="en-US" sz="2000" b="1" dirty="0"/>
              <a:t>Set Font Properties for Title and Labels</a:t>
            </a:r>
          </a:p>
          <a:p>
            <a:r>
              <a:rPr lang="en-US" sz="2000" dirty="0"/>
              <a:t>You can use the </a:t>
            </a:r>
            <a:r>
              <a:rPr lang="en-US" sz="2000" b="1" dirty="0" err="1"/>
              <a:t>fontdict</a:t>
            </a:r>
            <a:r>
              <a:rPr lang="en-US" sz="2000" dirty="0"/>
              <a:t> parameter in </a:t>
            </a:r>
            <a:r>
              <a:rPr lang="en-US" sz="2000" dirty="0" err="1">
                <a:solidFill>
                  <a:srgbClr val="FF0000"/>
                </a:solidFill>
              </a:rPr>
              <a:t>xlabel</a:t>
            </a:r>
            <a:r>
              <a:rPr lang="en-US" sz="2000" dirty="0">
                <a:solidFill>
                  <a:srgbClr val="FF0000"/>
                </a:solidFill>
              </a:rPr>
              <a:t>()</a:t>
            </a:r>
            <a:r>
              <a:rPr lang="en-US" sz="2000" dirty="0"/>
              <a:t>, </a:t>
            </a:r>
            <a:r>
              <a:rPr lang="en-US" sz="2000" dirty="0" err="1">
                <a:solidFill>
                  <a:srgbClr val="FF0000"/>
                </a:solidFill>
              </a:rPr>
              <a:t>ylabel</a:t>
            </a:r>
            <a:r>
              <a:rPr lang="en-US" sz="2000" dirty="0">
                <a:solidFill>
                  <a:srgbClr val="FF0000"/>
                </a:solidFill>
              </a:rPr>
              <a:t>()</a:t>
            </a:r>
            <a:r>
              <a:rPr lang="en-US" sz="2000" dirty="0"/>
              <a:t>, and </a:t>
            </a:r>
            <a:r>
              <a:rPr lang="en-US" sz="2000" dirty="0">
                <a:solidFill>
                  <a:srgbClr val="FF0000"/>
                </a:solidFill>
              </a:rPr>
              <a:t>title() </a:t>
            </a:r>
            <a:r>
              <a:rPr lang="en-US" sz="2000" dirty="0"/>
              <a:t>to set font properties for the title and labels.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74815" y="2544039"/>
            <a:ext cx="7656022" cy="4313961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7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7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Set 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</a:rPr>
              <a:t>font properties for the title and labels:</a:t>
            </a:r>
          </a:p>
          <a:p>
            <a:r>
              <a:rPr lang="en-US" sz="17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80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85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90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95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105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110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115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120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125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240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250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260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270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280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290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300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310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320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330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font1 = {</a:t>
            </a:r>
            <a:r>
              <a:rPr lang="en-US" sz="1700" dirty="0">
                <a:solidFill>
                  <a:srgbClr val="A52A2A"/>
                </a:solidFill>
                <a:latin typeface="Consolas" panose="020B0609020204030204" pitchFamily="49" charset="0"/>
              </a:rPr>
              <a:t>'family'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700" dirty="0">
                <a:solidFill>
                  <a:srgbClr val="A52A2A"/>
                </a:solidFill>
                <a:latin typeface="Consolas" panose="020B0609020204030204" pitchFamily="49" charset="0"/>
              </a:rPr>
              <a:t>'serif'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700" dirty="0">
                <a:solidFill>
                  <a:srgbClr val="A52A2A"/>
                </a:solidFill>
                <a:latin typeface="Consolas" panose="020B0609020204030204" pitchFamily="49" charset="0"/>
              </a:rPr>
              <a:t>'color'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700" dirty="0">
                <a:solidFill>
                  <a:srgbClr val="A52A2A"/>
                </a:solidFill>
                <a:latin typeface="Consolas" panose="020B0609020204030204" pitchFamily="49" charset="0"/>
              </a:rPr>
              <a:t>'blue'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700" dirty="0">
                <a:solidFill>
                  <a:srgbClr val="A52A2A"/>
                </a:solidFill>
                <a:latin typeface="Consolas" panose="020B0609020204030204" pitchFamily="49" charset="0"/>
              </a:rPr>
              <a:t>'size'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font2 = {</a:t>
            </a:r>
            <a:r>
              <a:rPr lang="en-US" sz="1700" dirty="0">
                <a:solidFill>
                  <a:srgbClr val="A52A2A"/>
                </a:solidFill>
                <a:latin typeface="Consolas" panose="020B0609020204030204" pitchFamily="49" charset="0"/>
              </a:rPr>
              <a:t>'family'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700" dirty="0">
                <a:solidFill>
                  <a:srgbClr val="A52A2A"/>
                </a:solidFill>
                <a:latin typeface="Consolas" panose="020B0609020204030204" pitchFamily="49" charset="0"/>
              </a:rPr>
              <a:t>'serif'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700" dirty="0">
                <a:solidFill>
                  <a:srgbClr val="A52A2A"/>
                </a:solidFill>
                <a:latin typeface="Consolas" panose="020B0609020204030204" pitchFamily="49" charset="0"/>
              </a:rPr>
              <a:t>'color'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700" dirty="0">
                <a:solidFill>
                  <a:srgbClr val="A52A2A"/>
                </a:solidFill>
                <a:latin typeface="Consolas" panose="020B0609020204030204" pitchFamily="49" charset="0"/>
              </a:rPr>
              <a:t>'darkred'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700" dirty="0">
                <a:solidFill>
                  <a:srgbClr val="A52A2A"/>
                </a:solidFill>
                <a:latin typeface="Consolas" panose="020B0609020204030204" pitchFamily="49" charset="0"/>
              </a:rPr>
              <a:t>'size'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15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plt.title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A52A2A"/>
                </a:solidFill>
                <a:latin typeface="Consolas" panose="020B0609020204030204" pitchFamily="49" charset="0"/>
              </a:rPr>
              <a:t>"Sports Watch Data"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fontdict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= font1)</a:t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plt.xlabel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A52A2A"/>
                </a:solidFill>
                <a:latin typeface="Consolas" panose="020B0609020204030204" pitchFamily="49" charset="0"/>
              </a:rPr>
              <a:t>"Average Pulse"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fontdict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= font2)</a:t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plt.ylabel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A52A2A"/>
                </a:solidFill>
                <a:latin typeface="Consolas" panose="020B0609020204030204" pitchFamily="49" charset="0"/>
              </a:rPr>
              <a:t>"Calorie </a:t>
            </a:r>
            <a:r>
              <a:rPr lang="en-US" sz="1700" dirty="0" err="1">
                <a:solidFill>
                  <a:srgbClr val="A52A2A"/>
                </a:solidFill>
                <a:latin typeface="Consolas" panose="020B0609020204030204" pitchFamily="49" charset="0"/>
              </a:rPr>
              <a:t>Burnage</a:t>
            </a:r>
            <a:r>
              <a:rPr lang="en-US" sz="1700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fontdict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= font2)</a:t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(x, y)</a:t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7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837" y="3350029"/>
            <a:ext cx="4361409" cy="327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80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430" y="3617074"/>
            <a:ext cx="4297300" cy="32229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Labels and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47789"/>
            <a:ext cx="9978043" cy="3880773"/>
          </a:xfrm>
        </p:spPr>
        <p:txBody>
          <a:bodyPr>
            <a:noAutofit/>
          </a:bodyPr>
          <a:lstStyle/>
          <a:p>
            <a:r>
              <a:rPr lang="en-US" sz="2000" b="1" dirty="0"/>
              <a:t>Position the Title</a:t>
            </a:r>
          </a:p>
          <a:p>
            <a:r>
              <a:rPr lang="en-US" sz="2000" dirty="0"/>
              <a:t>You can use the </a:t>
            </a:r>
            <a:r>
              <a:rPr lang="en-US" sz="2000" dirty="0" err="1">
                <a:solidFill>
                  <a:srgbClr val="FF0000"/>
                </a:solidFill>
              </a:rPr>
              <a:t>loc</a:t>
            </a:r>
            <a:r>
              <a:rPr lang="en-US" sz="2000" dirty="0"/>
              <a:t> parameter in </a:t>
            </a:r>
            <a:r>
              <a:rPr lang="en-US" sz="2000" dirty="0">
                <a:solidFill>
                  <a:srgbClr val="FF0000"/>
                </a:solidFill>
              </a:rPr>
              <a:t>title() </a:t>
            </a:r>
            <a:r>
              <a:rPr lang="en-US" sz="2000" dirty="0"/>
              <a:t>to position the title.</a:t>
            </a:r>
          </a:p>
          <a:p>
            <a:r>
              <a:rPr lang="en-US" sz="2000" dirty="0" smtClean="0"/>
              <a:t>Legal </a:t>
            </a:r>
            <a:r>
              <a:rPr lang="en-US" sz="2000" dirty="0"/>
              <a:t>values are: '</a:t>
            </a:r>
            <a:r>
              <a:rPr lang="en-US" sz="2000" b="1" dirty="0"/>
              <a:t>left</a:t>
            </a:r>
            <a:r>
              <a:rPr lang="en-US" sz="2000" dirty="0"/>
              <a:t>', '</a:t>
            </a:r>
            <a:r>
              <a:rPr lang="en-US" sz="2000" b="1" dirty="0"/>
              <a:t>right</a:t>
            </a:r>
            <a:r>
              <a:rPr lang="en-US" sz="2000" dirty="0"/>
              <a:t>', and '</a:t>
            </a:r>
            <a:r>
              <a:rPr lang="en-US" sz="2000" b="1" dirty="0"/>
              <a:t>center</a:t>
            </a:r>
            <a:r>
              <a:rPr lang="en-US" sz="2000" dirty="0"/>
              <a:t>'. </a:t>
            </a:r>
            <a:r>
              <a:rPr lang="en-US" sz="2000" b="1" dirty="0"/>
              <a:t>Default</a:t>
            </a:r>
            <a:r>
              <a:rPr lang="en-US" sz="2000" dirty="0"/>
              <a:t> value is 'center'.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74815" y="2836426"/>
            <a:ext cx="7883616" cy="3729186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75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750" dirty="0" smtClean="0">
                <a:solidFill>
                  <a:srgbClr val="000000"/>
                </a:solidFill>
                <a:latin typeface="Verdana" panose="020B0604030504040204" pitchFamily="34" charset="0"/>
              </a:rPr>
              <a:t>Position </a:t>
            </a:r>
            <a:r>
              <a:rPr lang="en-US" sz="1750" dirty="0">
                <a:solidFill>
                  <a:srgbClr val="000000"/>
                </a:solidFill>
                <a:latin typeface="Verdana" panose="020B0604030504040204" pitchFamily="34" charset="0"/>
              </a:rPr>
              <a:t>the title to the left:</a:t>
            </a:r>
          </a:p>
          <a:p>
            <a:r>
              <a:rPr lang="en-US" sz="175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5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5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5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5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5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5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5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sz="175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80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85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90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95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105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110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115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120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125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75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240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250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260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270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280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290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300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310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320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50" dirty="0">
                <a:solidFill>
                  <a:srgbClr val="FF0000"/>
                </a:solidFill>
                <a:latin typeface="Consolas" panose="020B0609020204030204" pitchFamily="49" charset="0"/>
              </a:rPr>
              <a:t>330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50" dirty="0" err="1">
                <a:solidFill>
                  <a:srgbClr val="000000"/>
                </a:solidFill>
                <a:latin typeface="Consolas" panose="020B0609020204030204" pitchFamily="49" charset="0"/>
              </a:rPr>
              <a:t>plt.title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50" dirty="0">
                <a:solidFill>
                  <a:srgbClr val="A52A2A"/>
                </a:solidFill>
                <a:latin typeface="Consolas" panose="020B0609020204030204" pitchFamily="49" charset="0"/>
              </a:rPr>
              <a:t>"Sports Watch Data"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750" dirty="0" err="1">
                <a:solidFill>
                  <a:srgbClr val="000000"/>
                </a:solidFill>
                <a:latin typeface="Consolas" panose="020B0609020204030204" pitchFamily="49" charset="0"/>
              </a:rPr>
              <a:t>loc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1750" dirty="0">
                <a:solidFill>
                  <a:srgbClr val="A52A2A"/>
                </a:solidFill>
                <a:latin typeface="Consolas" panose="020B0609020204030204" pitchFamily="49" charset="0"/>
              </a:rPr>
              <a:t>'left'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50" dirty="0" err="1">
                <a:solidFill>
                  <a:srgbClr val="000000"/>
                </a:solidFill>
                <a:latin typeface="Consolas" panose="020B0609020204030204" pitchFamily="49" charset="0"/>
              </a:rPr>
              <a:t>plt.xlabel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50" dirty="0">
                <a:solidFill>
                  <a:srgbClr val="A52A2A"/>
                </a:solidFill>
                <a:latin typeface="Consolas" panose="020B0609020204030204" pitchFamily="49" charset="0"/>
              </a:rPr>
              <a:t>"Average Pulse"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50" dirty="0" err="1">
                <a:solidFill>
                  <a:srgbClr val="000000"/>
                </a:solidFill>
                <a:latin typeface="Consolas" panose="020B0609020204030204" pitchFamily="49" charset="0"/>
              </a:rPr>
              <a:t>plt.ylabel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50" dirty="0">
                <a:solidFill>
                  <a:srgbClr val="A52A2A"/>
                </a:solidFill>
                <a:latin typeface="Consolas" panose="020B0609020204030204" pitchFamily="49" charset="0"/>
              </a:rPr>
              <a:t>"Calorie </a:t>
            </a:r>
            <a:r>
              <a:rPr lang="en-US" sz="1750" dirty="0" err="1">
                <a:solidFill>
                  <a:srgbClr val="A52A2A"/>
                </a:solidFill>
                <a:latin typeface="Consolas" panose="020B0609020204030204" pitchFamily="49" charset="0"/>
              </a:rPr>
              <a:t>Burnage</a:t>
            </a:r>
            <a:r>
              <a:rPr lang="en-US" sz="1750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5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(x, y)</a:t>
            </a:r>
            <a:b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5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175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75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053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Adding Grid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47789"/>
            <a:ext cx="9978043" cy="3880773"/>
          </a:xfrm>
        </p:spPr>
        <p:txBody>
          <a:bodyPr>
            <a:noAutofit/>
          </a:bodyPr>
          <a:lstStyle/>
          <a:p>
            <a:r>
              <a:rPr lang="en-US" sz="2000" b="1" dirty="0"/>
              <a:t>Add Grid Lines to a Plot</a:t>
            </a:r>
          </a:p>
          <a:p>
            <a:r>
              <a:rPr lang="en-US" sz="2000" dirty="0"/>
              <a:t>With </a:t>
            </a:r>
            <a:r>
              <a:rPr lang="en-US" sz="2000" dirty="0" err="1"/>
              <a:t>Pyplot</a:t>
            </a:r>
            <a:r>
              <a:rPr lang="en-US" sz="2000" dirty="0"/>
              <a:t>, you can use the </a:t>
            </a:r>
            <a:r>
              <a:rPr lang="en-US" sz="2000" dirty="0">
                <a:solidFill>
                  <a:srgbClr val="FF0000"/>
                </a:solidFill>
              </a:rPr>
              <a:t>grid() </a:t>
            </a:r>
            <a:r>
              <a:rPr lang="en-US" sz="2000" dirty="0"/>
              <a:t>function to add grid lines to the plot.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74815" y="2667148"/>
            <a:ext cx="7656022" cy="4067740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r>
              <a:rPr lang="en-US" sz="1600" dirty="0" smtClean="0">
                <a:latin typeface="Source Sans Pro"/>
              </a:rPr>
              <a:t>:</a:t>
            </a:r>
            <a:r>
              <a:rPr lang="en-US" sz="1600" dirty="0" smtClean="0">
                <a:solidFill>
                  <a:srgbClr val="FFFFFF"/>
                </a:solidFill>
                <a:latin typeface="Source Sans Pro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Add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grid lines to the plot: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115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125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240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250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260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270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280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290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300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330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plt.title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"Sports Watch Data"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plt.xlabel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"Average Pulse"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plt.ylabel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"Calorie </a:t>
            </a:r>
            <a:r>
              <a:rPr lang="en-US" sz="1600" dirty="0" err="1">
                <a:solidFill>
                  <a:srgbClr val="A52A2A"/>
                </a:solidFill>
                <a:latin typeface="Consolas" panose="020B0609020204030204" pitchFamily="49" charset="0"/>
              </a:rPr>
              <a:t>Burnage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(x, y)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plt.grid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724" y="2807623"/>
            <a:ext cx="4774276" cy="358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076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Adding Grid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47789"/>
            <a:ext cx="9978043" cy="3880773"/>
          </a:xfrm>
        </p:spPr>
        <p:txBody>
          <a:bodyPr>
            <a:noAutofit/>
          </a:bodyPr>
          <a:lstStyle/>
          <a:p>
            <a:r>
              <a:rPr lang="en-US" sz="2000" b="1" dirty="0"/>
              <a:t>Specify Which Grid Lines to Display</a:t>
            </a:r>
          </a:p>
          <a:p>
            <a:r>
              <a:rPr lang="en-US" sz="2000" dirty="0"/>
              <a:t>You can use the axis parameter in the </a:t>
            </a:r>
            <a:r>
              <a:rPr lang="en-US" sz="2000" dirty="0">
                <a:solidFill>
                  <a:srgbClr val="FF0000"/>
                </a:solidFill>
              </a:rPr>
              <a:t>grid() </a:t>
            </a:r>
            <a:r>
              <a:rPr lang="en-US" sz="2000" dirty="0"/>
              <a:t>function to specify which grid lines to display.</a:t>
            </a:r>
          </a:p>
          <a:p>
            <a:endParaRPr lang="en-US" sz="2000" b="1" dirty="0"/>
          </a:p>
          <a:p>
            <a:r>
              <a:rPr lang="en-US" sz="2000" b="1" dirty="0"/>
              <a:t>Legal values are: 'x', 'y', and 'both'. Default value is 'both'.</a:t>
            </a:r>
            <a:endParaRPr lang="en-US" sz="2000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74815" y="2667147"/>
            <a:ext cx="7656022" cy="4067740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Display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only grid lines for the x-axis: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115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125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240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250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260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270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280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290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300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330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plt.title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"Sports Watch Data"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plt.xlabel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"Average Pulse"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plt.ylabel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"Calorie </a:t>
            </a:r>
            <a:r>
              <a:rPr lang="en-US" sz="1600" dirty="0" err="1">
                <a:solidFill>
                  <a:srgbClr val="A52A2A"/>
                </a:solidFill>
                <a:latin typeface="Consolas" panose="020B0609020204030204" pitchFamily="49" charset="0"/>
              </a:rPr>
              <a:t>Burnage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(x, y)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plt.grid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(axis =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'x</a:t>
            </a:r>
            <a:r>
              <a:rPr lang="en-US" sz="1600" dirty="0" smtClean="0">
                <a:solidFill>
                  <a:srgbClr val="A52A2A"/>
                </a:solidFill>
                <a:latin typeface="Consolas" panose="020B0609020204030204" pitchFamily="49" charset="0"/>
              </a:rPr>
              <a:t>'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)# for y </a:t>
            </a:r>
            <a:r>
              <a:rPr lang="en-US" sz="1600" dirty="0" err="1"/>
              <a:t>plt.grid</a:t>
            </a:r>
            <a:r>
              <a:rPr lang="en-US" sz="1600" dirty="0"/>
              <a:t>(axis = 'y')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762" y="3100647"/>
            <a:ext cx="4590237" cy="344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842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Adding Grid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549" y="1270000"/>
            <a:ext cx="10302240" cy="3880773"/>
          </a:xfrm>
        </p:spPr>
        <p:txBody>
          <a:bodyPr>
            <a:noAutofit/>
          </a:bodyPr>
          <a:lstStyle/>
          <a:p>
            <a:r>
              <a:rPr lang="en-US" sz="1600" b="1" dirty="0"/>
              <a:t>Set Line Properties for the Grid</a:t>
            </a:r>
          </a:p>
          <a:p>
            <a:r>
              <a:rPr lang="en-US" sz="1600" dirty="0"/>
              <a:t>You can also set the line properties of the grid, like this: </a:t>
            </a:r>
            <a:r>
              <a:rPr lang="en-US" sz="1600" dirty="0">
                <a:solidFill>
                  <a:srgbClr val="FF0000"/>
                </a:solidFill>
              </a:rPr>
              <a:t>grid(color = 'color', </a:t>
            </a:r>
            <a:r>
              <a:rPr lang="en-US" sz="1600" dirty="0" err="1">
                <a:solidFill>
                  <a:srgbClr val="FF0000"/>
                </a:solidFill>
              </a:rPr>
              <a:t>linestyle</a:t>
            </a:r>
            <a:r>
              <a:rPr lang="en-US" sz="1600" dirty="0">
                <a:solidFill>
                  <a:srgbClr val="FF0000"/>
                </a:solidFill>
              </a:rPr>
              <a:t> = '</a:t>
            </a:r>
            <a:r>
              <a:rPr lang="en-US" sz="1600" dirty="0" err="1">
                <a:solidFill>
                  <a:srgbClr val="FF0000"/>
                </a:solidFill>
              </a:rPr>
              <a:t>linestyle</a:t>
            </a:r>
            <a:r>
              <a:rPr lang="en-US" sz="1600" dirty="0">
                <a:solidFill>
                  <a:srgbClr val="FF0000"/>
                </a:solidFill>
              </a:rPr>
              <a:t>', </a:t>
            </a:r>
            <a:r>
              <a:rPr lang="en-US" sz="1600" dirty="0" err="1">
                <a:solidFill>
                  <a:srgbClr val="FF0000"/>
                </a:solidFill>
              </a:rPr>
              <a:t>linewidth</a:t>
            </a:r>
            <a:r>
              <a:rPr lang="en-US" sz="1600" dirty="0">
                <a:solidFill>
                  <a:srgbClr val="FF0000"/>
                </a:solidFill>
              </a:rPr>
              <a:t> = number)</a:t>
            </a:r>
            <a:r>
              <a:rPr lang="en-US" sz="1600" dirty="0"/>
              <a:t>.</a:t>
            </a:r>
          </a:p>
          <a:p>
            <a:r>
              <a:rPr lang="en-US" sz="1600" dirty="0"/>
              <a:t>Legal values are: 'x', 'y', and 'both'. Default value is 'both'.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74815" y="2667146"/>
            <a:ext cx="7656022" cy="4067740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Set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the line properties of the grid: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115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125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240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250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260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270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280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290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300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330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plt.title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"Sports Watch Data"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plt.xlabel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"Average Pulse"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plt.ylabel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"Calorie </a:t>
            </a:r>
            <a:r>
              <a:rPr lang="en-US" sz="1600" dirty="0" err="1">
                <a:solidFill>
                  <a:srgbClr val="A52A2A"/>
                </a:solidFill>
                <a:latin typeface="Consolas" panose="020B0609020204030204" pitchFamily="49" charset="0"/>
              </a:rPr>
              <a:t>Burnage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(x, y)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plt.grid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(color =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'green'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linestyle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'--'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linewidth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0.5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105" y="3453937"/>
            <a:ext cx="4524895" cy="339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596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Subplot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237" y="1394691"/>
            <a:ext cx="10302240" cy="3880773"/>
          </a:xfrm>
        </p:spPr>
        <p:txBody>
          <a:bodyPr>
            <a:noAutofit/>
          </a:bodyPr>
          <a:lstStyle/>
          <a:p>
            <a:r>
              <a:rPr lang="en-US" sz="2000" b="1" dirty="0"/>
              <a:t>Display Multiple Plots</a:t>
            </a:r>
          </a:p>
          <a:p>
            <a:r>
              <a:rPr lang="en-US" sz="2000" dirty="0"/>
              <a:t>With the </a:t>
            </a:r>
            <a:r>
              <a:rPr lang="en-US" sz="2000" dirty="0">
                <a:solidFill>
                  <a:srgbClr val="FF0000"/>
                </a:solidFill>
              </a:rPr>
              <a:t>subplot()</a:t>
            </a:r>
            <a:r>
              <a:rPr lang="en-US" sz="2000" dirty="0"/>
              <a:t> function you can draw </a:t>
            </a:r>
            <a:r>
              <a:rPr lang="en-US" sz="2000" b="1" dirty="0"/>
              <a:t>multiple plots </a:t>
            </a:r>
            <a:r>
              <a:rPr lang="en-US" sz="2000" dirty="0"/>
              <a:t>in one figure: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74815" y="2518325"/>
            <a:ext cx="7656022" cy="4313961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r>
              <a:rPr lang="en-US" sz="1600" dirty="0" smtClean="0">
                <a:latin typeface="Source Sans Pro"/>
              </a:rPr>
              <a:t>:</a:t>
            </a:r>
            <a:r>
              <a:rPr lang="en-US" sz="1600" dirty="0" smtClean="0">
                <a:solidFill>
                  <a:srgbClr val="FFFFFF"/>
                </a:solidFill>
                <a:latin typeface="Source Sans Pro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Draw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2 plots: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#plot 1:</a:t>
            </a:r>
            <a:b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plt.subplot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x,y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plot 2:</a:t>
            </a:r>
            <a:b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plt.subplot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x,y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163" y="2800647"/>
            <a:ext cx="4682837" cy="349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223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Subplot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237" y="1394691"/>
            <a:ext cx="6702828" cy="3880773"/>
          </a:xfrm>
        </p:spPr>
        <p:txBody>
          <a:bodyPr>
            <a:noAutofit/>
          </a:bodyPr>
          <a:lstStyle/>
          <a:p>
            <a:r>
              <a:rPr lang="en-US" sz="1600" b="1" dirty="0"/>
              <a:t>The subplot() </a:t>
            </a:r>
            <a:r>
              <a:rPr lang="en-US" sz="1600" b="1" dirty="0" smtClean="0"/>
              <a:t>Function: </a:t>
            </a:r>
            <a:r>
              <a:rPr lang="en-US" sz="1600" dirty="0" smtClean="0"/>
              <a:t>The </a:t>
            </a:r>
            <a:r>
              <a:rPr lang="en-US" sz="1600" dirty="0">
                <a:solidFill>
                  <a:srgbClr val="FF0000"/>
                </a:solidFill>
              </a:rPr>
              <a:t>subplot() </a:t>
            </a:r>
            <a:r>
              <a:rPr lang="en-US" sz="1600" dirty="0"/>
              <a:t>function takes three arguments that describes the </a:t>
            </a:r>
            <a:r>
              <a:rPr lang="en-US" sz="1600" b="1" dirty="0"/>
              <a:t>layout of the figure</a:t>
            </a:r>
            <a:r>
              <a:rPr lang="en-US" sz="1600" dirty="0"/>
              <a:t>.</a:t>
            </a:r>
          </a:p>
          <a:p>
            <a:r>
              <a:rPr lang="en-US" sz="1600" dirty="0" smtClean="0"/>
              <a:t>The </a:t>
            </a:r>
            <a:r>
              <a:rPr lang="en-US" sz="1600" dirty="0"/>
              <a:t>layout is organized in </a:t>
            </a:r>
            <a:r>
              <a:rPr lang="en-US" sz="1600" b="1" dirty="0"/>
              <a:t>rows </a:t>
            </a:r>
            <a:r>
              <a:rPr lang="en-US" sz="1600" dirty="0"/>
              <a:t>and </a:t>
            </a:r>
            <a:r>
              <a:rPr lang="en-US" sz="1600" b="1" dirty="0"/>
              <a:t>columns</a:t>
            </a:r>
            <a:r>
              <a:rPr lang="en-US" sz="1600" dirty="0"/>
              <a:t>, </a:t>
            </a:r>
            <a:r>
              <a:rPr lang="en-US" sz="1600" dirty="0" smtClean="0"/>
              <a:t>that</a:t>
            </a:r>
            <a:r>
              <a:rPr lang="en-US" sz="1600" dirty="0" smtClean="0"/>
              <a:t> </a:t>
            </a:r>
            <a:r>
              <a:rPr lang="en-US" sz="1600" dirty="0"/>
              <a:t>are represented by the </a:t>
            </a:r>
            <a:r>
              <a:rPr lang="en-US" sz="1600" b="1" dirty="0"/>
              <a:t>first</a:t>
            </a:r>
            <a:r>
              <a:rPr lang="en-US" sz="1600" dirty="0"/>
              <a:t> and </a:t>
            </a:r>
            <a:r>
              <a:rPr lang="en-US" sz="1600" b="1" dirty="0"/>
              <a:t>second argument</a:t>
            </a:r>
            <a:r>
              <a:rPr lang="en-US" sz="1600" dirty="0"/>
              <a:t>.</a:t>
            </a:r>
          </a:p>
          <a:p>
            <a:r>
              <a:rPr lang="en-US" sz="1600" dirty="0" smtClean="0"/>
              <a:t>The </a:t>
            </a:r>
            <a:r>
              <a:rPr lang="en-US" sz="1600" b="1" dirty="0"/>
              <a:t>third argument </a:t>
            </a:r>
            <a:r>
              <a:rPr lang="en-US" sz="1600" dirty="0"/>
              <a:t>represents the </a:t>
            </a:r>
            <a:r>
              <a:rPr lang="en-US" sz="1600" b="1" dirty="0"/>
              <a:t>index of the current plot</a:t>
            </a:r>
            <a:r>
              <a:rPr lang="en-US" sz="1600" dirty="0"/>
              <a:t>.</a:t>
            </a:r>
          </a:p>
          <a:p>
            <a:r>
              <a:rPr lang="en-US" sz="1600" dirty="0" err="1" smtClean="0">
                <a:solidFill>
                  <a:srgbClr val="FF0000"/>
                </a:solidFill>
              </a:rPr>
              <a:t>plt.subplot</a:t>
            </a:r>
            <a:r>
              <a:rPr lang="en-US" sz="1600" dirty="0" smtClean="0">
                <a:solidFill>
                  <a:srgbClr val="FF0000"/>
                </a:solidFill>
              </a:rPr>
              <a:t>(1</a:t>
            </a:r>
            <a:r>
              <a:rPr lang="en-US" sz="1600" dirty="0">
                <a:solidFill>
                  <a:srgbClr val="FF0000"/>
                </a:solidFill>
              </a:rPr>
              <a:t>, 2, 1</a:t>
            </a:r>
            <a:r>
              <a:rPr lang="en-US" sz="1600" dirty="0" smtClean="0">
                <a:solidFill>
                  <a:srgbClr val="FF0000"/>
                </a:solidFill>
              </a:rPr>
              <a:t>) </a:t>
            </a:r>
            <a:r>
              <a:rPr lang="en-US" sz="1600" dirty="0" smtClean="0"/>
              <a:t>#</a:t>
            </a:r>
            <a:r>
              <a:rPr lang="en-US" sz="1600" dirty="0"/>
              <a:t>the figure has 1 row, 2 columns, and this plot is the first plot.</a:t>
            </a:r>
          </a:p>
          <a:p>
            <a:r>
              <a:rPr lang="en-US" sz="1600" dirty="0" err="1" smtClean="0">
                <a:solidFill>
                  <a:srgbClr val="FF0000"/>
                </a:solidFill>
              </a:rPr>
              <a:t>plt.subplot</a:t>
            </a:r>
            <a:r>
              <a:rPr lang="en-US" sz="1600" dirty="0" smtClean="0">
                <a:solidFill>
                  <a:srgbClr val="FF0000"/>
                </a:solidFill>
              </a:rPr>
              <a:t>(1</a:t>
            </a:r>
            <a:r>
              <a:rPr lang="en-US" sz="1600" dirty="0">
                <a:solidFill>
                  <a:srgbClr val="FF0000"/>
                </a:solidFill>
              </a:rPr>
              <a:t>, 2, 2</a:t>
            </a:r>
            <a:r>
              <a:rPr lang="en-US" sz="1600" dirty="0" smtClean="0">
                <a:solidFill>
                  <a:srgbClr val="FF0000"/>
                </a:solidFill>
              </a:rPr>
              <a:t>) </a:t>
            </a:r>
            <a:r>
              <a:rPr lang="en-US" sz="1600" dirty="0" smtClean="0"/>
              <a:t>#</a:t>
            </a:r>
            <a:r>
              <a:rPr lang="en-US" sz="1600" dirty="0"/>
              <a:t>the figure has 1 row, 2 columns, and this plot is the second plot.</a:t>
            </a:r>
          </a:p>
          <a:p>
            <a:r>
              <a:rPr lang="en-US" sz="1600" dirty="0"/>
              <a:t>So, if we want a figure with 2 rows an 1 column (meaning that the two plots will be displayed on top of each other instead of side-by-side), we can write the syntax like this</a:t>
            </a:r>
            <a:r>
              <a:rPr lang="en-US" sz="1600" dirty="0" smtClean="0"/>
              <a:t>: (see example)</a:t>
            </a:r>
            <a:endParaRPr lang="en-US" sz="1600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7102149" y="107722"/>
            <a:ext cx="5171900" cy="3790741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7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7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Draw </a:t>
            </a: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</a:rPr>
              <a:t>2 plots on top of each other:</a:t>
            </a:r>
          </a:p>
          <a:p>
            <a:r>
              <a:rPr lang="en-US" sz="17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</a:rPr>
              <a:t>plot 1:</a:t>
            </a:r>
            <a:b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plt.subplot</a:t>
            </a:r>
            <a:r>
              <a:rPr lang="en-US" sz="17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x,y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</a:rPr>
              <a:t>plot 2:</a:t>
            </a:r>
            <a:b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30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40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plt.subplot</a:t>
            </a:r>
            <a:r>
              <a:rPr lang="en-US" sz="17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x,y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7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333" y="3881911"/>
            <a:ext cx="3984722" cy="29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587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Subplot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237" y="1394691"/>
            <a:ext cx="6154496" cy="3880773"/>
          </a:xfrm>
        </p:spPr>
        <p:txBody>
          <a:bodyPr>
            <a:noAutofit/>
          </a:bodyPr>
          <a:lstStyle/>
          <a:p>
            <a:r>
              <a:rPr lang="en-US" sz="1600" dirty="0"/>
              <a:t>You can draw as many plots you like on one figure, just </a:t>
            </a:r>
            <a:r>
              <a:rPr lang="en-US" sz="1600" dirty="0" smtClean="0"/>
              <a:t>describe </a:t>
            </a:r>
            <a:r>
              <a:rPr lang="en-US" sz="1600" dirty="0"/>
              <a:t>the number of rows, columns, and the index of the plot.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941127" y="143020"/>
            <a:ext cx="4856633" cy="6591508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4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Draw </a:t>
            </a:r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6 plots:</a:t>
            </a:r>
          </a:p>
          <a:p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plt.subplot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)# This is top left plot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x,y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40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plt.subplot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)# This is top middle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x,y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plt.subplot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)# This is top right 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side plot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x,y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40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plt.subplot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x,y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y =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plt.subplot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x,y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40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plt.subplot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x,y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32378"/>
            <a:ext cx="609600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19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Subplot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237" y="1394691"/>
            <a:ext cx="6154496" cy="3880773"/>
          </a:xfrm>
        </p:spPr>
        <p:txBody>
          <a:bodyPr>
            <a:noAutofit/>
          </a:bodyPr>
          <a:lstStyle/>
          <a:p>
            <a:r>
              <a:rPr lang="en-US" sz="1600" dirty="0" smtClean="0"/>
              <a:t>Title</a:t>
            </a:r>
            <a:r>
              <a:rPr lang="en-US" sz="1600" dirty="0" smtClean="0"/>
              <a:t>: You </a:t>
            </a:r>
            <a:r>
              <a:rPr lang="en-US" sz="1600" dirty="0"/>
              <a:t>can add a title to each plot with the </a:t>
            </a:r>
            <a:r>
              <a:rPr lang="en-US" sz="1600" dirty="0">
                <a:solidFill>
                  <a:srgbClr val="FF0000"/>
                </a:solidFill>
              </a:rPr>
              <a:t>title() </a:t>
            </a:r>
            <a:r>
              <a:rPr lang="en-US" sz="1600" dirty="0"/>
              <a:t>function</a:t>
            </a:r>
            <a:r>
              <a:rPr lang="en-US" sz="1600" dirty="0" smtClean="0"/>
              <a:t>:</a:t>
            </a:r>
          </a:p>
          <a:p>
            <a:r>
              <a:rPr lang="en-US" sz="1600" dirty="0"/>
              <a:t>You can add a title to the entire figure with the </a:t>
            </a:r>
            <a:r>
              <a:rPr lang="en-US" sz="1600" dirty="0" err="1">
                <a:solidFill>
                  <a:srgbClr val="FF0000"/>
                </a:solidFill>
              </a:rPr>
              <a:t>suptitle</a:t>
            </a:r>
            <a:r>
              <a:rPr lang="en-US" sz="1600" dirty="0">
                <a:solidFill>
                  <a:srgbClr val="FF0000"/>
                </a:solidFill>
              </a:rPr>
              <a:t>() </a:t>
            </a:r>
            <a:r>
              <a:rPr lang="en-US" sz="1600" dirty="0"/>
              <a:t>function: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7156643" y="897073"/>
            <a:ext cx="4641117" cy="5083403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Add a title for the entire figure:</a:t>
            </a:r>
          </a:p>
          <a:p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#plot 1:</a:t>
            </a:r>
            <a:b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plt.subplot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x,y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plt.title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"SALES"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#plot 2:</a:t>
            </a:r>
            <a:b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40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plt.subplot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plt.plot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x,y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plt.title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"INCOME"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plt.suptitle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"MY SHOP"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78" y="2639276"/>
            <a:ext cx="5407582" cy="403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9271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Scatter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235" y="1394691"/>
            <a:ext cx="5164975" cy="3880773"/>
          </a:xfrm>
        </p:spPr>
        <p:txBody>
          <a:bodyPr>
            <a:noAutofit/>
          </a:bodyPr>
          <a:lstStyle/>
          <a:p>
            <a:r>
              <a:rPr lang="en-US" b="1" dirty="0"/>
              <a:t>Creating Scatter </a:t>
            </a:r>
            <a:r>
              <a:rPr lang="en-US" b="1" dirty="0" smtClean="0"/>
              <a:t>Plots: </a:t>
            </a:r>
            <a:r>
              <a:rPr lang="en-US" dirty="0" smtClean="0"/>
              <a:t>With </a:t>
            </a:r>
            <a:r>
              <a:rPr lang="en-US" dirty="0" err="1"/>
              <a:t>Pyplot</a:t>
            </a:r>
            <a:r>
              <a:rPr lang="en-US" dirty="0"/>
              <a:t>, you can use the </a:t>
            </a:r>
            <a:r>
              <a:rPr lang="en-US" dirty="0">
                <a:solidFill>
                  <a:srgbClr val="FF0000"/>
                </a:solidFill>
              </a:rPr>
              <a:t>scatter() </a:t>
            </a:r>
            <a:r>
              <a:rPr lang="en-US" dirty="0"/>
              <a:t>function to draw a scatter plot.</a:t>
            </a:r>
          </a:p>
          <a:p>
            <a:r>
              <a:rPr lang="en-US" dirty="0" smtClean="0"/>
              <a:t>The </a:t>
            </a:r>
            <a:r>
              <a:rPr lang="en-US" dirty="0">
                <a:solidFill>
                  <a:srgbClr val="FF0000"/>
                </a:solidFill>
              </a:rPr>
              <a:t>scatter() </a:t>
            </a:r>
            <a:r>
              <a:rPr lang="en-US" dirty="0"/>
              <a:t>function plots one dot for each observation. It needs two arrays of the same length, one for the values of the x-axis, and one for values on the y-axis</a:t>
            </a:r>
            <a:r>
              <a:rPr lang="en-US" dirty="0" smtClean="0"/>
              <a:t>:</a:t>
            </a:r>
          </a:p>
          <a:p>
            <a:r>
              <a:rPr lang="en-US" dirty="0"/>
              <a:t>The observation in the example above is the result of 13 cars passing by.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X-axis shows how old the car is.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Y-axis shows the speed of the car when it passes.</a:t>
            </a:r>
          </a:p>
          <a:p>
            <a:pPr lvl="1"/>
            <a:r>
              <a:rPr lang="en-US" dirty="0" smtClean="0"/>
              <a:t>Are </a:t>
            </a:r>
            <a:r>
              <a:rPr lang="en-US" dirty="0"/>
              <a:t>there any relationships between the observations?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seems that the newer the car, the faster it drives, but that could be a coincidence, after all we only registered 13 cars.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5457152" y="481305"/>
            <a:ext cx="6734848" cy="289818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r>
              <a:rPr lang="en-US" dirty="0" smtClean="0">
                <a:solidFill>
                  <a:srgbClr val="FFFFFF"/>
                </a:solidFill>
                <a:latin typeface="Source Sans Pro"/>
              </a:rPr>
              <a:t>: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A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simple scatter plot: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99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111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94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plt.scatter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(x, y)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567" y="3409951"/>
            <a:ext cx="4394662" cy="329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085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Scatter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670" y="1394691"/>
            <a:ext cx="5164975" cy="3880773"/>
          </a:xfrm>
        </p:spPr>
        <p:txBody>
          <a:bodyPr>
            <a:noAutofit/>
          </a:bodyPr>
          <a:lstStyle/>
          <a:p>
            <a:r>
              <a:rPr lang="en-US" b="1" dirty="0"/>
              <a:t>Compare </a:t>
            </a:r>
            <a:r>
              <a:rPr lang="en-US" b="1" dirty="0" smtClean="0"/>
              <a:t>Plots: </a:t>
            </a:r>
            <a:r>
              <a:rPr lang="en-US" dirty="0" smtClean="0"/>
              <a:t>In </a:t>
            </a:r>
            <a:r>
              <a:rPr lang="en-US" dirty="0"/>
              <a:t>the </a:t>
            </a:r>
            <a:r>
              <a:rPr lang="en-US" dirty="0" smtClean="0"/>
              <a:t>example, </a:t>
            </a:r>
            <a:r>
              <a:rPr lang="en-US" dirty="0"/>
              <a:t>there seems to be a relationship between speed and age, but what if we plot the observations from another day as well? Will the scatter plot tell us something else</a:t>
            </a:r>
            <a:r>
              <a:rPr lang="en-US" dirty="0" smtClean="0"/>
              <a:t>?</a:t>
            </a:r>
          </a:p>
          <a:p>
            <a:r>
              <a:rPr lang="en-US" dirty="0"/>
              <a:t>You can set your own color for each scatter plot with the color or the c argument: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5324146" y="838392"/>
            <a:ext cx="6995315" cy="4313961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Draw two plots on the same figure: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#day one, the age and speed of 13 cars:</a:t>
            </a:r>
            <a:b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99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111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78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77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plt.scatter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(x, y, color =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'</a:t>
            </a:r>
            <a:r>
              <a:rPr lang="en-US" sz="1600" dirty="0" err="1">
                <a:solidFill>
                  <a:srgbClr val="A52A2A"/>
                </a:solidFill>
                <a:latin typeface="Consolas" panose="020B0609020204030204" pitchFamily="49" charset="0"/>
              </a:rPr>
              <a:t>hotpink</a:t>
            </a:r>
            <a:r>
              <a:rPr lang="en-US" sz="1600" dirty="0" smtClean="0">
                <a:solidFill>
                  <a:srgbClr val="A52A2A"/>
                </a:solidFill>
                <a:latin typeface="Consolas" panose="020B0609020204030204" pitchFamily="49" charset="0"/>
              </a:rPr>
              <a:t>'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)# 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without </a:t>
            </a:r>
            <a:r>
              <a:rPr lang="en-US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colour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plt.scatter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 y)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#day two, the age and speed of 15 cars:</a:t>
            </a:r>
            <a:b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99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79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112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plt.scatter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(x, y, color =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'#88c999</a:t>
            </a:r>
            <a:r>
              <a:rPr lang="en-US" sz="1200" dirty="0" smtClean="0">
                <a:solidFill>
                  <a:srgbClr val="A52A2A"/>
                </a:solidFill>
                <a:latin typeface="Consolas" panose="020B0609020204030204" pitchFamily="49" charset="0"/>
              </a:rPr>
              <a:t>'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)# without </a:t>
            </a:r>
            <a:r>
              <a:rPr lang="en-US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colour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plt.scatter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y)</a:t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7" y="3599322"/>
            <a:ext cx="4363083" cy="3258678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5261955" y="5342315"/>
            <a:ext cx="5164975" cy="1190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Homework: </a:t>
            </a:r>
            <a:r>
              <a:rPr lang="en-US" dirty="0" smtClean="0"/>
              <a:t>Color each dot and color map is your homework. Both are part of your course.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938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</a:t>
            </a:r>
            <a:r>
              <a:rPr lang="en-US" dirty="0" smtClean="0"/>
              <a:t>Bars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235" y="1394691"/>
            <a:ext cx="9171710" cy="3880773"/>
          </a:xfrm>
        </p:spPr>
        <p:txBody>
          <a:bodyPr>
            <a:noAutofit/>
          </a:bodyPr>
          <a:lstStyle/>
          <a:p>
            <a:r>
              <a:rPr lang="en-US" b="1" dirty="0"/>
              <a:t>Creating Bars</a:t>
            </a:r>
          </a:p>
          <a:p>
            <a:r>
              <a:rPr lang="en-US" dirty="0"/>
              <a:t>With </a:t>
            </a:r>
            <a:r>
              <a:rPr lang="en-US" dirty="0" err="1"/>
              <a:t>Pyplot</a:t>
            </a:r>
            <a:r>
              <a:rPr lang="en-US" dirty="0"/>
              <a:t>, you can use the </a:t>
            </a:r>
            <a:r>
              <a:rPr lang="en-US" dirty="0">
                <a:solidFill>
                  <a:srgbClr val="FF0000"/>
                </a:solidFill>
              </a:rPr>
              <a:t>bar() </a:t>
            </a:r>
            <a:r>
              <a:rPr lang="en-US" dirty="0"/>
              <a:t>function to </a:t>
            </a:r>
            <a:r>
              <a:rPr lang="en-US" b="1" dirty="0"/>
              <a:t>draw bar </a:t>
            </a:r>
            <a:r>
              <a:rPr lang="en-US" b="1" dirty="0" smtClean="0"/>
              <a:t>graphs</a:t>
            </a:r>
            <a:endParaRPr lang="en-US" dirty="0" smtClean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bar() </a:t>
            </a:r>
            <a:r>
              <a:rPr lang="en-US" dirty="0"/>
              <a:t>function takes arguments that </a:t>
            </a:r>
            <a:r>
              <a:rPr lang="en-US" b="1" dirty="0"/>
              <a:t>describes the layout of the bars</a:t>
            </a:r>
            <a:r>
              <a:rPr lang="en-US" dirty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categories and their values represented by the first and second argument as </a:t>
            </a:r>
            <a:r>
              <a:rPr lang="en-US" dirty="0" smtClean="0"/>
              <a:t>arrays</a:t>
            </a:r>
            <a:endParaRPr lang="en-US" dirty="0" smtClean="0"/>
          </a:p>
          <a:p>
            <a:r>
              <a:rPr lang="en-US" dirty="0"/>
              <a:t>If you want the bars to be </a:t>
            </a:r>
            <a:r>
              <a:rPr lang="en-US" b="1" dirty="0"/>
              <a:t>displayed horizontally instead of vertically</a:t>
            </a:r>
            <a:r>
              <a:rPr lang="en-US" dirty="0"/>
              <a:t>, use the </a:t>
            </a:r>
            <a:r>
              <a:rPr lang="en-US" dirty="0" err="1">
                <a:solidFill>
                  <a:srgbClr val="FF0000"/>
                </a:solidFill>
              </a:rPr>
              <a:t>barh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/>
              <a:t>) </a:t>
            </a:r>
            <a:r>
              <a:rPr lang="en-US" dirty="0" smtClean="0"/>
              <a:t>function</a:t>
            </a:r>
            <a:endParaRPr lang="en-US" dirty="0" smtClean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bar() </a:t>
            </a:r>
            <a:r>
              <a:rPr lang="en-US" dirty="0"/>
              <a:t>and </a:t>
            </a:r>
            <a:r>
              <a:rPr lang="en-US" dirty="0" err="1">
                <a:solidFill>
                  <a:srgbClr val="FF0000"/>
                </a:solidFill>
              </a:rPr>
              <a:t>barh</a:t>
            </a:r>
            <a:r>
              <a:rPr lang="en-US" dirty="0">
                <a:solidFill>
                  <a:srgbClr val="FF0000"/>
                </a:solidFill>
              </a:rPr>
              <a:t>() </a:t>
            </a:r>
            <a:r>
              <a:rPr lang="en-US" dirty="0"/>
              <a:t>take the keyword argument </a:t>
            </a:r>
            <a:r>
              <a:rPr lang="en-US" b="1" dirty="0"/>
              <a:t>color</a:t>
            </a:r>
            <a:r>
              <a:rPr lang="en-US" dirty="0"/>
              <a:t> </a:t>
            </a:r>
            <a:r>
              <a:rPr lang="en-US" b="1" dirty="0"/>
              <a:t>to set </a:t>
            </a:r>
            <a:r>
              <a:rPr lang="en-US" dirty="0"/>
              <a:t>the color of the </a:t>
            </a:r>
            <a:r>
              <a:rPr lang="en-US" dirty="0" smtClean="0"/>
              <a:t>bars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>
                <a:solidFill>
                  <a:srgbClr val="FF0000"/>
                </a:solidFill>
              </a:rPr>
              <a:t>bar() </a:t>
            </a:r>
            <a:r>
              <a:rPr lang="en-US" dirty="0"/>
              <a:t>takes the keyword argument </a:t>
            </a:r>
            <a:r>
              <a:rPr lang="en-US" b="1" dirty="0"/>
              <a:t>width to set </a:t>
            </a:r>
            <a:r>
              <a:rPr lang="en-US" dirty="0"/>
              <a:t>the width of the </a:t>
            </a:r>
            <a:r>
              <a:rPr lang="en-US" dirty="0" smtClean="0"/>
              <a:t>bars</a:t>
            </a:r>
            <a:endParaRPr lang="en-US" dirty="0" smtClean="0"/>
          </a:p>
          <a:p>
            <a:r>
              <a:rPr lang="en-US" dirty="0"/>
              <a:t>The </a:t>
            </a:r>
            <a:r>
              <a:rPr lang="en-US" dirty="0" err="1">
                <a:solidFill>
                  <a:srgbClr val="FF0000"/>
                </a:solidFill>
              </a:rPr>
              <a:t>barh</a:t>
            </a:r>
            <a:r>
              <a:rPr lang="en-US" dirty="0">
                <a:solidFill>
                  <a:srgbClr val="FF0000"/>
                </a:solidFill>
              </a:rPr>
              <a:t>() </a:t>
            </a:r>
            <a:r>
              <a:rPr lang="en-US" dirty="0"/>
              <a:t>takes the keyword argument </a:t>
            </a:r>
            <a:r>
              <a:rPr lang="en-US" b="1" dirty="0"/>
              <a:t>height to set </a:t>
            </a:r>
            <a:r>
              <a:rPr lang="en-US" dirty="0"/>
              <a:t>the height of the </a:t>
            </a:r>
            <a:r>
              <a:rPr lang="en-US" dirty="0" smtClean="0"/>
              <a:t>bars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8576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</a:t>
            </a:r>
            <a:r>
              <a:rPr lang="en-US" dirty="0" smtClean="0"/>
              <a:t>Bars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235" y="1394691"/>
            <a:ext cx="5164975" cy="3880773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263235" y="2162981"/>
            <a:ext cx="6995315" cy="2344191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latin typeface="Segoe UI" panose="020B0502040204020203" pitchFamily="34" charset="0"/>
              </a:rPr>
              <a:t>matplotlib.pyplot</a:t>
            </a: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 as </a:t>
            </a:r>
            <a:r>
              <a:rPr lang="en-US" sz="1600" dirty="0" err="1">
                <a:solidFill>
                  <a:srgbClr val="000000"/>
                </a:solidFill>
                <a:latin typeface="Segoe UI" panose="020B0502040204020203" pitchFamily="34" charset="0"/>
              </a:rPr>
              <a:t>plt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latin typeface="Segoe UI" panose="020B0502040204020203" pitchFamily="34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 as </a:t>
            </a:r>
            <a:r>
              <a:rPr lang="en-US" sz="1600" dirty="0" err="1">
                <a:solidFill>
                  <a:srgbClr val="000000"/>
                </a:solidFill>
                <a:latin typeface="Segoe UI" panose="020B0502040204020203" pitchFamily="34" charset="0"/>
              </a:rPr>
              <a:t>np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x = </a:t>
            </a:r>
            <a:r>
              <a:rPr lang="en-US" sz="1600" dirty="0" err="1">
                <a:solidFill>
                  <a:srgbClr val="000000"/>
                </a:solidFill>
                <a:latin typeface="Segoe UI" panose="020B0502040204020203" pitchFamily="34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(["A", "B", "C", "D"])</a:t>
            </a:r>
          </a:p>
          <a:p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y = </a:t>
            </a:r>
            <a:r>
              <a:rPr lang="en-US" sz="1600" dirty="0" err="1">
                <a:solidFill>
                  <a:srgbClr val="000000"/>
                </a:solidFill>
                <a:latin typeface="Segoe UI" panose="020B0502040204020203" pitchFamily="34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([3, 8, 1, 10])</a:t>
            </a:r>
          </a:p>
          <a:p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Segoe UI" panose="020B0502040204020203" pitchFamily="34" charset="0"/>
              </a:rPr>
              <a:t>plt.bar</a:t>
            </a: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(x, y, width = 0.1, color = "red")</a:t>
            </a:r>
          </a:p>
          <a:p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# for horizontal bar plot </a:t>
            </a:r>
            <a:r>
              <a:rPr lang="en-US" sz="1600" dirty="0" err="1">
                <a:solidFill>
                  <a:srgbClr val="000000"/>
                </a:solidFill>
                <a:latin typeface="Segoe UI" panose="020B0502040204020203" pitchFamily="34" charset="0"/>
              </a:rPr>
              <a:t>plt.barh</a:t>
            </a: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(x, y, height = </a:t>
            </a:r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0.1, color=“blue”)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Segoe UI" panose="020B0502040204020203" pitchFamily="34" charset="0"/>
              </a:rPr>
              <a:t>plt.show</a:t>
            </a: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()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296" y="0"/>
            <a:ext cx="4965470" cy="37241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509" y="3638030"/>
            <a:ext cx="4311257" cy="321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214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021" y="335280"/>
            <a:ext cx="8596668" cy="1320800"/>
          </a:xfrm>
        </p:spPr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 Histograms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744" y="2923135"/>
            <a:ext cx="5268438" cy="393486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140" y="1121498"/>
            <a:ext cx="9397692" cy="3880773"/>
          </a:xfrm>
        </p:spPr>
        <p:txBody>
          <a:bodyPr>
            <a:noAutofit/>
          </a:bodyPr>
          <a:lstStyle/>
          <a:p>
            <a:r>
              <a:rPr lang="en-US" sz="2000" dirty="0" smtClean="0"/>
              <a:t>A </a:t>
            </a:r>
            <a:r>
              <a:rPr lang="en-US" sz="2000" b="1" dirty="0"/>
              <a:t>histogram</a:t>
            </a:r>
            <a:r>
              <a:rPr lang="en-US" sz="2000" dirty="0"/>
              <a:t> is a graph showing </a:t>
            </a:r>
            <a:r>
              <a:rPr lang="en-US" sz="2000" b="1" dirty="0"/>
              <a:t>frequency distributions</a:t>
            </a:r>
            <a:r>
              <a:rPr lang="en-US" sz="2000" dirty="0"/>
              <a:t>.</a:t>
            </a:r>
          </a:p>
          <a:p>
            <a:r>
              <a:rPr lang="en-US" sz="2000" dirty="0" smtClean="0"/>
              <a:t>It </a:t>
            </a:r>
            <a:r>
              <a:rPr lang="en-US" sz="2000" dirty="0"/>
              <a:t>is a graph showing the number of observations within each given interval.</a:t>
            </a:r>
          </a:p>
          <a:p>
            <a:r>
              <a:rPr lang="en-US" sz="2000" dirty="0" smtClean="0"/>
              <a:t>Example</a:t>
            </a:r>
            <a:r>
              <a:rPr lang="en-US" sz="2000" dirty="0"/>
              <a:t>: Say you ask for the height of 250 people, you might end up with a histogram like this</a:t>
            </a:r>
            <a:r>
              <a:rPr lang="en-US" sz="2000" dirty="0" smtClean="0"/>
              <a:t>:</a:t>
            </a:r>
          </a:p>
          <a:p>
            <a:r>
              <a:rPr lang="en-US" sz="2000" dirty="0"/>
              <a:t>You can read from the histogram that there are approximately:</a:t>
            </a:r>
          </a:p>
          <a:p>
            <a:pPr lvl="1"/>
            <a:r>
              <a:rPr lang="en-US" dirty="0" smtClean="0"/>
              <a:t>2 </a:t>
            </a:r>
            <a:r>
              <a:rPr lang="en-US" dirty="0"/>
              <a:t>people from 140 to 145cm</a:t>
            </a:r>
          </a:p>
          <a:p>
            <a:pPr lvl="1"/>
            <a:r>
              <a:rPr lang="en-US" dirty="0"/>
              <a:t>5 people from 145 to 150cm</a:t>
            </a:r>
          </a:p>
          <a:p>
            <a:pPr lvl="1"/>
            <a:r>
              <a:rPr lang="en-US" dirty="0"/>
              <a:t>15 people from 151 to 156cm</a:t>
            </a:r>
          </a:p>
          <a:p>
            <a:pPr lvl="1"/>
            <a:r>
              <a:rPr lang="en-US" dirty="0"/>
              <a:t>31 people from 157 to 162cm</a:t>
            </a:r>
          </a:p>
          <a:p>
            <a:pPr lvl="1"/>
            <a:r>
              <a:rPr lang="en-US" dirty="0"/>
              <a:t>46 people from 163 to 168cm</a:t>
            </a:r>
          </a:p>
          <a:p>
            <a:pPr lvl="1"/>
            <a:r>
              <a:rPr lang="en-US" dirty="0"/>
              <a:t>53 people from 168 to 173cm</a:t>
            </a:r>
          </a:p>
          <a:p>
            <a:pPr lvl="1"/>
            <a:r>
              <a:rPr lang="en-US" dirty="0"/>
              <a:t>45 people from 173 to 178cm</a:t>
            </a:r>
          </a:p>
          <a:p>
            <a:pPr lvl="1"/>
            <a:r>
              <a:rPr lang="en-US" dirty="0"/>
              <a:t>28 people from 179 to 184cm</a:t>
            </a:r>
          </a:p>
          <a:p>
            <a:pPr lvl="1"/>
            <a:r>
              <a:rPr lang="en-US" dirty="0"/>
              <a:t>21 people from 185 to 190cm</a:t>
            </a:r>
          </a:p>
          <a:p>
            <a:pPr lvl="1"/>
            <a:r>
              <a:rPr lang="en-US" dirty="0"/>
              <a:t>4 people from 190 to 195cm</a:t>
            </a:r>
          </a:p>
        </p:txBody>
      </p:sp>
    </p:spTree>
    <p:extLst>
      <p:ext uri="{BB962C8B-B14F-4D97-AF65-F5344CB8AC3E}">
        <p14:creationId xmlns:p14="http://schemas.microsoft.com/office/powerpoint/2010/main" val="9187242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021" y="335280"/>
            <a:ext cx="8596668" cy="1320800"/>
          </a:xfrm>
        </p:spPr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 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140" y="1121498"/>
            <a:ext cx="7337060" cy="3880773"/>
          </a:xfrm>
        </p:spPr>
        <p:txBody>
          <a:bodyPr>
            <a:noAutofit/>
          </a:bodyPr>
          <a:lstStyle/>
          <a:p>
            <a:r>
              <a:rPr lang="en-US" sz="2000" dirty="0"/>
              <a:t>Create </a:t>
            </a:r>
            <a:r>
              <a:rPr lang="en-US" sz="2000" dirty="0" smtClean="0"/>
              <a:t>Histogram: In </a:t>
            </a:r>
            <a:r>
              <a:rPr lang="en-US" sz="2000" dirty="0" err="1"/>
              <a:t>Matplotlib</a:t>
            </a:r>
            <a:r>
              <a:rPr lang="en-US" sz="2000" dirty="0"/>
              <a:t>, we use the </a:t>
            </a:r>
            <a:r>
              <a:rPr lang="en-US" sz="2000" dirty="0" err="1">
                <a:solidFill>
                  <a:srgbClr val="FF0000"/>
                </a:solidFill>
              </a:rPr>
              <a:t>hist</a:t>
            </a:r>
            <a:r>
              <a:rPr lang="en-US" sz="2000" dirty="0">
                <a:solidFill>
                  <a:srgbClr val="FF0000"/>
                </a:solidFill>
              </a:rPr>
              <a:t>() </a:t>
            </a:r>
            <a:r>
              <a:rPr lang="en-US" sz="2000" dirty="0"/>
              <a:t>function to create histograms.</a:t>
            </a:r>
          </a:p>
          <a:p>
            <a:r>
              <a:rPr lang="en-US" sz="2000" dirty="0" smtClean="0"/>
              <a:t>The </a:t>
            </a:r>
            <a:r>
              <a:rPr lang="en-US" sz="2000" dirty="0" err="1">
                <a:solidFill>
                  <a:srgbClr val="FF0000"/>
                </a:solidFill>
              </a:rPr>
              <a:t>hist</a:t>
            </a:r>
            <a:r>
              <a:rPr lang="en-US" sz="2000" dirty="0">
                <a:solidFill>
                  <a:srgbClr val="FF0000"/>
                </a:solidFill>
              </a:rPr>
              <a:t>() </a:t>
            </a:r>
            <a:r>
              <a:rPr lang="en-US" sz="2000" dirty="0"/>
              <a:t>function will </a:t>
            </a:r>
            <a:r>
              <a:rPr lang="en-US" sz="2000" b="1" dirty="0"/>
              <a:t>use an array of numbers </a:t>
            </a:r>
            <a:r>
              <a:rPr lang="en-US" sz="2000" dirty="0"/>
              <a:t>to create a histogram, the array is sent into the function as an argument.</a:t>
            </a:r>
          </a:p>
          <a:p>
            <a:r>
              <a:rPr lang="en-US" sz="2000" dirty="0" smtClean="0"/>
              <a:t>For </a:t>
            </a:r>
            <a:r>
              <a:rPr lang="en-US" sz="2000" dirty="0"/>
              <a:t>simplicity we use </a:t>
            </a:r>
            <a:r>
              <a:rPr lang="en-US" sz="2000" b="1" dirty="0" err="1"/>
              <a:t>NumPy</a:t>
            </a:r>
            <a:r>
              <a:rPr lang="en-US" sz="2000" dirty="0"/>
              <a:t> </a:t>
            </a:r>
            <a:r>
              <a:rPr lang="en-US" sz="2000" b="1" dirty="0"/>
              <a:t>to randomly generate an array with 250 values</a:t>
            </a:r>
            <a:r>
              <a:rPr lang="en-US" sz="2000" dirty="0"/>
              <a:t>, where the values will concentrate around 170, and the standard deviation is 10</a:t>
            </a:r>
            <a:r>
              <a:rPr lang="en-US" sz="2000" dirty="0" smtClean="0"/>
              <a:t>.</a:t>
            </a:r>
            <a:endParaRPr lang="en-US" dirty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037628" y="4551218"/>
            <a:ext cx="5126644" cy="1359306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np.random.normal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170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250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auto">
          <a:xfrm>
            <a:off x="8081356" y="0"/>
            <a:ext cx="4110644" cy="6860812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[167.62255766 175.32495609 152.84661337 165.50264047 163.17457988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162.29867872 172.83638413 168.67303667 164.57361342 180.81120541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170.57782187 167.53075749 176.15356275 176.95378312 158.4125473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187.8842668  159.03730075 166.69284332 160.73882029 152.22378865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164.01255164 163.95288674 176.58146832 173.19849526 169.40206527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166.88861903 149.90348576 148.39039643 177.90349066 166.72462233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177.44776004 170.93335636 173.26312881 174.76534435 162.28791953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166.77301551 160.53785202 170.67972019 159.11594186 165.36992993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178.38979253 171.52158489 173.32636678 159.63894401 151.95735707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175.71274153 165.00458544 164.80607211 177.50988211 149.28106703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179.43586267 181.98365273 170.98196794 179.1093176  176.91855744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168.32092784 162.33939782 165.18364866 160.52300507 174.14316386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163.01947601 172.01767945 173.33491959 169.75842718 198.04834503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192.82490521 164.54557943 206.36247244 165.47748898 195.26377975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164.37569092 156.15175531 162.15564208 179.34100362 167.22138242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147.23667125 162.86940215 167.84986671 172.99302505 166.77279814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196.6137667  159.79012341 166.5840824  170.68645637 165.62204521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174.5559345  165.0079216  187.92545129 166.86186393 179.78383824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161.0973573  167.44890343 157.38075812 151.35412246 171.3107829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162.57149341 182.49985133 163.24700057 168.72639903 169.05309467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167.19232875 161.06405208 176.87667712 165.48750185 179.68799986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158.7913483  170.22465411 182.66432721 173.5675715  176.85646836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157.31299754 174.88959677 183.78323508 174.36814558 182.55474697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180.03359793 180.53094948 161.09560099 172.29179934 161.22665588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171.88382477 159.04626132 169.43886536 163.75793589 157.73710983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174.68921523 176.19843414 167.39315397 181.17128255 174.2674597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186.05053154 177.06516302 171.78523683 166.14875436 163.31607668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174.01429569 194.98819875 169.75129209 164.25748789 180.25773528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170.44784934 157.81966006 171.33315907 174.71390637 160.55423274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163.92896899 177.29159542 168.30674234 165.42853878 176.46256226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162.61719142 166.60810831 165.83648812 184.83238352 188.99833856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161.3054697  175.30396693 175.28109026 171.54765201 162.08762813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164.53011089 189.86213299 170.83784593 163.25869004 198.68079225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166.95154328 152.03381334 152.25444225 149.75522816 161.79200594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162.13535052 183.37298831 165.40405341 155.59224806 172.68678385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179.35359654 174.19668349 163.46176882 168.26621173 162.97527574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192.80170974 151.29673582 178.65251432 163.17266558 165.11172588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183.11107905 169.69556831 166.35149789 178.74419135 166.28562032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169.96465166 178.24368042 175.3035525  170.16496554 158.80682882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187.10006553 178.90542991 171.65790645 183.19289193 168.17446717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155.84544031 177.96091745 186.28887898 187.89867406 163.26716924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169.71242393 152.9410412  158.68101969 171.12655559 178.1482624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187.45272185 173.02872935 163.8047623  169.95676819 179.36887054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157.01955088 185.58143864 170.19037101 157.221245   168.90639755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178.7045601  168.64074373 172.37416382 165.61890535 163.40873027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168.98683006 149.48186389 172.20815568 172.82947206 173.71584064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189.42642762 172.79575803 177.00005573 169.24498561 171.55576698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161.36400372 176.47928342 163.02642822 165.09656415 186.70951892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153.27990317 165.59289527 180.34566865 189.19506385 183.10723435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173.48070474 170.28701875 157.24642079 157.9096498  176.4248199 ]</a:t>
            </a:r>
            <a:endParaRPr lang="en-US" sz="875" b="1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618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021" y="335280"/>
            <a:ext cx="8596668" cy="1320800"/>
          </a:xfrm>
        </p:spPr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 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140" y="1121498"/>
            <a:ext cx="7337060" cy="3880773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978361" y="1121498"/>
            <a:ext cx="5126644" cy="2344191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A simple histogram: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np.random.normal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170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250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plt.hist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 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auto">
          <a:xfrm>
            <a:off x="8081356" y="0"/>
            <a:ext cx="4110644" cy="6860812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[167.62255766 175.32495609 152.84661337 165.50264047 163.17457988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162.29867872 172.83638413 168.67303667 164.57361342 180.81120541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170.57782187 167.53075749 176.15356275 176.95378312 158.4125473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187.8842668  159.03730075 166.69284332 160.73882029 152.22378865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164.01255164 163.95288674 176.58146832 173.19849526 169.40206527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166.88861903 149.90348576 148.39039643 177.90349066 166.72462233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177.44776004 170.93335636 173.26312881 174.76534435 162.28791953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166.77301551 160.53785202 170.67972019 159.11594186 165.36992993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178.38979253 171.52158489 173.32636678 159.63894401 151.95735707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175.71274153 165.00458544 164.80607211 177.50988211 149.28106703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179.43586267 181.98365273 170.98196794 179.1093176  176.91855744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168.32092784 162.33939782 165.18364866 160.52300507 174.14316386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163.01947601 172.01767945 173.33491959 169.75842718 198.04834503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192.82490521 164.54557943 206.36247244 165.47748898 195.26377975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164.37569092 156.15175531 162.15564208 179.34100362 167.22138242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147.23667125 162.86940215 167.84986671 172.99302505 166.77279814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196.6137667  159.79012341 166.5840824  170.68645637 165.62204521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174.5559345  165.0079216  187.92545129 166.86186393 179.78383824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161.0973573  167.44890343 157.38075812 151.35412246 171.3107829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162.57149341 182.49985133 163.24700057 168.72639903 169.05309467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167.19232875 161.06405208 176.87667712 165.48750185 179.68799986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158.7913483  170.22465411 182.66432721 173.5675715  176.85646836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157.31299754 174.88959677 183.78323508 174.36814558 182.55474697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180.03359793 180.53094948 161.09560099 172.29179934 161.22665588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171.88382477 159.04626132 169.43886536 163.75793589 157.73710983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174.68921523 176.19843414 167.39315397 181.17128255 174.2674597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186.05053154 177.06516302 171.78523683 166.14875436 163.31607668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174.01429569 194.98819875 169.75129209 164.25748789 180.25773528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170.44784934 157.81966006 171.33315907 174.71390637 160.55423274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163.92896899 177.29159542 168.30674234 165.42853878 176.46256226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162.61719142 166.60810831 165.83648812 184.83238352 188.99833856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161.3054697  175.30396693 175.28109026 171.54765201 162.08762813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164.53011089 189.86213299 170.83784593 163.25869004 198.68079225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166.95154328 152.03381334 152.25444225 149.75522816 161.79200594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162.13535052 183.37298831 165.40405341 155.59224806 172.68678385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179.35359654 174.19668349 163.46176882 168.26621173 162.97527574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192.80170974 151.29673582 178.65251432 163.17266558 165.11172588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183.11107905 169.69556831 166.35149789 178.74419135 166.28562032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169.96465166 178.24368042 175.3035525  170.16496554 158.80682882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187.10006553 178.90542991 171.65790645 183.19289193 168.17446717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155.84544031 177.96091745 186.28887898 187.89867406 163.26716924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169.71242393 152.9410412  158.68101969 171.12655559 178.1482624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187.45272185 173.02872935 163.8047623  169.95676819 179.36887054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157.01955088 185.58143864 170.19037101 157.221245   168.90639755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178.7045601  168.64074373 172.37416382 165.61890535 163.40873027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168.98683006 149.48186389 172.20815568 172.82947206 173.71584064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189.42642762 172.79575803 177.00005573 169.24498561 171.55576698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161.36400372 176.47928342 163.02642822 165.09656415 186.70951892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153.27990317 165.59289527 180.34566865 189.19506385 183.10723435</a:t>
            </a:r>
          </a:p>
          <a:p>
            <a:r>
              <a:rPr lang="fr-FR" sz="875" b="1" dirty="0">
                <a:solidFill>
                  <a:srgbClr val="000000"/>
                </a:solidFill>
                <a:latin typeface="Segoe UI" panose="020B0502040204020203" pitchFamily="34" charset="0"/>
              </a:rPr>
              <a:t>   173.48070474 170.28701875 157.24642079 157.9096498  176.4248199 ]</a:t>
            </a:r>
            <a:endParaRPr lang="en-US" sz="875" b="1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78" y="3528986"/>
            <a:ext cx="4343400" cy="324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227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021" y="335280"/>
            <a:ext cx="8596668" cy="1320800"/>
          </a:xfrm>
        </p:spPr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Pie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140" y="1121498"/>
            <a:ext cx="7337060" cy="3880773"/>
          </a:xfrm>
        </p:spPr>
        <p:txBody>
          <a:bodyPr>
            <a:noAutofit/>
          </a:bodyPr>
          <a:lstStyle/>
          <a:p>
            <a:r>
              <a:rPr lang="en-US" sz="2000" b="1" dirty="0"/>
              <a:t>Creating Pie </a:t>
            </a:r>
            <a:r>
              <a:rPr lang="en-US" sz="2000" b="1" dirty="0" smtClean="0"/>
              <a:t>Charts: </a:t>
            </a:r>
            <a:r>
              <a:rPr lang="en-US" sz="2000" dirty="0" smtClean="0"/>
              <a:t>With </a:t>
            </a:r>
            <a:r>
              <a:rPr lang="en-US" sz="2000" dirty="0" err="1"/>
              <a:t>Pyplot</a:t>
            </a:r>
            <a:r>
              <a:rPr lang="en-US" sz="2000" dirty="0"/>
              <a:t>, you can use the </a:t>
            </a:r>
            <a:r>
              <a:rPr lang="en-US" sz="2000" dirty="0">
                <a:solidFill>
                  <a:srgbClr val="FF0000"/>
                </a:solidFill>
              </a:rPr>
              <a:t>pie() </a:t>
            </a:r>
            <a:r>
              <a:rPr lang="en-US" sz="2000" dirty="0"/>
              <a:t>function to draw </a:t>
            </a:r>
            <a:r>
              <a:rPr lang="en-US" sz="2000" b="1" dirty="0"/>
              <a:t>pie charts</a:t>
            </a:r>
            <a:r>
              <a:rPr lang="en-US" sz="2000" dirty="0" smtClean="0"/>
              <a:t>:</a:t>
            </a:r>
          </a:p>
          <a:p>
            <a:r>
              <a:rPr lang="en-US" dirty="0"/>
              <a:t>As you can see the pie chart draws one piece (</a:t>
            </a:r>
            <a:r>
              <a:rPr lang="en-US" b="1" dirty="0"/>
              <a:t>called a wedge</a:t>
            </a:r>
            <a:r>
              <a:rPr lang="en-US" dirty="0"/>
              <a:t>) for each value in the array (in this case [35, 25, 25, 15]).</a:t>
            </a:r>
          </a:p>
          <a:p>
            <a:r>
              <a:rPr lang="en-US" b="1" dirty="0" smtClean="0"/>
              <a:t>By </a:t>
            </a:r>
            <a:r>
              <a:rPr lang="en-US" b="1" dirty="0"/>
              <a:t>default </a:t>
            </a:r>
            <a:r>
              <a:rPr lang="en-US" dirty="0"/>
              <a:t>the plotting of the </a:t>
            </a:r>
            <a:r>
              <a:rPr lang="en-US" b="1" dirty="0"/>
              <a:t>first wedge starts from the x-axis </a:t>
            </a:r>
            <a:r>
              <a:rPr lang="en-US" dirty="0" smtClean="0"/>
              <a:t>and </a:t>
            </a:r>
            <a:r>
              <a:rPr lang="en-US" dirty="0"/>
              <a:t>moves counterclockwise</a:t>
            </a:r>
            <a:r>
              <a:rPr lang="en-US" dirty="0" smtClean="0"/>
              <a:t>:</a:t>
            </a:r>
          </a:p>
          <a:p>
            <a:r>
              <a:rPr lang="en-US" dirty="0"/>
              <a:t>Note: The size of each wedge is determined by comparing the value with all the other values, by using this formula:</a:t>
            </a:r>
          </a:p>
          <a:p>
            <a:r>
              <a:rPr lang="en-US" dirty="0" smtClean="0"/>
              <a:t>The </a:t>
            </a:r>
            <a:r>
              <a:rPr lang="en-US" dirty="0"/>
              <a:t>value divided by the sum of all values: </a:t>
            </a:r>
            <a:r>
              <a:rPr lang="en-US" b="1" dirty="0"/>
              <a:t>x/sum(x)</a:t>
            </a: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063028" y="4376618"/>
            <a:ext cx="5126644" cy="2097970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 err="1" smtClean="0">
                <a:solidFill>
                  <a:srgbClr val="000000"/>
                </a:solidFill>
                <a:latin typeface="Segoe UI" panose="020B0502040204020203" pitchFamily="34" charset="0"/>
              </a:rPr>
              <a:t>Example:</a:t>
            </a:r>
            <a:r>
              <a:rPr lang="en-US" sz="160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A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simple pie chart: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plt.pie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(y)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 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0" y="3817466"/>
            <a:ext cx="3784848" cy="28268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201" y="990659"/>
            <a:ext cx="3784848" cy="282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2762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021" y="335280"/>
            <a:ext cx="8596668" cy="1320800"/>
          </a:xfrm>
        </p:spPr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Pie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140" y="1121498"/>
            <a:ext cx="7337060" cy="3880773"/>
          </a:xfrm>
        </p:spPr>
        <p:txBody>
          <a:bodyPr>
            <a:noAutofit/>
          </a:bodyPr>
          <a:lstStyle/>
          <a:p>
            <a:r>
              <a:rPr lang="en-US" sz="2000" b="1" dirty="0" smtClean="0"/>
              <a:t>Labels: </a:t>
            </a:r>
            <a:r>
              <a:rPr lang="en-US" sz="2000" dirty="0" smtClean="0"/>
              <a:t>Add </a:t>
            </a:r>
            <a:r>
              <a:rPr lang="en-US" sz="2000" dirty="0"/>
              <a:t>labels to the pie chart with the </a:t>
            </a:r>
            <a:r>
              <a:rPr lang="en-US" sz="2000" b="1" dirty="0"/>
              <a:t>label parameter</a:t>
            </a:r>
            <a:r>
              <a:rPr lang="en-US" sz="2000" dirty="0"/>
              <a:t>.</a:t>
            </a:r>
          </a:p>
          <a:p>
            <a:r>
              <a:rPr lang="en-US" sz="2000" dirty="0" smtClean="0"/>
              <a:t>The </a:t>
            </a:r>
            <a:r>
              <a:rPr lang="en-US" sz="2000" dirty="0"/>
              <a:t>label parameter must be an array with </a:t>
            </a:r>
            <a:r>
              <a:rPr lang="en-US" sz="2000" b="1" dirty="0"/>
              <a:t>one label for each wedge</a:t>
            </a:r>
            <a:r>
              <a:rPr lang="en-US" sz="2000" dirty="0" smtClean="0"/>
              <a:t>:</a:t>
            </a:r>
          </a:p>
          <a:p>
            <a:r>
              <a:rPr lang="en-US" b="1" dirty="0"/>
              <a:t>Start </a:t>
            </a:r>
            <a:r>
              <a:rPr lang="en-US" b="1" dirty="0" smtClean="0"/>
              <a:t>Angle: </a:t>
            </a:r>
            <a:r>
              <a:rPr lang="en-US" dirty="0" smtClean="0"/>
              <a:t>As </a:t>
            </a:r>
            <a:r>
              <a:rPr lang="en-US" dirty="0"/>
              <a:t>mentioned the default start angle is at the x-axis, but </a:t>
            </a:r>
            <a:r>
              <a:rPr lang="en-US" b="1" dirty="0"/>
              <a:t>you can change the start angle </a:t>
            </a:r>
            <a:r>
              <a:rPr lang="en-US" dirty="0"/>
              <a:t>by </a:t>
            </a:r>
            <a:r>
              <a:rPr lang="en-US" b="1" dirty="0"/>
              <a:t>specifying a </a:t>
            </a:r>
            <a:r>
              <a:rPr lang="en-US" b="1" dirty="0" err="1"/>
              <a:t>startangle</a:t>
            </a:r>
            <a:r>
              <a:rPr lang="en-US" b="1" dirty="0"/>
              <a:t> parameter</a:t>
            </a:r>
            <a:r>
              <a:rPr lang="en-US" dirty="0"/>
              <a:t>.</a:t>
            </a:r>
          </a:p>
          <a:p>
            <a:r>
              <a:rPr lang="en-US" dirty="0" smtClean="0"/>
              <a:t>The </a:t>
            </a:r>
            <a:r>
              <a:rPr lang="en-US" b="1" dirty="0" err="1"/>
              <a:t>startangle</a:t>
            </a:r>
            <a:r>
              <a:rPr lang="en-US" dirty="0"/>
              <a:t> parameter is defined with an </a:t>
            </a:r>
            <a:r>
              <a:rPr lang="en-US" b="1" dirty="0"/>
              <a:t>angle in degrees, default angle is 0</a:t>
            </a:r>
            <a:r>
              <a:rPr lang="en-US" dirty="0"/>
              <a:t>:</a:t>
            </a: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952807" y="4154154"/>
            <a:ext cx="5126644" cy="2590412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Start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the first wedge at 90 degrees: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mylabels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"Apples"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"Bananas"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"Cherries"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"Dates"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plt.pie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(y, labels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mylabels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startangle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 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458" y="864523"/>
            <a:ext cx="3387465" cy="25300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200" y="3509832"/>
            <a:ext cx="4308764" cy="321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7336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021" y="335280"/>
            <a:ext cx="8596668" cy="1320800"/>
          </a:xfrm>
        </p:spPr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Pie Charts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386" y="2801393"/>
            <a:ext cx="5435387" cy="405955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139" y="1121498"/>
            <a:ext cx="8779549" cy="3880773"/>
          </a:xfrm>
        </p:spPr>
        <p:txBody>
          <a:bodyPr>
            <a:noAutofit/>
          </a:bodyPr>
          <a:lstStyle/>
          <a:p>
            <a:r>
              <a:rPr lang="en-US" sz="2000" b="1" dirty="0" smtClean="0"/>
              <a:t>Explode: </a:t>
            </a:r>
            <a:r>
              <a:rPr lang="en-US" sz="2000" dirty="0" smtClean="0"/>
              <a:t>Maybe </a:t>
            </a:r>
            <a:r>
              <a:rPr lang="en-US" sz="2000" dirty="0"/>
              <a:t>you want one of the </a:t>
            </a:r>
            <a:r>
              <a:rPr lang="en-US" sz="2000" b="1" dirty="0"/>
              <a:t>wedges to stand out</a:t>
            </a:r>
            <a:r>
              <a:rPr lang="en-US" sz="2000" dirty="0"/>
              <a:t>? The </a:t>
            </a:r>
            <a:r>
              <a:rPr lang="en-US" sz="2000" b="1" dirty="0"/>
              <a:t>explode parameter allows</a:t>
            </a:r>
            <a:r>
              <a:rPr lang="en-US" sz="2000" dirty="0"/>
              <a:t> you to do that.</a:t>
            </a:r>
          </a:p>
          <a:p>
            <a:r>
              <a:rPr lang="en-US" sz="2000" dirty="0" smtClean="0"/>
              <a:t>The </a:t>
            </a:r>
            <a:r>
              <a:rPr lang="en-US" sz="2000" dirty="0"/>
              <a:t>explode parameter, if specified, and not None, must be an array with one value for each wedge.</a:t>
            </a:r>
          </a:p>
          <a:p>
            <a:r>
              <a:rPr lang="en-US" sz="2000" dirty="0" smtClean="0"/>
              <a:t>Each </a:t>
            </a:r>
            <a:r>
              <a:rPr lang="en-US" sz="2000" dirty="0"/>
              <a:t>value represents how far from the center each wedge is </a:t>
            </a:r>
            <a:r>
              <a:rPr lang="en-US" sz="2000" dirty="0" smtClean="0"/>
              <a:t>displayed:</a:t>
            </a:r>
          </a:p>
          <a:p>
            <a:r>
              <a:rPr lang="en-US" b="1" dirty="0" smtClean="0"/>
              <a:t>Shadow: </a:t>
            </a:r>
            <a:r>
              <a:rPr lang="en-US" dirty="0" smtClean="0"/>
              <a:t>Add </a:t>
            </a:r>
            <a:r>
              <a:rPr lang="en-US" dirty="0"/>
              <a:t>a shadow to the pie chart by setting the shadows parameter to True:</a:t>
            </a: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952807" y="3645085"/>
            <a:ext cx="5126644" cy="3082855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Add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a </a:t>
            </a:r>
            <a:r>
              <a:rPr lang="en-US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shadow and explode:</a:t>
            </a:r>
            <a:endParaRPr lang="en-US" sz="16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mylabels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"Apples"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"Bananas"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"Cherries"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"Dates"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myexplode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0.2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plt.pie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(y, labels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mylabels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explode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myexplode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shadow =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 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5404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602" y="2377442"/>
            <a:ext cx="6004171" cy="44843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021" y="335280"/>
            <a:ext cx="8596668" cy="1320800"/>
          </a:xfrm>
        </p:spPr>
        <p:txBody>
          <a:bodyPr/>
          <a:lstStyle/>
          <a:p>
            <a:r>
              <a:rPr lang="en-US" dirty="0" err="1"/>
              <a:t>Matplotlib</a:t>
            </a:r>
            <a:r>
              <a:rPr lang="en-US" dirty="0"/>
              <a:t> Pie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139" y="1121498"/>
            <a:ext cx="8779549" cy="3880773"/>
          </a:xfrm>
        </p:spPr>
        <p:txBody>
          <a:bodyPr>
            <a:noAutofit/>
          </a:bodyPr>
          <a:lstStyle/>
          <a:p>
            <a:r>
              <a:rPr lang="en-US" b="1" dirty="0" smtClean="0"/>
              <a:t>Colors: </a:t>
            </a:r>
            <a:r>
              <a:rPr lang="en-US" dirty="0" smtClean="0"/>
              <a:t>You </a:t>
            </a:r>
            <a:r>
              <a:rPr lang="en-US" dirty="0"/>
              <a:t>can set the color of each wedge with the </a:t>
            </a:r>
            <a:r>
              <a:rPr lang="en-US" b="1" dirty="0"/>
              <a:t>colors </a:t>
            </a:r>
            <a:r>
              <a:rPr lang="en-US" b="1" dirty="0" smtClean="0"/>
              <a:t>parameter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colors parameter, if specified, must be </a:t>
            </a:r>
            <a:r>
              <a:rPr lang="en-US" b="1" dirty="0"/>
              <a:t>an array with one value for each </a:t>
            </a:r>
            <a:r>
              <a:rPr lang="en-US" b="1" dirty="0" smtClean="0"/>
              <a:t>wedge</a:t>
            </a:r>
            <a:endParaRPr lang="en-US" dirty="0"/>
          </a:p>
          <a:p>
            <a:r>
              <a:rPr lang="en-US" b="1" dirty="0" smtClean="0"/>
              <a:t>Legend: </a:t>
            </a:r>
            <a:r>
              <a:rPr lang="en-US" dirty="0" smtClean="0"/>
              <a:t>To </a:t>
            </a:r>
            <a:r>
              <a:rPr lang="en-US" dirty="0"/>
              <a:t>add a list of explanation for each wedge, use the </a:t>
            </a:r>
            <a:r>
              <a:rPr lang="en-US" dirty="0">
                <a:solidFill>
                  <a:srgbClr val="FF0000"/>
                </a:solidFill>
              </a:rPr>
              <a:t>legend() </a:t>
            </a:r>
            <a:r>
              <a:rPr lang="en-US" dirty="0"/>
              <a:t>function</a:t>
            </a:r>
            <a:r>
              <a:rPr lang="en-US" dirty="0" smtClean="0"/>
              <a:t>:</a:t>
            </a:r>
          </a:p>
          <a:p>
            <a:r>
              <a:rPr lang="en-US" b="1" dirty="0"/>
              <a:t>Legend With </a:t>
            </a:r>
            <a:r>
              <a:rPr lang="en-US" b="1" dirty="0" smtClean="0"/>
              <a:t>Header: </a:t>
            </a:r>
            <a:r>
              <a:rPr lang="en-US" dirty="0" smtClean="0"/>
              <a:t>To </a:t>
            </a:r>
            <a:r>
              <a:rPr lang="en-US" dirty="0"/>
              <a:t>add a header to the legend, add the </a:t>
            </a:r>
            <a:r>
              <a:rPr lang="en-US" b="1" dirty="0"/>
              <a:t>title parameter </a:t>
            </a:r>
            <a:r>
              <a:rPr lang="en-US" dirty="0"/>
              <a:t>to the legend function.</a:t>
            </a: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454044" y="3620114"/>
            <a:ext cx="6678278" cy="289818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Add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a legend with a header: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mylabels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"Apples"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"Bananas"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"Cherries"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"Dates"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plt.pie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(y, labels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mylabels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plt.legend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(title 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"Four Fruits:"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 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7924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Summary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In this lecture we learned following concepts:</a:t>
            </a:r>
          </a:p>
          <a:p>
            <a:pPr lvl="1"/>
            <a:r>
              <a:rPr lang="en-GB" dirty="0" smtClean="0"/>
              <a:t>Data visualization using </a:t>
            </a:r>
            <a:r>
              <a:rPr lang="en-GB" dirty="0" err="1" smtClean="0"/>
              <a:t>matplotlib</a:t>
            </a:r>
            <a:endParaRPr lang="en-GB" dirty="0" smtClean="0"/>
          </a:p>
          <a:p>
            <a:pPr lvl="2"/>
            <a:r>
              <a:rPr lang="en-GB" dirty="0" smtClean="0"/>
              <a:t>Line </a:t>
            </a:r>
            <a:r>
              <a:rPr lang="en-GB" dirty="0" smtClean="0"/>
              <a:t>plot</a:t>
            </a:r>
            <a:endParaRPr lang="en-GB" dirty="0" smtClean="0"/>
          </a:p>
          <a:p>
            <a:pPr lvl="2"/>
            <a:r>
              <a:rPr lang="en-GB" dirty="0" smtClean="0"/>
              <a:t>Bar charts</a:t>
            </a:r>
          </a:p>
          <a:p>
            <a:pPr lvl="2"/>
            <a:r>
              <a:rPr lang="en-GB" dirty="0" smtClean="0"/>
              <a:t>Histograms</a:t>
            </a:r>
          </a:p>
          <a:p>
            <a:pPr lvl="2"/>
            <a:r>
              <a:rPr lang="en-GB" dirty="0" smtClean="0"/>
              <a:t>Scatter plot</a:t>
            </a:r>
            <a:endParaRPr lang="en-GB" dirty="0" smtClean="0"/>
          </a:p>
          <a:p>
            <a:pPr lvl="2"/>
            <a:r>
              <a:rPr lang="en-GB" dirty="0" smtClean="0"/>
              <a:t>Pie charts</a:t>
            </a:r>
          </a:p>
          <a:p>
            <a:pPr lvl="2"/>
            <a:r>
              <a:rPr lang="en-GB" dirty="0" smtClean="0"/>
              <a:t>Subplots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72371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1991</TotalTime>
  <Words>3190</Words>
  <Application>Microsoft Office PowerPoint</Application>
  <PresentationFormat>Widescreen</PresentationFormat>
  <Paragraphs>466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Consolas</vt:lpstr>
      <vt:lpstr>Segoe UI</vt:lpstr>
      <vt:lpstr>Source Sans Pro</vt:lpstr>
      <vt:lpstr>Trebuchet MS</vt:lpstr>
      <vt:lpstr>Verdana</vt:lpstr>
      <vt:lpstr>Wingdings 3</vt:lpstr>
      <vt:lpstr>Facet</vt:lpstr>
      <vt:lpstr>Data Science</vt:lpstr>
      <vt:lpstr>Data Visualization Introduction</vt:lpstr>
      <vt:lpstr>Matplotlib Pyplot</vt:lpstr>
      <vt:lpstr>Matplotlib Plotting </vt:lpstr>
      <vt:lpstr>Matplotlib Plotting </vt:lpstr>
      <vt:lpstr>Matplotlib Plotting </vt:lpstr>
      <vt:lpstr>Matplotlib Plotting </vt:lpstr>
      <vt:lpstr>Matplotlib Markers</vt:lpstr>
      <vt:lpstr>Matplotlib Markers </vt:lpstr>
      <vt:lpstr>Matplotlib Markers</vt:lpstr>
      <vt:lpstr>Matplotlib Markers</vt:lpstr>
      <vt:lpstr>Matplotlib Markers</vt:lpstr>
      <vt:lpstr>Matplotlib Markers</vt:lpstr>
      <vt:lpstr>Matplotlib Markers</vt:lpstr>
      <vt:lpstr>Matplotlib Markers</vt:lpstr>
      <vt:lpstr>Matplotlib Markers</vt:lpstr>
      <vt:lpstr>Matplotlib Line</vt:lpstr>
      <vt:lpstr>Matplotlib Line</vt:lpstr>
      <vt:lpstr>Matplotlib Line</vt:lpstr>
      <vt:lpstr>Matplotlib Line</vt:lpstr>
      <vt:lpstr>Matplotlib Line</vt:lpstr>
      <vt:lpstr>Matplotlib Labels and Title</vt:lpstr>
      <vt:lpstr>Matplotlib Labels and Title</vt:lpstr>
      <vt:lpstr>Matplotlib Labels and Title</vt:lpstr>
      <vt:lpstr>Matplotlib Adding Grid Lines</vt:lpstr>
      <vt:lpstr>Matplotlib Adding Grid Lines</vt:lpstr>
      <vt:lpstr>Matplotlib Adding Grid Lines</vt:lpstr>
      <vt:lpstr>Matplotlib Subplot</vt:lpstr>
      <vt:lpstr>Matplotlib Subplot</vt:lpstr>
      <vt:lpstr>Matplotlib Subplot</vt:lpstr>
      <vt:lpstr>Matplotlib Subplot</vt:lpstr>
      <vt:lpstr>Matplotlib Scatter</vt:lpstr>
      <vt:lpstr>Matplotlib Scatter</vt:lpstr>
      <vt:lpstr>Matplotlib Bars</vt:lpstr>
      <vt:lpstr>Matplotlib Bars</vt:lpstr>
      <vt:lpstr>Matplotlib Histograms</vt:lpstr>
      <vt:lpstr>Matplotlib Histograms</vt:lpstr>
      <vt:lpstr>Matplotlib Histograms</vt:lpstr>
      <vt:lpstr>Matplotlib Pie Charts</vt:lpstr>
      <vt:lpstr>Matplotlib Pie Charts</vt:lpstr>
      <vt:lpstr>Matplotlib Pie Charts</vt:lpstr>
      <vt:lpstr>Matplotlib Pie Charts</vt:lpstr>
      <vt:lpstr>Summary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DR.ASIF</dc:creator>
  <cp:lastModifiedBy>DR.ASIF</cp:lastModifiedBy>
  <cp:revision>108</cp:revision>
  <dcterms:created xsi:type="dcterms:W3CDTF">2023-08-12T13:47:27Z</dcterms:created>
  <dcterms:modified xsi:type="dcterms:W3CDTF">2023-08-29T05:13:09Z</dcterms:modified>
</cp:coreProperties>
</file>
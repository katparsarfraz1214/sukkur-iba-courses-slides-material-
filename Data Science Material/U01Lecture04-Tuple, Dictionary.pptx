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77" r:id="rId5"/>
    <p:sldId id="278" r:id="rId6"/>
    <p:sldId id="279" r:id="rId7"/>
    <p:sldId id="281" r:id="rId8"/>
    <p:sldId id="280" r:id="rId9"/>
    <p:sldId id="288" r:id="rId10"/>
    <p:sldId id="282" r:id="rId11"/>
    <p:sldId id="283" r:id="rId12"/>
    <p:sldId id="27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34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Ismail Mangrio" userId="590c352b-06fa-4bd0-9f05-47e253030496" providerId="ADAL" clId="{58426AFF-BA46-4A16-936D-A9402979787A}"/>
    <pc:docChg chg="undo custSel modSld">
      <pc:chgData name="Muhammad Ismail Mangrio" userId="590c352b-06fa-4bd0-9f05-47e253030496" providerId="ADAL" clId="{58426AFF-BA46-4A16-936D-A9402979787A}" dt="2025-08-25T13:22:11.263" v="43" actId="478"/>
      <pc:docMkLst>
        <pc:docMk/>
      </pc:docMkLst>
      <pc:sldChg chg="delSp modSp mod">
        <pc:chgData name="Muhammad Ismail Mangrio" userId="590c352b-06fa-4bd0-9f05-47e253030496" providerId="ADAL" clId="{58426AFF-BA46-4A16-936D-A9402979787A}" dt="2025-08-25T13:17:50.108" v="33" actId="207"/>
        <pc:sldMkLst>
          <pc:docMk/>
          <pc:sldMk cId="3750181635" sldId="257"/>
        </pc:sldMkLst>
        <pc:spChg chg="mod">
          <ac:chgData name="Muhammad Ismail Mangrio" userId="590c352b-06fa-4bd0-9f05-47e253030496" providerId="ADAL" clId="{58426AFF-BA46-4A16-936D-A9402979787A}" dt="2025-08-25T13:17:50.108" v="33" actId="207"/>
          <ac:spMkLst>
            <pc:docMk/>
            <pc:sldMk cId="3750181635" sldId="257"/>
            <ac:spMk id="3" creationId="{00000000-0000-0000-0000-000000000000}"/>
          </ac:spMkLst>
        </pc:spChg>
        <pc:spChg chg="del">
          <ac:chgData name="Muhammad Ismail Mangrio" userId="590c352b-06fa-4bd0-9f05-47e253030496" providerId="ADAL" clId="{58426AFF-BA46-4A16-936D-A9402979787A}" dt="2025-08-25T13:10:43.867" v="21" actId="478"/>
          <ac:spMkLst>
            <pc:docMk/>
            <pc:sldMk cId="3750181635" sldId="257"/>
            <ac:spMk id="4" creationId="{00000000-0000-0000-0000-000000000000}"/>
          </ac:spMkLst>
        </pc:spChg>
      </pc:sldChg>
      <pc:sldChg chg="delSp modSp mod">
        <pc:chgData name="Muhammad Ismail Mangrio" userId="590c352b-06fa-4bd0-9f05-47e253030496" providerId="ADAL" clId="{58426AFF-BA46-4A16-936D-A9402979787A}" dt="2025-08-25T13:12:15.019" v="23" actId="478"/>
        <pc:sldMkLst>
          <pc:docMk/>
          <pc:sldMk cId="1771353100" sldId="277"/>
        </pc:sldMkLst>
        <pc:spChg chg="del mod">
          <ac:chgData name="Muhammad Ismail Mangrio" userId="590c352b-06fa-4bd0-9f05-47e253030496" providerId="ADAL" clId="{58426AFF-BA46-4A16-936D-A9402979787A}" dt="2025-08-25T13:12:15.019" v="23" actId="478"/>
          <ac:spMkLst>
            <pc:docMk/>
            <pc:sldMk cId="1771353100" sldId="277"/>
            <ac:spMk id="4" creationId="{00000000-0000-0000-0000-000000000000}"/>
          </ac:spMkLst>
        </pc:spChg>
      </pc:sldChg>
      <pc:sldChg chg="modSp mod">
        <pc:chgData name="Muhammad Ismail Mangrio" userId="590c352b-06fa-4bd0-9f05-47e253030496" providerId="ADAL" clId="{58426AFF-BA46-4A16-936D-A9402979787A}" dt="2025-08-25T13:17:20.180" v="29" actId="207"/>
        <pc:sldMkLst>
          <pc:docMk/>
          <pc:sldMk cId="176110939" sldId="280"/>
        </pc:sldMkLst>
        <pc:spChg chg="mod">
          <ac:chgData name="Muhammad Ismail Mangrio" userId="590c352b-06fa-4bd0-9f05-47e253030496" providerId="ADAL" clId="{58426AFF-BA46-4A16-936D-A9402979787A}" dt="2025-08-25T13:17:20.180" v="29" actId="207"/>
          <ac:spMkLst>
            <pc:docMk/>
            <pc:sldMk cId="176110939" sldId="280"/>
            <ac:spMk id="3" creationId="{00000000-0000-0000-0000-000000000000}"/>
          </ac:spMkLst>
        </pc:spChg>
      </pc:sldChg>
      <pc:sldChg chg="modSp mod">
        <pc:chgData name="Muhammad Ismail Mangrio" userId="590c352b-06fa-4bd0-9f05-47e253030496" providerId="ADAL" clId="{58426AFF-BA46-4A16-936D-A9402979787A}" dt="2025-08-25T13:21:42.219" v="41" actId="20577"/>
        <pc:sldMkLst>
          <pc:docMk/>
          <pc:sldMk cId="1154127764" sldId="282"/>
        </pc:sldMkLst>
        <pc:spChg chg="mod">
          <ac:chgData name="Muhammad Ismail Mangrio" userId="590c352b-06fa-4bd0-9f05-47e253030496" providerId="ADAL" clId="{58426AFF-BA46-4A16-936D-A9402979787A}" dt="2025-08-25T13:21:42.219" v="41" actId="20577"/>
          <ac:spMkLst>
            <pc:docMk/>
            <pc:sldMk cId="1154127764" sldId="282"/>
            <ac:spMk id="3" creationId="{00000000-0000-0000-0000-000000000000}"/>
          </ac:spMkLst>
        </pc:spChg>
      </pc:sldChg>
      <pc:sldChg chg="delSp modSp mod">
        <pc:chgData name="Muhammad Ismail Mangrio" userId="590c352b-06fa-4bd0-9f05-47e253030496" providerId="ADAL" clId="{58426AFF-BA46-4A16-936D-A9402979787A}" dt="2025-08-25T13:22:11.263" v="43" actId="478"/>
        <pc:sldMkLst>
          <pc:docMk/>
          <pc:sldMk cId="24410507" sldId="283"/>
        </pc:sldMkLst>
        <pc:spChg chg="del mod">
          <ac:chgData name="Muhammad Ismail Mangrio" userId="590c352b-06fa-4bd0-9f05-47e253030496" providerId="ADAL" clId="{58426AFF-BA46-4A16-936D-A9402979787A}" dt="2025-08-25T13:22:11.263" v="43" actId="478"/>
          <ac:spMkLst>
            <pc:docMk/>
            <pc:sldMk cId="24410507" sldId="283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8/25/2025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8/25/2025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8/25/2025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ref_tuple_index.asp" TargetMode="External"/><Relationship Id="rId2" Type="http://schemas.openxmlformats.org/officeDocument/2006/relationships/hyperlink" Target="https://www.w3schools.com/python/ref_tuple_count.asp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3schools.com/python/ref_set_intersection.asp" TargetMode="External"/><Relationship Id="rId13" Type="http://schemas.openxmlformats.org/officeDocument/2006/relationships/hyperlink" Target="https://www.w3schools.com/python/ref_set_pop.asp" TargetMode="External"/><Relationship Id="rId18" Type="http://schemas.openxmlformats.org/officeDocument/2006/relationships/hyperlink" Target="https://www.w3schools.com/python/ref_set_update.asp" TargetMode="External"/><Relationship Id="rId3" Type="http://schemas.openxmlformats.org/officeDocument/2006/relationships/hyperlink" Target="https://www.w3schools.com/python/ref_set_clear.asp" TargetMode="External"/><Relationship Id="rId7" Type="http://schemas.openxmlformats.org/officeDocument/2006/relationships/hyperlink" Target="https://www.w3schools.com/python/ref_set_discard.asp" TargetMode="External"/><Relationship Id="rId12" Type="http://schemas.openxmlformats.org/officeDocument/2006/relationships/hyperlink" Target="https://www.w3schools.com/python/ref_set_issuperset.asp" TargetMode="External"/><Relationship Id="rId17" Type="http://schemas.openxmlformats.org/officeDocument/2006/relationships/hyperlink" Target="https://www.w3schools.com/python/ref_set_union.asp" TargetMode="External"/><Relationship Id="rId2" Type="http://schemas.openxmlformats.org/officeDocument/2006/relationships/hyperlink" Target="https://www.w3schools.com/python/ref_set_add.asp" TargetMode="External"/><Relationship Id="rId16" Type="http://schemas.openxmlformats.org/officeDocument/2006/relationships/hyperlink" Target="https://www.w3schools.com/python/ref_set_symmetric_difference_update.as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3schools.com/python/ref_set_difference_update.asp" TargetMode="External"/><Relationship Id="rId11" Type="http://schemas.openxmlformats.org/officeDocument/2006/relationships/hyperlink" Target="https://www.w3schools.com/python/ref_set_issubset.asp" TargetMode="External"/><Relationship Id="rId5" Type="http://schemas.openxmlformats.org/officeDocument/2006/relationships/hyperlink" Target="https://www.w3schools.com/python/ref_set_difference.asp" TargetMode="External"/><Relationship Id="rId15" Type="http://schemas.openxmlformats.org/officeDocument/2006/relationships/hyperlink" Target="https://www.w3schools.com/python/ref_set_symmetric_difference.asp" TargetMode="External"/><Relationship Id="rId10" Type="http://schemas.openxmlformats.org/officeDocument/2006/relationships/hyperlink" Target="https://www.w3schools.com/python/ref_set_isdisjoint.asp" TargetMode="External"/><Relationship Id="rId4" Type="http://schemas.openxmlformats.org/officeDocument/2006/relationships/hyperlink" Target="https://www.w3schools.com/python/ref_set_copy.asp" TargetMode="External"/><Relationship Id="rId9" Type="http://schemas.openxmlformats.org/officeDocument/2006/relationships/hyperlink" Target="https://www.w3schools.com/python/ref_set_intersection_update.asp" TargetMode="External"/><Relationship Id="rId14" Type="http://schemas.openxmlformats.org/officeDocument/2006/relationships/hyperlink" Target="https://www.w3schools.com/python/ref_set_remove.asp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3schools.com/python/ref_dictionary_pop.asp" TargetMode="External"/><Relationship Id="rId3" Type="http://schemas.openxmlformats.org/officeDocument/2006/relationships/hyperlink" Target="https://www.w3schools.com/python/ref_dictionary_copy.asp" TargetMode="External"/><Relationship Id="rId7" Type="http://schemas.openxmlformats.org/officeDocument/2006/relationships/hyperlink" Target="https://www.w3schools.com/python/ref_dictionary_keys.asp" TargetMode="External"/><Relationship Id="rId12" Type="http://schemas.openxmlformats.org/officeDocument/2006/relationships/hyperlink" Target="https://www.w3schools.com/python/ref_dictionary_values.asp" TargetMode="External"/><Relationship Id="rId2" Type="http://schemas.openxmlformats.org/officeDocument/2006/relationships/hyperlink" Target="https://www.w3schools.com/python/ref_dictionary_clear.as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3schools.com/python/ref_dictionary_items.asp" TargetMode="External"/><Relationship Id="rId11" Type="http://schemas.openxmlformats.org/officeDocument/2006/relationships/hyperlink" Target="https://www.w3schools.com/python/ref_dictionary_update.asp" TargetMode="External"/><Relationship Id="rId5" Type="http://schemas.openxmlformats.org/officeDocument/2006/relationships/hyperlink" Target="https://www.w3schools.com/python/ref_dictionary_get.asp" TargetMode="External"/><Relationship Id="rId10" Type="http://schemas.openxmlformats.org/officeDocument/2006/relationships/hyperlink" Target="https://www.w3schools.com/python/ref_dictionary_setdefault.asp" TargetMode="External"/><Relationship Id="rId4" Type="http://schemas.openxmlformats.org/officeDocument/2006/relationships/hyperlink" Target="https://www.w3schools.com/python/ref_dictionary_fromkeys.asp" TargetMode="External"/><Relationship Id="rId9" Type="http://schemas.openxmlformats.org/officeDocument/2006/relationships/hyperlink" Target="https://www.w3schools.com/python/ref_dictionary_popitem.asp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Unit 01: Python for Data Science</a:t>
            </a:r>
          </a:p>
          <a:p>
            <a:r>
              <a:rPr lang="en-US" dirty="0"/>
              <a:t>Lecture 04</a:t>
            </a:r>
          </a:p>
          <a:p>
            <a:r>
              <a:rPr lang="en-US" dirty="0"/>
              <a:t>Tuples, Sets and Dictionary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622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Tuple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5884" y="1652609"/>
            <a:ext cx="9667701" cy="3880773"/>
          </a:xfrm>
        </p:spPr>
        <p:txBody>
          <a:bodyPr>
            <a:normAutofit/>
          </a:bodyPr>
          <a:lstStyle/>
          <a:p>
            <a:r>
              <a:rPr lang="en-US" dirty="0"/>
              <a:t>Used to </a:t>
            </a:r>
            <a:r>
              <a:rPr lang="en-US" b="1" dirty="0"/>
              <a:t>store multiple items in a single variable</a:t>
            </a:r>
            <a:r>
              <a:rPr lang="en-US" dirty="0"/>
              <a:t>.</a:t>
            </a:r>
          </a:p>
          <a:p>
            <a:r>
              <a:rPr lang="en-US" dirty="0"/>
              <a:t>One of 4 built-in data types in Python used to store collections of data.</a:t>
            </a:r>
          </a:p>
          <a:p>
            <a:r>
              <a:rPr lang="en-US" dirty="0"/>
              <a:t>A collection which is </a:t>
            </a:r>
            <a:r>
              <a:rPr lang="en-US" b="1" dirty="0">
                <a:solidFill>
                  <a:srgbClr val="FF0000"/>
                </a:solidFill>
              </a:rPr>
              <a:t>ordered</a:t>
            </a:r>
            <a:r>
              <a:rPr lang="en-US" dirty="0"/>
              <a:t> and </a:t>
            </a:r>
            <a:r>
              <a:rPr lang="en-US" b="1" dirty="0">
                <a:solidFill>
                  <a:srgbClr val="FF0000"/>
                </a:solidFill>
              </a:rPr>
              <a:t>unchangeable</a:t>
            </a:r>
            <a:r>
              <a:rPr lang="en-US" dirty="0"/>
              <a:t>.</a:t>
            </a:r>
          </a:p>
          <a:p>
            <a:r>
              <a:rPr lang="en-US" dirty="0"/>
              <a:t>Written with </a:t>
            </a:r>
            <a:r>
              <a:rPr lang="en-US" b="1" dirty="0"/>
              <a:t>round brackets</a:t>
            </a:r>
            <a:r>
              <a:rPr lang="en-US" dirty="0"/>
              <a:t>.</a:t>
            </a:r>
          </a:p>
          <a:p>
            <a:r>
              <a:rPr lang="en-US" dirty="0"/>
              <a:t>Items are </a:t>
            </a:r>
            <a:r>
              <a:rPr lang="en-US" b="1" dirty="0"/>
              <a:t>ordered</a:t>
            </a:r>
            <a:r>
              <a:rPr lang="en-US" dirty="0"/>
              <a:t>, </a:t>
            </a:r>
            <a:r>
              <a:rPr lang="en-US" b="1" dirty="0"/>
              <a:t>unchangeable</a:t>
            </a:r>
            <a:r>
              <a:rPr lang="en-US" dirty="0"/>
              <a:t>, and </a:t>
            </a:r>
            <a:r>
              <a:rPr lang="en-US" b="1" dirty="0">
                <a:solidFill>
                  <a:srgbClr val="FF0000"/>
                </a:solidFill>
              </a:rPr>
              <a:t>allow duplicate </a:t>
            </a:r>
            <a:r>
              <a:rPr lang="en-US" dirty="0"/>
              <a:t>values.</a:t>
            </a:r>
          </a:p>
          <a:p>
            <a:r>
              <a:rPr lang="en-US" dirty="0"/>
              <a:t>I</a:t>
            </a:r>
            <a:r>
              <a:rPr lang="en-US" b="1" dirty="0"/>
              <a:t>tems are </a:t>
            </a:r>
            <a:r>
              <a:rPr lang="en-US" b="1" dirty="0">
                <a:solidFill>
                  <a:srgbClr val="FF0000"/>
                </a:solidFill>
              </a:rPr>
              <a:t>indexed</a:t>
            </a:r>
            <a:r>
              <a:rPr lang="en-US" dirty="0"/>
              <a:t>, the first item has index [0], the second item has index [1] etc.</a:t>
            </a:r>
          </a:p>
          <a:p>
            <a:r>
              <a:rPr lang="en-US" dirty="0"/>
              <a:t>Tuples are ordered, </a:t>
            </a:r>
          </a:p>
          <a:p>
            <a:pPr lvl="1"/>
            <a:r>
              <a:rPr lang="en-US" dirty="0"/>
              <a:t>items have a defined order, and that order will not change.</a:t>
            </a:r>
          </a:p>
          <a:p>
            <a:r>
              <a:rPr lang="en-US" dirty="0"/>
              <a:t>Unchangeable, we cannot change, </a:t>
            </a:r>
            <a:r>
              <a:rPr lang="en-US" b="1" dirty="0"/>
              <a:t>add or remove </a:t>
            </a:r>
            <a:r>
              <a:rPr lang="en-US" dirty="0"/>
              <a:t>items after the tuple has been created.</a:t>
            </a: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2135909" y="5617194"/>
            <a:ext cx="5395422" cy="959197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Example</a:t>
            </a:r>
          </a:p>
          <a:p>
            <a:pPr lvl="0" defTabSz="914400"/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thistuple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(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"apple"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"cherry"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thistuple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0181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Tuple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5898033" cy="3880773"/>
          </a:xfrm>
        </p:spPr>
        <p:txBody>
          <a:bodyPr>
            <a:normAutofit/>
          </a:bodyPr>
          <a:lstStyle/>
          <a:p>
            <a:r>
              <a:rPr lang="en-US" dirty="0"/>
              <a:t>Since tuples are indexed, they can have items with the same value:</a:t>
            </a:r>
          </a:p>
          <a:p>
            <a:r>
              <a:rPr lang="en-US" dirty="0"/>
              <a:t>To determine how many items a tuple has, use the </a:t>
            </a:r>
            <a:r>
              <a:rPr lang="en-US" dirty="0" err="1">
                <a:solidFill>
                  <a:srgbClr val="FF0000"/>
                </a:solidFill>
              </a:rPr>
              <a:t>len</a:t>
            </a:r>
            <a:r>
              <a:rPr lang="en-US" dirty="0">
                <a:solidFill>
                  <a:srgbClr val="FF0000"/>
                </a:solidFill>
              </a:rPr>
              <a:t>() </a:t>
            </a:r>
            <a:r>
              <a:rPr lang="en-US" dirty="0"/>
              <a:t>function:</a:t>
            </a:r>
          </a:p>
          <a:p>
            <a:r>
              <a:rPr lang="en-US" b="1" dirty="0"/>
              <a:t>To create a tuple with only one item</a:t>
            </a:r>
            <a:r>
              <a:rPr lang="en-US" dirty="0"/>
              <a:t>, you have to </a:t>
            </a:r>
            <a:r>
              <a:rPr lang="en-US" b="1" dirty="0"/>
              <a:t>add a comma after the item</a:t>
            </a:r>
            <a:r>
              <a:rPr lang="en-US" dirty="0"/>
              <a:t>, otherwise Python will not recognize it as a tuple.</a:t>
            </a:r>
          </a:p>
          <a:p>
            <a:r>
              <a:rPr lang="en-US" dirty="0"/>
              <a:t>Tuple items can be of </a:t>
            </a:r>
            <a:r>
              <a:rPr lang="en-US" b="1" dirty="0"/>
              <a:t>any data type</a:t>
            </a:r>
            <a:r>
              <a:rPr lang="en-US" dirty="0"/>
              <a:t>:</a:t>
            </a:r>
          </a:p>
          <a:p>
            <a:r>
              <a:rPr lang="en-US" dirty="0"/>
              <a:t>A tuple can contain </a:t>
            </a:r>
            <a:r>
              <a:rPr lang="en-US" b="1" dirty="0"/>
              <a:t>different data types</a:t>
            </a:r>
            <a:r>
              <a:rPr lang="en-US" dirty="0"/>
              <a:t>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644178" y="486490"/>
            <a:ext cx="5409276" cy="6037510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sz="1600" dirty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thistuple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(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"apple"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"cherry"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"apple"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"cherry"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600" dirty="0"/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thistuple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thistuple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(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"apple"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"cherry"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600" dirty="0"/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CD"/>
                </a:solidFill>
                <a:latin typeface="Consolas" panose="020B0609020204030204" pitchFamily="49" charset="0"/>
              </a:rPr>
              <a:t>len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thistuple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thistuple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(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"apple"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,)</a:t>
            </a:r>
            <a:br>
              <a:rPr lang="en-US" sz="1600" dirty="0"/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type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thistuple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#NOT a tuple</a:t>
            </a:r>
            <a:b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thistuple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(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"apple"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600" dirty="0"/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type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thistuple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Example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tuple1 = (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"apple"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"cherry"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tuple2 = (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7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9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tuple3 = (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True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False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False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Example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tuple1 = (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A52A2A"/>
                </a:solidFill>
                <a:latin typeface="Consolas" panose="020B0609020204030204" pitchFamily="49" charset="0"/>
              </a:rPr>
              <a:t>abc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34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True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40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"male"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3381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Tuple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328" y="2160589"/>
            <a:ext cx="9343506" cy="3880773"/>
          </a:xfrm>
        </p:spPr>
        <p:txBody>
          <a:bodyPr>
            <a:normAutofit/>
          </a:bodyPr>
          <a:lstStyle/>
          <a:p>
            <a:r>
              <a:rPr lang="en-US" sz="2000" dirty="0"/>
              <a:t>Python Collections (Arrays)</a:t>
            </a:r>
          </a:p>
          <a:p>
            <a:pPr lvl="1"/>
            <a:r>
              <a:rPr lang="en-US" sz="1800" dirty="0"/>
              <a:t>There are </a:t>
            </a:r>
            <a:r>
              <a:rPr lang="en-US" sz="1800" b="1" dirty="0"/>
              <a:t>four collection </a:t>
            </a:r>
            <a:r>
              <a:rPr lang="en-US" sz="1800" dirty="0"/>
              <a:t>data types in the Python programming language:</a:t>
            </a:r>
          </a:p>
          <a:p>
            <a:pPr lvl="2"/>
            <a:r>
              <a:rPr lang="en-US" sz="1600" b="1" dirty="0"/>
              <a:t>List</a:t>
            </a:r>
            <a:r>
              <a:rPr lang="en-US" sz="1600" dirty="0"/>
              <a:t> is a collection which is </a:t>
            </a:r>
            <a:r>
              <a:rPr lang="en-US" sz="1600" b="1" dirty="0"/>
              <a:t>ordered and changeable</a:t>
            </a:r>
            <a:r>
              <a:rPr lang="en-US" sz="1600" dirty="0"/>
              <a:t>. </a:t>
            </a:r>
            <a:r>
              <a:rPr lang="en-US" sz="1600" b="1" dirty="0"/>
              <a:t>Allows duplicate</a:t>
            </a:r>
            <a:r>
              <a:rPr lang="en-US" sz="1600" dirty="0"/>
              <a:t> members.</a:t>
            </a:r>
          </a:p>
          <a:p>
            <a:pPr lvl="2"/>
            <a:r>
              <a:rPr lang="en-US" sz="1600" b="1" dirty="0"/>
              <a:t>Tuple </a:t>
            </a:r>
            <a:r>
              <a:rPr lang="en-US" sz="1600" dirty="0"/>
              <a:t>is a collection which is </a:t>
            </a:r>
            <a:r>
              <a:rPr lang="en-US" sz="1600" b="1" dirty="0"/>
              <a:t>ordered and unchangeable</a:t>
            </a:r>
            <a:r>
              <a:rPr lang="en-US" sz="1600" dirty="0"/>
              <a:t>. </a:t>
            </a:r>
            <a:r>
              <a:rPr lang="en-US" sz="1600" b="1" dirty="0"/>
              <a:t>Allows duplicate members</a:t>
            </a:r>
            <a:r>
              <a:rPr lang="en-US" sz="1600" dirty="0"/>
              <a:t>.</a:t>
            </a:r>
          </a:p>
          <a:p>
            <a:pPr lvl="2"/>
            <a:r>
              <a:rPr lang="en-US" sz="1600" b="1" dirty="0"/>
              <a:t>Set</a:t>
            </a:r>
            <a:r>
              <a:rPr lang="en-US" sz="1600" dirty="0"/>
              <a:t> is a collection which is </a:t>
            </a:r>
            <a:r>
              <a:rPr lang="en-US" sz="1600" b="1" dirty="0"/>
              <a:t>unordered, unchangeable*, and unindexed</a:t>
            </a:r>
            <a:r>
              <a:rPr lang="en-US" sz="1600" dirty="0"/>
              <a:t>. </a:t>
            </a:r>
            <a:r>
              <a:rPr lang="en-US" sz="1600" b="1" dirty="0"/>
              <a:t>No duplicate </a:t>
            </a:r>
            <a:r>
              <a:rPr lang="en-US" sz="1600" dirty="0"/>
              <a:t>members.</a:t>
            </a:r>
          </a:p>
          <a:p>
            <a:pPr lvl="2"/>
            <a:r>
              <a:rPr lang="en-US" sz="1600" b="1" dirty="0"/>
              <a:t>Dictionary</a:t>
            </a:r>
            <a:r>
              <a:rPr lang="en-US" sz="1600" dirty="0"/>
              <a:t> is a collection which is </a:t>
            </a:r>
            <a:r>
              <a:rPr lang="en-US" sz="1600" b="1" dirty="0"/>
              <a:t>ordered** and changeable</a:t>
            </a:r>
            <a:r>
              <a:rPr lang="en-US" sz="1600" dirty="0"/>
              <a:t>. </a:t>
            </a:r>
            <a:r>
              <a:rPr lang="en-US" sz="1600" b="1" dirty="0"/>
              <a:t>No duplicate members</a:t>
            </a:r>
            <a:r>
              <a:rPr lang="en-US" sz="1600" dirty="0"/>
              <a:t>.</a:t>
            </a:r>
          </a:p>
          <a:p>
            <a:pPr lvl="1"/>
            <a:r>
              <a:rPr lang="en-US" sz="1800" dirty="0"/>
              <a:t>*Set items are unchangeable, but you can remove and/or add items whenever you like.</a:t>
            </a:r>
          </a:p>
          <a:p>
            <a:pPr lvl="1"/>
            <a:r>
              <a:rPr lang="en-US" sz="1800" dirty="0"/>
              <a:t>**As of Python version 3.7, dictionaries are ordered. In Python 3.6 and earlier, dictionaries are unordered.</a:t>
            </a:r>
          </a:p>
        </p:txBody>
      </p:sp>
    </p:spTree>
    <p:extLst>
      <p:ext uri="{BB962C8B-B14F-4D97-AF65-F5344CB8AC3E}">
        <p14:creationId xmlns:p14="http://schemas.microsoft.com/office/powerpoint/2010/main" val="1771353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Tuple (Access Tuple Items)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5898033" cy="3880773"/>
          </a:xfrm>
        </p:spPr>
        <p:txBody>
          <a:bodyPr>
            <a:normAutofit/>
          </a:bodyPr>
          <a:lstStyle/>
          <a:p>
            <a:r>
              <a:rPr lang="en-US" dirty="0"/>
              <a:t>You can </a:t>
            </a:r>
            <a:r>
              <a:rPr lang="en-US" b="1" dirty="0"/>
              <a:t>access tuple </a:t>
            </a:r>
            <a:r>
              <a:rPr lang="en-US" dirty="0"/>
              <a:t>items by referring to the </a:t>
            </a:r>
            <a:r>
              <a:rPr lang="en-US" b="1" dirty="0"/>
              <a:t>index number</a:t>
            </a:r>
            <a:r>
              <a:rPr lang="en-US" dirty="0"/>
              <a:t>, </a:t>
            </a:r>
            <a:r>
              <a:rPr lang="en-US" b="1" dirty="0"/>
              <a:t>inside square brackets</a:t>
            </a:r>
            <a:r>
              <a:rPr lang="en-US" dirty="0"/>
              <a:t>:</a:t>
            </a:r>
          </a:p>
          <a:p>
            <a:r>
              <a:rPr lang="en-US" b="1" dirty="0"/>
              <a:t>Negative indexing </a:t>
            </a:r>
            <a:r>
              <a:rPr lang="en-US" dirty="0"/>
              <a:t>means start from the end.</a:t>
            </a:r>
          </a:p>
          <a:p>
            <a:r>
              <a:rPr lang="en-US" dirty="0"/>
              <a:t>-1 refers to the last item, -2 refers to the second last item etc.</a:t>
            </a:r>
          </a:p>
          <a:p>
            <a:r>
              <a:rPr lang="en-US" dirty="0"/>
              <a:t>You can specify a </a:t>
            </a:r>
            <a:r>
              <a:rPr lang="en-US" b="1" dirty="0"/>
              <a:t>range of indexes </a:t>
            </a:r>
            <a:r>
              <a:rPr lang="en-US" dirty="0"/>
              <a:t>by specifying where to start and where to end the range.</a:t>
            </a:r>
          </a:p>
          <a:p>
            <a:r>
              <a:rPr lang="en-US" dirty="0"/>
              <a:t>When specifying a range, the return value will be a new tuple with the specified items.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384175" y="1677103"/>
            <a:ext cx="5807825" cy="4283183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Example</a:t>
            </a:r>
          </a:p>
          <a:p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thistuple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(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"apple"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"cherry"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thistuple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</a:p>
          <a:p>
            <a:endParaRPr lang="en-GB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Example</a:t>
            </a:r>
          </a:p>
          <a:p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thistuple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(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"apple"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"cherry"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thistuple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[-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</a:p>
          <a:p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Example</a:t>
            </a:r>
          </a:p>
          <a:p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thistuple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(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"apple"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"cherry"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"orange"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"kiwi"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"melon"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"mango"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thistuple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endParaRPr lang="en-GB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GB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890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Tuple (Update Tuples)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5898033" cy="3880773"/>
          </a:xfrm>
        </p:spPr>
        <p:txBody>
          <a:bodyPr>
            <a:normAutofit/>
          </a:bodyPr>
          <a:lstStyle/>
          <a:p>
            <a:r>
              <a:rPr lang="en-US" dirty="0"/>
              <a:t>Once a tuple is created, </a:t>
            </a:r>
            <a:r>
              <a:rPr lang="en-US" b="1" dirty="0"/>
              <a:t>you cannot change its values</a:t>
            </a:r>
            <a:r>
              <a:rPr lang="en-US" dirty="0"/>
              <a:t>. Tuples are </a:t>
            </a:r>
            <a:r>
              <a:rPr lang="en-US" b="1" dirty="0"/>
              <a:t>unchangeable</a:t>
            </a:r>
            <a:r>
              <a:rPr lang="en-US" dirty="0"/>
              <a:t>, </a:t>
            </a:r>
            <a:r>
              <a:rPr lang="en-US" b="1" dirty="0"/>
              <a:t>or immutable </a:t>
            </a:r>
            <a:r>
              <a:rPr lang="en-US" dirty="0"/>
              <a:t>as it also is called.</a:t>
            </a:r>
          </a:p>
          <a:p>
            <a:r>
              <a:rPr lang="en-US" dirty="0"/>
              <a:t>But there is a </a:t>
            </a:r>
            <a:r>
              <a:rPr lang="en-US" b="1" dirty="0"/>
              <a:t>workaround</a:t>
            </a:r>
            <a:r>
              <a:rPr lang="en-US" dirty="0"/>
              <a:t>. You can </a:t>
            </a:r>
            <a:r>
              <a:rPr lang="en-US" b="1" dirty="0"/>
              <a:t>convert the tuple into a list</a:t>
            </a:r>
            <a:r>
              <a:rPr lang="en-US" dirty="0"/>
              <a:t>, </a:t>
            </a:r>
            <a:r>
              <a:rPr lang="en-US" b="1" dirty="0"/>
              <a:t>change the list</a:t>
            </a:r>
            <a:r>
              <a:rPr lang="en-US" dirty="0"/>
              <a:t>, and </a:t>
            </a:r>
            <a:r>
              <a:rPr lang="en-US" b="1" dirty="0"/>
              <a:t>convert the list back </a:t>
            </a:r>
            <a:r>
              <a:rPr lang="en-US" dirty="0"/>
              <a:t>into a tuple.</a:t>
            </a:r>
          </a:p>
          <a:p>
            <a:r>
              <a:rPr lang="en-US" dirty="0"/>
              <a:t>Since tuples are immutable, they </a:t>
            </a:r>
            <a:r>
              <a:rPr lang="en-US" b="1" dirty="0"/>
              <a:t>do not </a:t>
            </a:r>
            <a:r>
              <a:rPr lang="en-US" dirty="0"/>
              <a:t>have a built-in </a:t>
            </a:r>
            <a:r>
              <a:rPr lang="en-US" dirty="0">
                <a:solidFill>
                  <a:srgbClr val="FF0000"/>
                </a:solidFill>
              </a:rPr>
              <a:t>append() </a:t>
            </a:r>
            <a:r>
              <a:rPr lang="en-US" dirty="0"/>
              <a:t>method, but there are </a:t>
            </a:r>
            <a:r>
              <a:rPr lang="en-US" b="1" dirty="0"/>
              <a:t>other ways to add </a:t>
            </a:r>
            <a:r>
              <a:rPr lang="en-US" dirty="0"/>
              <a:t>items to a tuple.</a:t>
            </a:r>
          </a:p>
          <a:p>
            <a:pPr lvl="1"/>
            <a:r>
              <a:rPr lang="en-US" b="1" dirty="0"/>
              <a:t>Convert into a list</a:t>
            </a:r>
            <a:r>
              <a:rPr lang="en-US" dirty="0"/>
              <a:t>: Just like the workaround for changing a tuple, you can convert it into a list, add your item(s), and convert it back into a tuple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758247" y="1815605"/>
            <a:ext cx="5433753" cy="4006185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Example</a:t>
            </a:r>
          </a:p>
          <a:p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x = (</a:t>
            </a:r>
            <a:r>
              <a:rPr lang="es-ES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s-ES" dirty="0" err="1">
                <a:solidFill>
                  <a:srgbClr val="A52A2A"/>
                </a:solidFill>
                <a:latin typeface="Consolas" panose="020B0609020204030204" pitchFamily="49" charset="0"/>
              </a:rPr>
              <a:t>apple</a:t>
            </a:r>
            <a:r>
              <a:rPr lang="es-ES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s-ES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s-ES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s-ES" dirty="0" err="1">
                <a:solidFill>
                  <a:srgbClr val="A52A2A"/>
                </a:solidFill>
                <a:latin typeface="Consolas" panose="020B0609020204030204" pitchFamily="49" charset="0"/>
              </a:rPr>
              <a:t>cherry</a:t>
            </a:r>
            <a:r>
              <a:rPr lang="es-ES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s-ES" dirty="0"/>
            </a:b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y = </a:t>
            </a:r>
            <a:r>
              <a:rPr lang="es-ES" dirty="0" err="1">
                <a:solidFill>
                  <a:srgbClr val="0000CD"/>
                </a:solidFill>
                <a:latin typeface="Consolas" panose="020B0609020204030204" pitchFamily="49" charset="0"/>
              </a:rPr>
              <a:t>list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(x)</a:t>
            </a:r>
            <a:br>
              <a:rPr lang="es-ES" dirty="0"/>
            </a:b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y[</a:t>
            </a:r>
            <a:r>
              <a:rPr lang="es-E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] = </a:t>
            </a:r>
            <a:r>
              <a:rPr lang="es-ES" dirty="0">
                <a:solidFill>
                  <a:srgbClr val="A52A2A"/>
                </a:solidFill>
                <a:latin typeface="Consolas" panose="020B0609020204030204" pitchFamily="49" charset="0"/>
              </a:rPr>
              <a:t>"kiwi"</a:t>
            </a:r>
            <a:br>
              <a:rPr lang="es-ES" dirty="0"/>
            </a:b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x = </a:t>
            </a:r>
            <a:r>
              <a:rPr lang="es-ES" dirty="0" err="1">
                <a:solidFill>
                  <a:srgbClr val="0000CD"/>
                </a:solidFill>
                <a:latin typeface="Consolas" panose="020B0609020204030204" pitchFamily="49" charset="0"/>
              </a:rPr>
              <a:t>tuple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(y)</a:t>
            </a:r>
            <a:br>
              <a:rPr lang="es-ES" dirty="0"/>
            </a:br>
            <a:br>
              <a:rPr lang="es-ES" dirty="0"/>
            </a:br>
            <a:r>
              <a:rPr lang="es-ES" dirty="0" err="1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(x)</a:t>
            </a:r>
          </a:p>
          <a:p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Example</a:t>
            </a:r>
          </a:p>
          <a:p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thistuple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(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"apple"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"cherry"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y =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list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thistuple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dirty="0"/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y.append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"orange"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dirty="0"/>
            </a:br>
            <a:endParaRPr lang="en-US" dirty="0"/>
          </a:p>
          <a:p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thistuple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tuple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(y)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0426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38265"/>
            <a:ext cx="8596668" cy="1320800"/>
          </a:xfrm>
        </p:spPr>
        <p:txBody>
          <a:bodyPr/>
          <a:lstStyle/>
          <a:p>
            <a:r>
              <a:rPr lang="en-US" dirty="0"/>
              <a:t>Python Tuple (remove and built-in methods)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8757611" cy="3880773"/>
          </a:xfrm>
        </p:spPr>
        <p:txBody>
          <a:bodyPr>
            <a:normAutofit/>
          </a:bodyPr>
          <a:lstStyle/>
          <a:p>
            <a:r>
              <a:rPr lang="en-US" dirty="0"/>
              <a:t>Tuples are unchangeable, so you cannot remove items from it, but you can use the same workaround as we used for changing and adding tuple items:</a:t>
            </a:r>
          </a:p>
          <a:p>
            <a:endParaRPr lang="en-US" dirty="0"/>
          </a:p>
          <a:p>
            <a:r>
              <a:rPr lang="en-US" dirty="0"/>
              <a:t>Python has two built-in methods that you can use on tuples.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0222397"/>
              </p:ext>
            </p:extLst>
          </p:nvPr>
        </p:nvGraphicFramePr>
        <p:xfrm>
          <a:off x="610830" y="4139741"/>
          <a:ext cx="11243119" cy="1149258"/>
        </p:xfrm>
        <a:graphic>
          <a:graphicData uri="http://schemas.openxmlformats.org/drawingml/2006/table">
            <a:tbl>
              <a:tblPr/>
              <a:tblGrid>
                <a:gridCol w="17167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6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544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Method</a:t>
                      </a:r>
                    </a:p>
                  </a:txBody>
                  <a:tcPr marL="108766" marR="54383" marT="54383" marB="5438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Description</a:t>
                      </a:r>
                    </a:p>
                  </a:txBody>
                  <a:tcPr marL="54383" marR="54383" marT="54383" marB="5438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544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hlinkClick r:id="rId2"/>
                        </a:rPr>
                        <a:t>count()</a:t>
                      </a:r>
                      <a:endParaRPr lang="en-US" sz="180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8766" marR="54383" marT="54383" marB="5438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Returns the number of times a specified value occurs in a tuple</a:t>
                      </a:r>
                    </a:p>
                  </a:txBody>
                  <a:tcPr marL="54383" marR="54383" marT="54383" marB="5438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544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hlinkClick r:id="rId3"/>
                        </a:rPr>
                        <a:t>index()</a:t>
                      </a:r>
                      <a:endParaRPr lang="en-US" sz="180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8766" marR="54383" marT="54383" marB="5438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Searches the tuple for a specified value and returns the position of where it was found</a:t>
                      </a:r>
                    </a:p>
                  </a:txBody>
                  <a:tcPr marL="54383" marR="54383" marT="54383" marB="5438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677863" y="36417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3774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9258" y="1270000"/>
            <a:ext cx="6500553" cy="3880773"/>
          </a:xfrm>
        </p:spPr>
        <p:txBody>
          <a:bodyPr>
            <a:noAutofit/>
          </a:bodyPr>
          <a:lstStyle/>
          <a:p>
            <a:r>
              <a:rPr lang="en-US" sz="1400" dirty="0"/>
              <a:t>Sets are used to </a:t>
            </a:r>
            <a:r>
              <a:rPr lang="en-US" sz="1400" b="1" dirty="0"/>
              <a:t>store multiple items </a:t>
            </a:r>
            <a:r>
              <a:rPr lang="en-US" sz="1400" dirty="0"/>
              <a:t>in a single variable.</a:t>
            </a:r>
          </a:p>
          <a:p>
            <a:r>
              <a:rPr lang="en-US" sz="1400" dirty="0"/>
              <a:t>Set is one of 4 built-in data types in Python used to store collections of data.</a:t>
            </a:r>
          </a:p>
          <a:p>
            <a:r>
              <a:rPr lang="en-US" sz="1400" dirty="0"/>
              <a:t>A set is a collection which is </a:t>
            </a:r>
            <a:r>
              <a:rPr lang="en-US" sz="1400" b="1" dirty="0">
                <a:solidFill>
                  <a:srgbClr val="FF0000"/>
                </a:solidFill>
              </a:rPr>
              <a:t>unordered</a:t>
            </a:r>
            <a:r>
              <a:rPr lang="en-US" sz="1400" b="1" dirty="0"/>
              <a:t>, </a:t>
            </a:r>
            <a:r>
              <a:rPr lang="en-US" sz="1400" b="1" dirty="0">
                <a:solidFill>
                  <a:srgbClr val="FF0000"/>
                </a:solidFill>
              </a:rPr>
              <a:t>unchangeable</a:t>
            </a:r>
            <a:r>
              <a:rPr lang="en-US" sz="1400" b="1" dirty="0"/>
              <a:t>*, and </a:t>
            </a:r>
            <a:r>
              <a:rPr lang="en-US" sz="1400" b="1" dirty="0">
                <a:solidFill>
                  <a:srgbClr val="FF0000"/>
                </a:solidFill>
              </a:rPr>
              <a:t>unindexed</a:t>
            </a:r>
            <a:r>
              <a:rPr lang="en-US" sz="1400" dirty="0"/>
              <a:t>.</a:t>
            </a:r>
          </a:p>
          <a:p>
            <a:r>
              <a:rPr lang="en-US" sz="1400" dirty="0"/>
              <a:t>* Note: Set items are unchangeable, but you can remove items and add new items.</a:t>
            </a:r>
          </a:p>
          <a:p>
            <a:r>
              <a:rPr lang="en-US" sz="1400" dirty="0"/>
              <a:t>Sets are written with </a:t>
            </a:r>
            <a:r>
              <a:rPr lang="en-US" sz="1400" b="1" dirty="0"/>
              <a:t>curly brackets</a:t>
            </a:r>
            <a:r>
              <a:rPr lang="en-US" sz="1400" dirty="0"/>
              <a:t>.</a:t>
            </a:r>
          </a:p>
          <a:p>
            <a:r>
              <a:rPr lang="en-US" sz="1400" dirty="0"/>
              <a:t>Set </a:t>
            </a:r>
            <a:r>
              <a:rPr lang="en-US" sz="1400" b="1" dirty="0"/>
              <a:t>items are unordered, unchangeable</a:t>
            </a:r>
            <a:r>
              <a:rPr lang="en-US" sz="1400" dirty="0"/>
              <a:t>, and </a:t>
            </a:r>
            <a:r>
              <a:rPr lang="en-US" sz="1400" b="1" dirty="0"/>
              <a:t>do not allow duplicate values.</a:t>
            </a:r>
          </a:p>
          <a:p>
            <a:r>
              <a:rPr lang="en-US" sz="1400" b="1" dirty="0"/>
              <a:t>Unordered: </a:t>
            </a:r>
            <a:r>
              <a:rPr lang="en-US" sz="1400" dirty="0"/>
              <a:t>Unordered means that the items in a set do not have a defined order.</a:t>
            </a:r>
          </a:p>
          <a:p>
            <a:r>
              <a:rPr lang="en-US" sz="1400" b="1" dirty="0"/>
              <a:t>Set items can appear in a different order every time </a:t>
            </a:r>
            <a:r>
              <a:rPr lang="en-US" sz="1400" dirty="0"/>
              <a:t>you use them, and cannot be referred to by index or key.</a:t>
            </a:r>
          </a:p>
          <a:p>
            <a:r>
              <a:rPr lang="en-US" sz="1400" b="1" dirty="0"/>
              <a:t>Unchangeable</a:t>
            </a:r>
            <a:r>
              <a:rPr lang="en-US" sz="1400" dirty="0"/>
              <a:t>: Set items are unchangeable, meaning that we cannot change the items after the set has been created.</a:t>
            </a:r>
          </a:p>
          <a:p>
            <a:r>
              <a:rPr lang="en-US" sz="1400" b="1" dirty="0"/>
              <a:t>Once a set is created, you cannot change its items, but you can remove items and add new items</a:t>
            </a:r>
            <a:r>
              <a:rPr lang="en-US" sz="1400" dirty="0"/>
              <a:t>.</a:t>
            </a:r>
          </a:p>
          <a:p>
            <a:r>
              <a:rPr lang="en-US" sz="1400" b="1" dirty="0">
                <a:solidFill>
                  <a:srgbClr val="FF0000"/>
                </a:solidFill>
              </a:rPr>
              <a:t>Duplicates Not Allowed</a:t>
            </a:r>
            <a:r>
              <a:rPr lang="en-US" sz="1400" dirty="0"/>
              <a:t>: Sets cannot have two items with the same value.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799811" y="1292383"/>
            <a:ext cx="5392189" cy="5052625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Example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thisset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{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"apple"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"cherry"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br>
              <a:rPr lang="en-US" sz="1600" dirty="0"/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thisset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br>
              <a:rPr lang="en-GB" sz="1600" dirty="0"/>
            </a:b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Duplicate values will be ignored: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thisset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{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"apple"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"cherry"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"apple"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thisset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Example</a:t>
            </a:r>
          </a:p>
          <a:p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String, </a:t>
            </a:r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 and </a:t>
            </a:r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</a:rPr>
              <a:t>boolean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 data types: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set1 = {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"apple"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"cherry"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set2 = {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7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9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set3 = {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True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False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False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A set with strings, integers and </a:t>
            </a:r>
            <a:r>
              <a:rPr lang="en-US" sz="1600" dirty="0" err="1">
                <a:solidFill>
                  <a:srgbClr val="000000"/>
                </a:solidFill>
                <a:latin typeface="Verdana" panose="020B0604030504040204" pitchFamily="34" charset="0"/>
              </a:rPr>
              <a:t>boolean</a:t>
            </a: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 values: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set1 = {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A52A2A"/>
                </a:solidFill>
                <a:latin typeface="Consolas" panose="020B0609020204030204" pitchFamily="49" charset="0"/>
              </a:rPr>
              <a:t>abc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34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True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40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"male"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110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Set (Methods)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9692384"/>
              </p:ext>
            </p:extLst>
          </p:nvPr>
        </p:nvGraphicFramePr>
        <p:xfrm>
          <a:off x="785091" y="1283852"/>
          <a:ext cx="10603344" cy="5534111"/>
        </p:xfrm>
        <a:graphic>
          <a:graphicData uri="http://schemas.openxmlformats.org/drawingml/2006/table">
            <a:tbl>
              <a:tblPr/>
              <a:tblGrid>
                <a:gridCol w="27478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5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4401">
                <a:tc>
                  <a:txBody>
                    <a:bodyPr/>
                    <a:lstStyle/>
                    <a:p>
                      <a:pPr marL="0" algn="l" defTabSz="457200" rtl="0" eaLnBrk="1" fontAlgn="t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Method</a:t>
                      </a:r>
                    </a:p>
                  </a:txBody>
                  <a:tcPr marL="67386" marR="33693" marT="33693" marB="336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Description</a:t>
                      </a:r>
                    </a:p>
                  </a:txBody>
                  <a:tcPr marL="33693" marR="33693" marT="33693" marB="336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401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>
                            <a:outerShdw blurRad="50800" dist="50800" dir="5400000" algn="ctr" rotWithShape="0">
                              <a:schemeClr val="bg1"/>
                            </a:outerShdw>
                          </a:effectLst>
                          <a:hlinkClick r:id="rId2"/>
                        </a:rPr>
                        <a:t>add()</a:t>
                      </a:r>
                      <a:endParaRPr lang="en-US" sz="140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>
                          <a:outerShdw blurRad="50800" dist="50800" dir="5400000" algn="ctr" rotWithShape="0">
                            <a:schemeClr val="bg1"/>
                          </a:outerShdw>
                        </a:effectLst>
                      </a:endParaRPr>
                    </a:p>
                  </a:txBody>
                  <a:tcPr marL="67386" marR="33693" marT="33693" marB="336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Adds an element to the set</a:t>
                      </a:r>
                    </a:p>
                  </a:txBody>
                  <a:tcPr marL="33693" marR="33693" marT="33693" marB="336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401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>
                            <a:outerShdw blurRad="50800" dist="50800" dir="5400000" algn="ctr" rotWithShape="0">
                              <a:schemeClr val="bg1"/>
                            </a:outerShdw>
                          </a:effectLst>
                          <a:hlinkClick r:id="rId3"/>
                        </a:rPr>
                        <a:t>clear()</a:t>
                      </a:r>
                      <a:endParaRPr lang="en-US" sz="140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>
                          <a:outerShdw blurRad="50800" dist="50800" dir="5400000" algn="ctr" rotWithShape="0">
                            <a:schemeClr val="bg1"/>
                          </a:outerShdw>
                        </a:effectLst>
                      </a:endParaRPr>
                    </a:p>
                  </a:txBody>
                  <a:tcPr marL="67386" marR="33693" marT="33693" marB="336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Removes all the elements from the set</a:t>
                      </a:r>
                    </a:p>
                  </a:txBody>
                  <a:tcPr marL="33693" marR="33693" marT="33693" marB="336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401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>
                            <a:outerShdw blurRad="50800" dist="50800" dir="5400000" algn="ctr" rotWithShape="0">
                              <a:schemeClr val="bg1"/>
                            </a:outerShdw>
                          </a:effectLst>
                          <a:hlinkClick r:id="rId4"/>
                        </a:rPr>
                        <a:t>copy()</a:t>
                      </a:r>
                      <a:endParaRPr lang="en-US" sz="140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>
                          <a:outerShdw blurRad="50800" dist="50800" dir="5400000" algn="ctr" rotWithShape="0">
                            <a:schemeClr val="bg1"/>
                          </a:outerShdw>
                        </a:effectLst>
                      </a:endParaRPr>
                    </a:p>
                  </a:txBody>
                  <a:tcPr marL="67386" marR="33693" marT="33693" marB="336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Returns a copy of the set</a:t>
                      </a:r>
                    </a:p>
                  </a:txBody>
                  <a:tcPr marL="33693" marR="33693" marT="33693" marB="336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36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>
                            <a:outerShdw blurRad="50800" dist="50800" dir="5400000" algn="ctr" rotWithShape="0">
                              <a:schemeClr val="bg1"/>
                            </a:outerShdw>
                          </a:effectLst>
                          <a:hlinkClick r:id="rId5"/>
                        </a:rPr>
                        <a:t>difference()</a:t>
                      </a:r>
                      <a:endParaRPr lang="en-US" sz="140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>
                          <a:outerShdw blurRad="50800" dist="50800" dir="5400000" algn="ctr" rotWithShape="0">
                            <a:schemeClr val="bg1"/>
                          </a:outerShdw>
                        </a:effectLst>
                      </a:endParaRPr>
                    </a:p>
                  </a:txBody>
                  <a:tcPr marL="67386" marR="33693" marT="33693" marB="336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Returns a set containing the difference between two or more sets</a:t>
                      </a:r>
                    </a:p>
                  </a:txBody>
                  <a:tcPr marL="33693" marR="33693" marT="33693" marB="336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7933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 err="1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>
                            <a:outerShdw blurRad="50800" dist="50800" dir="5400000" algn="ctr" rotWithShape="0">
                              <a:schemeClr val="bg1"/>
                            </a:outerShdw>
                          </a:effectLst>
                          <a:hlinkClick r:id="rId6"/>
                        </a:rPr>
                        <a:t>difference_update</a:t>
                      </a:r>
                      <a:r>
                        <a:rPr lang="en-US" sz="140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>
                            <a:outerShdw blurRad="50800" dist="50800" dir="5400000" algn="ctr" rotWithShape="0">
                              <a:schemeClr val="bg1"/>
                            </a:outerShdw>
                          </a:effectLst>
                          <a:hlinkClick r:id="rId6"/>
                        </a:rPr>
                        <a:t>()</a:t>
                      </a:r>
                      <a:endParaRPr lang="en-US" sz="140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>
                          <a:outerShdw blurRad="50800" dist="50800" dir="5400000" algn="ctr" rotWithShape="0">
                            <a:schemeClr val="bg1"/>
                          </a:outerShdw>
                        </a:effectLst>
                      </a:endParaRPr>
                    </a:p>
                  </a:txBody>
                  <a:tcPr marL="67386" marR="33693" marT="33693" marB="336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Removes the items in this set that are also included in another, specified set</a:t>
                      </a:r>
                    </a:p>
                  </a:txBody>
                  <a:tcPr marL="33693" marR="33693" marT="33693" marB="336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4401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>
                            <a:outerShdw blurRad="50800" dist="50800" dir="5400000" algn="ctr" rotWithShape="0">
                              <a:schemeClr val="bg1"/>
                            </a:outerShdw>
                          </a:effectLst>
                          <a:hlinkClick r:id="rId7"/>
                        </a:rPr>
                        <a:t>discard()</a:t>
                      </a:r>
                      <a:endParaRPr lang="en-US" sz="140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>
                          <a:outerShdw blurRad="50800" dist="50800" dir="5400000" algn="ctr" rotWithShape="0">
                            <a:schemeClr val="bg1"/>
                          </a:outerShdw>
                        </a:effectLst>
                      </a:endParaRPr>
                    </a:p>
                  </a:txBody>
                  <a:tcPr marL="67386" marR="33693" marT="33693" marB="336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Remove the specified item</a:t>
                      </a:r>
                    </a:p>
                  </a:txBody>
                  <a:tcPr marL="33693" marR="33693" marT="33693" marB="336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4401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>
                            <a:outerShdw blurRad="50800" dist="50800" dir="5400000" algn="ctr" rotWithShape="0">
                              <a:schemeClr val="bg1"/>
                            </a:outerShdw>
                          </a:effectLst>
                          <a:hlinkClick r:id="rId8"/>
                        </a:rPr>
                        <a:t>intersection()</a:t>
                      </a:r>
                      <a:endParaRPr lang="en-US" sz="140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>
                          <a:outerShdw blurRad="50800" dist="50800" dir="5400000" algn="ctr" rotWithShape="0">
                            <a:schemeClr val="bg1"/>
                          </a:outerShdw>
                        </a:effectLst>
                      </a:endParaRPr>
                    </a:p>
                  </a:txBody>
                  <a:tcPr marL="67386" marR="33693" marT="33693" marB="336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Returns a set, that is the intersection of two other sets</a:t>
                      </a:r>
                    </a:p>
                  </a:txBody>
                  <a:tcPr marL="33693" marR="33693" marT="33693" marB="336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4685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 err="1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>
                            <a:outerShdw blurRad="50800" dist="50800" dir="5400000" algn="ctr" rotWithShape="0">
                              <a:schemeClr val="bg1"/>
                            </a:outerShdw>
                          </a:effectLst>
                          <a:hlinkClick r:id="rId9"/>
                        </a:rPr>
                        <a:t>intersection_update</a:t>
                      </a:r>
                      <a:r>
                        <a:rPr lang="en-US" sz="140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>
                            <a:outerShdw blurRad="50800" dist="50800" dir="5400000" algn="ctr" rotWithShape="0">
                              <a:schemeClr val="bg1"/>
                            </a:outerShdw>
                          </a:effectLst>
                          <a:hlinkClick r:id="rId9"/>
                        </a:rPr>
                        <a:t>()</a:t>
                      </a:r>
                      <a:endParaRPr lang="en-US" sz="140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>
                          <a:outerShdw blurRad="50800" dist="50800" dir="5400000" algn="ctr" rotWithShape="0">
                            <a:schemeClr val="bg1"/>
                          </a:outerShdw>
                        </a:effectLst>
                      </a:endParaRPr>
                    </a:p>
                  </a:txBody>
                  <a:tcPr marL="67386" marR="33693" marT="33693" marB="336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Removes the items in this set that are not present in other, specified set(s)</a:t>
                      </a:r>
                    </a:p>
                  </a:txBody>
                  <a:tcPr marL="33693" marR="33693" marT="33693" marB="336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4401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>
                            <a:outerShdw blurRad="50800" dist="50800" dir="5400000" algn="ctr" rotWithShape="0">
                              <a:schemeClr val="bg1"/>
                            </a:outerShdw>
                          </a:effectLst>
                          <a:hlinkClick r:id="rId10"/>
                        </a:rPr>
                        <a:t>isdisjoint()</a:t>
                      </a:r>
                      <a:endParaRPr lang="en-US" sz="140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>
                          <a:outerShdw blurRad="50800" dist="50800" dir="5400000" algn="ctr" rotWithShape="0">
                            <a:schemeClr val="bg1"/>
                          </a:outerShdw>
                        </a:effectLst>
                      </a:endParaRPr>
                    </a:p>
                  </a:txBody>
                  <a:tcPr marL="67386" marR="33693" marT="33693" marB="336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Returns whether two sets have a intersection or not</a:t>
                      </a:r>
                    </a:p>
                  </a:txBody>
                  <a:tcPr marL="33693" marR="33693" marT="33693" marB="336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4401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>
                            <a:outerShdw blurRad="50800" dist="50800" dir="5400000" algn="ctr" rotWithShape="0">
                              <a:schemeClr val="bg1"/>
                            </a:outerShdw>
                          </a:effectLst>
                          <a:hlinkClick r:id="rId11"/>
                        </a:rPr>
                        <a:t>issubset()</a:t>
                      </a:r>
                      <a:endParaRPr lang="en-US" sz="140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>
                          <a:outerShdw blurRad="50800" dist="50800" dir="5400000" algn="ctr" rotWithShape="0">
                            <a:schemeClr val="bg1"/>
                          </a:outerShdw>
                        </a:effectLst>
                      </a:endParaRPr>
                    </a:p>
                  </a:txBody>
                  <a:tcPr marL="67386" marR="33693" marT="33693" marB="336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Returns whether another set contains this set or not</a:t>
                      </a:r>
                    </a:p>
                  </a:txBody>
                  <a:tcPr marL="33693" marR="33693" marT="33693" marB="336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4401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>
                            <a:outerShdw blurRad="50800" dist="50800" dir="5400000" algn="ctr" rotWithShape="0">
                              <a:schemeClr val="bg1"/>
                            </a:outerShdw>
                          </a:effectLst>
                          <a:hlinkClick r:id="rId12"/>
                        </a:rPr>
                        <a:t>issuperset()</a:t>
                      </a:r>
                      <a:endParaRPr lang="en-US" sz="140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>
                          <a:outerShdw blurRad="50800" dist="50800" dir="5400000" algn="ctr" rotWithShape="0">
                            <a:schemeClr val="bg1"/>
                          </a:outerShdw>
                        </a:effectLst>
                      </a:endParaRPr>
                    </a:p>
                  </a:txBody>
                  <a:tcPr marL="67386" marR="33693" marT="33693" marB="336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Returns whether this set contains another set or not</a:t>
                      </a:r>
                    </a:p>
                  </a:txBody>
                  <a:tcPr marL="33693" marR="33693" marT="33693" marB="336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4401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>
                            <a:outerShdw blurRad="50800" dist="50800" dir="5400000" algn="ctr" rotWithShape="0">
                              <a:schemeClr val="bg1"/>
                            </a:outerShdw>
                          </a:effectLst>
                          <a:hlinkClick r:id="rId13"/>
                        </a:rPr>
                        <a:t>pop()</a:t>
                      </a:r>
                      <a:endParaRPr lang="en-US" sz="140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>
                          <a:outerShdw blurRad="50800" dist="50800" dir="5400000" algn="ctr" rotWithShape="0">
                            <a:schemeClr val="bg1"/>
                          </a:outerShdw>
                        </a:effectLst>
                      </a:endParaRPr>
                    </a:p>
                  </a:txBody>
                  <a:tcPr marL="67386" marR="33693" marT="33693" marB="336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Removes an element from the set</a:t>
                      </a:r>
                    </a:p>
                  </a:txBody>
                  <a:tcPr marL="33693" marR="33693" marT="33693" marB="336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4401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>
                            <a:outerShdw blurRad="50800" dist="50800" dir="5400000" algn="ctr" rotWithShape="0">
                              <a:schemeClr val="bg1"/>
                            </a:outerShdw>
                          </a:effectLst>
                          <a:hlinkClick r:id="rId14"/>
                        </a:rPr>
                        <a:t>remove()</a:t>
                      </a:r>
                      <a:endParaRPr lang="en-US" sz="140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>
                          <a:outerShdw blurRad="50800" dist="50800" dir="5400000" algn="ctr" rotWithShape="0">
                            <a:schemeClr val="bg1"/>
                          </a:outerShdw>
                        </a:effectLst>
                      </a:endParaRPr>
                    </a:p>
                  </a:txBody>
                  <a:tcPr marL="67386" marR="33693" marT="33693" marB="336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Removes the specified element</a:t>
                      </a:r>
                    </a:p>
                  </a:txBody>
                  <a:tcPr marL="33693" marR="33693" marT="33693" marB="336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4401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>
                            <a:outerShdw blurRad="50800" dist="50800" dir="5400000" algn="ctr" rotWithShape="0">
                              <a:schemeClr val="bg1"/>
                            </a:outerShdw>
                          </a:effectLst>
                          <a:hlinkClick r:id="rId15"/>
                        </a:rPr>
                        <a:t>symmetric_difference()</a:t>
                      </a:r>
                      <a:endParaRPr lang="en-US" sz="140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>
                          <a:outerShdw blurRad="50800" dist="50800" dir="5400000" algn="ctr" rotWithShape="0">
                            <a:schemeClr val="bg1"/>
                          </a:outerShdw>
                        </a:effectLst>
                      </a:endParaRPr>
                    </a:p>
                  </a:txBody>
                  <a:tcPr marL="67386" marR="33693" marT="33693" marB="336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Returns a set with the symmetric differences of two sets</a:t>
                      </a:r>
                    </a:p>
                  </a:txBody>
                  <a:tcPr marL="33693" marR="33693" marT="33693" marB="336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434685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>
                            <a:outerShdw blurRad="50800" dist="50800" dir="5400000" algn="ctr" rotWithShape="0">
                              <a:schemeClr val="bg1"/>
                            </a:outerShdw>
                          </a:effectLst>
                          <a:hlinkClick r:id="rId16"/>
                        </a:rPr>
                        <a:t>symmetric_difference_update()</a:t>
                      </a:r>
                      <a:endParaRPr lang="en-US" sz="140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>
                          <a:outerShdw blurRad="50800" dist="50800" dir="5400000" algn="ctr" rotWithShape="0">
                            <a:schemeClr val="bg1"/>
                          </a:outerShdw>
                        </a:effectLst>
                      </a:endParaRPr>
                    </a:p>
                  </a:txBody>
                  <a:tcPr marL="67386" marR="33693" marT="33693" marB="336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inserts the symmetric differences from this set and another</a:t>
                      </a:r>
                    </a:p>
                  </a:txBody>
                  <a:tcPr marL="33693" marR="33693" marT="33693" marB="336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4401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>
                            <a:outerShdw blurRad="50800" dist="50800" dir="5400000" algn="ctr" rotWithShape="0">
                              <a:schemeClr val="bg1"/>
                            </a:outerShdw>
                          </a:effectLst>
                          <a:hlinkClick r:id="rId17"/>
                        </a:rPr>
                        <a:t>union()</a:t>
                      </a:r>
                      <a:endParaRPr lang="en-US" sz="140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>
                          <a:outerShdw blurRad="50800" dist="50800" dir="5400000" algn="ctr" rotWithShape="0">
                            <a:schemeClr val="bg1"/>
                          </a:outerShdw>
                        </a:effectLst>
                      </a:endParaRPr>
                    </a:p>
                  </a:txBody>
                  <a:tcPr marL="67386" marR="33693" marT="33693" marB="336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Return a set containing the union of sets</a:t>
                      </a:r>
                    </a:p>
                  </a:txBody>
                  <a:tcPr marL="33693" marR="33693" marT="33693" marB="336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4401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>
                            <a:outerShdw blurRad="50800" dist="50800" dir="5400000" algn="ctr" rotWithShape="0">
                              <a:schemeClr val="bg1"/>
                            </a:outerShdw>
                          </a:effectLst>
                          <a:hlinkClick r:id="rId18"/>
                        </a:rPr>
                        <a:t>update()</a:t>
                      </a:r>
                      <a:endParaRPr lang="en-US" sz="140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>
                          <a:outerShdw blurRad="50800" dist="50800" dir="5400000" algn="ctr" rotWithShape="0">
                            <a:schemeClr val="bg1"/>
                          </a:outerShdw>
                        </a:effectLst>
                      </a:endParaRPr>
                    </a:p>
                  </a:txBody>
                  <a:tcPr marL="67386" marR="33693" marT="33693" marB="336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Update the set with the union of this set and others</a:t>
                      </a:r>
                    </a:p>
                  </a:txBody>
                  <a:tcPr marL="33693" marR="33693" marT="33693" marB="3369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06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Dictionary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452" y="1652609"/>
            <a:ext cx="6084916" cy="3880773"/>
          </a:xfrm>
        </p:spPr>
        <p:txBody>
          <a:bodyPr>
            <a:noAutofit/>
          </a:bodyPr>
          <a:lstStyle/>
          <a:p>
            <a:r>
              <a:rPr lang="en-US" sz="1600" dirty="0"/>
              <a:t>Dictionaries are used to store data values in </a:t>
            </a:r>
            <a:r>
              <a:rPr lang="en-US" sz="1600" dirty="0" err="1">
                <a:solidFill>
                  <a:srgbClr val="FF0000"/>
                </a:solidFill>
              </a:rPr>
              <a:t>key:value</a:t>
            </a:r>
            <a:r>
              <a:rPr lang="en-US" sz="1600" dirty="0"/>
              <a:t> pairs.</a:t>
            </a:r>
          </a:p>
          <a:p>
            <a:r>
              <a:rPr lang="en-US" sz="1600" dirty="0"/>
              <a:t>A dictionary is a collection which is </a:t>
            </a:r>
            <a:r>
              <a:rPr lang="en-US" sz="1600" b="1" dirty="0">
                <a:solidFill>
                  <a:srgbClr val="FF0000"/>
                </a:solidFill>
              </a:rPr>
              <a:t>ordered</a:t>
            </a:r>
            <a:r>
              <a:rPr lang="en-US" sz="1600" b="1" dirty="0"/>
              <a:t>*</a:t>
            </a:r>
            <a:r>
              <a:rPr lang="en-US" sz="1600" dirty="0"/>
              <a:t>, </a:t>
            </a:r>
            <a:r>
              <a:rPr lang="en-US" sz="1600" b="1" dirty="0">
                <a:solidFill>
                  <a:srgbClr val="FF0000"/>
                </a:solidFill>
              </a:rPr>
              <a:t>changeable</a:t>
            </a:r>
            <a:r>
              <a:rPr lang="en-US" sz="1600" dirty="0"/>
              <a:t> and </a:t>
            </a:r>
            <a:r>
              <a:rPr lang="en-US" sz="1600" b="1" dirty="0">
                <a:solidFill>
                  <a:srgbClr val="FF0000"/>
                </a:solidFill>
              </a:rPr>
              <a:t>do not allow duplicates</a:t>
            </a:r>
            <a:r>
              <a:rPr lang="en-US" sz="1600" dirty="0"/>
              <a:t>.</a:t>
            </a:r>
          </a:p>
          <a:p>
            <a:pPr lvl="1"/>
            <a:r>
              <a:rPr lang="en-US" sz="1400" dirty="0"/>
              <a:t>*As of Python version 3.7, dictionaries are ordered. In Python 3.6 and earlier, dictionaries are unordered.</a:t>
            </a:r>
          </a:p>
          <a:p>
            <a:r>
              <a:rPr lang="en-US" sz="1600" dirty="0"/>
              <a:t>Written with </a:t>
            </a:r>
            <a:r>
              <a:rPr lang="en-US" sz="1600" b="1" dirty="0"/>
              <a:t>curly brackets</a:t>
            </a:r>
            <a:r>
              <a:rPr lang="en-US" sz="1600" dirty="0"/>
              <a:t>, and have </a:t>
            </a:r>
            <a:r>
              <a:rPr lang="en-US" sz="1600" b="1" dirty="0"/>
              <a:t>keys and values</a:t>
            </a:r>
            <a:r>
              <a:rPr lang="en-US" sz="1600" dirty="0"/>
              <a:t>:</a:t>
            </a:r>
            <a:r>
              <a:rPr lang="en-GB" sz="1600" dirty="0"/>
              <a:t>.</a:t>
            </a:r>
          </a:p>
          <a:p>
            <a:r>
              <a:rPr lang="en-US" sz="1600" dirty="0"/>
              <a:t>Items are presented in </a:t>
            </a:r>
            <a:r>
              <a:rPr lang="en-US" sz="1600" dirty="0" err="1"/>
              <a:t>key:value</a:t>
            </a:r>
            <a:r>
              <a:rPr lang="en-US" sz="1600" dirty="0"/>
              <a:t> pairs, and can be </a:t>
            </a:r>
            <a:r>
              <a:rPr lang="en-US" sz="1600" b="1" dirty="0"/>
              <a:t>referred to </a:t>
            </a:r>
            <a:r>
              <a:rPr lang="en-US" sz="1600" dirty="0"/>
              <a:t>by </a:t>
            </a:r>
            <a:r>
              <a:rPr lang="en-US" sz="1600" b="1" dirty="0"/>
              <a:t>using the key name</a:t>
            </a:r>
            <a:r>
              <a:rPr lang="en-US" sz="1600" dirty="0"/>
              <a:t>.</a:t>
            </a:r>
          </a:p>
          <a:p>
            <a:r>
              <a:rPr lang="en-US" sz="1600" dirty="0"/>
              <a:t>Changeable, meaning that </a:t>
            </a:r>
            <a:r>
              <a:rPr lang="en-US" sz="1600" b="1" dirty="0"/>
              <a:t>we can </a:t>
            </a:r>
            <a:r>
              <a:rPr lang="en-US" sz="1600" dirty="0"/>
              <a:t>change, </a:t>
            </a:r>
            <a:r>
              <a:rPr lang="en-US" sz="1600" b="1" dirty="0"/>
              <a:t>add or remove items </a:t>
            </a:r>
            <a:r>
              <a:rPr lang="en-US" sz="1600" dirty="0"/>
              <a:t>after the dictionary has been created.</a:t>
            </a:r>
          </a:p>
          <a:p>
            <a:r>
              <a:rPr lang="en-US" sz="1600" dirty="0"/>
              <a:t>Dictionaries </a:t>
            </a:r>
            <a:r>
              <a:rPr lang="en-US" sz="1600" b="1" dirty="0"/>
              <a:t>cannot have two items with the same key</a:t>
            </a:r>
            <a:r>
              <a:rPr lang="en-US" sz="1600" dirty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868698" y="0"/>
            <a:ext cx="5184371" cy="6776174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dirty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thisdict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"brand"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"Ford"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"model"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"Mustang"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"year"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1964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thisdict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thisdict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"brand"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"Ford"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"model"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"Mustang"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"year"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1964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thisdict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"brand"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Example</a:t>
            </a:r>
          </a:p>
          <a:p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thisdict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"brand"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"Ford"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"model"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"Mustang"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"year"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1964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"year"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2020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thisdict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GB" dirty="0">
              <a:solidFill>
                <a:srgbClr val="000000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127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Dictionary (Methods)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9014951"/>
              </p:ext>
            </p:extLst>
          </p:nvPr>
        </p:nvGraphicFramePr>
        <p:xfrm>
          <a:off x="852773" y="1385458"/>
          <a:ext cx="10775808" cy="5329380"/>
        </p:xfrm>
        <a:graphic>
          <a:graphicData uri="http://schemas.openxmlformats.org/drawingml/2006/table">
            <a:tbl>
              <a:tblPr/>
              <a:tblGrid>
                <a:gridCol w="24224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533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1136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</a:rPr>
                        <a:t>Method</a:t>
                      </a:r>
                    </a:p>
                  </a:txBody>
                  <a:tcPr marL="104340" marR="52170" marT="52170" marB="5217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Description</a:t>
                      </a:r>
                    </a:p>
                  </a:txBody>
                  <a:tcPr marL="52170" marR="52170" marT="52170" marB="5217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136">
                <a:tc>
                  <a:txBody>
                    <a:bodyPr/>
                    <a:lstStyle/>
                    <a:p>
                      <a:pPr marL="0" algn="l" defTabSz="457200" rtl="0" eaLnBrk="1" fontAlgn="t" latinLnBrk="0" hangingPunct="1"/>
                      <a:r>
                        <a:rPr lang="en-US" sz="1600" kern="120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clear()</a:t>
                      </a:r>
                      <a:endParaRPr lang="en-US" sz="1600" kern="120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4340" marR="52170" marT="52170" marB="5217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Removes all the elements from the dictionary</a:t>
                      </a:r>
                    </a:p>
                  </a:txBody>
                  <a:tcPr marL="52170" marR="52170" marT="52170" marB="5217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136">
                <a:tc>
                  <a:txBody>
                    <a:bodyPr/>
                    <a:lstStyle/>
                    <a:p>
                      <a:pPr marL="0" algn="l" defTabSz="457200" rtl="0" eaLnBrk="1" fontAlgn="t" latinLnBrk="0" hangingPunct="1"/>
                      <a:r>
                        <a:rPr lang="en-US" sz="1600" kern="120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copy()</a:t>
                      </a:r>
                      <a:endParaRPr lang="en-US" sz="1600" kern="120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4340" marR="52170" marT="52170" marB="5217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Returns a copy of the dictionary</a:t>
                      </a:r>
                    </a:p>
                  </a:txBody>
                  <a:tcPr marL="52170" marR="52170" marT="52170" marB="5217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136">
                <a:tc>
                  <a:txBody>
                    <a:bodyPr/>
                    <a:lstStyle/>
                    <a:p>
                      <a:pPr marL="0" algn="l" defTabSz="457200" rtl="0" eaLnBrk="1" fontAlgn="t" latinLnBrk="0" hangingPunct="1"/>
                      <a:r>
                        <a:rPr lang="en-US" sz="1600" kern="1200" dirty="0" err="1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fromkeys</a:t>
                      </a:r>
                      <a:r>
                        <a:rPr lang="en-US" sz="1600" kern="120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()</a:t>
                      </a:r>
                      <a:endParaRPr lang="en-US" sz="1600" kern="120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4340" marR="52170" marT="52170" marB="5217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Returns a dictionary with the specified keys and value</a:t>
                      </a:r>
                    </a:p>
                  </a:txBody>
                  <a:tcPr marL="52170" marR="52170" marT="52170" marB="5217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136">
                <a:tc>
                  <a:txBody>
                    <a:bodyPr/>
                    <a:lstStyle/>
                    <a:p>
                      <a:pPr marL="0" algn="l" defTabSz="457200" rtl="0" eaLnBrk="1" fontAlgn="t" latinLnBrk="0" hangingPunct="1"/>
                      <a:r>
                        <a:rPr lang="en-US" sz="1600" kern="120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get()</a:t>
                      </a:r>
                      <a:endParaRPr lang="en-US" sz="1600" kern="120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4340" marR="52170" marT="52170" marB="5217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Returns the value of the specified key</a:t>
                      </a:r>
                    </a:p>
                  </a:txBody>
                  <a:tcPr marL="52170" marR="52170" marT="52170" marB="5217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136">
                <a:tc>
                  <a:txBody>
                    <a:bodyPr/>
                    <a:lstStyle/>
                    <a:p>
                      <a:pPr marL="0" algn="l" defTabSz="457200" rtl="0" eaLnBrk="1" fontAlgn="t" latinLnBrk="0" hangingPunct="1"/>
                      <a:r>
                        <a:rPr lang="en-US" sz="1600" kern="120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6"/>
                        </a:rPr>
                        <a:t>items()</a:t>
                      </a:r>
                      <a:endParaRPr lang="en-US" sz="1600" kern="120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4340" marR="52170" marT="52170" marB="5217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Returns a list containing a tuple for each key value pair</a:t>
                      </a:r>
                    </a:p>
                  </a:txBody>
                  <a:tcPr marL="52170" marR="52170" marT="52170" marB="5217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136">
                <a:tc>
                  <a:txBody>
                    <a:bodyPr/>
                    <a:lstStyle/>
                    <a:p>
                      <a:pPr marL="0" algn="l" defTabSz="457200" rtl="0" eaLnBrk="1" fontAlgn="t" latinLnBrk="0" hangingPunct="1"/>
                      <a:r>
                        <a:rPr lang="en-US" sz="1600" kern="120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7"/>
                        </a:rPr>
                        <a:t>keys()</a:t>
                      </a:r>
                      <a:endParaRPr lang="en-US" sz="1600" kern="120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4340" marR="52170" marT="52170" marB="5217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Returns a list containing the dictionary's keys</a:t>
                      </a:r>
                    </a:p>
                  </a:txBody>
                  <a:tcPr marL="52170" marR="52170" marT="52170" marB="5217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1136">
                <a:tc>
                  <a:txBody>
                    <a:bodyPr/>
                    <a:lstStyle/>
                    <a:p>
                      <a:pPr marL="0" algn="l" defTabSz="457200" rtl="0" eaLnBrk="1" fontAlgn="t" latinLnBrk="0" hangingPunct="1"/>
                      <a:r>
                        <a:rPr lang="en-US" sz="1600" kern="120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8"/>
                        </a:rPr>
                        <a:t>pop()</a:t>
                      </a:r>
                      <a:endParaRPr lang="en-US" sz="1600" kern="120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4340" marR="52170" marT="52170" marB="5217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Removes the element with the specified key</a:t>
                      </a:r>
                    </a:p>
                  </a:txBody>
                  <a:tcPr marL="52170" marR="52170" marT="52170" marB="5217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1136">
                <a:tc>
                  <a:txBody>
                    <a:bodyPr/>
                    <a:lstStyle/>
                    <a:p>
                      <a:pPr marL="0" algn="l" defTabSz="457200" rtl="0" eaLnBrk="1" fontAlgn="t" latinLnBrk="0" hangingPunct="1"/>
                      <a:r>
                        <a:rPr lang="en-US" sz="1600" kern="1200" dirty="0" err="1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9"/>
                        </a:rPr>
                        <a:t>popitem</a:t>
                      </a:r>
                      <a:r>
                        <a:rPr lang="en-US" sz="1600" kern="120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9"/>
                        </a:rPr>
                        <a:t>()</a:t>
                      </a:r>
                      <a:endParaRPr lang="en-US" sz="1600" kern="120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4340" marR="52170" marT="52170" marB="5217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Removes the last inserted key-value pair</a:t>
                      </a:r>
                    </a:p>
                  </a:txBody>
                  <a:tcPr marL="52170" marR="52170" marT="52170" marB="5217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59010">
                <a:tc>
                  <a:txBody>
                    <a:bodyPr/>
                    <a:lstStyle/>
                    <a:p>
                      <a:pPr marL="0" algn="l" defTabSz="457200" rtl="0" eaLnBrk="1" fontAlgn="t" latinLnBrk="0" hangingPunct="1"/>
                      <a:r>
                        <a:rPr lang="en-US" sz="1600" kern="1200" dirty="0" err="1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10"/>
                        </a:rPr>
                        <a:t>setdefault</a:t>
                      </a:r>
                      <a:r>
                        <a:rPr lang="en-US" sz="1600" kern="120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10"/>
                        </a:rPr>
                        <a:t>()</a:t>
                      </a:r>
                      <a:endParaRPr lang="en-US" sz="1600" kern="120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4340" marR="52170" marT="52170" marB="5217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Returns the value of the specified key. If the key does not exist: insert the key, with the specified value</a:t>
                      </a:r>
                    </a:p>
                  </a:txBody>
                  <a:tcPr marL="52170" marR="52170" marT="52170" marB="5217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59010">
                <a:tc>
                  <a:txBody>
                    <a:bodyPr/>
                    <a:lstStyle/>
                    <a:p>
                      <a:pPr marL="0" algn="l" defTabSz="457200" rtl="0" eaLnBrk="1" fontAlgn="t" latinLnBrk="0" hangingPunct="1"/>
                      <a:r>
                        <a:rPr lang="en-US" sz="1600" kern="120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11"/>
                        </a:rPr>
                        <a:t>update()</a:t>
                      </a:r>
                      <a:endParaRPr lang="en-US" sz="1600" kern="120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4340" marR="52170" marT="52170" marB="5217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Updates the dictionary with the specified key-value pairs</a:t>
                      </a:r>
                    </a:p>
                  </a:txBody>
                  <a:tcPr marL="52170" marR="52170" marT="52170" marB="5217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1136">
                <a:tc>
                  <a:txBody>
                    <a:bodyPr/>
                    <a:lstStyle/>
                    <a:p>
                      <a:pPr marL="0" algn="l" defTabSz="457200" rtl="0" eaLnBrk="1" fontAlgn="t" latinLnBrk="0" hangingPunct="1"/>
                      <a:r>
                        <a:rPr lang="en-US" sz="1600" kern="120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12"/>
                        </a:rPr>
                        <a:t>values()</a:t>
                      </a:r>
                      <a:endParaRPr lang="en-US" sz="1600" kern="120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4340" marR="52170" marT="52170" marB="5217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Returns a list of all the values in the dictionary</a:t>
                      </a:r>
                    </a:p>
                  </a:txBody>
                  <a:tcPr marL="52170" marR="52170" marT="52170" marB="5217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105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Summary</a:t>
            </a:r>
            <a:br>
              <a:rPr lang="fr-FR" dirty="0"/>
            </a:b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9274002" y="28263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this lecture we learned following concepts:</a:t>
            </a:r>
          </a:p>
          <a:p>
            <a:pPr lvl="1"/>
            <a:r>
              <a:rPr lang="en-GB" dirty="0"/>
              <a:t>Tuples</a:t>
            </a:r>
          </a:p>
          <a:p>
            <a:pPr lvl="1"/>
            <a:r>
              <a:rPr lang="en-GB" dirty="0"/>
              <a:t>Sets</a:t>
            </a:r>
          </a:p>
          <a:p>
            <a:pPr lvl="1"/>
            <a:r>
              <a:rPr lang="en-GB" dirty="0"/>
              <a:t>Dictionary</a:t>
            </a:r>
          </a:p>
        </p:txBody>
      </p:sp>
    </p:spTree>
    <p:extLst>
      <p:ext uri="{BB962C8B-B14F-4D97-AF65-F5344CB8AC3E}">
        <p14:creationId xmlns:p14="http://schemas.microsoft.com/office/powerpoint/2010/main" val="172371746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342</TotalTime>
  <Words>1765</Words>
  <Application>Microsoft Office PowerPoint</Application>
  <PresentationFormat>Widescreen</PresentationFormat>
  <Paragraphs>196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Consolas</vt:lpstr>
      <vt:lpstr>Segoe UI</vt:lpstr>
      <vt:lpstr>Trebuchet MS</vt:lpstr>
      <vt:lpstr>Verdana</vt:lpstr>
      <vt:lpstr>Wingdings 3</vt:lpstr>
      <vt:lpstr>Facet</vt:lpstr>
      <vt:lpstr>Data Science</vt:lpstr>
      <vt:lpstr>Python Tuple </vt:lpstr>
      <vt:lpstr>Python Tuple</vt:lpstr>
      <vt:lpstr>Python Tuple</vt:lpstr>
      <vt:lpstr>Python Tuple (Access Tuple Items)</vt:lpstr>
      <vt:lpstr>Python Tuple (Update Tuples)</vt:lpstr>
      <vt:lpstr>Python Tuple (remove and built-in methods)</vt:lpstr>
      <vt:lpstr>Python Set</vt:lpstr>
      <vt:lpstr>Python Set (Methods)</vt:lpstr>
      <vt:lpstr>Python Dictionary </vt:lpstr>
      <vt:lpstr>Python Dictionary (Methods)</vt:lpstr>
      <vt:lpstr>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</dc:title>
  <dc:creator>DR.ASIF</dc:creator>
  <cp:lastModifiedBy>Muhammad Ismail Mangrio</cp:lastModifiedBy>
  <cp:revision>39</cp:revision>
  <dcterms:created xsi:type="dcterms:W3CDTF">2023-08-12T13:47:27Z</dcterms:created>
  <dcterms:modified xsi:type="dcterms:W3CDTF">2025-08-25T13:22:12Z</dcterms:modified>
</cp:coreProperties>
</file>
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92" r:id="rId4"/>
    <p:sldId id="293" r:id="rId5"/>
    <p:sldId id="258" r:id="rId6"/>
    <p:sldId id="289" r:id="rId7"/>
    <p:sldId id="290" r:id="rId8"/>
    <p:sldId id="291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smail Mangrio" userId="590c352b-06fa-4bd0-9f05-47e253030496" providerId="ADAL" clId="{D6B061B4-6F31-44FB-A843-F73496B75F40}"/>
    <pc:docChg chg="custSel modSld">
      <pc:chgData name="Muhammad Ismail Mangrio" userId="590c352b-06fa-4bd0-9f05-47e253030496" providerId="ADAL" clId="{D6B061B4-6F31-44FB-A843-F73496B75F40}" dt="2025-08-25T13:36:00.194" v="29" actId="113"/>
      <pc:docMkLst>
        <pc:docMk/>
      </pc:docMkLst>
      <pc:sldChg chg="delSp modSp mod">
        <pc:chgData name="Muhammad Ismail Mangrio" userId="590c352b-06fa-4bd0-9f05-47e253030496" providerId="ADAL" clId="{D6B061B4-6F31-44FB-A843-F73496B75F40}" dt="2025-08-25T13:32:43.746" v="18" actId="20577"/>
        <pc:sldMkLst>
          <pc:docMk/>
          <pc:sldMk cId="3750181635" sldId="257"/>
        </pc:sldMkLst>
        <pc:spChg chg="mod">
          <ac:chgData name="Muhammad Ismail Mangrio" userId="590c352b-06fa-4bd0-9f05-47e253030496" providerId="ADAL" clId="{D6B061B4-6F31-44FB-A843-F73496B75F40}" dt="2025-08-25T13:32:43.746" v="18" actId="20577"/>
          <ac:spMkLst>
            <pc:docMk/>
            <pc:sldMk cId="3750181635" sldId="257"/>
            <ac:spMk id="3" creationId="{00000000-0000-0000-0000-000000000000}"/>
          </ac:spMkLst>
        </pc:spChg>
        <pc:spChg chg="del">
          <ac:chgData name="Muhammad Ismail Mangrio" userId="590c352b-06fa-4bd0-9f05-47e253030496" providerId="ADAL" clId="{D6B061B4-6F31-44FB-A843-F73496B75F40}" dt="2025-08-25T13:31:42.240" v="3" actId="478"/>
          <ac:spMkLst>
            <pc:docMk/>
            <pc:sldMk cId="3750181635" sldId="257"/>
            <ac:spMk id="4" creationId="{00000000-0000-0000-0000-000000000000}"/>
          </ac:spMkLst>
        </pc:spChg>
      </pc:sldChg>
      <pc:sldChg chg="modSp mod">
        <pc:chgData name="Muhammad Ismail Mangrio" userId="590c352b-06fa-4bd0-9f05-47e253030496" providerId="ADAL" clId="{D6B061B4-6F31-44FB-A843-F73496B75F40}" dt="2025-08-25T13:36:00.194" v="29" actId="113"/>
        <pc:sldMkLst>
          <pc:docMk/>
          <pc:sldMk cId="3448663323" sldId="289"/>
        </pc:sldMkLst>
        <pc:spChg chg="mod">
          <ac:chgData name="Muhammad Ismail Mangrio" userId="590c352b-06fa-4bd0-9f05-47e253030496" providerId="ADAL" clId="{D6B061B4-6F31-44FB-A843-F73496B75F40}" dt="2025-08-25T13:36:00.194" v="29" actId="113"/>
          <ac:spMkLst>
            <pc:docMk/>
            <pc:sldMk cId="3448663323" sldId="289"/>
            <ac:spMk id="3" creationId="{00000000-0000-0000-0000-000000000000}"/>
          </ac:spMkLst>
        </pc:spChg>
      </pc:sldChg>
      <pc:sldChg chg="modSp mod">
        <pc:chgData name="Muhammad Ismail Mangrio" userId="590c352b-06fa-4bd0-9f05-47e253030496" providerId="ADAL" clId="{D6B061B4-6F31-44FB-A843-F73496B75F40}" dt="2025-08-25T13:33:06.036" v="20" actId="207"/>
        <pc:sldMkLst>
          <pc:docMk/>
          <pc:sldMk cId="3611692966" sldId="292"/>
        </pc:sldMkLst>
        <pc:spChg chg="mod">
          <ac:chgData name="Muhammad Ismail Mangrio" userId="590c352b-06fa-4bd0-9f05-47e253030496" providerId="ADAL" clId="{D6B061B4-6F31-44FB-A843-F73496B75F40}" dt="2025-08-25T13:33:06.036" v="20" actId="207"/>
          <ac:spMkLst>
            <pc:docMk/>
            <pc:sldMk cId="3611692966" sldId="292"/>
            <ac:spMk id="3" creationId="{00000000-0000-0000-0000-000000000000}"/>
          </ac:spMkLst>
        </pc:spChg>
      </pc:sldChg>
      <pc:sldChg chg="modSp mod">
        <pc:chgData name="Muhammad Ismail Mangrio" userId="590c352b-06fa-4bd0-9f05-47e253030496" providerId="ADAL" clId="{D6B061B4-6F31-44FB-A843-F73496B75F40}" dt="2025-08-25T13:34:56.705" v="28" actId="6549"/>
        <pc:sldMkLst>
          <pc:docMk/>
          <pc:sldMk cId="2340889531" sldId="293"/>
        </pc:sldMkLst>
        <pc:spChg chg="mod">
          <ac:chgData name="Muhammad Ismail Mangrio" userId="590c352b-06fa-4bd0-9f05-47e253030496" providerId="ADAL" clId="{D6B061B4-6F31-44FB-A843-F73496B75F40}" dt="2025-08-25T13:34:56.705" v="28" actId="6549"/>
          <ac:spMkLst>
            <pc:docMk/>
            <pc:sldMk cId="2340889531" sldId="29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Unit 01: Python for Data Science</a:t>
            </a:r>
          </a:p>
          <a:p>
            <a:r>
              <a:rPr lang="en-US" dirty="0"/>
              <a:t>Lecture 05</a:t>
            </a:r>
          </a:p>
          <a:p>
            <a:r>
              <a:rPr lang="en-US" dirty="0" err="1"/>
              <a:t>NumPy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9356128" cy="3880773"/>
          </a:xfrm>
        </p:spPr>
        <p:txBody>
          <a:bodyPr>
            <a:noAutofit/>
          </a:bodyPr>
          <a:lstStyle/>
          <a:p>
            <a:r>
              <a:rPr lang="en-US" b="1" dirty="0" err="1"/>
              <a:t>NumPy</a:t>
            </a:r>
            <a:r>
              <a:rPr lang="en-US" dirty="0"/>
              <a:t> is a Python library.</a:t>
            </a:r>
          </a:p>
          <a:p>
            <a:r>
              <a:rPr lang="en-US" dirty="0"/>
              <a:t>Used for working with arrays.</a:t>
            </a:r>
          </a:p>
          <a:p>
            <a:r>
              <a:rPr lang="en-US" dirty="0"/>
              <a:t>Short for "Numerical Python".</a:t>
            </a:r>
          </a:p>
          <a:p>
            <a:r>
              <a:rPr lang="en-US" dirty="0"/>
              <a:t>Working in domain of </a:t>
            </a:r>
            <a:r>
              <a:rPr lang="en-US" b="1" dirty="0"/>
              <a:t>linear algebra</a:t>
            </a:r>
            <a:r>
              <a:rPr lang="en-US" dirty="0"/>
              <a:t>, </a:t>
            </a:r>
            <a:r>
              <a:rPr lang="en-US" b="1" dirty="0"/>
              <a:t>Fourier transform</a:t>
            </a:r>
            <a:r>
              <a:rPr lang="en-US" dirty="0"/>
              <a:t>, and </a:t>
            </a:r>
            <a:r>
              <a:rPr lang="en-US" b="1" dirty="0"/>
              <a:t>matrices</a:t>
            </a:r>
            <a:r>
              <a:rPr lang="en-US" dirty="0"/>
              <a:t>.</a:t>
            </a:r>
          </a:p>
          <a:p>
            <a:r>
              <a:rPr lang="en-US" dirty="0"/>
              <a:t>Created in 2005 by </a:t>
            </a:r>
            <a:r>
              <a:rPr lang="en-US" b="1" dirty="0"/>
              <a:t>Travis Oliphant</a:t>
            </a:r>
            <a:r>
              <a:rPr lang="en-US" dirty="0"/>
              <a:t>. </a:t>
            </a:r>
          </a:p>
          <a:p>
            <a:r>
              <a:rPr lang="en-US" dirty="0"/>
              <a:t>O</a:t>
            </a:r>
            <a:r>
              <a:rPr lang="en-US" b="1" dirty="0"/>
              <a:t>pen-source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018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/>
          <a:lstStyle/>
          <a:p>
            <a:r>
              <a:rPr lang="en-US" dirty="0"/>
              <a:t>Why Use </a:t>
            </a:r>
            <a:r>
              <a:rPr lang="en-US" dirty="0" err="1"/>
              <a:t>NumPy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9248062" cy="3880773"/>
          </a:xfrm>
        </p:spPr>
        <p:txBody>
          <a:bodyPr>
            <a:normAutofit fontScale="40000" lnSpcReduction="2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900" dirty="0"/>
              <a:t>In Python we have </a:t>
            </a:r>
            <a:r>
              <a:rPr lang="en-US" sz="4900" b="1" dirty="0">
                <a:solidFill>
                  <a:srgbClr val="FF0000"/>
                </a:solidFill>
              </a:rPr>
              <a:t>lists</a:t>
            </a:r>
            <a:r>
              <a:rPr lang="en-US" sz="4900" dirty="0"/>
              <a:t> that serve the purpose of </a:t>
            </a:r>
            <a:r>
              <a:rPr lang="en-US" sz="4900" b="1" dirty="0"/>
              <a:t>arrays</a:t>
            </a:r>
            <a:r>
              <a:rPr lang="en-US" sz="4900" dirty="0"/>
              <a:t>, but they are </a:t>
            </a:r>
            <a:r>
              <a:rPr lang="en-US" sz="4900" b="1" dirty="0">
                <a:solidFill>
                  <a:srgbClr val="FF0000"/>
                </a:solidFill>
              </a:rPr>
              <a:t>slow to process</a:t>
            </a:r>
            <a:r>
              <a:rPr lang="en-US" sz="4900" dirty="0"/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900" b="1" dirty="0" err="1"/>
              <a:t>NumPy</a:t>
            </a:r>
            <a:r>
              <a:rPr lang="en-US" sz="4900" dirty="0"/>
              <a:t> aims to provide </a:t>
            </a:r>
            <a:r>
              <a:rPr lang="en-US" sz="4900" b="1" dirty="0"/>
              <a:t>an array object</a:t>
            </a:r>
            <a:r>
              <a:rPr lang="en-US" sz="4900" dirty="0"/>
              <a:t> that is up to </a:t>
            </a:r>
            <a:r>
              <a:rPr lang="en-US" sz="4900" b="1" dirty="0"/>
              <a:t>50x faster</a:t>
            </a:r>
            <a:r>
              <a:rPr lang="en-US" sz="4900" dirty="0"/>
              <a:t> than traditional Python lists.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900" dirty="0"/>
              <a:t>The array object in </a:t>
            </a:r>
            <a:r>
              <a:rPr lang="en-US" sz="4900" dirty="0" err="1"/>
              <a:t>NumPy</a:t>
            </a:r>
            <a:r>
              <a:rPr lang="en-US" sz="4900" dirty="0"/>
              <a:t> is called </a:t>
            </a:r>
            <a:r>
              <a:rPr lang="en-US" sz="4900" b="1" dirty="0" err="1"/>
              <a:t>ndarray</a:t>
            </a:r>
            <a:r>
              <a:rPr lang="en-US" sz="4900" dirty="0"/>
              <a:t>, it provides a lot of supporting functions that make working with </a:t>
            </a:r>
            <a:r>
              <a:rPr lang="en-US" sz="4900" b="1" dirty="0" err="1"/>
              <a:t>ndarray</a:t>
            </a:r>
            <a:r>
              <a:rPr lang="en-US" sz="4900" dirty="0"/>
              <a:t> very easy.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900" dirty="0"/>
              <a:t>Arrays are very frequently used in data science, where </a:t>
            </a:r>
            <a:r>
              <a:rPr lang="en-US" sz="4900" b="1" dirty="0"/>
              <a:t>speed</a:t>
            </a:r>
            <a:r>
              <a:rPr lang="en-US" sz="4900" dirty="0"/>
              <a:t> and </a:t>
            </a:r>
            <a:r>
              <a:rPr lang="en-US" sz="4900" b="1" dirty="0"/>
              <a:t>resources</a:t>
            </a:r>
            <a:r>
              <a:rPr lang="en-US" sz="4900" dirty="0"/>
              <a:t> are very important.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900" b="1" dirty="0"/>
              <a:t>Data Science</a:t>
            </a:r>
            <a:r>
              <a:rPr lang="en-US" sz="4900" dirty="0"/>
              <a:t>: is a branch of computer science where we study how to </a:t>
            </a:r>
            <a:r>
              <a:rPr lang="en-US" sz="4900" b="1" dirty="0"/>
              <a:t>store</a:t>
            </a:r>
            <a:r>
              <a:rPr lang="en-US" sz="4900" dirty="0"/>
              <a:t>, </a:t>
            </a:r>
            <a:r>
              <a:rPr lang="en-US" sz="4900" b="1" dirty="0"/>
              <a:t>use</a:t>
            </a:r>
            <a:r>
              <a:rPr lang="en-US" sz="4900" dirty="0"/>
              <a:t> and </a:t>
            </a:r>
            <a:r>
              <a:rPr lang="en-US" sz="4900" b="1" dirty="0"/>
              <a:t>analyze data</a:t>
            </a:r>
            <a:r>
              <a:rPr lang="en-US" sz="4900" dirty="0"/>
              <a:t> for </a:t>
            </a:r>
            <a:r>
              <a:rPr lang="en-US" sz="4900" b="1" dirty="0"/>
              <a:t>deriving information</a:t>
            </a:r>
            <a:r>
              <a:rPr lang="en-US" sz="4900" dirty="0"/>
              <a:t> from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69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8502"/>
          </a:xfrm>
        </p:spPr>
        <p:txBody>
          <a:bodyPr/>
          <a:lstStyle/>
          <a:p>
            <a:r>
              <a:rPr lang="en-US"/>
              <a:t>Why is NumPy Faster Than Lists?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9347815" cy="3880773"/>
          </a:xfrm>
        </p:spPr>
        <p:txBody>
          <a:bodyPr>
            <a:noAutofit/>
          </a:bodyPr>
          <a:lstStyle/>
          <a:p>
            <a:r>
              <a:rPr lang="en-US" sz="2400" dirty="0" err="1"/>
              <a:t>NumPy</a:t>
            </a:r>
            <a:r>
              <a:rPr lang="en-US" sz="2400" dirty="0"/>
              <a:t> arrays are stored at one </a:t>
            </a:r>
            <a:r>
              <a:rPr lang="en-US" sz="2400" b="1" dirty="0">
                <a:solidFill>
                  <a:srgbClr val="FF0000"/>
                </a:solidFill>
              </a:rPr>
              <a:t>continuous place in memory </a:t>
            </a:r>
            <a:r>
              <a:rPr lang="en-US" sz="2400" b="1" dirty="0"/>
              <a:t>unlike lists</a:t>
            </a:r>
            <a:r>
              <a:rPr lang="en-US" sz="2400" dirty="0"/>
              <a:t>, so processes can access and manipulate them very efficiently.</a:t>
            </a:r>
          </a:p>
          <a:p>
            <a:r>
              <a:rPr lang="en-US" sz="2400" dirty="0"/>
              <a:t>This behavior is called </a:t>
            </a:r>
            <a:r>
              <a:rPr lang="en-US" sz="2400" b="1" dirty="0"/>
              <a:t>locality of reference</a:t>
            </a:r>
            <a:r>
              <a:rPr lang="en-US" sz="2400" dirty="0"/>
              <a:t> in CS. Also, it is </a:t>
            </a:r>
            <a:r>
              <a:rPr lang="en-US" sz="2400" b="1" dirty="0"/>
              <a:t>optimized </a:t>
            </a:r>
            <a:r>
              <a:rPr lang="en-US" sz="2400" dirty="0"/>
              <a:t>to work with latest CPU architectures..</a:t>
            </a:r>
          </a:p>
          <a:p>
            <a:r>
              <a:rPr lang="en-US" sz="2400" dirty="0"/>
              <a:t>NumPy is written </a:t>
            </a:r>
            <a:r>
              <a:rPr lang="en-US" sz="2400" b="1" dirty="0"/>
              <a:t>partially in Python</a:t>
            </a:r>
            <a:r>
              <a:rPr lang="en-US" sz="2400" dirty="0"/>
              <a:t>, but most of the parts that require fast computation are written in </a:t>
            </a:r>
            <a:r>
              <a:rPr lang="en-US" sz="2400" b="1" dirty="0"/>
              <a:t>C or C++</a:t>
            </a:r>
            <a:r>
              <a:rPr lang="en-US" sz="24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340889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with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3" y="2160589"/>
            <a:ext cx="6336607" cy="388077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If you have Python and </a:t>
            </a:r>
            <a:r>
              <a:rPr lang="en-US" sz="2000" b="1" dirty="0"/>
              <a:t>PIP</a:t>
            </a:r>
            <a:r>
              <a:rPr lang="en-US" sz="2000" dirty="0"/>
              <a:t> already installed on a system, then installation of </a:t>
            </a:r>
            <a:r>
              <a:rPr lang="en-US" sz="2000" dirty="0" err="1"/>
              <a:t>NumPy</a:t>
            </a:r>
            <a:r>
              <a:rPr lang="en-US" sz="2000" dirty="0"/>
              <a:t> is very easy.</a:t>
            </a:r>
          </a:p>
          <a:p>
            <a:pPr lvl="1"/>
            <a:r>
              <a:rPr lang="en-US" sz="1800" dirty="0"/>
              <a:t>C:\Users\Your Name&gt;</a:t>
            </a:r>
            <a:r>
              <a:rPr lang="en-US" sz="1800" b="1" dirty="0"/>
              <a:t>pip install </a:t>
            </a:r>
            <a:r>
              <a:rPr lang="en-US" sz="1800" b="1" dirty="0" err="1"/>
              <a:t>numpy</a:t>
            </a:r>
            <a:endParaRPr lang="en-US" sz="1800" b="1" dirty="0"/>
          </a:p>
          <a:p>
            <a:r>
              <a:rPr lang="en-US" sz="2000" dirty="0"/>
              <a:t>Python distribution that already has </a:t>
            </a:r>
            <a:r>
              <a:rPr lang="en-US" sz="2000" dirty="0" err="1"/>
              <a:t>NumPy</a:t>
            </a:r>
            <a:r>
              <a:rPr lang="en-US" sz="2000" dirty="0"/>
              <a:t> installed are, </a:t>
            </a:r>
            <a:r>
              <a:rPr lang="en-US" sz="2000" b="1" dirty="0"/>
              <a:t>Anaconda</a:t>
            </a:r>
            <a:r>
              <a:rPr lang="en-US" sz="2000" dirty="0"/>
              <a:t>, </a:t>
            </a:r>
            <a:r>
              <a:rPr lang="en-US" sz="2000" b="1" dirty="0" err="1"/>
              <a:t>Spyder</a:t>
            </a:r>
            <a:r>
              <a:rPr lang="en-US" sz="2000" dirty="0"/>
              <a:t> </a:t>
            </a:r>
            <a:r>
              <a:rPr lang="en-US" sz="2000" dirty="0" err="1"/>
              <a:t>etc</a:t>
            </a:r>
            <a:endParaRPr lang="en-US" sz="2000" dirty="0"/>
          </a:p>
          <a:p>
            <a:r>
              <a:rPr lang="en-US" sz="2000" dirty="0"/>
              <a:t>Once </a:t>
            </a:r>
            <a:r>
              <a:rPr lang="en-US" sz="2000" dirty="0" err="1"/>
              <a:t>NumPy</a:t>
            </a:r>
            <a:r>
              <a:rPr lang="en-US" sz="2000" dirty="0"/>
              <a:t> is installed, </a:t>
            </a:r>
            <a:r>
              <a:rPr lang="en-US" sz="2000" b="1" dirty="0"/>
              <a:t>import</a:t>
            </a:r>
            <a:r>
              <a:rPr lang="en-US" sz="2000" dirty="0"/>
              <a:t> it in your applications by adding the </a:t>
            </a:r>
            <a:r>
              <a:rPr lang="en-US" sz="2000" dirty="0">
                <a:solidFill>
                  <a:srgbClr val="FF0000"/>
                </a:solidFill>
              </a:rPr>
              <a:t>import</a:t>
            </a:r>
            <a:r>
              <a:rPr lang="en-US" sz="2000" dirty="0"/>
              <a:t> keyword:</a:t>
            </a:r>
          </a:p>
          <a:p>
            <a:r>
              <a:rPr lang="en-US" sz="2000" dirty="0" err="1"/>
              <a:t>NumPy</a:t>
            </a:r>
            <a:r>
              <a:rPr lang="en-US" sz="2000" dirty="0"/>
              <a:t> is usually imported under the </a:t>
            </a:r>
            <a:r>
              <a:rPr lang="en-US" sz="2000" b="1" dirty="0" err="1"/>
              <a:t>np</a:t>
            </a:r>
            <a:r>
              <a:rPr lang="en-US" sz="2000" dirty="0"/>
              <a:t> alias.</a:t>
            </a:r>
          </a:p>
          <a:p>
            <a:r>
              <a:rPr lang="en-US" sz="2000" b="1" dirty="0"/>
              <a:t>alias</a:t>
            </a:r>
            <a:r>
              <a:rPr lang="en-US" sz="2000" dirty="0"/>
              <a:t>: In Python alias are an alternate name for referring to the same thing.</a:t>
            </a:r>
          </a:p>
          <a:p>
            <a:r>
              <a:rPr lang="en-US" sz="2000" dirty="0"/>
              <a:t>Create an </a:t>
            </a:r>
            <a:r>
              <a:rPr lang="en-US" sz="2000" b="1" dirty="0"/>
              <a:t>alias</a:t>
            </a:r>
            <a:r>
              <a:rPr lang="en-US" sz="2000" dirty="0"/>
              <a:t> with the as keyword while importing:</a:t>
            </a:r>
          </a:p>
          <a:p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85494" y="1988864"/>
            <a:ext cx="5126644" cy="394462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38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Creating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60589"/>
            <a:ext cx="6253480" cy="3880773"/>
          </a:xfrm>
        </p:spPr>
        <p:txBody>
          <a:bodyPr>
            <a:normAutofit/>
          </a:bodyPr>
          <a:lstStyle/>
          <a:p>
            <a:r>
              <a:rPr lang="en-US" sz="2000" dirty="0" err="1"/>
              <a:t>NumPy</a:t>
            </a:r>
            <a:r>
              <a:rPr lang="en-US" sz="2000" dirty="0"/>
              <a:t> is used to work with arrays. The array object in </a:t>
            </a:r>
            <a:r>
              <a:rPr lang="en-US" sz="2000" dirty="0" err="1"/>
              <a:t>NumPy</a:t>
            </a:r>
            <a:r>
              <a:rPr lang="en-US" sz="2000" dirty="0"/>
              <a:t> is called </a:t>
            </a:r>
            <a:r>
              <a:rPr lang="en-US" sz="2000" dirty="0" err="1"/>
              <a:t>ndarray</a:t>
            </a:r>
            <a:r>
              <a:rPr lang="en-US" sz="2000" dirty="0"/>
              <a:t>.</a:t>
            </a:r>
          </a:p>
          <a:p>
            <a:r>
              <a:rPr lang="en-US" sz="2000" dirty="0"/>
              <a:t>We can create a </a:t>
            </a:r>
            <a:r>
              <a:rPr lang="en-US" sz="2000" dirty="0" err="1"/>
              <a:t>NumPy</a:t>
            </a:r>
            <a:r>
              <a:rPr lang="en-US" sz="2000" dirty="0"/>
              <a:t> </a:t>
            </a:r>
            <a:r>
              <a:rPr lang="en-US" sz="2000" b="1" dirty="0" err="1"/>
              <a:t>ndarray</a:t>
            </a:r>
            <a:r>
              <a:rPr lang="en-US" sz="2000" b="1" dirty="0"/>
              <a:t> object by using the array() function</a:t>
            </a:r>
            <a:endParaRPr lang="en-US" sz="2000" dirty="0"/>
          </a:p>
          <a:p>
            <a:r>
              <a:rPr lang="en-US" sz="2000" dirty="0"/>
              <a:t>To </a:t>
            </a:r>
            <a:r>
              <a:rPr lang="en-US" sz="2000" b="1" dirty="0"/>
              <a:t>create an </a:t>
            </a:r>
            <a:r>
              <a:rPr lang="en-US" sz="2000" b="1" dirty="0" err="1"/>
              <a:t>ndarray</a:t>
            </a:r>
            <a:r>
              <a:rPr lang="en-US" sz="2000" dirty="0"/>
              <a:t>, we can pass a </a:t>
            </a:r>
            <a:r>
              <a:rPr lang="en-US" sz="2000" b="1" dirty="0"/>
              <a:t>list</a:t>
            </a:r>
            <a:r>
              <a:rPr lang="en-US" sz="2000" dirty="0"/>
              <a:t>, </a:t>
            </a:r>
            <a:r>
              <a:rPr lang="en-US" sz="2000" b="1" dirty="0"/>
              <a:t>tuple</a:t>
            </a:r>
            <a:r>
              <a:rPr lang="en-US" sz="2000" dirty="0"/>
              <a:t> or any </a:t>
            </a:r>
            <a:r>
              <a:rPr lang="en-US" sz="2000" b="1" dirty="0"/>
              <a:t>array-like</a:t>
            </a:r>
            <a:r>
              <a:rPr lang="en-US" sz="2000" dirty="0"/>
              <a:t> object into the </a:t>
            </a:r>
            <a:r>
              <a:rPr lang="en-US" sz="2000" dirty="0">
                <a:solidFill>
                  <a:srgbClr val="FF0000"/>
                </a:solidFill>
              </a:rPr>
              <a:t>array()</a:t>
            </a:r>
            <a:r>
              <a:rPr lang="en-US" sz="2000" dirty="0"/>
              <a:t> method, and it will be converted into an </a:t>
            </a:r>
            <a:r>
              <a:rPr lang="en-US" sz="2000" b="1" dirty="0" err="1"/>
              <a:t>ndarray</a:t>
            </a:r>
            <a:r>
              <a:rPr lang="en-US" sz="2000" dirty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10680" y="1850367"/>
            <a:ext cx="5126644" cy="422162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66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&amp; 3D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467943"/>
            <a:ext cx="6236855" cy="3880773"/>
          </a:xfrm>
        </p:spPr>
        <p:txBody>
          <a:bodyPr>
            <a:noAutofit/>
          </a:bodyPr>
          <a:lstStyle/>
          <a:p>
            <a:r>
              <a:rPr lang="en-US" dirty="0"/>
              <a:t>An array that has </a:t>
            </a:r>
            <a:r>
              <a:rPr lang="en-US" b="1" dirty="0"/>
              <a:t>1-D arrays</a:t>
            </a:r>
            <a:r>
              <a:rPr lang="en-US" dirty="0"/>
              <a:t> as its elements is called a </a:t>
            </a:r>
            <a:r>
              <a:rPr lang="en-US" b="1" dirty="0"/>
              <a:t>2-D array</a:t>
            </a:r>
            <a:r>
              <a:rPr lang="en-US" dirty="0"/>
              <a:t>.</a:t>
            </a:r>
          </a:p>
          <a:p>
            <a:r>
              <a:rPr lang="en-US" dirty="0"/>
              <a:t>These are often used to represent </a:t>
            </a:r>
            <a:r>
              <a:rPr lang="en-US" b="1" dirty="0"/>
              <a:t>matrix or 2nd order tensors</a:t>
            </a:r>
            <a:r>
              <a:rPr lang="en-US" dirty="0"/>
              <a:t>.</a:t>
            </a:r>
          </a:p>
          <a:p>
            <a:r>
              <a:rPr lang="en-US" dirty="0" err="1"/>
              <a:t>NumPy</a:t>
            </a:r>
            <a:r>
              <a:rPr lang="en-US" dirty="0"/>
              <a:t> has a whole sub module dedicated towards </a:t>
            </a:r>
            <a:r>
              <a:rPr lang="en-US" b="1" dirty="0"/>
              <a:t>matrix operations</a:t>
            </a:r>
            <a:r>
              <a:rPr lang="en-US" dirty="0"/>
              <a:t> called </a:t>
            </a:r>
            <a:r>
              <a:rPr lang="en-US" b="1" dirty="0" err="1"/>
              <a:t>numpy.mat</a:t>
            </a:r>
            <a:endParaRPr lang="en-US" b="1" dirty="0"/>
          </a:p>
          <a:p>
            <a:r>
              <a:rPr lang="en-US" dirty="0"/>
              <a:t>An array that has </a:t>
            </a:r>
            <a:r>
              <a:rPr lang="en-US" b="1" dirty="0"/>
              <a:t>2-D arrays (matrices) as its elements</a:t>
            </a:r>
            <a:r>
              <a:rPr lang="en-US" dirty="0"/>
              <a:t> is called </a:t>
            </a:r>
            <a:r>
              <a:rPr lang="en-US" b="1" dirty="0"/>
              <a:t>3-D array</a:t>
            </a:r>
            <a:r>
              <a:rPr lang="en-US" dirty="0"/>
              <a:t>.</a:t>
            </a:r>
          </a:p>
          <a:p>
            <a:r>
              <a:rPr lang="en-US" dirty="0"/>
              <a:t>These are often used to represent a 3rd order tensor.</a:t>
            </a:r>
          </a:p>
          <a:p>
            <a:r>
              <a:rPr lang="en-US" dirty="0" err="1"/>
              <a:t>NumPy</a:t>
            </a:r>
            <a:r>
              <a:rPr lang="en-US" dirty="0"/>
              <a:t> Arrays provides the </a:t>
            </a:r>
            <a:r>
              <a:rPr lang="en-US" dirty="0" err="1">
                <a:solidFill>
                  <a:srgbClr val="FF0000"/>
                </a:solidFill>
              </a:rPr>
              <a:t>ndim</a:t>
            </a:r>
            <a:r>
              <a:rPr lang="en-US" dirty="0"/>
              <a:t> attribute that </a:t>
            </a:r>
            <a:r>
              <a:rPr lang="en-US" b="1" dirty="0"/>
              <a:t>returns</a:t>
            </a:r>
            <a:r>
              <a:rPr lang="en-US" dirty="0"/>
              <a:t> an </a:t>
            </a:r>
            <a:r>
              <a:rPr lang="en-US" b="1" dirty="0"/>
              <a:t>intege</a:t>
            </a:r>
            <a:r>
              <a:rPr lang="en-US" dirty="0"/>
              <a:t>r that tells us </a:t>
            </a:r>
            <a:r>
              <a:rPr lang="en-US" b="1" dirty="0"/>
              <a:t>how many dimensions the array have.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02369" y="41081"/>
            <a:ext cx="5450840" cy="677617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 2D arrays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 3</a:t>
            </a:r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D arrays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([[[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]], [[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]]])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c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d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([[[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]], [[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]]])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a.ndim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b.ndim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c.ndim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d.ndim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35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Array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6033346" cy="3880773"/>
          </a:xfrm>
        </p:spPr>
        <p:txBody>
          <a:bodyPr>
            <a:noAutofit/>
          </a:bodyPr>
          <a:lstStyle/>
          <a:p>
            <a:r>
              <a:rPr lang="en-US" sz="2000" dirty="0"/>
              <a:t>Array </a:t>
            </a:r>
            <a:r>
              <a:rPr lang="en-US" sz="2000" b="1" dirty="0"/>
              <a:t>indexing</a:t>
            </a:r>
            <a:r>
              <a:rPr lang="en-US" sz="2000" dirty="0"/>
              <a:t> is the same as </a:t>
            </a:r>
            <a:r>
              <a:rPr lang="en-US" sz="2000" b="1" dirty="0"/>
              <a:t>accessing an array element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You can access an array element by referring to its </a:t>
            </a:r>
            <a:r>
              <a:rPr lang="en-US" sz="2000" b="1" dirty="0"/>
              <a:t>index number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The indexes in </a:t>
            </a:r>
            <a:r>
              <a:rPr lang="en-US" sz="2000" dirty="0" err="1"/>
              <a:t>NumPy</a:t>
            </a:r>
            <a:r>
              <a:rPr lang="en-US" sz="2000" dirty="0"/>
              <a:t> arrays start with </a:t>
            </a:r>
            <a:r>
              <a:rPr lang="en-US" sz="2000" b="1" dirty="0"/>
              <a:t>0</a:t>
            </a:r>
            <a:r>
              <a:rPr lang="en-US" sz="2000" dirty="0"/>
              <a:t>, meaning that the first element has index 0, and the </a:t>
            </a:r>
            <a:r>
              <a:rPr lang="en-US" sz="2000" b="1" dirty="0"/>
              <a:t>second has index 1 </a:t>
            </a:r>
            <a:r>
              <a:rPr lang="en-US" sz="2000" dirty="0"/>
              <a:t>etc.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851996" y="974647"/>
            <a:ext cx="5126644" cy="539117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+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113159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Array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sz="2000" dirty="0"/>
              <a:t>To </a:t>
            </a:r>
            <a:r>
              <a:rPr lang="en-US" sz="2000" b="1" dirty="0"/>
              <a:t>access elements </a:t>
            </a:r>
            <a:r>
              <a:rPr lang="en-US" sz="2000" dirty="0"/>
              <a:t>from </a:t>
            </a:r>
            <a:r>
              <a:rPr lang="en-US" sz="2000" b="1" dirty="0"/>
              <a:t>2-D arrays, </a:t>
            </a:r>
            <a:r>
              <a:rPr lang="en-US" sz="2000" dirty="0"/>
              <a:t>we can use </a:t>
            </a:r>
            <a:r>
              <a:rPr lang="en-US" sz="2000" b="1" dirty="0"/>
              <a:t>comma separated integers </a:t>
            </a:r>
            <a:r>
              <a:rPr lang="en-US" sz="2000" dirty="0"/>
              <a:t>representing the dimension and the index of the element.</a:t>
            </a:r>
          </a:p>
          <a:p>
            <a:endParaRPr lang="en-US" sz="2000" dirty="0"/>
          </a:p>
          <a:p>
            <a:r>
              <a:rPr lang="en-US" sz="2000" dirty="0"/>
              <a:t>Think of 2-D arrays like a </a:t>
            </a:r>
            <a:r>
              <a:rPr lang="en-US" sz="2000" b="1" dirty="0"/>
              <a:t>table with rows and columns</a:t>
            </a:r>
            <a:r>
              <a:rPr lang="en-US" sz="2000" dirty="0"/>
              <a:t>, where the dimension represents the row and the index represents the column.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575367" y="1503568"/>
            <a:ext cx="5616633" cy="3452187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'2nd element on 1st row: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'5th element on 2nd row: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776409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Array 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516" y="2145447"/>
            <a:ext cx="6064288" cy="3880773"/>
          </a:xfrm>
        </p:spPr>
        <p:txBody>
          <a:bodyPr>
            <a:noAutofit/>
          </a:bodyPr>
          <a:lstStyle/>
          <a:p>
            <a:r>
              <a:rPr lang="en-US" b="1" dirty="0"/>
              <a:t>Slicing</a:t>
            </a:r>
            <a:r>
              <a:rPr lang="en-US" dirty="0"/>
              <a:t> in python means taking elements from one given index to another given index.</a:t>
            </a:r>
          </a:p>
          <a:p>
            <a:r>
              <a:rPr lang="en-US" dirty="0"/>
              <a:t>We pass </a:t>
            </a:r>
            <a:r>
              <a:rPr lang="en-US" b="1" dirty="0"/>
              <a:t>slice</a:t>
            </a:r>
            <a:r>
              <a:rPr lang="en-US" dirty="0"/>
              <a:t> instead of index like this: </a:t>
            </a:r>
            <a:r>
              <a:rPr lang="en-US" b="1" dirty="0"/>
              <a:t>[</a:t>
            </a:r>
            <a:r>
              <a:rPr lang="en-US" b="1" dirty="0" err="1"/>
              <a:t>start:end</a:t>
            </a:r>
            <a:r>
              <a:rPr lang="en-US" b="1" dirty="0"/>
              <a:t>].</a:t>
            </a:r>
          </a:p>
          <a:p>
            <a:r>
              <a:rPr lang="en-US" dirty="0"/>
              <a:t>We can also define </a:t>
            </a:r>
            <a:r>
              <a:rPr lang="en-US" b="1" dirty="0"/>
              <a:t>the step</a:t>
            </a:r>
            <a:r>
              <a:rPr lang="en-US" dirty="0"/>
              <a:t>, like this: </a:t>
            </a:r>
            <a:r>
              <a:rPr lang="en-US" b="1" dirty="0"/>
              <a:t>[</a:t>
            </a:r>
            <a:r>
              <a:rPr lang="en-US" b="1" dirty="0" err="1"/>
              <a:t>start:end:step</a:t>
            </a:r>
            <a:r>
              <a:rPr lang="en-US" dirty="0"/>
              <a:t>].</a:t>
            </a:r>
          </a:p>
          <a:p>
            <a:r>
              <a:rPr lang="en-US" dirty="0"/>
              <a:t>If we don't pass start its </a:t>
            </a:r>
            <a:r>
              <a:rPr lang="en-US" b="1" dirty="0"/>
              <a:t>considered 0</a:t>
            </a:r>
          </a:p>
          <a:p>
            <a:r>
              <a:rPr lang="en-US" dirty="0"/>
              <a:t>If we don't pass end its </a:t>
            </a:r>
            <a:r>
              <a:rPr lang="en-US" b="1" dirty="0"/>
              <a:t>considered length of array </a:t>
            </a:r>
            <a:r>
              <a:rPr lang="en-US" dirty="0"/>
              <a:t>in that dimension</a:t>
            </a:r>
          </a:p>
          <a:p>
            <a:r>
              <a:rPr lang="en-US" dirty="0"/>
              <a:t>If we don't pass step its </a:t>
            </a:r>
            <a:r>
              <a:rPr lang="en-US" b="1" dirty="0"/>
              <a:t>considered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591993" y="36814"/>
            <a:ext cx="5511339" cy="677617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:])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[: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[::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133536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 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510" y="2160589"/>
            <a:ext cx="9667702" cy="3880773"/>
          </a:xfrm>
        </p:spPr>
        <p:txBody>
          <a:bodyPr>
            <a:normAutofit/>
          </a:bodyPr>
          <a:lstStyle/>
          <a:p>
            <a:r>
              <a:rPr lang="en-US" sz="2400" dirty="0"/>
              <a:t>By default Python have these </a:t>
            </a:r>
            <a:r>
              <a:rPr lang="en-US" sz="2400" b="1" dirty="0"/>
              <a:t>data types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pPr lvl="1"/>
            <a:r>
              <a:rPr lang="en-US" sz="2000" b="1" dirty="0"/>
              <a:t>strings</a:t>
            </a:r>
            <a:r>
              <a:rPr lang="en-US" sz="2000" dirty="0"/>
              <a:t> - used to represent text data, the text is given under quote marks. e.g. "ABCD"</a:t>
            </a:r>
          </a:p>
          <a:p>
            <a:pPr lvl="1"/>
            <a:r>
              <a:rPr lang="en-US" sz="2000" b="1" dirty="0"/>
              <a:t>integer</a:t>
            </a:r>
            <a:r>
              <a:rPr lang="en-US" sz="2000" dirty="0"/>
              <a:t> - used to represent integer numbers. e.g. -1, -2, -3</a:t>
            </a:r>
          </a:p>
          <a:p>
            <a:pPr lvl="1"/>
            <a:r>
              <a:rPr lang="en-US" sz="2000" b="1" dirty="0"/>
              <a:t>float</a:t>
            </a:r>
            <a:r>
              <a:rPr lang="en-US" sz="2000" dirty="0"/>
              <a:t> - used to represent real numbers. e.g. 1.2, 42.42</a:t>
            </a:r>
          </a:p>
          <a:p>
            <a:pPr lvl="1"/>
            <a:r>
              <a:rPr lang="en-US" sz="2000" b="1" dirty="0" err="1"/>
              <a:t>boolean</a:t>
            </a:r>
            <a:r>
              <a:rPr lang="en-US" sz="2000" dirty="0"/>
              <a:t> - used to represent True or False.</a:t>
            </a:r>
          </a:p>
          <a:p>
            <a:pPr lvl="1"/>
            <a:r>
              <a:rPr lang="en-US" sz="2000" b="1" dirty="0"/>
              <a:t>complex</a:t>
            </a:r>
            <a:r>
              <a:rPr lang="en-US" sz="2000" dirty="0"/>
              <a:t> - used to represent complex numbers. e.g. 1.0 + 2.0j, 1.5 + 2.5j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495431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 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261" y="1467943"/>
            <a:ext cx="9987895" cy="3880773"/>
          </a:xfrm>
        </p:spPr>
        <p:txBody>
          <a:bodyPr>
            <a:noAutofit/>
          </a:bodyPr>
          <a:lstStyle/>
          <a:p>
            <a:r>
              <a:rPr lang="en-US" dirty="0" err="1"/>
              <a:t>NumPy</a:t>
            </a:r>
            <a:r>
              <a:rPr lang="en-US" dirty="0"/>
              <a:t> has some </a:t>
            </a:r>
            <a:r>
              <a:rPr lang="en-US" b="1" dirty="0"/>
              <a:t>extra data types</a:t>
            </a:r>
            <a:r>
              <a:rPr lang="en-US" dirty="0"/>
              <a:t>, and </a:t>
            </a:r>
            <a:r>
              <a:rPr lang="en-US" b="1" dirty="0"/>
              <a:t>refer to data types with one character</a:t>
            </a:r>
            <a:r>
              <a:rPr lang="en-US" dirty="0"/>
              <a:t>, </a:t>
            </a:r>
            <a:r>
              <a:rPr lang="en-US" b="1" dirty="0"/>
              <a:t>like </a:t>
            </a:r>
            <a:r>
              <a:rPr lang="en-US" b="1" dirty="0" err="1"/>
              <a:t>i</a:t>
            </a:r>
            <a:r>
              <a:rPr lang="en-US" b="1" dirty="0"/>
              <a:t> for integers, u for unsigned integers </a:t>
            </a:r>
            <a:r>
              <a:rPr lang="en-US" dirty="0"/>
              <a:t>etc.</a:t>
            </a:r>
          </a:p>
          <a:p>
            <a:r>
              <a:rPr lang="en-US" dirty="0"/>
              <a:t>Below is a list of all data types in </a:t>
            </a:r>
            <a:r>
              <a:rPr lang="en-US" dirty="0" err="1"/>
              <a:t>NumPy</a:t>
            </a:r>
            <a:r>
              <a:rPr lang="en-US" dirty="0"/>
              <a:t> and the characters used to represent them.</a:t>
            </a:r>
          </a:p>
          <a:p>
            <a:pPr lvl="1"/>
            <a:r>
              <a:rPr lang="en-US" b="1" dirty="0" err="1"/>
              <a:t>i</a:t>
            </a:r>
            <a:r>
              <a:rPr lang="en-US" dirty="0"/>
              <a:t> - integer</a:t>
            </a:r>
          </a:p>
          <a:p>
            <a:pPr lvl="1"/>
            <a:r>
              <a:rPr lang="en-US" b="1" dirty="0"/>
              <a:t>b</a:t>
            </a:r>
            <a:r>
              <a:rPr lang="en-US" dirty="0"/>
              <a:t> - </a:t>
            </a:r>
            <a:r>
              <a:rPr lang="en-US" dirty="0" err="1"/>
              <a:t>boolean</a:t>
            </a:r>
            <a:endParaRPr lang="en-US" dirty="0"/>
          </a:p>
          <a:p>
            <a:pPr lvl="1"/>
            <a:r>
              <a:rPr lang="en-US" b="1" dirty="0"/>
              <a:t>u</a:t>
            </a:r>
            <a:r>
              <a:rPr lang="en-US" dirty="0"/>
              <a:t> - unsigned integer</a:t>
            </a:r>
          </a:p>
          <a:p>
            <a:pPr lvl="1"/>
            <a:r>
              <a:rPr lang="en-US" b="1" dirty="0"/>
              <a:t>f </a:t>
            </a:r>
            <a:r>
              <a:rPr lang="en-US" dirty="0"/>
              <a:t>- float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 - complex float</a:t>
            </a:r>
          </a:p>
          <a:p>
            <a:pPr lvl="1"/>
            <a:r>
              <a:rPr lang="en-US" b="1" dirty="0"/>
              <a:t>m </a:t>
            </a:r>
            <a:r>
              <a:rPr lang="en-US" dirty="0"/>
              <a:t>- </a:t>
            </a:r>
            <a:r>
              <a:rPr lang="en-US" dirty="0" err="1"/>
              <a:t>timedelta</a:t>
            </a:r>
            <a:endParaRPr lang="en-US" dirty="0"/>
          </a:p>
          <a:p>
            <a:pPr lvl="1"/>
            <a:r>
              <a:rPr lang="en-US" b="1" dirty="0"/>
              <a:t>M</a:t>
            </a:r>
            <a:r>
              <a:rPr lang="en-US" dirty="0"/>
              <a:t> - </a:t>
            </a:r>
            <a:r>
              <a:rPr lang="en-US" dirty="0" err="1"/>
              <a:t>datetime</a:t>
            </a:r>
            <a:endParaRPr lang="en-US" dirty="0"/>
          </a:p>
          <a:p>
            <a:pPr lvl="1"/>
            <a:r>
              <a:rPr lang="en-US" b="1" dirty="0"/>
              <a:t>O</a:t>
            </a:r>
            <a:r>
              <a:rPr lang="en-US" dirty="0"/>
              <a:t> - object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 - string</a:t>
            </a:r>
          </a:p>
          <a:p>
            <a:pPr lvl="1"/>
            <a:r>
              <a:rPr lang="en-US" b="1" dirty="0"/>
              <a:t>U</a:t>
            </a:r>
            <a:r>
              <a:rPr lang="en-US" dirty="0"/>
              <a:t> - </a:t>
            </a:r>
            <a:r>
              <a:rPr lang="en-US" dirty="0" err="1"/>
              <a:t>unicode</a:t>
            </a:r>
            <a:r>
              <a:rPr lang="en-US" dirty="0"/>
              <a:t> string</a:t>
            </a:r>
          </a:p>
          <a:p>
            <a:pPr lvl="1"/>
            <a:r>
              <a:rPr lang="en-US" b="1" dirty="0"/>
              <a:t>V</a:t>
            </a:r>
            <a:r>
              <a:rPr lang="en-US" dirty="0"/>
              <a:t> - fixed chunk of memory for other type ( void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337624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Arrays With a Defined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sz="2400" dirty="0"/>
              <a:t>We use the </a:t>
            </a:r>
            <a:r>
              <a:rPr lang="en-US" sz="2400" dirty="0">
                <a:solidFill>
                  <a:srgbClr val="FF0000"/>
                </a:solidFill>
              </a:rPr>
              <a:t>array() </a:t>
            </a:r>
            <a:r>
              <a:rPr lang="en-US" sz="2400" dirty="0"/>
              <a:t>function to create arrays, this function can take an optional argument: </a:t>
            </a:r>
            <a:r>
              <a:rPr lang="en-US" sz="2400" dirty="0" err="1">
                <a:solidFill>
                  <a:srgbClr val="FF0000"/>
                </a:solidFill>
              </a:rPr>
              <a:t>dtype</a:t>
            </a:r>
            <a:r>
              <a:rPr lang="en-US" sz="2400" dirty="0"/>
              <a:t> that allows us to define the </a:t>
            </a:r>
            <a:r>
              <a:rPr lang="en-US" sz="2400" b="1" dirty="0"/>
              <a:t>expected data type</a:t>
            </a:r>
            <a:r>
              <a:rPr lang="en-US" sz="2400" dirty="0"/>
              <a:t> of the array elements: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86236" y="1423888"/>
            <a:ext cx="5608781" cy="474484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20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],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'S'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arr.dtype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],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'i4'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2000" dirty="0"/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arr.dtype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7760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Array Copy </a:t>
            </a:r>
            <a:r>
              <a:rPr lang="en-US" dirty="0" err="1"/>
              <a:t>vs</a:t>
            </a:r>
            <a:r>
              <a:rPr lang="en-US" dirty="0"/>
              <a:t>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573" y="1606839"/>
            <a:ext cx="5898033" cy="3880773"/>
          </a:xfrm>
        </p:spPr>
        <p:txBody>
          <a:bodyPr>
            <a:noAutofit/>
          </a:bodyPr>
          <a:lstStyle/>
          <a:p>
            <a:r>
              <a:rPr lang="en-US" sz="2000" dirty="0"/>
              <a:t>The main difference between a </a:t>
            </a:r>
            <a:r>
              <a:rPr lang="en-US" sz="2000" dirty="0">
                <a:solidFill>
                  <a:srgbClr val="FF0000"/>
                </a:solidFill>
              </a:rPr>
              <a:t>copy</a:t>
            </a:r>
            <a:r>
              <a:rPr lang="en-US" sz="2000" dirty="0"/>
              <a:t> and a </a:t>
            </a:r>
            <a:r>
              <a:rPr lang="en-US" sz="2000" dirty="0">
                <a:solidFill>
                  <a:srgbClr val="FF0000"/>
                </a:solidFill>
              </a:rPr>
              <a:t>view</a:t>
            </a:r>
            <a:r>
              <a:rPr lang="en-US" sz="2000" dirty="0"/>
              <a:t> of an array is that the </a:t>
            </a:r>
            <a:r>
              <a:rPr lang="en-US" sz="2000" b="1" dirty="0">
                <a:solidFill>
                  <a:srgbClr val="FF0000"/>
                </a:solidFill>
              </a:rPr>
              <a:t>copy</a:t>
            </a:r>
            <a:r>
              <a:rPr lang="en-US" sz="2000" b="1" dirty="0"/>
              <a:t> is a new array</a:t>
            </a:r>
            <a:r>
              <a:rPr lang="en-US" sz="2000" dirty="0"/>
              <a:t>, and the </a:t>
            </a:r>
            <a:r>
              <a:rPr lang="en-US" sz="2000" b="1" dirty="0">
                <a:solidFill>
                  <a:srgbClr val="FF0000"/>
                </a:solidFill>
              </a:rPr>
              <a:t>view</a:t>
            </a:r>
            <a:r>
              <a:rPr lang="en-US" sz="2000" b="1" dirty="0"/>
              <a:t> is just a view of the original array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copy</a:t>
            </a:r>
            <a:r>
              <a:rPr lang="en-US" sz="2000" dirty="0"/>
              <a:t> owns the data and any changes made to the </a:t>
            </a:r>
            <a:r>
              <a:rPr lang="en-US" sz="2000" b="1" dirty="0">
                <a:solidFill>
                  <a:srgbClr val="FF0000"/>
                </a:solidFill>
              </a:rPr>
              <a:t>copy</a:t>
            </a:r>
            <a:r>
              <a:rPr lang="en-US" sz="2000" b="1" dirty="0"/>
              <a:t> will not affect original array</a:t>
            </a:r>
            <a:r>
              <a:rPr lang="en-US" sz="2000" dirty="0"/>
              <a:t>, and any changes made to the original array will not affect the copy.</a:t>
            </a:r>
          </a:p>
          <a:p>
            <a:endParaRPr lang="en-US" sz="2000" dirty="0"/>
          </a:p>
          <a:p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view</a:t>
            </a:r>
            <a:r>
              <a:rPr lang="en-US" sz="2000" dirty="0"/>
              <a:t> does not own the data and any changes made to the </a:t>
            </a:r>
            <a:r>
              <a:rPr lang="en-US" sz="2000" b="1" dirty="0">
                <a:solidFill>
                  <a:srgbClr val="FF0000"/>
                </a:solidFill>
              </a:rPr>
              <a:t>view</a:t>
            </a:r>
            <a:r>
              <a:rPr lang="en-US" sz="2000" b="1" dirty="0"/>
              <a:t> will affect the original array</a:t>
            </a:r>
            <a:r>
              <a:rPr lang="en-US" sz="2000" dirty="0"/>
              <a:t>, and any changes made to the original array will affect the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333606" y="28502"/>
            <a:ext cx="5628409" cy="677617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Make a copy, change the original array, and display both arrays: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arr.copy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42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Example: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Make a view, change the original array, and display both arrays: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arr.view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42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Make a view, change the view, and display both arrays: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arr.view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31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740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Array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shape</a:t>
            </a:r>
            <a:r>
              <a:rPr lang="en-US" sz="2400" dirty="0"/>
              <a:t> of an array is the number of elements in each dimension.</a:t>
            </a:r>
          </a:p>
          <a:p>
            <a:r>
              <a:rPr lang="en-US" sz="2400" dirty="0" err="1"/>
              <a:t>NumPy</a:t>
            </a:r>
            <a:r>
              <a:rPr lang="en-US" sz="2400" dirty="0"/>
              <a:t> arrays have an attribute called </a:t>
            </a:r>
            <a:r>
              <a:rPr lang="en-US" sz="2400" dirty="0">
                <a:solidFill>
                  <a:srgbClr val="FF0000"/>
                </a:solidFill>
              </a:rPr>
              <a:t>shape </a:t>
            </a:r>
            <a:r>
              <a:rPr lang="en-US" sz="2400" dirty="0"/>
              <a:t>that returns a tuple with each index having the number of corresponding elements.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575367" y="1305774"/>
            <a:ext cx="5544589" cy="422162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Print the shape of a 2-D array: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 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arr.shape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Print the shape of a 2-D array: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 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arr.shape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4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079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Array Iterating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sz="2000" b="1" dirty="0"/>
              <a:t>Iterating</a:t>
            </a:r>
            <a:r>
              <a:rPr lang="en-US" sz="2000" dirty="0"/>
              <a:t> means going through elements one by one.</a:t>
            </a:r>
          </a:p>
          <a:p>
            <a:endParaRPr lang="en-US" sz="2000" dirty="0"/>
          </a:p>
          <a:p>
            <a:r>
              <a:rPr lang="en-US" sz="2000" dirty="0"/>
              <a:t>As we deal with </a:t>
            </a:r>
            <a:r>
              <a:rPr lang="en-US" sz="2000" b="1" dirty="0"/>
              <a:t>multi-dimensional arrays</a:t>
            </a:r>
            <a:r>
              <a:rPr lang="en-US" sz="2000" dirty="0"/>
              <a:t> in </a:t>
            </a:r>
            <a:r>
              <a:rPr lang="en-US" sz="2000" dirty="0" err="1"/>
              <a:t>numpy</a:t>
            </a:r>
            <a:r>
              <a:rPr lang="en-US" sz="2000" dirty="0"/>
              <a:t>, we can do this using basic for </a:t>
            </a:r>
            <a:r>
              <a:rPr lang="en-US" sz="2000" b="1" dirty="0"/>
              <a:t>loop</a:t>
            </a:r>
            <a:r>
              <a:rPr lang="en-US" sz="2000" dirty="0"/>
              <a:t> of python.</a:t>
            </a:r>
          </a:p>
          <a:p>
            <a:r>
              <a:rPr lang="en-US" sz="2000" dirty="0"/>
              <a:t>If we iterate on a 1-D array it will go through each element one by one.</a:t>
            </a:r>
          </a:p>
          <a:p>
            <a:r>
              <a:rPr lang="en-US" sz="2000" b="1" dirty="0"/>
              <a:t>Arrays Join and </a:t>
            </a:r>
            <a:r>
              <a:rPr lang="en-US" sz="2000" b="1" dirty="0" err="1"/>
              <a:t>Spliting</a:t>
            </a:r>
            <a:r>
              <a:rPr lang="en-US" sz="2000" b="1" dirty="0"/>
              <a:t> is your home work!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575367" y="290110"/>
            <a:ext cx="5527964" cy="6252953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Iterate on the elements of the following 1-D array: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Example:</a:t>
            </a:r>
            <a:r>
              <a:rPr lang="en-US" sz="1400" dirty="0" err="1">
                <a:solidFill>
                  <a:srgbClr val="000000"/>
                </a:solidFill>
                <a:latin typeface="Verdana" panose="020B0604030504040204" pitchFamily="34" charset="0"/>
              </a:rPr>
              <a:t>Iterate</a:t>
            </a:r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 on the elements of the following 2-D array: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Iterate on each scalar element of the 2-D array: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y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x: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(y)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442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Searching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207" y="1476198"/>
            <a:ext cx="5898033" cy="3880773"/>
          </a:xfrm>
        </p:spPr>
        <p:txBody>
          <a:bodyPr>
            <a:noAutofit/>
          </a:bodyPr>
          <a:lstStyle/>
          <a:p>
            <a:r>
              <a:rPr lang="en-US" sz="2000" dirty="0"/>
              <a:t>You can </a:t>
            </a:r>
            <a:r>
              <a:rPr lang="en-US" sz="2000" b="1" dirty="0"/>
              <a:t>search</a:t>
            </a:r>
            <a:r>
              <a:rPr lang="en-US" sz="2000" dirty="0"/>
              <a:t> an array for a certain value, and return the indexes that get a match.</a:t>
            </a:r>
          </a:p>
          <a:p>
            <a:endParaRPr lang="en-US" sz="2000" dirty="0"/>
          </a:p>
          <a:p>
            <a:r>
              <a:rPr lang="en-US" sz="2000" dirty="0"/>
              <a:t>There is a method called </a:t>
            </a:r>
            <a:r>
              <a:rPr lang="en-US" sz="2000" dirty="0" err="1">
                <a:solidFill>
                  <a:srgbClr val="FF0000"/>
                </a:solidFill>
              </a:rPr>
              <a:t>searchsorted</a:t>
            </a:r>
            <a:r>
              <a:rPr lang="en-US" sz="2000" dirty="0">
                <a:solidFill>
                  <a:srgbClr val="FF0000"/>
                </a:solidFill>
              </a:rPr>
              <a:t>()</a:t>
            </a:r>
            <a:r>
              <a:rPr lang="en-US" sz="2000" dirty="0"/>
              <a:t> which performs a </a:t>
            </a:r>
            <a:r>
              <a:rPr lang="en-US" sz="2000" b="1" dirty="0"/>
              <a:t>binary search</a:t>
            </a:r>
            <a:r>
              <a:rPr lang="en-US" sz="2000" dirty="0"/>
              <a:t> in the array, and </a:t>
            </a:r>
            <a:r>
              <a:rPr lang="en-US" sz="2000" b="1" dirty="0"/>
              <a:t>returns the index where the specified value would be inserted</a:t>
            </a:r>
            <a:r>
              <a:rPr lang="en-US" sz="2000" dirty="0"/>
              <a:t> to maintain the search order.</a:t>
            </a:r>
          </a:p>
          <a:p>
            <a:r>
              <a:rPr lang="en-US" sz="2000" dirty="0"/>
              <a:t>The </a:t>
            </a:r>
            <a:r>
              <a:rPr lang="en-US" sz="2000" dirty="0" err="1">
                <a:solidFill>
                  <a:srgbClr val="FF0000"/>
                </a:solidFill>
              </a:rPr>
              <a:t>searchsorted</a:t>
            </a:r>
            <a:r>
              <a:rPr lang="en-US" sz="2000" dirty="0">
                <a:solidFill>
                  <a:srgbClr val="FF0000"/>
                </a:solidFill>
              </a:rPr>
              <a:t>()</a:t>
            </a:r>
            <a:r>
              <a:rPr lang="en-US" sz="2000" dirty="0"/>
              <a:t> method is assumed to be used on sorted arrays.</a:t>
            </a:r>
          </a:p>
          <a:p>
            <a:r>
              <a:rPr lang="en-US" sz="2000" dirty="0"/>
              <a:t>To search for more than one value, use an array with the specified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34051" y="274719"/>
            <a:ext cx="5527964" cy="628373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Find the indexes where the value is 4:</a:t>
            </a:r>
          </a:p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as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np</a:t>
            </a:r>
            <a:endParaRPr lang="en-US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([1, 2, 3, 4, 5, 4, 4])</a:t>
            </a:r>
          </a:p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np.where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== 4)</a:t>
            </a:r>
          </a:p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print(x)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Find the indexes where the values are even: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np.where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(arr%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Find the indexes where the value 7 should be inserted: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np.searchsorted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Example: 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Find the indexes where the values 2, 4, and 6 should be inserted:</a:t>
            </a:r>
          </a:p>
          <a:p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x =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np.searchsorted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813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 Sorting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47" y="1476197"/>
            <a:ext cx="6417426" cy="3880773"/>
          </a:xfrm>
        </p:spPr>
        <p:txBody>
          <a:bodyPr>
            <a:noAutofit/>
          </a:bodyPr>
          <a:lstStyle/>
          <a:p>
            <a:r>
              <a:rPr lang="en-US" b="1" dirty="0"/>
              <a:t>Sorting</a:t>
            </a:r>
            <a:r>
              <a:rPr lang="en-US" dirty="0"/>
              <a:t> means putting elements in an ordered sequence.</a:t>
            </a:r>
          </a:p>
          <a:p>
            <a:endParaRPr lang="en-US" dirty="0"/>
          </a:p>
          <a:p>
            <a:r>
              <a:rPr lang="en-US" b="1" dirty="0"/>
              <a:t>Ordered sequence </a:t>
            </a:r>
            <a:r>
              <a:rPr lang="en-US" dirty="0"/>
              <a:t>is any sequence that has an order corresponding to elements, like </a:t>
            </a:r>
            <a:r>
              <a:rPr lang="en-US" b="1" dirty="0"/>
              <a:t>numeric or alphabetical, ascending or descending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b="1" dirty="0" err="1"/>
              <a:t>ndarray</a:t>
            </a:r>
            <a:r>
              <a:rPr lang="en-US" dirty="0"/>
              <a:t> object has a function called </a:t>
            </a:r>
            <a:r>
              <a:rPr lang="en-US" dirty="0">
                <a:solidFill>
                  <a:srgbClr val="FF0000"/>
                </a:solidFill>
              </a:rPr>
              <a:t>sort()</a:t>
            </a:r>
            <a:r>
              <a:rPr lang="en-US" dirty="0"/>
              <a:t>, that will sort a specified array.</a:t>
            </a:r>
          </a:p>
          <a:p>
            <a:r>
              <a:rPr lang="en-US" dirty="0"/>
              <a:t>You can also sort arrays of strings, or any other data type:</a:t>
            </a:r>
          </a:p>
          <a:p>
            <a:r>
              <a:rPr lang="en-US" dirty="0"/>
              <a:t>If you use the </a:t>
            </a:r>
            <a:r>
              <a:rPr lang="en-US" dirty="0">
                <a:solidFill>
                  <a:srgbClr val="FF0000"/>
                </a:solidFill>
              </a:rPr>
              <a:t>sort() </a:t>
            </a:r>
            <a:r>
              <a:rPr lang="en-US" dirty="0"/>
              <a:t>method on a </a:t>
            </a:r>
            <a:r>
              <a:rPr lang="en-US" b="1" dirty="0"/>
              <a:t>2-D array</a:t>
            </a:r>
            <a:r>
              <a:rPr lang="en-US" dirty="0"/>
              <a:t>, both arrays will be sorted:</a:t>
            </a:r>
          </a:p>
          <a:p>
            <a:r>
              <a:rPr lang="en-US" b="1" dirty="0"/>
              <a:t>Array filtering is your home work!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835371" y="659439"/>
            <a:ext cx="5126644" cy="551429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Sort the array:</a:t>
            </a:r>
          </a:p>
          <a:p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np.sort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Sort the array alphabetically:</a:t>
            </a:r>
          </a:p>
          <a:p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'banana'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'cherry'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'apple'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np.sort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endParaRPr lang="en-US" sz="1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Sort a </a:t>
            </a:r>
            <a:r>
              <a:rPr lang="en-US" sz="1400" dirty="0" err="1">
                <a:solidFill>
                  <a:srgbClr val="000000"/>
                </a:solidFill>
                <a:latin typeface="Verdana" panose="020B0604030504040204" pitchFamily="34" charset="0"/>
              </a:rPr>
              <a:t>boolean</a:t>
            </a:r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 array:</a:t>
            </a:r>
          </a:p>
          <a:p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False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np.sort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endParaRPr lang="en-US" sz="1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Find the indexes where the values 2, 4, and 6 should be inserted:</a:t>
            </a:r>
          </a:p>
          <a:p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x =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np.searchsorted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[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endParaRPr lang="en-US" sz="14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617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lecture we learned following concepts:</a:t>
            </a:r>
          </a:p>
          <a:p>
            <a:pPr lvl="1"/>
            <a:r>
              <a:rPr lang="en-GB" dirty="0"/>
              <a:t>Detailed Introduction of </a:t>
            </a:r>
            <a:r>
              <a:rPr lang="en-GB" dirty="0" err="1"/>
              <a:t>NumPy</a:t>
            </a:r>
            <a:r>
              <a:rPr lang="en-GB" dirty="0"/>
              <a:t> library</a:t>
            </a:r>
          </a:p>
        </p:txBody>
      </p:sp>
    </p:spTree>
    <p:extLst>
      <p:ext uri="{BB962C8B-B14F-4D97-AF65-F5344CB8AC3E}">
        <p14:creationId xmlns:p14="http://schemas.microsoft.com/office/powerpoint/2010/main" val="17237174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653</TotalTime>
  <Words>2812</Words>
  <Application>Microsoft Office PowerPoint</Application>
  <PresentationFormat>Widescreen</PresentationFormat>
  <Paragraphs>228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Consolas</vt:lpstr>
      <vt:lpstr>Segoe UI</vt:lpstr>
      <vt:lpstr>Trebuchet MS</vt:lpstr>
      <vt:lpstr>Verdana</vt:lpstr>
      <vt:lpstr>Wingdings 3</vt:lpstr>
      <vt:lpstr>Facet</vt:lpstr>
      <vt:lpstr>Data Science</vt:lpstr>
      <vt:lpstr>NumPy Introduction</vt:lpstr>
      <vt:lpstr>Why Use NumPy?</vt:lpstr>
      <vt:lpstr>Why is NumPy Faster Than Lists?</vt:lpstr>
      <vt:lpstr>Starting with NumPy</vt:lpstr>
      <vt:lpstr>NumPy Creating Arrays</vt:lpstr>
      <vt:lpstr>2D &amp; 3D Arrays</vt:lpstr>
      <vt:lpstr>NumPy Array Indexing</vt:lpstr>
      <vt:lpstr>NumPy Array Indexing</vt:lpstr>
      <vt:lpstr>NumPy Array Slicing</vt:lpstr>
      <vt:lpstr>NumPy Data Types</vt:lpstr>
      <vt:lpstr>NumPy Data Types</vt:lpstr>
      <vt:lpstr>Creating Arrays With a Defined Data Type</vt:lpstr>
      <vt:lpstr>NumPy Array Copy vs View</vt:lpstr>
      <vt:lpstr>NumPy Array Shape</vt:lpstr>
      <vt:lpstr>NumPy Array Iterating</vt:lpstr>
      <vt:lpstr>NumPy Searching Arrays</vt:lpstr>
      <vt:lpstr>NumPy Sorting Arrays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DR.ASIF</dc:creator>
  <cp:lastModifiedBy>Muhammad Ismail Mangrio</cp:lastModifiedBy>
  <cp:revision>71</cp:revision>
  <dcterms:created xsi:type="dcterms:W3CDTF">2023-08-12T13:47:27Z</dcterms:created>
  <dcterms:modified xsi:type="dcterms:W3CDTF">2025-08-25T13:36:01Z</dcterms:modified>
</cp:coreProperties>
</file>
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373AB-0F00-428D-AFCF-E502D4E758F3}" v="1" dt="2025-10-16T07:59:44.3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BF15BC68-A2CF-4093-A553-41661EC91610}"/>
    <pc:docChg chg="modSld">
      <pc:chgData name="Muhammad Ismail Mangrio" userId="590c352b-06fa-4bd0-9f05-47e253030496" providerId="ADAL" clId="{BF15BC68-A2CF-4093-A553-41661EC91610}" dt="2025-10-16T08:00:10.019" v="34" actId="403"/>
      <pc:docMkLst>
        <pc:docMk/>
      </pc:docMkLst>
      <pc:sldChg chg="modSp mod">
        <pc:chgData name="Muhammad Ismail Mangrio" userId="590c352b-06fa-4bd0-9f05-47e253030496" providerId="ADAL" clId="{BF15BC68-A2CF-4093-A553-41661EC91610}" dt="2025-10-16T07:59:26.697" v="29" actId="404"/>
        <pc:sldMkLst>
          <pc:docMk/>
          <pc:sldMk cId="0" sldId="256"/>
        </pc:sldMkLst>
        <pc:spChg chg="mod">
          <ac:chgData name="Muhammad Ismail Mangrio" userId="590c352b-06fa-4bd0-9f05-47e253030496" providerId="ADAL" clId="{BF15BC68-A2CF-4093-A553-41661EC91610}" dt="2025-10-16T07:59:26.697" v="29" actId="404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BF15BC68-A2CF-4093-A553-41661EC91610}" dt="2025-10-16T08:00:10.019" v="34" actId="403"/>
        <pc:sldMkLst>
          <pc:docMk/>
          <pc:sldMk cId="0" sldId="257"/>
        </pc:sldMkLst>
        <pc:spChg chg="mod">
          <ac:chgData name="Muhammad Ismail Mangrio" userId="590c352b-06fa-4bd0-9f05-47e253030496" providerId="ADAL" clId="{BF15BC68-A2CF-4093-A553-41661EC91610}" dt="2025-10-16T08:00:10.019" v="34" actId="403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9A1BB-55BC-42FD-8BE9-9C7610741EFE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0420A-3E85-4C8E-BF99-581BA0B31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2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97454" y="2568320"/>
            <a:ext cx="6348730" cy="996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022B9-2530-4D35-9343-0A2B20729DCF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440CF-2B23-400B-A09B-AFDF841EFB0A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9819E-B045-44DA-AA05-534E5526FAD5}" type="datetime1">
              <a:rPr lang="en-US" smtClean="0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AC96-1888-436E-9B50-AD53702C40DC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D2BB4-BBBA-4BD9-819E-7C1A89703AD1}" type="datetime1">
              <a:rPr lang="en-US" smtClean="0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8000"/>
                </a:lnTo>
                <a:lnTo>
                  <a:pt x="2587665" y="6858000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451" y="291795"/>
            <a:ext cx="1101709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9999" y="3328594"/>
            <a:ext cx="6738620" cy="2820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9655-A953-4FA4-8796-EBDEBF9407E8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51417" y="6148188"/>
            <a:ext cx="182879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sZj5Rb6do8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20"/>
              </a:lnSpc>
              <a:spcBef>
                <a:spcPts val="105"/>
              </a:spcBef>
            </a:pPr>
            <a:r>
              <a:rPr sz="4400" b="0" dirty="0">
                <a:latin typeface="Trebuchet MS"/>
                <a:cs typeface="Trebuchet MS"/>
              </a:rPr>
              <a:t>Exploratory</a:t>
            </a:r>
            <a:r>
              <a:rPr sz="4400" b="0" spc="-300" dirty="0">
                <a:latin typeface="Trebuchet MS"/>
                <a:cs typeface="Trebuchet MS"/>
              </a:rPr>
              <a:t> </a:t>
            </a:r>
            <a:r>
              <a:rPr sz="4400" b="0" spc="-10" dirty="0">
                <a:latin typeface="Trebuchet MS"/>
                <a:cs typeface="Trebuchet MS"/>
              </a:rPr>
              <a:t>Data</a:t>
            </a:r>
            <a:r>
              <a:rPr sz="4400" b="0" spc="-320" dirty="0">
                <a:latin typeface="Trebuchet MS"/>
                <a:cs typeface="Trebuchet MS"/>
              </a:rPr>
              <a:t> </a:t>
            </a:r>
            <a:r>
              <a:rPr sz="4400" b="0" spc="-10" dirty="0">
                <a:latin typeface="Trebuchet MS"/>
                <a:cs typeface="Trebuchet MS"/>
              </a:rPr>
              <a:t>Analysis</a:t>
            </a:r>
            <a:endParaRPr sz="4400">
              <a:latin typeface="Trebuchet MS"/>
              <a:cs typeface="Trebuchet MS"/>
            </a:endParaRPr>
          </a:p>
          <a:p>
            <a:pPr marL="3803015">
              <a:lnSpc>
                <a:spcPts val="2620"/>
              </a:lnSpc>
            </a:pPr>
            <a:r>
              <a:rPr sz="2400" b="0" dirty="0">
                <a:latin typeface="Trebuchet MS"/>
                <a:cs typeface="Trebuchet MS"/>
              </a:rPr>
              <a:t>Unit</a:t>
            </a:r>
            <a:r>
              <a:rPr sz="2400" b="0" spc="-4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02</a:t>
            </a:r>
            <a:r>
              <a:rPr sz="2400" b="0" spc="-40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Lecture</a:t>
            </a:r>
            <a:r>
              <a:rPr sz="2400" b="0" spc="-30" dirty="0">
                <a:latin typeface="Trebuchet MS"/>
                <a:cs typeface="Trebuchet MS"/>
              </a:rPr>
              <a:t> </a:t>
            </a:r>
            <a:r>
              <a:rPr sz="2400" b="0" spc="-25" dirty="0">
                <a:latin typeface="Trebuchet MS"/>
                <a:cs typeface="Trebuchet MS"/>
              </a:rPr>
              <a:t>03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4600" y="4231385"/>
            <a:ext cx="302247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5" dirty="0">
                <a:solidFill>
                  <a:srgbClr val="7E7E7E"/>
                </a:solidFill>
                <a:latin typeface="Trebuchet MS"/>
                <a:cs typeface="Trebuchet MS"/>
              </a:rPr>
              <a:t>Dr</a:t>
            </a:r>
            <a:r>
              <a:rPr sz="16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lang="en-US" sz="1600" spc="-10" dirty="0">
                <a:solidFill>
                  <a:srgbClr val="7E7E7E"/>
                </a:solidFill>
                <a:latin typeface="Trebuchet MS"/>
                <a:cs typeface="Trebuchet MS"/>
              </a:rPr>
              <a:t>Muhammad Ismail Mangrio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808" y="310133"/>
            <a:ext cx="22644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539F20"/>
                </a:solidFill>
                <a:latin typeface="Arial MT"/>
                <a:cs typeface="Arial MT"/>
              </a:rPr>
              <a:t>Contents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2729" y="1018219"/>
            <a:ext cx="6176671" cy="255262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Exploring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Distribution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Exploring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Categorical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Correlation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Exploring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Two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Variables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166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Hexagonal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Contours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Frequency</a:t>
            </a:r>
            <a:r>
              <a:rPr b="0" spc="-165" dirty="0">
                <a:latin typeface="Trebuchet MS"/>
                <a:cs typeface="Trebuchet MS"/>
              </a:rPr>
              <a:t> </a:t>
            </a:r>
            <a:r>
              <a:rPr b="0" spc="-45" dirty="0">
                <a:latin typeface="Trebuchet MS"/>
                <a:cs typeface="Trebuchet MS"/>
              </a:rPr>
              <a:t>Tables</a:t>
            </a:r>
            <a:r>
              <a:rPr b="0" spc="-9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Histograms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365" y="1169670"/>
            <a:ext cx="4973955" cy="479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8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frequency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table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variable </a:t>
            </a:r>
            <a:r>
              <a:rPr sz="2400" b="1" dirty="0">
                <a:latin typeface="Times New Roman"/>
                <a:cs typeface="Times New Roman"/>
              </a:rPr>
              <a:t>divides</a:t>
            </a:r>
            <a:r>
              <a:rPr sz="2400" b="1" spc="3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up</a:t>
            </a:r>
            <a:r>
              <a:rPr sz="2400" b="1" spc="3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variable</a:t>
            </a:r>
            <a:r>
              <a:rPr sz="2400" b="1" spc="3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range</a:t>
            </a:r>
            <a:r>
              <a:rPr sz="2400" b="1" spc="36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into </a:t>
            </a:r>
            <a:r>
              <a:rPr sz="2400" b="1" dirty="0">
                <a:latin typeface="Times New Roman"/>
                <a:cs typeface="Times New Roman"/>
              </a:rPr>
              <a:t>equally</a:t>
            </a:r>
            <a:r>
              <a:rPr sz="2400" b="1" spc="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spaced</a:t>
            </a:r>
            <a:r>
              <a:rPr sz="2400" b="1" spc="2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segments</a:t>
            </a:r>
            <a:r>
              <a:rPr sz="2400" b="1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tells </a:t>
            </a:r>
            <a:r>
              <a:rPr sz="2400" dirty="0">
                <a:latin typeface="Times New Roman"/>
                <a:cs typeface="Times New Roman"/>
              </a:rPr>
              <a:t>us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fall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each </a:t>
            </a:r>
            <a:r>
              <a:rPr sz="2400" spc="-10" dirty="0">
                <a:latin typeface="Times New Roman"/>
                <a:cs typeface="Times New Roman"/>
              </a:rPr>
              <a:t>segment.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0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6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state</a:t>
            </a:r>
            <a:r>
              <a:rPr sz="2400" spc="-10" dirty="0">
                <a:latin typeface="Times New Roman"/>
                <a:cs typeface="Times New Roman"/>
              </a:rPr>
              <a:t> computed.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8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pandas.cut</a:t>
            </a:r>
            <a:r>
              <a:rPr sz="2400" i="1" spc="18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series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maps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segments.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8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value_counts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10" dirty="0">
                <a:latin typeface="Times New Roman"/>
                <a:cs typeface="Times New Roman"/>
              </a:rPr>
              <a:t> table: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59323" y="1327403"/>
            <a:ext cx="6932930" cy="5530850"/>
            <a:chOff x="5259323" y="1327403"/>
            <a:chExt cx="6932930" cy="5530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9323" y="1946147"/>
              <a:ext cx="6932676" cy="49118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2391" y="1327403"/>
              <a:ext cx="5943600" cy="6187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Frequency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40" dirty="0">
                <a:latin typeface="Trebuchet MS"/>
                <a:cs typeface="Trebuchet MS"/>
              </a:rPr>
              <a:t>Tables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Histograms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935" y="1023061"/>
            <a:ext cx="6909434" cy="5738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265" indent="-342265" algn="ctr">
              <a:lnSpc>
                <a:spcPts val="228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422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least</a:t>
            </a:r>
            <a:r>
              <a:rPr sz="2000" b="1" spc="3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populous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Wyoming,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563,626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people,</a:t>
            </a:r>
            <a:endParaRPr sz="2000">
              <a:latin typeface="Times New Roman"/>
              <a:cs typeface="Times New Roman"/>
            </a:endParaRPr>
          </a:p>
          <a:p>
            <a:pPr marL="4445" algn="ctr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populous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California,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37,253,956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people.</a:t>
            </a:r>
            <a:endParaRPr sz="2000">
              <a:latin typeface="Times New Roman"/>
              <a:cs typeface="Times New Roman"/>
            </a:endParaRPr>
          </a:p>
          <a:p>
            <a:pPr marL="355600" marR="7620" indent="-342900">
              <a:lnSpc>
                <a:spcPts val="2160"/>
              </a:lnSpc>
              <a:spcBef>
                <a:spcPts val="103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range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37,253,956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563,626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36,690,330,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bins—</a:t>
            </a:r>
            <a:r>
              <a:rPr sz="2000" spc="-20" dirty="0">
                <a:latin typeface="Times New Roman"/>
                <a:cs typeface="Times New Roman"/>
              </a:rPr>
              <a:t>let’s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bins.</a:t>
            </a:r>
            <a:endParaRPr sz="200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216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  <a:tab pos="1009015" algn="l"/>
                <a:tab pos="1420495" algn="l"/>
                <a:tab pos="2169160" algn="l"/>
                <a:tab pos="2717800" algn="l"/>
                <a:tab pos="3389629" algn="l"/>
                <a:tab pos="4011295" algn="l"/>
                <a:tab pos="4493260" algn="l"/>
                <a:tab pos="5043805" algn="l"/>
                <a:tab pos="5680710" algn="l"/>
                <a:tab pos="5948680" algn="l"/>
                <a:tab pos="6683375" algn="l"/>
              </a:tabLst>
            </a:pPr>
            <a:r>
              <a:rPr sz="2000" spc="-20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10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equal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size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bins</a:t>
            </a:r>
            <a:r>
              <a:rPr sz="2000" spc="-1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each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have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width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3,669,033,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563,626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4,232,658.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6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contrast,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33,584,923 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37,253,956,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state: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California.</a:t>
            </a:r>
            <a:endParaRPr sz="200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216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immediately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below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California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empty,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Texas.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80"/>
              </a:lnSpc>
              <a:spcBef>
                <a:spcPts val="73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include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empty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bins</a:t>
            </a:r>
            <a:r>
              <a:rPr sz="2000" dirty="0">
                <a:latin typeface="Times New Roman"/>
                <a:cs typeface="Times New Roman"/>
              </a:rPr>
              <a:t>;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useful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experiment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</a:t>
            </a:r>
            <a:r>
              <a:rPr sz="2000" spc="-10" dirty="0">
                <a:latin typeface="Times New Roman"/>
                <a:cs typeface="Times New Roman"/>
              </a:rPr>
              <a:t> sizes.</a:t>
            </a:r>
            <a:endParaRPr sz="2000">
              <a:latin typeface="Times New Roman"/>
              <a:cs typeface="Times New Roman"/>
            </a:endParaRPr>
          </a:p>
          <a:p>
            <a:pPr marL="355600" marR="8255" indent="-342900">
              <a:lnSpc>
                <a:spcPts val="2160"/>
              </a:lnSpc>
              <a:spcBef>
                <a:spcPts val="103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too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large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obscured.</a:t>
            </a:r>
            <a:endParaRPr sz="2000">
              <a:latin typeface="Times New Roman"/>
              <a:cs typeface="Times New Roman"/>
            </a:endParaRPr>
          </a:p>
          <a:p>
            <a:pPr marL="355600" marR="8890" indent="-342900">
              <a:lnSpc>
                <a:spcPts val="216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 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granular,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see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bigger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picture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lost.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10853" y="6141211"/>
            <a:ext cx="85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90C225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240" y="1277111"/>
            <a:ext cx="4937759" cy="35112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53773-3DCA-CB11-E344-432B5C6F30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50" smtClean="0"/>
              <a:t>4</a:t>
            </a:fld>
            <a:endParaRPr lang="en-US"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356" y="-4572"/>
            <a:ext cx="4772660" cy="6868159"/>
            <a:chOff x="7420356" y="-4572"/>
            <a:chExt cx="4772660" cy="6868159"/>
          </a:xfrm>
        </p:grpSpPr>
        <p:sp>
          <p:nvSpPr>
            <p:cNvPr id="3" name="object 3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4928" y="3681983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100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484" y="0"/>
                  </a:lnTo>
                  <a:lnTo>
                    <a:pt x="0" y="6858000"/>
                  </a:lnTo>
                  <a:lnTo>
                    <a:pt x="3006852" y="6858000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>
                  <a:moveTo>
                    <a:pt x="2587665" y="0"/>
                  </a:moveTo>
                  <a:lnTo>
                    <a:pt x="0" y="0"/>
                  </a:lnTo>
                  <a:lnTo>
                    <a:pt x="1208191" y="6858000"/>
                  </a:lnTo>
                  <a:lnTo>
                    <a:pt x="2587665" y="6858000"/>
                  </a:lnTo>
                  <a:lnTo>
                    <a:pt x="2587665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161" y="0"/>
                  </a:moveTo>
                  <a:lnTo>
                    <a:pt x="0" y="0"/>
                  </a:lnTo>
                  <a:lnTo>
                    <a:pt x="2467621" y="6858000"/>
                  </a:lnTo>
                  <a:lnTo>
                    <a:pt x="2851161" y="6858000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828" y="0"/>
                  </a:moveTo>
                  <a:lnTo>
                    <a:pt x="1018959" y="0"/>
                  </a:lnTo>
                  <a:lnTo>
                    <a:pt x="0" y="6858000"/>
                  </a:lnTo>
                  <a:lnTo>
                    <a:pt x="1290828" y="6858000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Frequency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40" dirty="0">
                <a:latin typeface="Trebuchet MS"/>
                <a:cs typeface="Trebuchet MS"/>
              </a:rPr>
              <a:t>Tables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Histograms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6588" y="1102613"/>
            <a:ext cx="8375015" cy="11366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550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354965" algn="l"/>
              </a:tabLst>
            </a:pP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-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histogram</a:t>
            </a:r>
            <a:r>
              <a:rPr sz="1900" b="1" spc="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way</a:t>
            </a:r>
            <a:r>
              <a:rPr sz="1900" b="1" spc="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visualize</a:t>
            </a:r>
            <a:r>
              <a:rPr sz="1900" b="1" spc="2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frequency</a:t>
            </a:r>
            <a:r>
              <a:rPr sz="1900" b="1" spc="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table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bins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x-</a:t>
            </a:r>
            <a:r>
              <a:rPr sz="1900" dirty="0">
                <a:latin typeface="Times New Roman"/>
                <a:cs typeface="Times New Roman"/>
              </a:rPr>
              <a:t>axis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count on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y-axis.</a:t>
            </a:r>
            <a:endParaRPr sz="1900">
              <a:latin typeface="Times New Roman"/>
              <a:cs typeface="Times New Roman"/>
            </a:endParaRPr>
          </a:p>
          <a:p>
            <a:pPr marL="354965" marR="6350" indent="-342900">
              <a:lnSpc>
                <a:spcPts val="1820"/>
              </a:lnSpc>
              <a:spcBef>
                <a:spcPts val="98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354965" algn="l"/>
              </a:tabLst>
            </a:pP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histogram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way</a:t>
            </a:r>
            <a:r>
              <a:rPr sz="1900" b="1" spc="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visualize</a:t>
            </a:r>
            <a:r>
              <a:rPr sz="1900" b="1" spc="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frequency</a:t>
            </a:r>
            <a:r>
              <a:rPr sz="1900" b="1" spc="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table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bins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x-</a:t>
            </a:r>
            <a:r>
              <a:rPr sz="1900" dirty="0">
                <a:latin typeface="Times New Roman"/>
                <a:cs typeface="Times New Roman"/>
              </a:rPr>
              <a:t>axis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count on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y-axis.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9304" y="3590544"/>
            <a:ext cx="3282696" cy="32674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86588" y="2915037"/>
            <a:ext cx="8371840" cy="19945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3549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histogram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shown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Figure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1-</a:t>
            </a:r>
            <a:r>
              <a:rPr sz="1900" dirty="0">
                <a:latin typeface="Times New Roman"/>
                <a:cs typeface="Times New Roman"/>
              </a:rPr>
              <a:t>3.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general,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histograms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plotted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that:</a:t>
            </a:r>
            <a:endParaRPr sz="19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1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756285" algn="l"/>
              </a:tabLst>
            </a:pPr>
            <a:r>
              <a:rPr sz="1700" dirty="0">
                <a:latin typeface="Times New Roman"/>
                <a:cs typeface="Times New Roman"/>
              </a:rPr>
              <a:t>Empty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included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graph.</a:t>
            </a:r>
            <a:endParaRPr sz="1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756285" algn="l"/>
              </a:tabLst>
            </a:pPr>
            <a:r>
              <a:rPr sz="1700" dirty="0">
                <a:latin typeface="Times New Roman"/>
                <a:cs typeface="Times New Roman"/>
              </a:rPr>
              <a:t>Bins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equal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width.</a:t>
            </a:r>
            <a:endParaRPr sz="1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756285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(or,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equivalently,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size)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user.</a:t>
            </a:r>
            <a:endParaRPr sz="17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1820"/>
              </a:lnSpc>
              <a:spcBef>
                <a:spcPts val="99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756285" algn="l"/>
              </a:tabLst>
            </a:pPr>
            <a:r>
              <a:rPr sz="1700" dirty="0">
                <a:latin typeface="Times New Roman"/>
                <a:cs typeface="Times New Roman"/>
              </a:rPr>
              <a:t>Bars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contiguous—</a:t>
            </a:r>
            <a:r>
              <a:rPr sz="1700" dirty="0">
                <a:latin typeface="Times New Roman"/>
                <a:cs typeface="Times New Roman"/>
              </a:rPr>
              <a:t>no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empty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space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shows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between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bars,</a:t>
            </a:r>
            <a:r>
              <a:rPr sz="1700" spc="20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unless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there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empty </a:t>
            </a:r>
            <a:r>
              <a:rPr sz="1900" spc="-20" dirty="0">
                <a:latin typeface="Times New Roman"/>
                <a:cs typeface="Times New Roman"/>
              </a:rPr>
              <a:t>bin.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00159" y="467868"/>
            <a:ext cx="3296920" cy="6395085"/>
            <a:chOff x="8900159" y="467868"/>
            <a:chExt cx="3296920" cy="6395085"/>
          </a:xfrm>
        </p:grpSpPr>
        <p:sp>
          <p:nvSpPr>
            <p:cNvPr id="17" name="object 17"/>
            <p:cNvSpPr/>
            <p:nvPr/>
          </p:nvSpPr>
          <p:spPr>
            <a:xfrm>
              <a:off x="8904731" y="3634739"/>
              <a:ext cx="3287395" cy="3223260"/>
            </a:xfrm>
            <a:custGeom>
              <a:avLst/>
              <a:gdLst/>
              <a:ahLst/>
              <a:cxnLst/>
              <a:rect l="l" t="t" r="r" b="b"/>
              <a:pathLst>
                <a:path w="3287395" h="3223259">
                  <a:moveTo>
                    <a:pt x="3287268" y="0"/>
                  </a:moveTo>
                  <a:lnTo>
                    <a:pt x="0" y="0"/>
                  </a:lnTo>
                  <a:lnTo>
                    <a:pt x="0" y="322326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9303" y="477012"/>
              <a:ext cx="3282696" cy="31546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04731" y="472440"/>
              <a:ext cx="3287395" cy="3164205"/>
            </a:xfrm>
            <a:custGeom>
              <a:avLst/>
              <a:gdLst/>
              <a:ahLst/>
              <a:cxnLst/>
              <a:rect l="l" t="t" r="r" b="b"/>
              <a:pathLst>
                <a:path w="3287395" h="3164204">
                  <a:moveTo>
                    <a:pt x="3287268" y="0"/>
                  </a:moveTo>
                  <a:lnTo>
                    <a:pt x="0" y="0"/>
                  </a:lnTo>
                  <a:lnTo>
                    <a:pt x="0" y="3163824"/>
                  </a:lnTo>
                  <a:lnTo>
                    <a:pt x="3287268" y="31638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30936" y="5172454"/>
            <a:ext cx="8105140" cy="1690370"/>
            <a:chOff x="630936" y="5172454"/>
            <a:chExt cx="8105140" cy="169037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80" y="5181599"/>
              <a:ext cx="8086344" cy="1676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5508" y="5177026"/>
              <a:ext cx="8095615" cy="1681480"/>
            </a:xfrm>
            <a:custGeom>
              <a:avLst/>
              <a:gdLst/>
              <a:ahLst/>
              <a:cxnLst/>
              <a:rect l="l" t="t" r="r" b="b"/>
              <a:pathLst>
                <a:path w="8095615" h="1681479">
                  <a:moveTo>
                    <a:pt x="8095488" y="1680973"/>
                  </a:moveTo>
                  <a:lnTo>
                    <a:pt x="8095488" y="0"/>
                  </a:lnTo>
                  <a:lnTo>
                    <a:pt x="0" y="0"/>
                  </a:lnTo>
                  <a:lnTo>
                    <a:pt x="0" y="16809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655" y="2273807"/>
            <a:ext cx="7010771" cy="562356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Frequency</a:t>
            </a:r>
            <a:r>
              <a:rPr b="0" spc="-180" dirty="0">
                <a:latin typeface="Trebuchet MS"/>
                <a:cs typeface="Trebuchet MS"/>
              </a:rPr>
              <a:t> </a:t>
            </a:r>
            <a:r>
              <a:rPr b="0" spc="-40" dirty="0">
                <a:latin typeface="Trebuchet MS"/>
                <a:cs typeface="Trebuchet MS"/>
              </a:rPr>
              <a:t>Tables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Histograms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83919"/>
            <a:ext cx="10575290" cy="5979160"/>
            <a:chOff x="0" y="883919"/>
            <a:chExt cx="10575290" cy="597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883" y="883919"/>
              <a:ext cx="9979152" cy="36636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2603" y="4223002"/>
              <a:ext cx="2782824" cy="26349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28032" y="4218430"/>
              <a:ext cx="2792095" cy="2639695"/>
            </a:xfrm>
            <a:custGeom>
              <a:avLst/>
              <a:gdLst/>
              <a:ahLst/>
              <a:cxnLst/>
              <a:rect l="l" t="t" r="r" b="b"/>
              <a:pathLst>
                <a:path w="2792095" h="2639695">
                  <a:moveTo>
                    <a:pt x="2791967" y="2639569"/>
                  </a:moveTo>
                  <a:lnTo>
                    <a:pt x="2791967" y="0"/>
                  </a:lnTo>
                  <a:lnTo>
                    <a:pt x="0" y="0"/>
                  </a:lnTo>
                  <a:lnTo>
                    <a:pt x="0" y="263956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547614"/>
              <a:ext cx="4192524" cy="231038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47" y="5132831"/>
            <a:ext cx="7964424" cy="7559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Density</a:t>
            </a:r>
            <a:r>
              <a:rPr b="0" spc="-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Plots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Estimates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451" y="1157478"/>
            <a:ext cx="8787765" cy="333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histogram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density</a:t>
            </a:r>
            <a:r>
              <a:rPr sz="2400" b="1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plot,</a:t>
            </a:r>
            <a:r>
              <a:rPr sz="2400" b="1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which</a:t>
            </a:r>
            <a:r>
              <a:rPr sz="2400" b="1" spc="11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shows</a:t>
            </a:r>
            <a:r>
              <a:rPr sz="2400" b="1" spc="120" dirty="0">
                <a:latin typeface="Times New Roman"/>
                <a:cs typeface="Times New Roman"/>
              </a:rPr>
              <a:t>  </a:t>
            </a:r>
            <a:r>
              <a:rPr sz="2400" b="1" spc="-2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distribution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continuous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line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ot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e 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ought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 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 </a:t>
            </a:r>
            <a:r>
              <a:rPr sz="2400" b="1" spc="-15" dirty="0">
                <a:latin typeface="Times New Roman"/>
                <a:cs typeface="Times New Roman"/>
              </a:rPr>
              <a:t>smoothed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histogram</a:t>
            </a:r>
            <a:r>
              <a:rPr sz="2400" spc="-5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although 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6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 ty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ica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ly</a:t>
            </a:r>
            <a:r>
              <a:rPr sz="2400" spc="6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puted</a:t>
            </a:r>
            <a:r>
              <a:rPr sz="2400" spc="6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tly</a:t>
            </a:r>
            <a:r>
              <a:rPr sz="2400" spc="6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ta</a:t>
            </a:r>
            <a:r>
              <a:rPr sz="2400" spc="6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through</a:t>
            </a:r>
            <a:r>
              <a:rPr sz="2400" spc="6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kern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 densi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superposed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histogram.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pandas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plot.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bw_mthod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smoothness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curve: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66988" y="4535423"/>
            <a:ext cx="3529965" cy="2327275"/>
            <a:chOff x="8666988" y="4535423"/>
            <a:chExt cx="3529965" cy="2327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6132" y="4544567"/>
              <a:ext cx="3515868" cy="23134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71560" y="4539995"/>
              <a:ext cx="3520440" cy="2318385"/>
            </a:xfrm>
            <a:custGeom>
              <a:avLst/>
              <a:gdLst/>
              <a:ahLst/>
              <a:cxnLst/>
              <a:rect l="l" t="t" r="r" b="b"/>
              <a:pathLst>
                <a:path w="3520440" h="2318384">
                  <a:moveTo>
                    <a:pt x="3520440" y="0"/>
                  </a:moveTo>
                  <a:lnTo>
                    <a:pt x="0" y="0"/>
                  </a:lnTo>
                  <a:lnTo>
                    <a:pt x="0" y="231800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Density</a:t>
            </a:r>
            <a:r>
              <a:rPr b="0" spc="-5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Plots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Estimates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1030224"/>
            <a:ext cx="10774680" cy="51937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7768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b="0" spc="-10" dirty="0">
                <a:latin typeface="Trebuchet MS"/>
                <a:cs typeface="Trebuchet MS"/>
              </a:rPr>
              <a:t>Exploring</a:t>
            </a:r>
            <a:r>
              <a:rPr b="0" dirty="0">
                <a:latin typeface="Trebuchet MS"/>
                <a:cs typeface="Trebuchet MS"/>
              </a:rPr>
              <a:t>	Binary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Categorical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7420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categorical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percentages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story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data.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700" y="2052827"/>
            <a:ext cx="9172956" cy="45156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7768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b="0" spc="-10" dirty="0">
                <a:latin typeface="Trebuchet MS"/>
                <a:cs typeface="Trebuchet MS"/>
              </a:rPr>
              <a:t>Exploring</a:t>
            </a:r>
            <a:r>
              <a:rPr b="0" dirty="0">
                <a:latin typeface="Trebuchet MS"/>
                <a:cs typeface="Trebuchet MS"/>
              </a:rPr>
              <a:t>	Binary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Categorical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20902"/>
            <a:ext cx="8443595" cy="406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6985" indent="-342900" algn="just">
              <a:lnSpc>
                <a:spcPts val="2590"/>
              </a:lnSpc>
              <a:spcBef>
                <a:spcPts val="42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categorical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simple</a:t>
            </a:r>
            <a:r>
              <a:rPr sz="2400" b="1" spc="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proportions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percentages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tell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story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96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4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Getting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summary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binary</a:t>
            </a:r>
            <a:r>
              <a:rPr sz="2400" b="1" spc="1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variable</a:t>
            </a:r>
            <a:r>
              <a:rPr sz="2400" b="1" spc="1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1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14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categorical </a:t>
            </a:r>
            <a:r>
              <a:rPr sz="2400" b="1" dirty="0">
                <a:latin typeface="Times New Roman"/>
                <a:cs typeface="Times New Roman"/>
              </a:rPr>
              <a:t>variable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categories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fairly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easy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matter: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just </a:t>
            </a: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1s,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important categories.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35"/>
              </a:lnSpc>
              <a:spcBef>
                <a:spcPts val="72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5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dirty="0">
                <a:latin typeface="Times New Roman"/>
                <a:cs typeface="Times New Roman"/>
              </a:rPr>
              <a:t>6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percentage</a:t>
            </a:r>
            <a:r>
              <a:rPr sz="2400" b="1" spc="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delayed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flights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Dallas/Fort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Worth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2010.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103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9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Delays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categorized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factors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carrier </a:t>
            </a:r>
            <a:r>
              <a:rPr sz="2400" dirty="0">
                <a:latin typeface="Times New Roman"/>
                <a:cs typeface="Times New Roman"/>
              </a:rPr>
              <a:t>control,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traffic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(ATC)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delays,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weather,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security, </a:t>
            </a:r>
            <a:r>
              <a:rPr sz="2400" dirty="0">
                <a:latin typeface="Times New Roman"/>
                <a:cs typeface="Times New Roman"/>
              </a:rPr>
              <a:t>or 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inbound</a:t>
            </a:r>
            <a:r>
              <a:rPr sz="2400" spc="-10" dirty="0">
                <a:latin typeface="Times New Roman"/>
                <a:cs typeface="Times New Roman"/>
              </a:rPr>
              <a:t> aircraft.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4063" y="5315710"/>
            <a:ext cx="7269480" cy="1507490"/>
            <a:chOff x="1274063" y="5315710"/>
            <a:chExt cx="7269480" cy="1507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4063" y="5315710"/>
              <a:ext cx="7269480" cy="15072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8071" y="5379720"/>
              <a:ext cx="7086600" cy="13243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19021" y="5360670"/>
              <a:ext cx="7124700" cy="1362710"/>
            </a:xfrm>
            <a:custGeom>
              <a:avLst/>
              <a:gdLst/>
              <a:ahLst/>
              <a:cxnLst/>
              <a:rect l="l" t="t" r="r" b="b"/>
              <a:pathLst>
                <a:path w="7124700" h="1362709">
                  <a:moveTo>
                    <a:pt x="0" y="1362455"/>
                  </a:moveTo>
                  <a:lnTo>
                    <a:pt x="7124700" y="1362455"/>
                  </a:lnTo>
                  <a:lnTo>
                    <a:pt x="7124700" y="0"/>
                  </a:lnTo>
                  <a:lnTo>
                    <a:pt x="0" y="0"/>
                  </a:lnTo>
                  <a:lnTo>
                    <a:pt x="0" y="13624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356" y="-4572"/>
            <a:ext cx="4772660" cy="6868159"/>
            <a:chOff x="7420356" y="-4572"/>
            <a:chExt cx="4772660" cy="6868159"/>
          </a:xfrm>
        </p:grpSpPr>
        <p:sp>
          <p:nvSpPr>
            <p:cNvPr id="3" name="object 3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4928" y="3681983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100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484" y="0"/>
                  </a:lnTo>
                  <a:lnTo>
                    <a:pt x="0" y="6858000"/>
                  </a:lnTo>
                  <a:lnTo>
                    <a:pt x="3006852" y="6858000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>
                  <a:moveTo>
                    <a:pt x="2587665" y="0"/>
                  </a:moveTo>
                  <a:lnTo>
                    <a:pt x="0" y="0"/>
                  </a:lnTo>
                  <a:lnTo>
                    <a:pt x="1208191" y="6858000"/>
                  </a:lnTo>
                  <a:lnTo>
                    <a:pt x="2587665" y="6858000"/>
                  </a:lnTo>
                  <a:lnTo>
                    <a:pt x="2587665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>
                  <a:moveTo>
                    <a:pt x="2851161" y="0"/>
                  </a:moveTo>
                  <a:lnTo>
                    <a:pt x="0" y="0"/>
                  </a:lnTo>
                  <a:lnTo>
                    <a:pt x="2467621" y="6858000"/>
                  </a:lnTo>
                  <a:lnTo>
                    <a:pt x="2851161" y="6858000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828" y="0"/>
                  </a:moveTo>
                  <a:lnTo>
                    <a:pt x="1018959" y="0"/>
                  </a:lnTo>
                  <a:lnTo>
                    <a:pt x="0" y="6858000"/>
                  </a:lnTo>
                  <a:lnTo>
                    <a:pt x="1290828" y="6858000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>
                  <a:moveTo>
                    <a:pt x="1248203" y="0"/>
                  </a:moveTo>
                  <a:lnTo>
                    <a:pt x="0" y="0"/>
                  </a:lnTo>
                  <a:lnTo>
                    <a:pt x="1107741" y="6858000"/>
                  </a:lnTo>
                  <a:lnTo>
                    <a:pt x="1248203" y="685800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7768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b="0" spc="-10" dirty="0">
                <a:latin typeface="Trebuchet MS"/>
                <a:cs typeface="Trebuchet MS"/>
              </a:rPr>
              <a:t>Exploring</a:t>
            </a:r>
            <a:r>
              <a:rPr b="0" dirty="0">
                <a:latin typeface="Trebuchet MS"/>
                <a:cs typeface="Trebuchet MS"/>
              </a:rPr>
              <a:t>	Binary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Categorical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Data</a:t>
            </a: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9407" y="3590544"/>
            <a:ext cx="3212592" cy="326745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7451" y="1157478"/>
            <a:ext cx="891476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9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Bar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charts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tool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displaying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single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categorical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variable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Categories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x-</a:t>
            </a:r>
            <a:r>
              <a:rPr sz="2400" dirty="0">
                <a:latin typeface="Times New Roman"/>
                <a:cs typeface="Times New Roman"/>
              </a:rPr>
              <a:t>axis,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frequencies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pro-</a:t>
            </a:r>
            <a:r>
              <a:rPr sz="2400" dirty="0">
                <a:latin typeface="Times New Roman"/>
                <a:cs typeface="Times New Roman"/>
              </a:rPr>
              <a:t>portions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y-</a:t>
            </a:r>
            <a:r>
              <a:rPr sz="2400" spc="-20" dirty="0">
                <a:latin typeface="Times New Roman"/>
                <a:cs typeface="Times New Roman"/>
              </a:rPr>
              <a:t>axis.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01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airport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year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Dallas/Fort </a:t>
            </a:r>
            <a:r>
              <a:rPr sz="2400" dirty="0">
                <a:latin typeface="Times New Roman"/>
                <a:cs typeface="Times New Roman"/>
              </a:rPr>
              <a:t>Worth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(DFW),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produced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bar </a:t>
            </a:r>
            <a:r>
              <a:rPr sz="2400" dirty="0">
                <a:latin typeface="Times New Roman"/>
                <a:cs typeface="Times New Roman"/>
              </a:rPr>
              <a:t>charts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frames: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9184" y="3590542"/>
            <a:ext cx="11882120" cy="3276600"/>
            <a:chOff x="329184" y="3590542"/>
            <a:chExt cx="11882120" cy="32766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184" y="4572000"/>
              <a:ext cx="5352288" cy="9433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3415" y="3678936"/>
              <a:ext cx="3148583" cy="31501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024365" y="3659885"/>
              <a:ext cx="3168015" cy="3188335"/>
            </a:xfrm>
            <a:custGeom>
              <a:avLst/>
              <a:gdLst/>
              <a:ahLst/>
              <a:cxnLst/>
              <a:rect l="l" t="t" r="r" b="b"/>
              <a:pathLst>
                <a:path w="3168015" h="3188334">
                  <a:moveTo>
                    <a:pt x="3167633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3167633" y="318820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3663" y="3590542"/>
              <a:ext cx="3392424" cy="32674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7672" y="3654550"/>
              <a:ext cx="3209544" cy="31744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38622" y="3635500"/>
              <a:ext cx="3248025" cy="3213100"/>
            </a:xfrm>
            <a:custGeom>
              <a:avLst/>
              <a:gdLst/>
              <a:ahLst/>
              <a:cxnLst/>
              <a:rect l="l" t="t" r="r" b="b"/>
              <a:pathLst>
                <a:path w="3248025" h="3213100">
                  <a:moveTo>
                    <a:pt x="0" y="3212592"/>
                  </a:moveTo>
                  <a:lnTo>
                    <a:pt x="3247644" y="3212592"/>
                  </a:lnTo>
                  <a:lnTo>
                    <a:pt x="3247644" y="0"/>
                  </a:lnTo>
                  <a:lnTo>
                    <a:pt x="0" y="0"/>
                  </a:lnTo>
                  <a:lnTo>
                    <a:pt x="0" y="321259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7768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b="0" spc="-10" dirty="0">
                <a:latin typeface="Trebuchet MS"/>
                <a:cs typeface="Trebuchet MS"/>
              </a:rPr>
              <a:t>Exploring</a:t>
            </a:r>
            <a:r>
              <a:rPr b="0" dirty="0">
                <a:latin typeface="Trebuchet MS"/>
                <a:cs typeface="Trebuchet MS"/>
              </a:rPr>
              <a:t>	Binary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Categorical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017292"/>
            <a:ext cx="8926195" cy="29254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bar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chart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resembles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histogram</a:t>
            </a:r>
            <a:r>
              <a:rPr sz="2400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bar</a:t>
            </a:r>
            <a:r>
              <a:rPr sz="2200" b="1" spc="1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chart</a:t>
            </a:r>
            <a:r>
              <a:rPr sz="2200" b="1" spc="2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x-</a:t>
            </a:r>
            <a:r>
              <a:rPr sz="2200" b="1" dirty="0">
                <a:latin typeface="Times New Roman"/>
                <a:cs typeface="Times New Roman"/>
              </a:rPr>
              <a:t>axis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represents</a:t>
            </a:r>
            <a:r>
              <a:rPr sz="2200" b="1" spc="2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different</a:t>
            </a:r>
            <a:r>
              <a:rPr sz="2200" b="1" spc="2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categories</a:t>
            </a:r>
            <a:r>
              <a:rPr sz="2200" b="1" spc="229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factor </a:t>
            </a:r>
            <a:r>
              <a:rPr sz="2200" b="1" dirty="0">
                <a:latin typeface="Times New Roman"/>
                <a:cs typeface="Times New Roman"/>
              </a:rPr>
              <a:t>variable,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while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histogram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x-</a:t>
            </a:r>
            <a:r>
              <a:rPr sz="2200" b="1" dirty="0">
                <a:latin typeface="Times New Roman"/>
                <a:cs typeface="Times New Roman"/>
              </a:rPr>
              <a:t>axis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represents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values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single </a:t>
            </a:r>
            <a:r>
              <a:rPr sz="2200" b="1" dirty="0">
                <a:latin typeface="Times New Roman"/>
                <a:cs typeface="Times New Roman"/>
              </a:rPr>
              <a:t>variable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numeric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scale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65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histogram,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bars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typically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shown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touching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other,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endParaRPr sz="2200">
              <a:latin typeface="Times New Roman"/>
              <a:cs typeface="Times New Roman"/>
            </a:endParaRPr>
          </a:p>
          <a:p>
            <a:pPr marL="756285" algn="just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gaps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chart,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separate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another.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08320" y="3860290"/>
            <a:ext cx="6588759" cy="3016885"/>
            <a:chOff x="5608320" y="3860290"/>
            <a:chExt cx="6588759" cy="3016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276" y="3889247"/>
              <a:ext cx="3506724" cy="29687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80704" y="3884674"/>
              <a:ext cx="3511550" cy="2973705"/>
            </a:xfrm>
            <a:custGeom>
              <a:avLst/>
              <a:gdLst/>
              <a:ahLst/>
              <a:cxnLst/>
              <a:rect l="l" t="t" r="r" b="b"/>
              <a:pathLst>
                <a:path w="3511550" h="2973704">
                  <a:moveTo>
                    <a:pt x="3511296" y="0"/>
                  </a:moveTo>
                  <a:lnTo>
                    <a:pt x="0" y="0"/>
                  </a:lnTo>
                  <a:lnTo>
                    <a:pt x="0" y="297332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20" y="3860290"/>
              <a:ext cx="3148583" cy="29977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2328" y="3924299"/>
              <a:ext cx="2965704" cy="29337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53278" y="3905248"/>
              <a:ext cx="3004185" cy="2952750"/>
            </a:xfrm>
            <a:custGeom>
              <a:avLst/>
              <a:gdLst/>
              <a:ahLst/>
              <a:cxnLst/>
              <a:rect l="l" t="t" r="r" b="b"/>
              <a:pathLst>
                <a:path w="3004184" h="2952750">
                  <a:moveTo>
                    <a:pt x="3003804" y="2952751"/>
                  </a:moveTo>
                  <a:lnTo>
                    <a:pt x="3003804" y="0"/>
                  </a:lnTo>
                  <a:lnTo>
                    <a:pt x="0" y="0"/>
                  </a:lnTo>
                  <a:lnTo>
                    <a:pt x="0" y="295275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05" y="291795"/>
            <a:ext cx="7768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5970" algn="l"/>
              </a:tabLst>
            </a:pPr>
            <a:r>
              <a:rPr b="0" spc="-10" dirty="0">
                <a:latin typeface="Trebuchet MS"/>
                <a:cs typeface="Trebuchet MS"/>
              </a:rPr>
              <a:t>Exploring</a:t>
            </a:r>
            <a:r>
              <a:rPr b="0" dirty="0">
                <a:latin typeface="Trebuchet MS"/>
                <a:cs typeface="Trebuchet MS"/>
              </a:rPr>
              <a:t>	Binary</a:t>
            </a:r>
            <a:r>
              <a:rPr b="0" spc="-3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and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Categorical</a:t>
            </a:r>
            <a:r>
              <a:rPr b="0" spc="-3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6086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Pie</a:t>
            </a:r>
            <a:r>
              <a:rPr sz="2400" b="1" spc="4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charts</a:t>
            </a:r>
            <a:r>
              <a:rPr sz="2400" b="1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alternative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bar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charts,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although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statisticians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visualization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experts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generally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avoid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pie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charts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less </a:t>
            </a:r>
            <a:r>
              <a:rPr sz="2400" dirty="0">
                <a:latin typeface="Times New Roman"/>
                <a:cs typeface="Times New Roman"/>
              </a:rPr>
              <a:t>visually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informative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rebuchet MS"/>
                <a:cs typeface="Trebuchet MS"/>
              </a:rPr>
              <a:t>Exploring</a:t>
            </a:r>
            <a:r>
              <a:rPr sz="3200" b="0" spc="-75" dirty="0">
                <a:latin typeface="Trebuchet MS"/>
                <a:cs typeface="Trebuchet MS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Binary</a:t>
            </a:r>
            <a:r>
              <a:rPr sz="3200" b="0" spc="-70" dirty="0">
                <a:latin typeface="Trebuchet MS"/>
                <a:cs typeface="Trebuchet MS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and</a:t>
            </a:r>
            <a:r>
              <a:rPr sz="3200" b="0" spc="-80" dirty="0">
                <a:latin typeface="Trebuchet MS"/>
                <a:cs typeface="Trebuchet MS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Categorical</a:t>
            </a:r>
            <a:r>
              <a:rPr sz="3200" b="0" spc="-65" dirty="0">
                <a:latin typeface="Trebuchet MS"/>
                <a:cs typeface="Trebuchet MS"/>
              </a:rPr>
              <a:t> </a:t>
            </a:r>
            <a:r>
              <a:rPr sz="3200" b="0" dirty="0">
                <a:latin typeface="Trebuchet MS"/>
                <a:cs typeface="Trebuchet MS"/>
              </a:rPr>
              <a:t>Data:</a:t>
            </a:r>
            <a:r>
              <a:rPr sz="3200" b="0" spc="-70" dirty="0">
                <a:latin typeface="Trebuchet MS"/>
                <a:cs typeface="Trebuchet MS"/>
              </a:rPr>
              <a:t> </a:t>
            </a:r>
            <a:r>
              <a:rPr sz="3200" b="0" spc="-20" dirty="0">
                <a:latin typeface="Trebuchet MS"/>
                <a:cs typeface="Trebuchet MS"/>
              </a:rPr>
              <a:t>Mode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030732"/>
            <a:ext cx="8735060" cy="30943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value/values,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appears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most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often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Dallas/Fort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Worth </a:t>
            </a:r>
            <a:r>
              <a:rPr sz="2400" dirty="0">
                <a:latin typeface="Times New Roman"/>
                <a:cs typeface="Times New Roman"/>
              </a:rPr>
              <a:t>airport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“Inbound.”</a:t>
            </a:r>
            <a:endParaRPr sz="2400" dirty="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 example,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religious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preference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would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Christian.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summary statistic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categorical</a:t>
            </a:r>
            <a:r>
              <a:rPr sz="2400" dirty="0">
                <a:latin typeface="Times New Roman"/>
                <a:cs typeface="Times New Roman"/>
              </a:rPr>
              <a:t> data,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generally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numeric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Trebuchet MS"/>
                <a:cs typeface="Trebuchet MS"/>
              </a:rPr>
              <a:t>Exploring</a:t>
            </a:r>
            <a:r>
              <a:rPr sz="2800" b="0" spc="-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Binary</a:t>
            </a:r>
            <a:r>
              <a:rPr sz="2800" b="0" spc="-9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and</a:t>
            </a:r>
            <a:r>
              <a:rPr sz="2800" b="0" spc="-1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Categorical</a:t>
            </a:r>
            <a:r>
              <a:rPr sz="2800" b="0" spc="-6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Data:</a:t>
            </a:r>
            <a:r>
              <a:rPr sz="2800" b="0" spc="-9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Expected</a:t>
            </a:r>
            <a:r>
              <a:rPr sz="2800" b="0" spc="-8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Value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091946"/>
            <a:ext cx="8852535" cy="50684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375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713105" algn="l"/>
                <a:tab pos="1659889" algn="l"/>
                <a:tab pos="2312035" algn="l"/>
                <a:tab pos="2717800" algn="l"/>
                <a:tab pos="4191635" algn="l"/>
                <a:tab pos="4891405" algn="l"/>
                <a:tab pos="5249545" algn="l"/>
                <a:tab pos="5886450" algn="l"/>
                <a:tab pos="6273800" algn="l"/>
                <a:tab pos="7128509" algn="l"/>
                <a:tab pos="7642225" algn="l"/>
              </a:tabLst>
            </a:pP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special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type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categorical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20" dirty="0">
                <a:latin typeface="Times New Roman"/>
                <a:cs typeface="Times New Roman"/>
              </a:rPr>
              <a:t>data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which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categories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</a:pPr>
            <a:r>
              <a:rPr sz="2200" b="1" spc="-10" dirty="0">
                <a:latin typeface="Times New Roman"/>
                <a:cs typeface="Times New Roman"/>
              </a:rPr>
              <a:t>represent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mapped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discrete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values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same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scale.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00"/>
              </a:lnSpc>
              <a:spcBef>
                <a:spcPts val="97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  <a:tab pos="707390" algn="l"/>
                <a:tab pos="1938655" algn="l"/>
                <a:tab pos="2443480" algn="l"/>
                <a:tab pos="2726690" algn="l"/>
                <a:tab pos="3383915" algn="l"/>
                <a:tab pos="4208145" algn="l"/>
                <a:tab pos="5767705" algn="l"/>
                <a:tab pos="6270625" algn="l"/>
                <a:tab pos="7527925" algn="l"/>
                <a:tab pos="8381365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marketer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new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cloud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technology,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example,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offers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levels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service,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priced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$300/month</a:t>
            </a: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another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$50/month.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80000"/>
              </a:lnSpc>
              <a:spcBef>
                <a:spcPts val="99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  <a:tab pos="963294" algn="l"/>
                <a:tab pos="2179955" algn="l"/>
                <a:tab pos="3018155" algn="l"/>
                <a:tab pos="3626485" algn="l"/>
                <a:tab pos="4860925" algn="l"/>
                <a:tab pos="5232400" algn="l"/>
                <a:tab pos="6396990" algn="l"/>
                <a:tab pos="7233920" algn="l"/>
                <a:tab pos="7808595" algn="l"/>
                <a:tab pos="8314690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marketer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offers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free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webinars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generate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leads,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firm </a:t>
            </a:r>
            <a:r>
              <a:rPr sz="2400" dirty="0">
                <a:latin typeface="Times New Roman"/>
                <a:cs typeface="Times New Roman"/>
              </a:rPr>
              <a:t>figures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48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650" algn="l"/>
              </a:tabLst>
            </a:pPr>
            <a:r>
              <a:rPr sz="2200" dirty="0">
                <a:latin typeface="Times New Roman"/>
                <a:cs typeface="Times New Roman"/>
              </a:rPr>
              <a:t>5%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attendees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$300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service,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15%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$50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80%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sign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anything.</a:t>
            </a:r>
            <a:endParaRPr sz="22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80300"/>
              </a:lnSpc>
              <a:spcBef>
                <a:spcPts val="99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summed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up,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financial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purposes,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single </a:t>
            </a:r>
            <a:r>
              <a:rPr sz="2400" dirty="0">
                <a:latin typeface="Times New Roman"/>
                <a:cs typeface="Times New Roman"/>
              </a:rPr>
              <a:t>“expected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value,”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weighted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mean,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weights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probabilities.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Trebuchet MS"/>
                <a:cs typeface="Trebuchet MS"/>
              </a:rPr>
              <a:t>Exploring</a:t>
            </a:r>
            <a:r>
              <a:rPr sz="2800" b="0" spc="-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Binary</a:t>
            </a:r>
            <a:r>
              <a:rPr sz="2800" b="0" spc="-9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and</a:t>
            </a:r>
            <a:r>
              <a:rPr sz="2800" b="0" spc="-1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Categorical</a:t>
            </a:r>
            <a:r>
              <a:rPr sz="2800" b="0" spc="-6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Data:</a:t>
            </a:r>
            <a:r>
              <a:rPr sz="2800" b="0" spc="-9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Expected</a:t>
            </a:r>
            <a:r>
              <a:rPr sz="2800" b="0" spc="-8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Value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451" y="1017358"/>
            <a:ext cx="8868410" cy="491680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5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expected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follows:</a:t>
            </a:r>
            <a:endParaRPr sz="24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740"/>
              </a:spcBef>
              <a:buClr>
                <a:srgbClr val="90C225"/>
              </a:buClr>
              <a:buSzPct val="79545"/>
              <a:buAutoNum type="arabicPeriod"/>
              <a:tabLst>
                <a:tab pos="927100" algn="l"/>
              </a:tabLst>
            </a:pPr>
            <a:r>
              <a:rPr sz="2200" b="1" dirty="0">
                <a:latin typeface="Times New Roman"/>
                <a:cs typeface="Times New Roman"/>
              </a:rPr>
              <a:t>Multiply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each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outcome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by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its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probability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occurrence.</a:t>
            </a:r>
            <a:endParaRPr sz="22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745"/>
              </a:spcBef>
              <a:buClr>
                <a:srgbClr val="90C225"/>
              </a:buClr>
              <a:buSzPct val="79545"/>
              <a:buAutoNum type="arabicPeriod"/>
              <a:tabLst>
                <a:tab pos="927100" algn="l"/>
              </a:tabLst>
            </a:pPr>
            <a:r>
              <a:rPr sz="2200" b="1" dirty="0">
                <a:latin typeface="Times New Roman"/>
                <a:cs typeface="Times New Roman"/>
              </a:rPr>
              <a:t>Sum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these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values.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103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  <a:tab pos="783590" algn="l"/>
                <a:tab pos="1330960" algn="l"/>
                <a:tab pos="2181225" algn="l"/>
                <a:tab pos="3217545" algn="l"/>
                <a:tab pos="4497705" algn="l"/>
                <a:tab pos="5045075" algn="l"/>
                <a:tab pos="6301105" algn="l"/>
                <a:tab pos="7136130" algn="l"/>
                <a:tab pos="7564755" algn="l"/>
                <a:tab pos="7874000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cloud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service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example,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expected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value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webinar </a:t>
            </a:r>
            <a:r>
              <a:rPr sz="2400" dirty="0">
                <a:latin typeface="Times New Roman"/>
                <a:cs typeface="Times New Roman"/>
              </a:rPr>
              <a:t>attendee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$</a:t>
            </a:r>
            <a:r>
              <a:rPr sz="2400" b="1" dirty="0">
                <a:latin typeface="Times New Roman"/>
                <a:cs typeface="Times New Roman"/>
              </a:rPr>
              <a:t>22.50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month, calculated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EV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(0.05)(300)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(0.15)(50)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(0.80)(0)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weighted </a:t>
            </a:r>
            <a:r>
              <a:rPr sz="2400" b="1" spc="-10" dirty="0">
                <a:latin typeface="Times New Roman"/>
                <a:cs typeface="Times New Roman"/>
              </a:rPr>
              <a:t>mean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6285" marR="644525" indent="-287020">
              <a:lnSpc>
                <a:spcPts val="2380"/>
              </a:lnSpc>
              <a:spcBef>
                <a:spcPts val="104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adds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ideas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future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expectations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probability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weights</a:t>
            </a:r>
            <a:r>
              <a:rPr sz="2200" spc="-10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subjective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judgment.</a:t>
            </a:r>
            <a:endParaRPr sz="2200">
              <a:latin typeface="Times New Roman"/>
              <a:cs typeface="Times New Roman"/>
            </a:endParaRPr>
          </a:p>
          <a:p>
            <a:pPr marL="355600" marR="384810" indent="-342900">
              <a:lnSpc>
                <a:spcPts val="2590"/>
              </a:lnSpc>
              <a:spcBef>
                <a:spcPts val="99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Expected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fundamental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capital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budgeting—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example,</a:t>
            </a:r>
            <a:endParaRPr sz="2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800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years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profits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acquisition,</a:t>
            </a:r>
            <a:r>
              <a:rPr sz="1600" spc="-25" dirty="0">
                <a:latin typeface="Times New Roman"/>
                <a:cs typeface="Times New Roman"/>
              </a:rPr>
              <a:t> 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651" y="6012586"/>
            <a:ext cx="65506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8125"/>
              <a:buFont typeface="Wingdings"/>
              <a:buChar char="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expected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cost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savings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patient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management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software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clinic.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1417" y="6141211"/>
            <a:ext cx="144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C9BA3-8E5F-6E70-78A6-4368AECE6A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50" smtClean="0"/>
              <a:t>16</a:t>
            </a:fld>
            <a:endParaRPr lang="en-US" spc="-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0224"/>
            <a:ext cx="12192000" cy="48066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0" dirty="0">
                <a:latin typeface="Trebuchet MS"/>
                <a:cs typeface="Trebuchet MS"/>
              </a:rPr>
              <a:t>Exploring</a:t>
            </a:r>
            <a:r>
              <a:rPr sz="2900" b="0" spc="-60" dirty="0">
                <a:latin typeface="Trebuchet MS"/>
                <a:cs typeface="Trebuchet MS"/>
              </a:rPr>
              <a:t> </a:t>
            </a:r>
            <a:r>
              <a:rPr sz="2900" b="0" dirty="0">
                <a:latin typeface="Trebuchet MS"/>
                <a:cs typeface="Trebuchet MS"/>
              </a:rPr>
              <a:t>Binary</a:t>
            </a:r>
            <a:r>
              <a:rPr sz="2900" b="0" spc="-30" dirty="0">
                <a:latin typeface="Trebuchet MS"/>
                <a:cs typeface="Trebuchet MS"/>
              </a:rPr>
              <a:t> </a:t>
            </a:r>
            <a:r>
              <a:rPr sz="2900" b="0" dirty="0">
                <a:latin typeface="Trebuchet MS"/>
                <a:cs typeface="Trebuchet MS"/>
              </a:rPr>
              <a:t>and</a:t>
            </a:r>
            <a:r>
              <a:rPr sz="2900" b="0" spc="-10" dirty="0">
                <a:latin typeface="Trebuchet MS"/>
                <a:cs typeface="Trebuchet MS"/>
              </a:rPr>
              <a:t> </a:t>
            </a:r>
            <a:r>
              <a:rPr sz="2900" b="0" dirty="0">
                <a:latin typeface="Trebuchet MS"/>
                <a:cs typeface="Trebuchet MS"/>
              </a:rPr>
              <a:t>Categorical</a:t>
            </a:r>
            <a:r>
              <a:rPr sz="2900" b="0" spc="-35" dirty="0">
                <a:latin typeface="Trebuchet MS"/>
                <a:cs typeface="Trebuchet MS"/>
              </a:rPr>
              <a:t> </a:t>
            </a:r>
            <a:r>
              <a:rPr sz="2900" b="0" dirty="0">
                <a:latin typeface="Trebuchet MS"/>
                <a:cs typeface="Trebuchet MS"/>
              </a:rPr>
              <a:t>Data:</a:t>
            </a:r>
            <a:r>
              <a:rPr sz="2900" b="0" spc="-25" dirty="0">
                <a:latin typeface="Trebuchet MS"/>
                <a:cs typeface="Trebuchet MS"/>
              </a:rPr>
              <a:t> </a:t>
            </a:r>
            <a:r>
              <a:rPr sz="2900" b="0" spc="-10" dirty="0">
                <a:latin typeface="Trebuchet MS"/>
                <a:cs typeface="Trebuchet MS"/>
              </a:rPr>
              <a:t>Probability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655" y="1316736"/>
            <a:ext cx="10218420" cy="4724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751" y="1128521"/>
            <a:ext cx="8914130" cy="54089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68300" marR="17780" indent="-342900" algn="just">
              <a:lnSpc>
                <a:spcPts val="2160"/>
              </a:lnSpc>
              <a:spcBef>
                <a:spcPts val="37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68300" algn="l"/>
              </a:tabLst>
            </a:pPr>
            <a:r>
              <a:rPr sz="2000" dirty="0">
                <a:latin typeface="Times New Roman"/>
                <a:cs typeface="Times New Roman"/>
              </a:rPr>
              <a:t>Exploratory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(whether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research)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229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examining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correlation</a:t>
            </a:r>
            <a:r>
              <a:rPr sz="2000" b="1" spc="229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among</a:t>
            </a:r>
            <a:r>
              <a:rPr sz="2000" b="1" spc="235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predictors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between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predictors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target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variable.</a:t>
            </a:r>
            <a:endParaRPr sz="2000">
              <a:latin typeface="Times New Roman"/>
              <a:cs typeface="Times New Roman"/>
            </a:endParaRPr>
          </a:p>
          <a:p>
            <a:pPr marL="367665" indent="-342265" algn="just">
              <a:lnSpc>
                <a:spcPct val="100000"/>
              </a:lnSpc>
              <a:spcBef>
                <a:spcPts val="72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67665" algn="l"/>
              </a:tabLst>
            </a:pPr>
            <a:r>
              <a:rPr sz="2000" spc="-25" dirty="0">
                <a:latin typeface="Times New Roman"/>
                <a:cs typeface="Times New Roman"/>
              </a:rPr>
              <a:t>Variables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(each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positively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correlated</a:t>
            </a:r>
            <a:endParaRPr sz="2000">
              <a:latin typeface="Times New Roman"/>
              <a:cs typeface="Times New Roman"/>
            </a:endParaRPr>
          </a:p>
          <a:p>
            <a:pPr marL="768985" lvl="1" indent="-286385" algn="just">
              <a:lnSpc>
                <a:spcPts val="2165"/>
              </a:lnSpc>
              <a:spcBef>
                <a:spcPts val="78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68985" algn="l"/>
              </a:tabLst>
            </a:pP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high</a:t>
            </a:r>
            <a:r>
              <a:rPr sz="1900" spc="2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values</a:t>
            </a:r>
            <a:r>
              <a:rPr sz="1900" spc="22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2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go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high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values</a:t>
            </a:r>
            <a:r>
              <a:rPr sz="1900" spc="22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Y,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2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low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values</a:t>
            </a:r>
            <a:r>
              <a:rPr sz="1900" spc="22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2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go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low</a:t>
            </a:r>
            <a:endParaRPr sz="1900">
              <a:latin typeface="Times New Roman"/>
              <a:cs typeface="Times New Roman"/>
            </a:endParaRPr>
          </a:p>
          <a:p>
            <a:pPr marL="768985" algn="just">
              <a:lnSpc>
                <a:spcPts val="2165"/>
              </a:lnSpc>
            </a:pPr>
            <a:r>
              <a:rPr sz="1900" dirty="0">
                <a:latin typeface="Times New Roman"/>
                <a:cs typeface="Times New Roman"/>
              </a:rPr>
              <a:t>values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Y.</a:t>
            </a:r>
            <a:endParaRPr sz="1900">
              <a:latin typeface="Times New Roman"/>
              <a:cs typeface="Times New Roman"/>
            </a:endParaRPr>
          </a:p>
          <a:p>
            <a:pPr marL="367665" indent="-342265" algn="just">
              <a:lnSpc>
                <a:spcPts val="2510"/>
              </a:lnSpc>
              <a:spcBef>
                <a:spcPts val="72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Y,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vice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versa,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endParaRPr sz="2200">
              <a:latin typeface="Times New Roman"/>
              <a:cs typeface="Times New Roman"/>
            </a:endParaRPr>
          </a:p>
          <a:p>
            <a:pPr marL="368300" algn="just">
              <a:lnSpc>
                <a:spcPts val="2510"/>
              </a:lnSpc>
            </a:pPr>
            <a:r>
              <a:rPr sz="2200" b="1" dirty="0">
                <a:latin typeface="Times New Roman"/>
                <a:cs typeface="Times New Roman"/>
              </a:rPr>
              <a:t>negatively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correlated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67665" indent="-342265" algn="just">
              <a:lnSpc>
                <a:spcPct val="100000"/>
              </a:lnSpc>
              <a:spcBef>
                <a:spcPts val="76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67665" algn="l"/>
              </a:tabLst>
            </a:pP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variables,</a:t>
            </a:r>
            <a:endParaRPr sz="2000">
              <a:latin typeface="Times New Roman"/>
              <a:cs typeface="Times New Roman"/>
            </a:endParaRPr>
          </a:p>
          <a:p>
            <a:pPr marL="768985" lvl="1" indent="-286385" algn="just">
              <a:lnSpc>
                <a:spcPts val="2165"/>
              </a:lnSpc>
              <a:spcBef>
                <a:spcPts val="78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68985" algn="l"/>
              </a:tabLst>
            </a:pPr>
            <a:r>
              <a:rPr sz="1900" dirty="0">
                <a:latin typeface="Times New Roman"/>
                <a:cs typeface="Times New Roman"/>
              </a:rPr>
              <a:t>perfectly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correlated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sense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goes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low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high: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v1: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{1,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2,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3}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v2:</a:t>
            </a:r>
            <a:endParaRPr sz="1900">
              <a:latin typeface="Times New Roman"/>
              <a:cs typeface="Times New Roman"/>
            </a:endParaRPr>
          </a:p>
          <a:p>
            <a:pPr marL="768985" algn="just">
              <a:lnSpc>
                <a:spcPts val="2165"/>
              </a:lnSpc>
            </a:pPr>
            <a:r>
              <a:rPr sz="1900" dirty="0">
                <a:latin typeface="Times New Roman"/>
                <a:cs typeface="Times New Roman"/>
              </a:rPr>
              <a:t>{4,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5,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6}</a:t>
            </a:r>
            <a:endParaRPr sz="1900">
              <a:latin typeface="Times New Roman"/>
              <a:cs typeface="Times New Roman"/>
            </a:endParaRPr>
          </a:p>
          <a:p>
            <a:pPr marL="768985" lvl="1" indent="-286385" algn="just">
              <a:lnSpc>
                <a:spcPct val="100000"/>
              </a:lnSpc>
              <a:spcBef>
                <a:spcPts val="770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6898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vector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sum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·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·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5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·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6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32.</a:t>
            </a:r>
            <a:endParaRPr sz="1900">
              <a:latin typeface="Times New Roman"/>
              <a:cs typeface="Times New Roman"/>
            </a:endParaRPr>
          </a:p>
          <a:p>
            <a:pPr marL="768350" lvl="1" indent="-285750" algn="just">
              <a:lnSpc>
                <a:spcPts val="2165"/>
              </a:lnSpc>
              <a:spcBef>
                <a:spcPts val="770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68350" algn="l"/>
              </a:tabLst>
            </a:pPr>
            <a:r>
              <a:rPr sz="1900" dirty="0">
                <a:latin typeface="Times New Roman"/>
                <a:cs typeface="Times New Roman"/>
              </a:rPr>
              <a:t>Now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try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shuffling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one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them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recalculating—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vector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sum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will</a:t>
            </a:r>
            <a:endParaRPr sz="1900">
              <a:latin typeface="Times New Roman"/>
              <a:cs typeface="Times New Roman"/>
            </a:endParaRPr>
          </a:p>
          <a:p>
            <a:pPr marL="768985" algn="just">
              <a:lnSpc>
                <a:spcPts val="2165"/>
              </a:lnSpc>
            </a:pPr>
            <a:r>
              <a:rPr sz="1900" dirty="0">
                <a:latin typeface="Times New Roman"/>
                <a:cs typeface="Times New Roman"/>
              </a:rPr>
              <a:t>never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higher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32.</a:t>
            </a:r>
            <a:endParaRPr sz="1900">
              <a:latin typeface="Times New Roman"/>
              <a:cs typeface="Times New Roman"/>
            </a:endParaRPr>
          </a:p>
          <a:p>
            <a:pPr marL="768985" marR="17780" lvl="1" indent="-287020" algn="just">
              <a:lnSpc>
                <a:spcPts val="2140"/>
              </a:lnSpc>
              <a:spcBef>
                <a:spcPts val="965"/>
              </a:spcBef>
              <a:buClr>
                <a:srgbClr val="90C225"/>
              </a:buClr>
              <a:buSzPct val="78947"/>
              <a:buFont typeface="Wingdings"/>
              <a:buChar char=""/>
              <a:tabLst>
                <a:tab pos="768985" algn="l"/>
              </a:tabLst>
            </a:pPr>
            <a:r>
              <a:rPr sz="1900" dirty="0">
                <a:latin typeface="Times New Roman"/>
                <a:cs typeface="Times New Roman"/>
              </a:rPr>
              <a:t>So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sum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products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could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used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metric;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is,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observed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sum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o</a:t>
            </a:r>
            <a:r>
              <a:rPr sz="1900" spc="-680" dirty="0">
                <a:latin typeface="Times New Roman"/>
                <a:cs typeface="Times New Roman"/>
              </a:rPr>
              <a:t>f</a:t>
            </a:r>
            <a:r>
              <a:rPr sz="1350" spc="-75" baseline="-30864" dirty="0">
                <a:solidFill>
                  <a:srgbClr val="90C225"/>
                </a:solidFill>
                <a:latin typeface="Trebuchet MS"/>
                <a:cs typeface="Trebuchet MS"/>
              </a:rPr>
              <a:t>1</a:t>
            </a:r>
            <a:r>
              <a:rPr sz="1350" spc="-60" baseline="-30864" dirty="0">
                <a:solidFill>
                  <a:srgbClr val="90C225"/>
                </a:solidFill>
                <a:latin typeface="Trebuchet MS"/>
                <a:cs typeface="Trebuchet MS"/>
              </a:rPr>
              <a:t>9</a:t>
            </a:r>
            <a:r>
              <a:rPr sz="1350" spc="195" baseline="-30864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32 </a:t>
            </a:r>
            <a:r>
              <a:rPr sz="1900" dirty="0">
                <a:latin typeface="Times New Roman"/>
                <a:cs typeface="Times New Roman"/>
              </a:rPr>
              <a:t>could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random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shufflings.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CD9E-EC6B-9B59-62E5-EB93263916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50" smtClean="0"/>
              <a:t>19</a:t>
            </a:fld>
            <a:endParaRPr lang="en-US" spc="-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869045" cy="422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standardized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variant: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correlation</a:t>
            </a:r>
            <a:r>
              <a:rPr sz="2400" b="1" spc="43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coefficient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correlation</a:t>
            </a:r>
            <a:r>
              <a:rPr sz="2400" b="1" spc="2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two</a:t>
            </a:r>
            <a:r>
              <a:rPr sz="2400" b="1" spc="2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variables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always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same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scale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8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490" dirty="0">
                <a:latin typeface="Times New Roman"/>
                <a:cs typeface="Times New Roman"/>
              </a:rPr>
              <a:t>  </a:t>
            </a:r>
            <a:r>
              <a:rPr sz="2400" b="1" i="1" dirty="0">
                <a:latin typeface="Times New Roman"/>
                <a:cs typeface="Times New Roman"/>
              </a:rPr>
              <a:t>Pearson’s</a:t>
            </a:r>
            <a:r>
              <a:rPr sz="2400" b="1" i="1" spc="484" dirty="0">
                <a:latin typeface="Times New Roman"/>
                <a:cs typeface="Times New Roman"/>
              </a:rPr>
              <a:t>  </a:t>
            </a:r>
            <a:r>
              <a:rPr sz="2400" b="1" i="1" dirty="0">
                <a:latin typeface="Times New Roman"/>
                <a:cs typeface="Times New Roman"/>
              </a:rPr>
              <a:t>correlation</a:t>
            </a:r>
            <a:r>
              <a:rPr sz="2400" b="1" i="1" spc="490" dirty="0">
                <a:latin typeface="Times New Roman"/>
                <a:cs typeface="Times New Roman"/>
              </a:rPr>
              <a:t>  </a:t>
            </a:r>
            <a:r>
              <a:rPr sz="2400" b="1" i="1" dirty="0">
                <a:latin typeface="Times New Roman"/>
                <a:cs typeface="Times New Roman"/>
              </a:rPr>
              <a:t>coefficient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48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49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multiply </a:t>
            </a:r>
            <a:r>
              <a:rPr sz="2400" dirty="0">
                <a:latin typeface="Times New Roman"/>
                <a:cs typeface="Times New Roman"/>
              </a:rPr>
              <a:t>deviations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times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those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deviations:</a:t>
            </a:r>
            <a:endParaRPr sz="24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correlation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coefficient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always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750" dirty="0">
                <a:solidFill>
                  <a:srgbClr val="90C225"/>
                </a:solidFill>
                <a:latin typeface="Wingdings"/>
                <a:cs typeface="Wingdings"/>
              </a:rPr>
              <a:t></a:t>
            </a:r>
            <a:r>
              <a:rPr sz="1750" spc="34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+1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(perfect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positive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correlation)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b="1" dirty="0">
                <a:latin typeface="Times New Roman"/>
                <a:cs typeface="Times New Roman"/>
              </a:rPr>
              <a:t>–1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(perfect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negative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correlation);</a:t>
            </a:r>
            <a:endParaRPr sz="2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6285" algn="l"/>
              </a:tabLst>
            </a:pPr>
            <a:r>
              <a:rPr sz="2200" b="1" dirty="0">
                <a:latin typeface="Times New Roman"/>
                <a:cs typeface="Times New Roman"/>
              </a:rPr>
              <a:t>0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correlation.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64579" y="3261359"/>
            <a:ext cx="6032500" cy="3601720"/>
            <a:chOff x="6164579" y="3261359"/>
            <a:chExt cx="6032500" cy="3601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799" y="3270503"/>
              <a:ext cx="4506467" cy="14813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39227" y="3265931"/>
              <a:ext cx="4516120" cy="1490980"/>
            </a:xfrm>
            <a:custGeom>
              <a:avLst/>
              <a:gdLst/>
              <a:ahLst/>
              <a:cxnLst/>
              <a:rect l="l" t="t" r="r" b="b"/>
              <a:pathLst>
                <a:path w="4516120" h="1490979">
                  <a:moveTo>
                    <a:pt x="0" y="1490471"/>
                  </a:moveTo>
                  <a:lnTo>
                    <a:pt x="4515612" y="1490471"/>
                  </a:lnTo>
                  <a:lnTo>
                    <a:pt x="4515612" y="0"/>
                  </a:lnTo>
                  <a:lnTo>
                    <a:pt x="0" y="0"/>
                  </a:lnTo>
                  <a:lnTo>
                    <a:pt x="0" y="149047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3723" y="4751831"/>
              <a:ext cx="6018276" cy="21061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69151" y="4747258"/>
              <a:ext cx="6022975" cy="2110740"/>
            </a:xfrm>
            <a:custGeom>
              <a:avLst/>
              <a:gdLst/>
              <a:ahLst/>
              <a:cxnLst/>
              <a:rect l="l" t="t" r="r" b="b"/>
              <a:pathLst>
                <a:path w="6022975" h="2110740">
                  <a:moveTo>
                    <a:pt x="6022848" y="0"/>
                  </a:moveTo>
                  <a:lnTo>
                    <a:pt x="0" y="0"/>
                  </a:lnTo>
                  <a:lnTo>
                    <a:pt x="0" y="211074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159002"/>
            <a:ext cx="8775700" cy="2291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Variables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2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association</a:t>
            </a:r>
            <a:r>
              <a:rPr sz="2200" b="1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2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not</a:t>
            </a:r>
            <a:r>
              <a:rPr sz="2200" b="1" spc="3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linear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correlation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coefficient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not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useful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metric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relationship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revenue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raised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tax </a:t>
            </a:r>
            <a:r>
              <a:rPr sz="2200" dirty="0">
                <a:latin typeface="Times New Roman"/>
                <a:cs typeface="Times New Roman"/>
              </a:rPr>
              <a:t>rates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increase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zero,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revenue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raised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increases.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  <a:tab pos="1590040" algn="l"/>
                <a:tab pos="2268220" algn="l"/>
                <a:tab pos="2761615" algn="l"/>
                <a:tab pos="3441700" algn="l"/>
                <a:tab pos="4197985" algn="l"/>
                <a:tab pos="4473575" algn="l"/>
                <a:tab pos="5122545" algn="l"/>
                <a:tab pos="5817870" algn="l"/>
                <a:tab pos="6371590" algn="l"/>
                <a:tab pos="7547609" algn="l"/>
                <a:tab pos="8421370" algn="l"/>
              </a:tabLst>
            </a:pPr>
            <a:r>
              <a:rPr sz="2200" spc="-10" dirty="0">
                <a:latin typeface="Times New Roman"/>
                <a:cs typeface="Times New Roman"/>
              </a:rPr>
              <a:t>However,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once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tax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rates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reach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high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level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approach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100%,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tax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avoidance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increases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revenue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actually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declines.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1217675"/>
            <a:ext cx="9339072" cy="5640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0895" y="902207"/>
            <a:ext cx="11713845" cy="5956300"/>
            <a:chOff x="310895" y="902207"/>
            <a:chExt cx="11713845" cy="5956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5" y="902207"/>
              <a:ext cx="9860280" cy="59557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9124" y="2569463"/>
              <a:ext cx="4555235" cy="36819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3131" y="2633472"/>
              <a:ext cx="4372356" cy="34991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14081" y="2614422"/>
              <a:ext cx="4410710" cy="3537585"/>
            </a:xfrm>
            <a:custGeom>
              <a:avLst/>
              <a:gdLst/>
              <a:ahLst/>
              <a:cxnLst/>
              <a:rect l="l" t="t" r="r" b="b"/>
              <a:pathLst>
                <a:path w="4410709" h="3537585">
                  <a:moveTo>
                    <a:pt x="0" y="3537204"/>
                  </a:moveTo>
                  <a:lnTo>
                    <a:pt x="4410456" y="3537204"/>
                  </a:lnTo>
                  <a:lnTo>
                    <a:pt x="4410456" y="0"/>
                  </a:lnTo>
                  <a:lnTo>
                    <a:pt x="0" y="0"/>
                  </a:lnTo>
                  <a:lnTo>
                    <a:pt x="0" y="353720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451" y="1108709"/>
            <a:ext cx="6452235" cy="48533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715" indent="-342900" algn="just">
              <a:lnSpc>
                <a:spcPct val="90000"/>
              </a:lnSpc>
              <a:spcBef>
                <a:spcPts val="459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ETFs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3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S&amp;P</a:t>
            </a:r>
            <a:r>
              <a:rPr sz="3000" spc="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500</a:t>
            </a:r>
            <a:r>
              <a:rPr sz="3000" spc="3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(SPY)</a:t>
            </a:r>
            <a:r>
              <a:rPr sz="3000" spc="3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Dow</a:t>
            </a:r>
            <a:r>
              <a:rPr sz="3000" spc="8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Jones</a:t>
            </a:r>
            <a:r>
              <a:rPr sz="3000" spc="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Index</a:t>
            </a:r>
            <a:r>
              <a:rPr sz="3000" spc="8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(DIA)</a:t>
            </a:r>
            <a:r>
              <a:rPr sz="3000" spc="8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have</a:t>
            </a:r>
            <a:r>
              <a:rPr sz="3000" b="1" spc="75" dirty="0">
                <a:latin typeface="Times New Roman"/>
                <a:cs typeface="Times New Roman"/>
              </a:rPr>
              <a:t>  </a:t>
            </a:r>
            <a:r>
              <a:rPr sz="3000" b="1" spc="-50" dirty="0">
                <a:latin typeface="Times New Roman"/>
                <a:cs typeface="Times New Roman"/>
              </a:rPr>
              <a:t>a </a:t>
            </a:r>
            <a:r>
              <a:rPr sz="3000" b="1" dirty="0">
                <a:latin typeface="Times New Roman"/>
                <a:cs typeface="Times New Roman"/>
              </a:rPr>
              <a:t>high</a:t>
            </a:r>
            <a:r>
              <a:rPr sz="3000" b="1" spc="-10" dirty="0">
                <a:latin typeface="Times New Roman"/>
                <a:cs typeface="Times New Roman"/>
              </a:rPr>
              <a:t> correlation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3240"/>
              </a:lnSpc>
              <a:spcBef>
                <a:spcPts val="105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Similarly,</a:t>
            </a:r>
            <a:r>
              <a:rPr sz="3000" spc="32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QQQ</a:t>
            </a:r>
            <a:r>
              <a:rPr sz="3000" spc="3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3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315" dirty="0">
                <a:latin typeface="Times New Roman"/>
                <a:cs typeface="Times New Roman"/>
              </a:rPr>
              <a:t>  </a:t>
            </a:r>
            <a:r>
              <a:rPr sz="3000" spc="-20" dirty="0">
                <a:latin typeface="Times New Roman"/>
                <a:cs typeface="Times New Roman"/>
              </a:rPr>
              <a:t>XLK, </a:t>
            </a:r>
            <a:r>
              <a:rPr sz="3000" dirty="0">
                <a:latin typeface="Times New Roman"/>
                <a:cs typeface="Times New Roman"/>
              </a:rPr>
              <a:t>composed</a:t>
            </a:r>
            <a:r>
              <a:rPr sz="3000" spc="530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mostly</a:t>
            </a:r>
            <a:r>
              <a:rPr sz="3000" spc="535" dirty="0">
                <a:latin typeface="Times New Roman"/>
                <a:cs typeface="Times New Roman"/>
              </a:rPr>
              <a:t>  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30" dirty="0">
                <a:latin typeface="Times New Roman"/>
                <a:cs typeface="Times New Roman"/>
              </a:rPr>
              <a:t>   </a:t>
            </a:r>
            <a:r>
              <a:rPr sz="3000" spc="-10" dirty="0">
                <a:latin typeface="Times New Roman"/>
                <a:cs typeface="Times New Roman"/>
              </a:rPr>
              <a:t>technology </a:t>
            </a:r>
            <a:r>
              <a:rPr sz="3000" dirty="0">
                <a:latin typeface="Times New Roman"/>
                <a:cs typeface="Times New Roman"/>
              </a:rPr>
              <a:t>companies,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positively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correlated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95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Defensive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ETFs,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such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those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tracking </a:t>
            </a:r>
            <a:r>
              <a:rPr sz="3000" dirty="0">
                <a:latin typeface="Times New Roman"/>
                <a:cs typeface="Times New Roman"/>
              </a:rPr>
              <a:t>gold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prices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(GLD),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oil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prices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(USO),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or </a:t>
            </a:r>
            <a:r>
              <a:rPr sz="3000" dirty="0">
                <a:latin typeface="Times New Roman"/>
                <a:cs typeface="Times New Roman"/>
              </a:rPr>
              <a:t>market</a:t>
            </a:r>
            <a:r>
              <a:rPr sz="3000" spc="5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volatility</a:t>
            </a:r>
            <a:r>
              <a:rPr sz="3000" spc="6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(VXX),</a:t>
            </a:r>
            <a:r>
              <a:rPr sz="3000" spc="6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tend</a:t>
            </a:r>
            <a:r>
              <a:rPr sz="3000" b="1" spc="5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to</a:t>
            </a:r>
            <a:r>
              <a:rPr sz="3000" b="1" spc="50" dirty="0">
                <a:latin typeface="Times New Roman"/>
                <a:cs typeface="Times New Roman"/>
              </a:rPr>
              <a:t>  </a:t>
            </a:r>
            <a:r>
              <a:rPr sz="3000" b="1" spc="-25" dirty="0">
                <a:latin typeface="Times New Roman"/>
                <a:cs typeface="Times New Roman"/>
              </a:rPr>
              <a:t>be </a:t>
            </a:r>
            <a:r>
              <a:rPr sz="3000" b="1" dirty="0">
                <a:latin typeface="Times New Roman"/>
                <a:cs typeface="Times New Roman"/>
              </a:rPr>
              <a:t>weakly</a:t>
            </a:r>
            <a:r>
              <a:rPr sz="3000" b="1" spc="3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or</a:t>
            </a:r>
            <a:r>
              <a:rPr sz="3000" b="1" spc="3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negatively</a:t>
            </a:r>
            <a:r>
              <a:rPr sz="3000" b="1" spc="3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correlated</a:t>
            </a:r>
            <a:r>
              <a:rPr sz="3000" b="1" spc="3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with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ETFs.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55180" y="1408175"/>
            <a:ext cx="5055870" cy="4160520"/>
            <a:chOff x="7155180" y="1408175"/>
            <a:chExt cx="5055870" cy="4160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5180" y="1408175"/>
              <a:ext cx="5036820" cy="4160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9188" y="1472183"/>
              <a:ext cx="4972811" cy="39776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00138" y="1453133"/>
              <a:ext cx="4992370" cy="4015740"/>
            </a:xfrm>
            <a:custGeom>
              <a:avLst/>
              <a:gdLst/>
              <a:ahLst/>
              <a:cxnLst/>
              <a:rect l="l" t="t" r="r" b="b"/>
              <a:pathLst>
                <a:path w="4992370" h="4015740">
                  <a:moveTo>
                    <a:pt x="4991861" y="0"/>
                  </a:moveTo>
                  <a:lnTo>
                    <a:pt x="0" y="0"/>
                  </a:lnTo>
                  <a:lnTo>
                    <a:pt x="0" y="4015740"/>
                  </a:lnTo>
                  <a:lnTo>
                    <a:pt x="4991861" y="401574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64117" y="6160888"/>
            <a:ext cx="119380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900" spc="-30" dirty="0">
                <a:solidFill>
                  <a:srgbClr val="90C225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8316" y="734568"/>
            <a:ext cx="6861048" cy="55595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7005" y="221691"/>
            <a:ext cx="2847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Trebuchet MS"/>
                <a:cs typeface="Trebuchet MS"/>
              </a:rPr>
              <a:t>Correlation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93FF1-B9D1-B452-9E82-1F7929C2EA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50" smtClean="0"/>
              <a:t>25</a:t>
            </a:fld>
            <a:endParaRPr lang="en-US" spc="-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49895" y="2150364"/>
            <a:ext cx="4646930" cy="4188460"/>
            <a:chOff x="7549895" y="2150364"/>
            <a:chExt cx="4646930" cy="4188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39" y="2159507"/>
              <a:ext cx="4632959" cy="41696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54467" y="2154936"/>
              <a:ext cx="4638040" cy="4178935"/>
            </a:xfrm>
            <a:custGeom>
              <a:avLst/>
              <a:gdLst/>
              <a:ahLst/>
              <a:cxnLst/>
              <a:rect l="l" t="t" r="r" b="b"/>
              <a:pathLst>
                <a:path w="4638040" h="4178935">
                  <a:moveTo>
                    <a:pt x="4637532" y="0"/>
                  </a:moveTo>
                  <a:lnTo>
                    <a:pt x="0" y="0"/>
                  </a:lnTo>
                  <a:lnTo>
                    <a:pt x="0" y="4178808"/>
                  </a:lnTo>
                  <a:lnTo>
                    <a:pt x="4637532" y="417880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Correlation: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0" dirty="0">
                <a:solidFill>
                  <a:srgbClr val="00AFEF"/>
                </a:solidFill>
                <a:latin typeface="Trebuchet MS"/>
                <a:cs typeface="Trebuchet MS"/>
              </a:rPr>
              <a:t>Scatterplots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87451" y="1154125"/>
            <a:ext cx="7473950" cy="466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25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standard</a:t>
            </a:r>
            <a:r>
              <a:rPr sz="3200" spc="320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way</a:t>
            </a:r>
            <a:r>
              <a:rPr sz="3200" spc="325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20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visualize</a:t>
            </a:r>
            <a:r>
              <a:rPr sz="3200" spc="330" dirty="0">
                <a:latin typeface="Times New Roman"/>
                <a:cs typeface="Times New Roman"/>
              </a:rPr>
              <a:t>  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b="1" dirty="0">
                <a:latin typeface="Times New Roman"/>
                <a:cs typeface="Times New Roman"/>
              </a:rPr>
              <a:t>relationship</a:t>
            </a:r>
            <a:r>
              <a:rPr sz="3200" b="1" spc="3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3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two</a:t>
            </a:r>
            <a:r>
              <a:rPr sz="3200" b="1" spc="3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measured</a:t>
            </a:r>
            <a:r>
              <a:rPr sz="3200" b="1" spc="32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data </a:t>
            </a:r>
            <a:r>
              <a:rPr sz="3200" b="1" dirty="0">
                <a:latin typeface="Times New Roman"/>
                <a:cs typeface="Times New Roman"/>
              </a:rPr>
              <a:t>variables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 with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scatterplot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x-</a:t>
            </a:r>
            <a:r>
              <a:rPr sz="3200" b="1" dirty="0">
                <a:latin typeface="Times New Roman"/>
                <a:cs typeface="Times New Roman"/>
              </a:rPr>
              <a:t>axis</a:t>
            </a:r>
            <a:r>
              <a:rPr sz="3200" b="1" spc="2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represents</a:t>
            </a:r>
            <a:r>
              <a:rPr sz="3200" spc="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variable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b="1" spc="-10" dirty="0">
                <a:latin typeface="Times New Roman"/>
                <a:cs typeface="Times New Roman"/>
              </a:rPr>
              <a:t>y-</a:t>
            </a:r>
            <a:r>
              <a:rPr sz="3200" b="1" dirty="0">
                <a:latin typeface="Times New Roman"/>
                <a:cs typeface="Times New Roman"/>
              </a:rPr>
              <a:t>axis</a:t>
            </a:r>
            <a:r>
              <a:rPr sz="3200" b="1" spc="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another,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point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graph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record.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See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Figure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1-</a:t>
            </a:r>
            <a:r>
              <a:rPr sz="3200" dirty="0">
                <a:latin typeface="Times New Roman"/>
                <a:cs typeface="Times New Roman"/>
              </a:rPr>
              <a:t>7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plot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correlation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1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daily</a:t>
            </a:r>
            <a:r>
              <a:rPr sz="3200" spc="1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returns</a:t>
            </a:r>
            <a:r>
              <a:rPr sz="3200" spc="1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1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ATT</a:t>
            </a:r>
            <a:r>
              <a:rPr sz="3200" spc="12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spc="-10" dirty="0">
                <a:latin typeface="Times New Roman"/>
                <a:cs typeface="Times New Roman"/>
              </a:rPr>
              <a:t>Verizon.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Correlation: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0" dirty="0">
                <a:solidFill>
                  <a:srgbClr val="00AFEF"/>
                </a:solidFill>
                <a:latin typeface="Trebuchet MS"/>
                <a:cs typeface="Trebuchet MS"/>
              </a:rPr>
              <a:t>Scatterplots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14916" y="4896610"/>
            <a:ext cx="2581910" cy="1965960"/>
            <a:chOff x="9614916" y="4896610"/>
            <a:chExt cx="2581910" cy="1965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4060" y="4905754"/>
              <a:ext cx="2567940" cy="19522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9488" y="4901182"/>
              <a:ext cx="2573020" cy="1957070"/>
            </a:xfrm>
            <a:custGeom>
              <a:avLst/>
              <a:gdLst/>
              <a:ahLst/>
              <a:cxnLst/>
              <a:rect l="l" t="t" r="r" b="b"/>
              <a:pathLst>
                <a:path w="2573020" h="1957070">
                  <a:moveTo>
                    <a:pt x="2572511" y="0"/>
                  </a:moveTo>
                  <a:lnTo>
                    <a:pt x="0" y="0"/>
                  </a:lnTo>
                  <a:lnTo>
                    <a:pt x="0" y="195681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4527" y="807719"/>
            <a:ext cx="11151235" cy="6069330"/>
            <a:chOff x="414527" y="807719"/>
            <a:chExt cx="11151235" cy="60693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527" y="807719"/>
              <a:ext cx="11151108" cy="3992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7351" y="4841746"/>
              <a:ext cx="2525268" cy="20162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359" y="4905754"/>
              <a:ext cx="2342388" cy="19522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52309" y="4886705"/>
              <a:ext cx="2380615" cy="1971675"/>
            </a:xfrm>
            <a:custGeom>
              <a:avLst/>
              <a:gdLst/>
              <a:ahLst/>
              <a:cxnLst/>
              <a:rect l="l" t="t" r="r" b="b"/>
              <a:pathLst>
                <a:path w="2380615" h="1971675">
                  <a:moveTo>
                    <a:pt x="2380488" y="1971294"/>
                  </a:moveTo>
                  <a:lnTo>
                    <a:pt x="2380488" y="0"/>
                  </a:lnTo>
                  <a:lnTo>
                    <a:pt x="0" y="0"/>
                  </a:lnTo>
                  <a:lnTo>
                    <a:pt x="0" y="197129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rebuchet MS"/>
                <a:cs typeface="Trebuchet MS"/>
              </a:rPr>
              <a:t>Correlation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19" y="1202434"/>
            <a:ext cx="10165080" cy="56555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3846398"/>
            <a:ext cx="7234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88029" algn="l"/>
              </a:tabLst>
            </a:pPr>
            <a:r>
              <a:rPr sz="4000" b="0" dirty="0">
                <a:latin typeface="Trebuchet MS"/>
                <a:cs typeface="Trebuchet MS"/>
              </a:rPr>
              <a:t>Exploring</a:t>
            </a:r>
            <a:r>
              <a:rPr sz="4000" b="0" spc="-90" dirty="0">
                <a:latin typeface="Trebuchet MS"/>
                <a:cs typeface="Trebuchet MS"/>
              </a:rPr>
              <a:t> </a:t>
            </a:r>
            <a:r>
              <a:rPr sz="4000" b="0" spc="-405" dirty="0">
                <a:latin typeface="Trebuchet MS"/>
                <a:cs typeface="Trebuchet MS"/>
              </a:rPr>
              <a:t>T</a:t>
            </a:r>
            <a:r>
              <a:rPr sz="4000" b="0" spc="165" dirty="0">
                <a:latin typeface="Trebuchet MS"/>
                <a:cs typeface="Trebuchet MS"/>
              </a:rPr>
              <a:t>wo</a:t>
            </a:r>
            <a:r>
              <a:rPr sz="4000" b="0" dirty="0">
                <a:latin typeface="Trebuchet MS"/>
                <a:cs typeface="Trebuchet MS"/>
              </a:rPr>
              <a:t>	or</a:t>
            </a:r>
            <a:r>
              <a:rPr sz="4000" b="0" spc="-60" dirty="0">
                <a:latin typeface="Trebuchet MS"/>
                <a:cs typeface="Trebuchet MS"/>
              </a:rPr>
              <a:t> </a:t>
            </a:r>
            <a:r>
              <a:rPr sz="4000" b="0" dirty="0">
                <a:latin typeface="Trebuchet MS"/>
                <a:cs typeface="Trebuchet MS"/>
              </a:rPr>
              <a:t>More</a:t>
            </a:r>
            <a:r>
              <a:rPr sz="4000" b="0" spc="-55" dirty="0">
                <a:latin typeface="Trebuchet MS"/>
                <a:cs typeface="Trebuchet MS"/>
              </a:rPr>
              <a:t> </a:t>
            </a:r>
            <a:r>
              <a:rPr sz="4000" b="0" spc="-25" dirty="0">
                <a:latin typeface="Trebuchet MS"/>
                <a:cs typeface="Trebuchet MS"/>
              </a:rPr>
              <a:t>Variables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rebuchet MS"/>
                <a:cs typeface="Trebuchet MS"/>
              </a:rPr>
              <a:t>Exploring</a:t>
            </a:r>
            <a:r>
              <a:rPr b="0" spc="-155" dirty="0">
                <a:latin typeface="Trebuchet MS"/>
                <a:cs typeface="Trebuchet MS"/>
              </a:rPr>
              <a:t> </a:t>
            </a:r>
            <a:r>
              <a:rPr b="0" spc="-465" dirty="0">
                <a:latin typeface="Trebuchet MS"/>
                <a:cs typeface="Trebuchet MS"/>
              </a:rPr>
              <a:t>T</a:t>
            </a:r>
            <a:r>
              <a:rPr b="0" spc="35" dirty="0">
                <a:latin typeface="Trebuchet MS"/>
                <a:cs typeface="Trebuchet MS"/>
              </a:rPr>
              <a:t>wo</a:t>
            </a:r>
            <a:r>
              <a:rPr b="0" spc="-7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or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More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7451" y="1157478"/>
            <a:ext cx="8914765" cy="333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Familiar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estimators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variance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univariate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Correlation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(see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“Correlation”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30)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important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compares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two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variables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bivariate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section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additional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plots,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more </a:t>
            </a:r>
            <a:r>
              <a:rPr sz="2400" b="1" dirty="0">
                <a:latin typeface="Times New Roman"/>
                <a:cs typeface="Times New Roman"/>
              </a:rPr>
              <a:t>than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two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variables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(multivariate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analysis)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bivariate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multivariate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numeric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categorical.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6" y="996695"/>
            <a:ext cx="10806683" cy="4864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Trebuchet MS"/>
                <a:cs typeface="Trebuchet MS"/>
              </a:rPr>
              <a:t>Hexagonal</a:t>
            </a:r>
            <a:r>
              <a:rPr sz="2000" b="0" spc="-60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Binning</a:t>
            </a:r>
            <a:r>
              <a:rPr sz="2000" b="0" spc="-50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and</a:t>
            </a:r>
            <a:r>
              <a:rPr sz="2000" b="0" spc="-35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Contours</a:t>
            </a:r>
            <a:r>
              <a:rPr sz="2000" b="0" spc="-50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(Plotting</a:t>
            </a:r>
            <a:r>
              <a:rPr sz="2000" b="0" spc="-45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Numeric</a:t>
            </a:r>
            <a:r>
              <a:rPr sz="2000" b="0" spc="-55" dirty="0">
                <a:latin typeface="Trebuchet MS"/>
                <a:cs typeface="Trebuchet MS"/>
              </a:rPr>
              <a:t> </a:t>
            </a:r>
            <a:r>
              <a:rPr sz="2000" b="0" spc="-10" dirty="0">
                <a:latin typeface="Trebuchet MS"/>
                <a:cs typeface="Trebuchet MS"/>
              </a:rPr>
              <a:t>Versus</a:t>
            </a:r>
            <a:r>
              <a:rPr sz="2000" b="0" spc="-40" dirty="0">
                <a:latin typeface="Trebuchet MS"/>
                <a:cs typeface="Trebuchet MS"/>
              </a:rPr>
              <a:t> </a:t>
            </a:r>
            <a:r>
              <a:rPr sz="2000" b="0" dirty="0">
                <a:latin typeface="Trebuchet MS"/>
                <a:cs typeface="Trebuchet MS"/>
              </a:rPr>
              <a:t>Numeric</a:t>
            </a:r>
            <a:r>
              <a:rPr sz="2000" b="0" spc="-55" dirty="0">
                <a:latin typeface="Trebuchet MS"/>
                <a:cs typeface="Trebuchet MS"/>
              </a:rPr>
              <a:t> </a:t>
            </a:r>
            <a:r>
              <a:rPr sz="2000" b="0" spc="-10" dirty="0">
                <a:latin typeface="Trebuchet MS"/>
                <a:cs typeface="Trebuchet MS"/>
              </a:rPr>
              <a:t>Data)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451" y="1032865"/>
            <a:ext cx="8806180" cy="3098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Scatterplots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relatively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values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1-7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750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points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hundreds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thousands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millions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records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scatterplot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relationship.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illustrate,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kc_tax,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tax-</a:t>
            </a:r>
            <a:r>
              <a:rPr sz="2000" dirty="0">
                <a:latin typeface="Times New Roman"/>
                <a:cs typeface="Times New Roman"/>
              </a:rPr>
              <a:t>assessed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residential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County,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Washington.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focus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 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very </a:t>
            </a:r>
            <a:r>
              <a:rPr sz="2000" dirty="0">
                <a:latin typeface="Times New Roman"/>
                <a:cs typeface="Times New Roman"/>
              </a:rPr>
              <a:t>small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residences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subset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function: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6292" y="4274820"/>
            <a:ext cx="2978150" cy="2588260"/>
            <a:chOff x="2336292" y="4274820"/>
            <a:chExt cx="2978150" cy="25882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8190" y="4360230"/>
              <a:ext cx="2673194" cy="24977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40864" y="4279392"/>
              <a:ext cx="2969260" cy="2578735"/>
            </a:xfrm>
            <a:custGeom>
              <a:avLst/>
              <a:gdLst/>
              <a:ahLst/>
              <a:cxnLst/>
              <a:rect l="l" t="t" r="r" b="b"/>
              <a:pathLst>
                <a:path w="2969260" h="2578734">
                  <a:moveTo>
                    <a:pt x="2968752" y="2578607"/>
                  </a:moveTo>
                  <a:lnTo>
                    <a:pt x="2968752" y="0"/>
                  </a:lnTo>
                  <a:lnTo>
                    <a:pt x="0" y="0"/>
                  </a:lnTo>
                  <a:lnTo>
                    <a:pt x="0" y="257860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4466844"/>
            <a:ext cx="6553200" cy="17571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Times New Roman"/>
                <a:cs typeface="Times New Roman"/>
              </a:rPr>
              <a:t>Hexagonal</a:t>
            </a:r>
            <a:r>
              <a:rPr sz="2800" b="0" spc="-90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Binning</a:t>
            </a:r>
            <a:r>
              <a:rPr sz="2800" b="0" spc="-8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(Plotting</a:t>
            </a:r>
            <a:r>
              <a:rPr sz="2800" b="0" spc="-10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Numeric</a:t>
            </a:r>
            <a:r>
              <a:rPr sz="2800" b="0" spc="-110" dirty="0">
                <a:latin typeface="Times New Roman"/>
                <a:cs typeface="Times New Roman"/>
              </a:rPr>
              <a:t> </a:t>
            </a:r>
            <a:r>
              <a:rPr sz="2800" b="0" spc="-40" dirty="0">
                <a:latin typeface="Times New Roman"/>
                <a:cs typeface="Times New Roman"/>
              </a:rPr>
              <a:t>Versus</a:t>
            </a:r>
            <a:r>
              <a:rPr sz="2800" b="0" spc="-90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Numeric</a:t>
            </a:r>
            <a:r>
              <a:rPr sz="2800" b="0" spc="-70" dirty="0">
                <a:latin typeface="Times New Roman"/>
                <a:cs typeface="Times New Roman"/>
              </a:rPr>
              <a:t> </a:t>
            </a:r>
            <a:r>
              <a:rPr sz="2800" b="0" spc="-10" dirty="0">
                <a:latin typeface="Times New Roman"/>
                <a:cs typeface="Times New Roman"/>
              </a:rPr>
              <a:t>Data)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08431" y="1030224"/>
            <a:ext cx="11311255" cy="5466715"/>
            <a:chOff x="408431" y="1030224"/>
            <a:chExt cx="11311255" cy="5466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431" y="1030224"/>
              <a:ext cx="11311128" cy="30891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007" y="4119372"/>
              <a:ext cx="11237976" cy="23774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5060" y="545591"/>
            <a:ext cx="6280403" cy="50886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latin typeface="Trebuchet MS"/>
                <a:cs typeface="Trebuchet MS"/>
              </a:rPr>
              <a:t>Hexagonal</a:t>
            </a:r>
            <a:r>
              <a:rPr sz="2400" b="0" spc="-114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Binning</a:t>
            </a:r>
            <a:r>
              <a:rPr sz="2400" b="0" spc="-10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(Plotting</a:t>
            </a:r>
            <a:r>
              <a:rPr sz="2400" b="0" spc="-10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Numeric</a:t>
            </a:r>
            <a:r>
              <a:rPr sz="2400" b="0" spc="-114" dirty="0">
                <a:latin typeface="Trebuchet MS"/>
                <a:cs typeface="Trebuchet MS"/>
              </a:rPr>
              <a:t> </a:t>
            </a:r>
            <a:r>
              <a:rPr sz="2400" b="0" spc="-10" dirty="0">
                <a:latin typeface="Trebuchet MS"/>
                <a:cs typeface="Trebuchet MS"/>
              </a:rPr>
              <a:t>Versus</a:t>
            </a:r>
            <a:r>
              <a:rPr sz="2400" b="0" spc="-105" dirty="0">
                <a:latin typeface="Trebuchet MS"/>
                <a:cs typeface="Trebuchet MS"/>
              </a:rPr>
              <a:t> </a:t>
            </a:r>
            <a:r>
              <a:rPr sz="2400" b="0" dirty="0">
                <a:latin typeface="Trebuchet MS"/>
                <a:cs typeface="Trebuchet MS"/>
              </a:rPr>
              <a:t>Numeric</a:t>
            </a:r>
            <a:r>
              <a:rPr sz="2400" b="0" spc="-114" dirty="0">
                <a:latin typeface="Trebuchet MS"/>
                <a:cs typeface="Trebuchet MS"/>
              </a:rPr>
              <a:t> </a:t>
            </a:r>
            <a:r>
              <a:rPr sz="2400" b="0" spc="-10" dirty="0">
                <a:latin typeface="Trebuchet MS"/>
                <a:cs typeface="Trebuchet MS"/>
              </a:rPr>
              <a:t>Data)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1716" y="5667755"/>
            <a:ext cx="5625083" cy="11902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008" y="941831"/>
            <a:ext cx="6793992" cy="59161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Trebuchet MS"/>
                <a:cs typeface="Trebuchet MS"/>
              </a:rPr>
              <a:t>Contours</a:t>
            </a:r>
            <a:r>
              <a:rPr sz="2800" b="0" spc="-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(Plotting</a:t>
            </a:r>
            <a:r>
              <a:rPr sz="2800" b="0" spc="-14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Numeric</a:t>
            </a:r>
            <a:r>
              <a:rPr sz="2800" b="0" spc="-15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Versus</a:t>
            </a:r>
            <a:r>
              <a:rPr sz="2800" b="0" spc="-13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Numeric</a:t>
            </a:r>
            <a:r>
              <a:rPr sz="2800" b="0" spc="-14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Data)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665" y="969010"/>
            <a:ext cx="5909945" cy="42824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55600" marR="6350" indent="-342900" algn="just">
              <a:lnSpc>
                <a:spcPct val="90100"/>
              </a:lnSpc>
              <a:spcBef>
                <a:spcPts val="35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Figure</a:t>
            </a:r>
            <a:r>
              <a:rPr sz="2200" spc="38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1-</a:t>
            </a:r>
            <a:r>
              <a:rPr sz="2200" dirty="0">
                <a:latin typeface="Times New Roman"/>
                <a:cs typeface="Times New Roman"/>
              </a:rPr>
              <a:t>9</a:t>
            </a:r>
            <a:r>
              <a:rPr sz="2200" spc="3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3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contours</a:t>
            </a:r>
            <a:r>
              <a:rPr sz="2200" spc="3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overlaid</a:t>
            </a:r>
            <a:r>
              <a:rPr sz="2200" spc="39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onto</a:t>
            </a:r>
            <a:r>
              <a:rPr sz="2200" spc="390" dirty="0">
                <a:latin typeface="Times New Roman"/>
                <a:cs typeface="Times New Roman"/>
              </a:rPr>
              <a:t> 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scatterplot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visualize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relationship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between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numeric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variables.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contours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essentially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topographical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map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variables;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contour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band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represents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density 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points, increasing 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0" dirty="0">
                <a:latin typeface="Times New Roman"/>
                <a:cs typeface="Times New Roman"/>
              </a:rPr>
              <a:t> nears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“peak.”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u="sng" spc="-2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3"/>
              </a:rPr>
              <a:t>KhanAcademy-</a:t>
            </a:r>
            <a:r>
              <a:rPr sz="2200" u="sng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3"/>
              </a:rPr>
              <a:t>Contours</a:t>
            </a:r>
            <a:r>
              <a:rPr sz="2200" u="sng" spc="5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200" u="sng" spc="-2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imes New Roman"/>
                <a:cs typeface="Times New Roman"/>
                <a:hlinkClick r:id="rId3"/>
              </a:rPr>
              <a:t>plot</a:t>
            </a:r>
            <a:endParaRPr sz="2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380"/>
              </a:lnSpc>
              <a:spcBef>
                <a:spcPts val="104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types</a:t>
            </a:r>
            <a:r>
              <a:rPr sz="2200" spc="1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charts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show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relationship</a:t>
            </a:r>
            <a:r>
              <a:rPr sz="2200" spc="27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2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2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numeric</a:t>
            </a:r>
            <a:r>
              <a:rPr sz="2200" spc="28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variables, </a:t>
            </a:r>
            <a:r>
              <a:rPr sz="2200" dirty="0">
                <a:latin typeface="Times New Roman"/>
                <a:cs typeface="Times New Roman"/>
              </a:rPr>
              <a:t>including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maps.</a:t>
            </a:r>
            <a:endParaRPr sz="22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ts val="216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Heat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maps,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hexagonal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binning,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contour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plots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3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3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visual</a:t>
            </a:r>
            <a:r>
              <a:rPr sz="2000" spc="3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3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4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two- </a:t>
            </a:r>
            <a:r>
              <a:rPr sz="2000" dirty="0">
                <a:latin typeface="Times New Roman"/>
                <a:cs typeface="Times New Roman"/>
              </a:rPr>
              <a:t>dimensional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density.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15" y="5286755"/>
            <a:ext cx="7057644" cy="12542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291795"/>
            <a:ext cx="6091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Two</a:t>
            </a:r>
            <a:r>
              <a:rPr sz="4000" spc="-229" dirty="0"/>
              <a:t> </a:t>
            </a:r>
            <a:r>
              <a:rPr sz="4000" dirty="0"/>
              <a:t>Categorical</a:t>
            </a:r>
            <a:r>
              <a:rPr sz="4000" spc="-204" dirty="0"/>
              <a:t> </a:t>
            </a:r>
            <a:r>
              <a:rPr sz="4000" spc="-10" dirty="0"/>
              <a:t>Variables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7606" y="1091565"/>
            <a:ext cx="6112510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4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useful</a:t>
            </a:r>
            <a:r>
              <a:rPr sz="2400" spc="29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way</a:t>
            </a:r>
            <a:r>
              <a:rPr sz="2400" spc="285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28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summarize</a:t>
            </a:r>
            <a:r>
              <a:rPr sz="2400" spc="290" dirty="0">
                <a:latin typeface="Trebuchet MS"/>
                <a:cs typeface="Trebuchet MS"/>
              </a:rPr>
              <a:t>   </a:t>
            </a:r>
            <a:r>
              <a:rPr sz="2400" spc="-25" dirty="0">
                <a:latin typeface="Trebuchet MS"/>
                <a:cs typeface="Trebuchet MS"/>
              </a:rPr>
              <a:t>two </a:t>
            </a:r>
            <a:r>
              <a:rPr sz="2400" dirty="0">
                <a:latin typeface="Trebuchet MS"/>
                <a:cs typeface="Trebuchet MS"/>
              </a:rPr>
              <a:t>categorical</a:t>
            </a:r>
            <a:r>
              <a:rPr sz="2400" spc="1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variables</a:t>
            </a:r>
            <a:r>
              <a:rPr sz="2400" spc="14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1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35" dirty="0">
                <a:latin typeface="Trebuchet MS"/>
                <a:cs typeface="Trebuchet MS"/>
              </a:rPr>
              <a:t>  </a:t>
            </a:r>
            <a:r>
              <a:rPr sz="2400" b="1" spc="-10" dirty="0">
                <a:latin typeface="Trebuchet MS"/>
                <a:cs typeface="Trebuchet MS"/>
              </a:rPr>
              <a:t>contingency table</a:t>
            </a:r>
            <a:r>
              <a:rPr sz="2400" spc="-10" dirty="0">
                <a:latin typeface="Trebuchet MS"/>
                <a:cs typeface="Trebuchet MS"/>
              </a:rPr>
              <a:t>—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table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counts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by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category.</a:t>
            </a:r>
            <a:endParaRPr sz="2200">
              <a:latin typeface="Trebuchet MS"/>
              <a:cs typeface="Trebuchet MS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Table</a:t>
            </a:r>
            <a:r>
              <a:rPr sz="2400" spc="-20" dirty="0">
                <a:latin typeface="Trebuchet MS"/>
                <a:cs typeface="Trebuchet MS"/>
              </a:rPr>
              <a:t>  1-</a:t>
            </a:r>
            <a:r>
              <a:rPr sz="2400" dirty="0">
                <a:latin typeface="Trebuchet MS"/>
                <a:cs typeface="Trebuchet MS"/>
              </a:rPr>
              <a:t>8</a:t>
            </a:r>
            <a:r>
              <a:rPr sz="2400" spc="-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shows</a:t>
            </a:r>
            <a:r>
              <a:rPr sz="2400" spc="-1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1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contingency</a:t>
            </a:r>
            <a:r>
              <a:rPr sz="2400" spc="-10" dirty="0">
                <a:latin typeface="Trebuchet MS"/>
                <a:cs typeface="Trebuchet MS"/>
              </a:rPr>
              <a:t>  table </a:t>
            </a:r>
            <a:r>
              <a:rPr sz="2400" dirty="0">
                <a:latin typeface="Trebuchet MS"/>
                <a:cs typeface="Trebuchet MS"/>
              </a:rPr>
              <a:t>between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grade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personal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loan</a:t>
            </a:r>
            <a:r>
              <a:rPr sz="2400" spc="-25" dirty="0">
                <a:latin typeface="Trebuchet MS"/>
                <a:cs typeface="Trebuchet MS"/>
              </a:rPr>
              <a:t> and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outcome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loan.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6871" y="650748"/>
            <a:ext cx="4770120" cy="55184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291795"/>
            <a:ext cx="54908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</a:tabLst>
            </a:pPr>
            <a:r>
              <a:rPr spc="-25" dirty="0"/>
              <a:t>Two</a:t>
            </a:r>
            <a:r>
              <a:rPr dirty="0"/>
              <a:t>	Categorical</a:t>
            </a:r>
            <a:r>
              <a:rPr spc="-25" dirty="0"/>
              <a:t> </a:t>
            </a:r>
            <a:r>
              <a:rPr spc="-2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606" y="931291"/>
            <a:ext cx="6187440" cy="52216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54330" marR="6985" indent="-342265" algn="just">
              <a:lnSpc>
                <a:spcPct val="90000"/>
              </a:lnSpc>
              <a:spcBef>
                <a:spcPts val="359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3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3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taken</a:t>
            </a:r>
            <a:r>
              <a:rPr sz="2200" spc="3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from</a:t>
            </a:r>
            <a:r>
              <a:rPr sz="2200" spc="3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3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provided</a:t>
            </a:r>
            <a:r>
              <a:rPr sz="2200" spc="3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by</a:t>
            </a:r>
            <a:r>
              <a:rPr sz="2200" spc="3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Lending 	</a:t>
            </a:r>
            <a:r>
              <a:rPr sz="2200" dirty="0">
                <a:latin typeface="Trebuchet MS"/>
                <a:cs typeface="Trebuchet MS"/>
              </a:rPr>
              <a:t>Club,</a:t>
            </a:r>
            <a:r>
              <a:rPr sz="2200" spc="1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1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leader</a:t>
            </a:r>
            <a:r>
              <a:rPr sz="2200" spc="1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in</a:t>
            </a:r>
            <a:r>
              <a:rPr sz="2200" spc="1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20" dirty="0">
                <a:latin typeface="Trebuchet MS"/>
                <a:cs typeface="Trebuchet MS"/>
              </a:rPr>
              <a:t>  </a:t>
            </a:r>
            <a:r>
              <a:rPr sz="2200" spc="-10" dirty="0">
                <a:latin typeface="Trebuchet MS"/>
                <a:cs typeface="Trebuchet MS"/>
              </a:rPr>
              <a:t>peer-to-</a:t>
            </a:r>
            <a:r>
              <a:rPr sz="2200" dirty="0">
                <a:latin typeface="Trebuchet MS"/>
                <a:cs typeface="Trebuchet MS"/>
              </a:rPr>
              <a:t>peer</a:t>
            </a:r>
            <a:r>
              <a:rPr sz="2200" spc="15" dirty="0">
                <a:latin typeface="Trebuchet MS"/>
                <a:cs typeface="Trebuchet MS"/>
              </a:rPr>
              <a:t>  </a:t>
            </a:r>
            <a:r>
              <a:rPr sz="2200" spc="-10" dirty="0">
                <a:latin typeface="Trebuchet MS"/>
                <a:cs typeface="Trebuchet MS"/>
              </a:rPr>
              <a:t>lending 	business.</a:t>
            </a:r>
            <a:endParaRPr sz="2200">
              <a:latin typeface="Trebuchet MS"/>
              <a:cs typeface="Trebuchet MS"/>
            </a:endParaRPr>
          </a:p>
          <a:p>
            <a:pPr marL="354965" indent="-342265" algn="just">
              <a:lnSpc>
                <a:spcPct val="100000"/>
              </a:lnSpc>
              <a:spcBef>
                <a:spcPts val="73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grade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goes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from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(</a:t>
            </a:r>
            <a:r>
              <a:rPr sz="2200" b="1" dirty="0">
                <a:latin typeface="Trebuchet MS"/>
                <a:cs typeface="Trebuchet MS"/>
              </a:rPr>
              <a:t>high</a:t>
            </a:r>
            <a:r>
              <a:rPr sz="2200" dirty="0">
                <a:latin typeface="Trebuchet MS"/>
                <a:cs typeface="Trebuchet MS"/>
              </a:rPr>
              <a:t>)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G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(</a:t>
            </a:r>
            <a:r>
              <a:rPr sz="2200" b="1" spc="-10" dirty="0">
                <a:latin typeface="Trebuchet MS"/>
                <a:cs typeface="Trebuchet MS"/>
              </a:rPr>
              <a:t>low</a:t>
            </a:r>
            <a:r>
              <a:rPr sz="2200" spc="-10" dirty="0">
                <a:latin typeface="Trebuchet MS"/>
                <a:cs typeface="Trebuchet MS"/>
              </a:rPr>
              <a:t>).</a:t>
            </a:r>
            <a:endParaRPr sz="2200">
              <a:latin typeface="Trebuchet MS"/>
              <a:cs typeface="Trebuchet MS"/>
            </a:endParaRPr>
          </a:p>
          <a:p>
            <a:pPr marL="354330" marR="8255" indent="-342265" algn="just">
              <a:lnSpc>
                <a:spcPct val="90100"/>
              </a:lnSpc>
              <a:spcBef>
                <a:spcPts val="10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outcome</a:t>
            </a:r>
            <a:r>
              <a:rPr sz="2200" spc="-3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4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either</a:t>
            </a:r>
            <a:r>
              <a:rPr sz="2200" spc="-40" dirty="0">
                <a:latin typeface="Trebuchet MS"/>
                <a:cs typeface="Trebuchet MS"/>
              </a:rPr>
              <a:t>  </a:t>
            </a:r>
            <a:r>
              <a:rPr sz="2200" b="1" dirty="0">
                <a:latin typeface="Trebuchet MS"/>
                <a:cs typeface="Trebuchet MS"/>
              </a:rPr>
              <a:t>fully</a:t>
            </a:r>
            <a:r>
              <a:rPr sz="2200" b="1" spc="-35" dirty="0">
                <a:latin typeface="Trebuchet MS"/>
                <a:cs typeface="Trebuchet MS"/>
              </a:rPr>
              <a:t>  </a:t>
            </a:r>
            <a:r>
              <a:rPr sz="2200" b="1" dirty="0">
                <a:latin typeface="Trebuchet MS"/>
                <a:cs typeface="Trebuchet MS"/>
              </a:rPr>
              <a:t>paid</a:t>
            </a:r>
            <a:r>
              <a:rPr sz="2200" dirty="0">
                <a:latin typeface="Trebuchet MS"/>
                <a:cs typeface="Trebuchet MS"/>
              </a:rPr>
              <a:t>,</a:t>
            </a:r>
            <a:r>
              <a:rPr sz="2200" spc="-45" dirty="0">
                <a:latin typeface="Trebuchet MS"/>
                <a:cs typeface="Trebuchet MS"/>
              </a:rPr>
              <a:t>  </a:t>
            </a:r>
            <a:r>
              <a:rPr sz="2200" b="1" spc="-10" dirty="0">
                <a:latin typeface="Trebuchet MS"/>
                <a:cs typeface="Trebuchet MS"/>
              </a:rPr>
              <a:t>current</a:t>
            </a:r>
            <a:r>
              <a:rPr sz="2200" spc="-10" dirty="0">
                <a:latin typeface="Trebuchet MS"/>
                <a:cs typeface="Trebuchet MS"/>
              </a:rPr>
              <a:t>, 	</a:t>
            </a:r>
            <a:r>
              <a:rPr sz="2200" b="1" dirty="0">
                <a:latin typeface="Trebuchet MS"/>
                <a:cs typeface="Trebuchet MS"/>
              </a:rPr>
              <a:t>late</a:t>
            </a:r>
            <a:r>
              <a:rPr sz="2200" dirty="0">
                <a:latin typeface="Trebuchet MS"/>
                <a:cs typeface="Trebuchet MS"/>
              </a:rPr>
              <a:t>,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or</a:t>
            </a:r>
            <a:r>
              <a:rPr sz="2200" spc="14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charged</a:t>
            </a:r>
            <a:r>
              <a:rPr sz="2200" b="1" spc="13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off</a:t>
            </a:r>
            <a:r>
              <a:rPr sz="2200" b="1" spc="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(the</a:t>
            </a:r>
            <a:r>
              <a:rPr sz="2200" spc="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balance</a:t>
            </a:r>
            <a:r>
              <a:rPr sz="2200" spc="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1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4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loan 	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not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expected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collected).</a:t>
            </a:r>
            <a:endParaRPr sz="2200">
              <a:latin typeface="Trebuchet MS"/>
              <a:cs typeface="Trebuchet MS"/>
            </a:endParaRPr>
          </a:p>
          <a:p>
            <a:pPr marL="354965" indent="-342265" algn="just">
              <a:lnSpc>
                <a:spcPts val="2510"/>
              </a:lnSpc>
              <a:spcBef>
                <a:spcPts val="73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145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table</a:t>
            </a:r>
            <a:r>
              <a:rPr sz="2200" spc="155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shows</a:t>
            </a:r>
            <a:r>
              <a:rPr sz="2200" spc="145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55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count</a:t>
            </a:r>
            <a:r>
              <a:rPr sz="2200" spc="150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150" dirty="0">
                <a:latin typeface="Trebuchet MS"/>
                <a:cs typeface="Trebuchet MS"/>
              </a:rPr>
              <a:t>   </a:t>
            </a:r>
            <a:r>
              <a:rPr sz="2200" spc="-25" dirty="0">
                <a:latin typeface="Trebuchet MS"/>
                <a:cs typeface="Trebuchet MS"/>
              </a:rPr>
              <a:t>row</a:t>
            </a:r>
            <a:endParaRPr sz="2200">
              <a:latin typeface="Trebuchet MS"/>
              <a:cs typeface="Trebuchet MS"/>
            </a:endParaRPr>
          </a:p>
          <a:p>
            <a:pPr marL="355600">
              <a:lnSpc>
                <a:spcPts val="2510"/>
              </a:lnSpc>
            </a:pPr>
            <a:r>
              <a:rPr sz="2200" spc="-10" dirty="0">
                <a:latin typeface="Trebuchet MS"/>
                <a:cs typeface="Trebuchet MS"/>
              </a:rPr>
              <a:t>percentages.</a:t>
            </a:r>
            <a:endParaRPr sz="2200">
              <a:latin typeface="Trebuchet MS"/>
              <a:cs typeface="Trebuchet MS"/>
            </a:endParaRPr>
          </a:p>
          <a:p>
            <a:pPr marL="354330" marR="5715" indent="-342265" algn="just">
              <a:lnSpc>
                <a:spcPts val="2380"/>
              </a:lnSpc>
              <a:spcBef>
                <a:spcPts val="103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spc="-10" dirty="0">
                <a:latin typeface="Trebuchet MS"/>
                <a:cs typeface="Trebuchet MS"/>
              </a:rPr>
              <a:t>High-</a:t>
            </a:r>
            <a:r>
              <a:rPr sz="2200" dirty="0">
                <a:latin typeface="Trebuchet MS"/>
                <a:cs typeface="Trebuchet MS"/>
              </a:rPr>
              <a:t>grade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loans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have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very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low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late/charge- 	</a:t>
            </a:r>
            <a:r>
              <a:rPr sz="2200" dirty="0">
                <a:latin typeface="Trebuchet MS"/>
                <a:cs typeface="Trebuchet MS"/>
              </a:rPr>
              <a:t>off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percentage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as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compared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with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lower-</a:t>
            </a:r>
            <a:r>
              <a:rPr sz="2200" spc="-10" dirty="0">
                <a:latin typeface="Trebuchet MS"/>
                <a:cs typeface="Trebuchet MS"/>
              </a:rPr>
              <a:t>grade 	loans.</a:t>
            </a:r>
            <a:endParaRPr sz="2200">
              <a:latin typeface="Trebuchet MS"/>
              <a:cs typeface="Trebuchet MS"/>
            </a:endParaRPr>
          </a:p>
          <a:p>
            <a:pPr marL="354330" marR="5080" indent="-342265" algn="just">
              <a:lnSpc>
                <a:spcPts val="238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Trebuchet MS"/>
                <a:cs typeface="Trebuchet MS"/>
              </a:rPr>
              <a:t>Contingency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tables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look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only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counts,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or 	</a:t>
            </a:r>
            <a:r>
              <a:rPr sz="2200" dirty="0">
                <a:latin typeface="Trebuchet MS"/>
                <a:cs typeface="Trebuchet MS"/>
              </a:rPr>
              <a:t>they</a:t>
            </a:r>
            <a:r>
              <a:rPr sz="2200" spc="27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2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also</a:t>
            </a:r>
            <a:r>
              <a:rPr sz="2200" spc="27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include</a:t>
            </a:r>
            <a:r>
              <a:rPr sz="2200" spc="28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column</a:t>
            </a:r>
            <a:r>
              <a:rPr sz="2200" spc="28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270" dirty="0">
                <a:latin typeface="Trebuchet MS"/>
                <a:cs typeface="Trebuchet MS"/>
              </a:rPr>
              <a:t>  </a:t>
            </a:r>
            <a:r>
              <a:rPr sz="2200" spc="-10" dirty="0">
                <a:latin typeface="Trebuchet MS"/>
                <a:cs typeface="Trebuchet MS"/>
              </a:rPr>
              <a:t>total 	percentages.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3928" y="784859"/>
            <a:ext cx="4768596" cy="55184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30224"/>
            <a:ext cx="10078720" cy="5828030"/>
            <a:chOff x="0" y="1030224"/>
            <a:chExt cx="10078720" cy="58280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008" y="1030224"/>
              <a:ext cx="9401556" cy="4914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016" y="5824727"/>
              <a:ext cx="4905756" cy="533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8" y="2375916"/>
              <a:ext cx="9328404" cy="322173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451" y="291795"/>
            <a:ext cx="54908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</a:tabLst>
            </a:pPr>
            <a:r>
              <a:rPr spc="-25" dirty="0"/>
              <a:t>Two</a:t>
            </a:r>
            <a:r>
              <a:rPr dirty="0"/>
              <a:t>	Categorical</a:t>
            </a:r>
            <a:r>
              <a:rPr spc="-25" dirty="0"/>
              <a:t> </a:t>
            </a:r>
            <a:r>
              <a:rPr spc="-20" dirty="0"/>
              <a:t>Variables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Categorical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Numeric</a:t>
            </a:r>
            <a:r>
              <a:rPr spc="-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606" y="964818"/>
            <a:ext cx="6129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  <a:tab pos="1551940" algn="l"/>
                <a:tab pos="2210435" algn="l"/>
                <a:tab pos="3877945" algn="l"/>
                <a:tab pos="4470400" algn="l"/>
                <a:tab pos="5815330" algn="l"/>
              </a:tabLst>
            </a:pPr>
            <a:r>
              <a:rPr sz="1750" spc="10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Boxplots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0" dirty="0">
                <a:latin typeface="Trebuchet MS"/>
                <a:cs typeface="Trebuchet MS"/>
              </a:rPr>
              <a:t>(see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“Percentiles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and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Boxplots”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811" y="1299794"/>
            <a:ext cx="359917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2169" algn="l"/>
                <a:tab pos="1493520" algn="l"/>
                <a:tab pos="2145665" algn="l"/>
                <a:tab pos="2538095" algn="l"/>
              </a:tabLst>
            </a:pPr>
            <a:r>
              <a:rPr sz="2200" spc="-20" dirty="0">
                <a:latin typeface="Trebuchet MS"/>
                <a:cs typeface="Trebuchet MS"/>
              </a:rPr>
              <a:t>page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20)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are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50" dirty="0">
                <a:latin typeface="Trebuchet MS"/>
                <a:cs typeface="Trebuchet MS"/>
              </a:rPr>
              <a:t>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simple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351915" algn="l"/>
                <a:tab pos="2025650" algn="l"/>
              </a:tabLst>
            </a:pPr>
            <a:r>
              <a:rPr sz="2200" spc="-10" dirty="0">
                <a:latin typeface="Trebuchet MS"/>
                <a:cs typeface="Trebuchet MS"/>
              </a:rPr>
              <a:t>compare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the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distributions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7088" y="1299794"/>
            <a:ext cx="2201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737235" algn="l"/>
                <a:tab pos="1244600" algn="l"/>
              </a:tabLst>
            </a:pPr>
            <a:r>
              <a:rPr sz="2200" spc="-25" dirty="0">
                <a:latin typeface="Trebuchet MS"/>
                <a:cs typeface="Trebuchet MS"/>
              </a:rPr>
              <a:t>way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to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visually</a:t>
            </a:r>
            <a:endParaRPr sz="2200">
              <a:latin typeface="Trebuchet MS"/>
              <a:cs typeface="Trebuchet MS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  <a:tabLst>
                <a:tab pos="509905" algn="l"/>
                <a:tab pos="913765" algn="l"/>
              </a:tabLst>
            </a:pPr>
            <a:r>
              <a:rPr sz="2200" spc="-25" dirty="0">
                <a:latin typeface="Trebuchet MS"/>
                <a:cs typeface="Trebuchet MS"/>
              </a:rPr>
              <a:t>of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50" dirty="0">
                <a:latin typeface="Trebuchet MS"/>
                <a:cs typeface="Trebuchet MS"/>
              </a:rPr>
              <a:t>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numeric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606" y="1970912"/>
            <a:ext cx="6132195" cy="4095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35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rebuchet MS"/>
                <a:cs typeface="Trebuchet MS"/>
              </a:rPr>
              <a:t>variable</a:t>
            </a:r>
            <a:r>
              <a:rPr sz="2200" spc="4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grouped</a:t>
            </a:r>
            <a:r>
              <a:rPr sz="2200" spc="4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according</a:t>
            </a:r>
            <a:r>
              <a:rPr sz="2200" spc="4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459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4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categorical variable.</a:t>
            </a:r>
            <a:endParaRPr sz="2200">
              <a:latin typeface="Trebuchet MS"/>
              <a:cs typeface="Trebuchet MS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100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1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example,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we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might</a:t>
            </a:r>
            <a:r>
              <a:rPr sz="2200" spc="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want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compare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how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2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percentage</a:t>
            </a:r>
            <a:r>
              <a:rPr sz="2200" spc="2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2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flight</a:t>
            </a:r>
            <a:r>
              <a:rPr sz="2200" spc="2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delays</a:t>
            </a:r>
            <a:r>
              <a:rPr sz="2200" spc="2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varies</a:t>
            </a:r>
            <a:r>
              <a:rPr sz="2200" spc="2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across airlines.</a:t>
            </a:r>
            <a:endParaRPr sz="2200">
              <a:latin typeface="Trebuchet MS"/>
              <a:cs typeface="Trebuchet MS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1010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-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dirty="0">
                <a:latin typeface="Trebuchet MS"/>
                <a:cs typeface="Trebuchet MS"/>
              </a:rPr>
              <a:t>Figure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1-</a:t>
            </a:r>
            <a:r>
              <a:rPr sz="2200" dirty="0">
                <a:latin typeface="Trebuchet MS"/>
                <a:cs typeface="Trebuchet MS"/>
              </a:rPr>
              <a:t>10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shows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percentage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flights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in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20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month</a:t>
            </a:r>
            <a:r>
              <a:rPr sz="2200" spc="2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that</a:t>
            </a:r>
            <a:r>
              <a:rPr sz="2200" spc="2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were</a:t>
            </a:r>
            <a:r>
              <a:rPr sz="2200" spc="2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delayed</a:t>
            </a:r>
            <a:r>
              <a:rPr sz="2200" spc="2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where</a:t>
            </a:r>
            <a:r>
              <a:rPr sz="2200" spc="2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2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delay </a:t>
            </a:r>
            <a:r>
              <a:rPr sz="2200" dirty="0">
                <a:latin typeface="Trebuchet MS"/>
                <a:cs typeface="Trebuchet MS"/>
              </a:rPr>
              <a:t>was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within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carrier’s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control:</a:t>
            </a:r>
            <a:endParaRPr sz="2200">
              <a:latin typeface="Trebuchet MS"/>
              <a:cs typeface="Trebuchet MS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994"/>
              </a:spcBef>
            </a:pPr>
            <a:r>
              <a:rPr sz="1750" spc="1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750" spc="1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pandas</a:t>
            </a:r>
            <a:r>
              <a:rPr sz="2200" spc="8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boxplot</a:t>
            </a:r>
            <a:r>
              <a:rPr sz="2200" spc="8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method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takes</a:t>
            </a:r>
            <a:r>
              <a:rPr sz="2200" spc="8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85" dirty="0">
                <a:latin typeface="Trebuchet MS"/>
                <a:cs typeface="Trebuchet MS"/>
              </a:rPr>
              <a:t>  </a:t>
            </a:r>
            <a:r>
              <a:rPr sz="2200" spc="-25" dirty="0">
                <a:latin typeface="Trebuchet MS"/>
                <a:cs typeface="Trebuchet MS"/>
              </a:rPr>
              <a:t>by </a:t>
            </a:r>
            <a:r>
              <a:rPr sz="2200" dirty="0">
                <a:latin typeface="Trebuchet MS"/>
                <a:cs typeface="Trebuchet MS"/>
              </a:rPr>
              <a:t>argument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that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splits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set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into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groups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creates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individual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boxplots: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80276" y="641604"/>
            <a:ext cx="5097780" cy="4615180"/>
            <a:chOff x="6780276" y="641604"/>
            <a:chExt cx="5097780" cy="46151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9420" y="650748"/>
              <a:ext cx="5079491" cy="45963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84848" y="646176"/>
              <a:ext cx="5088890" cy="4605655"/>
            </a:xfrm>
            <a:custGeom>
              <a:avLst/>
              <a:gdLst/>
              <a:ahLst/>
              <a:cxnLst/>
              <a:rect l="l" t="t" r="r" b="b"/>
              <a:pathLst>
                <a:path w="5088890" h="4605655">
                  <a:moveTo>
                    <a:pt x="0" y="4605528"/>
                  </a:moveTo>
                  <a:lnTo>
                    <a:pt x="5088636" y="4605528"/>
                  </a:lnTo>
                  <a:lnTo>
                    <a:pt x="5088636" y="0"/>
                  </a:lnTo>
                  <a:lnTo>
                    <a:pt x="0" y="0"/>
                  </a:lnTo>
                  <a:lnTo>
                    <a:pt x="0" y="4605528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5835" y="5554979"/>
            <a:ext cx="5715000" cy="88696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Categorical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Numeric</a:t>
            </a:r>
            <a:r>
              <a:rPr spc="-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606" y="903858"/>
            <a:ext cx="11271885" cy="18034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6985" indent="-343535">
              <a:lnSpc>
                <a:spcPts val="1920"/>
              </a:lnSpc>
              <a:spcBef>
                <a:spcPts val="565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violin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plot,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introduced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[Hintze-Nelson-</a:t>
            </a:r>
            <a:r>
              <a:rPr sz="2000" dirty="0">
                <a:latin typeface="Trebuchet MS"/>
                <a:cs typeface="Trebuchet MS"/>
              </a:rPr>
              <a:t>1998],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10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enhancement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boxplot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plots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density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density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y-axis.</a:t>
            </a:r>
            <a:endParaRPr sz="2000">
              <a:latin typeface="Trebuchet MS"/>
              <a:cs typeface="Trebuchet MS"/>
            </a:endParaRPr>
          </a:p>
          <a:p>
            <a:pPr marL="355600" marR="6985" indent="-343535">
              <a:lnSpc>
                <a:spcPts val="1920"/>
              </a:lnSpc>
              <a:spcBef>
                <a:spcPts val="1000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latin typeface="Trebuchet MS"/>
                <a:cs typeface="Trebuchet MS"/>
              </a:rPr>
              <a:t>The density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mirrored and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flipped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over,</a:t>
            </a:r>
            <a:r>
              <a:rPr sz="2000" dirty="0">
                <a:latin typeface="Trebuchet MS"/>
                <a:cs typeface="Trebuchet MS"/>
              </a:rPr>
              <a:t> and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 resulting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shape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filled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in, creating an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image </a:t>
            </a:r>
            <a:r>
              <a:rPr sz="2000" dirty="0">
                <a:latin typeface="Trebuchet MS"/>
                <a:cs typeface="Trebuchet MS"/>
              </a:rPr>
              <a:t>resembling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violin.</a:t>
            </a:r>
            <a:endParaRPr sz="200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1010"/>
              </a:spcBef>
              <a:tabLst>
                <a:tab pos="355600" algn="l"/>
                <a:tab pos="911860" algn="l"/>
                <a:tab pos="2211705" algn="l"/>
                <a:tab pos="2571750" algn="l"/>
                <a:tab pos="2837180" algn="l"/>
                <a:tab pos="3586479" algn="l"/>
                <a:tab pos="4170679" algn="l"/>
                <a:tab pos="4478020" algn="l"/>
                <a:tab pos="5080000" algn="l"/>
                <a:tab pos="5383530" algn="l"/>
                <a:tab pos="5912485" algn="l"/>
                <a:tab pos="6609080" algn="l"/>
                <a:tab pos="7656195" algn="l"/>
                <a:tab pos="7997190" algn="l"/>
                <a:tab pos="8505190" algn="l"/>
                <a:tab pos="9952990" algn="l"/>
                <a:tab pos="1055497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The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advantage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of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50" dirty="0">
                <a:latin typeface="Trebuchet MS"/>
                <a:cs typeface="Trebuchet MS"/>
              </a:rPr>
              <a:t>a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violin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plot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is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that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it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can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show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nuances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the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distribution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that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aren’t </a:t>
            </a:r>
            <a:r>
              <a:rPr sz="2000" dirty="0">
                <a:latin typeface="Trebuchet MS"/>
                <a:cs typeface="Trebuchet MS"/>
              </a:rPr>
              <a:t>perceptible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boxplot.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51" y="2903220"/>
            <a:ext cx="10887456" cy="36103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Categorical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Numeric</a:t>
            </a:r>
            <a:r>
              <a:rPr spc="-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3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Trebuchet MS"/>
                <a:cs typeface="Trebuchet MS"/>
              </a:rPr>
              <a:t>The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corresponding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plot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shown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Figure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1-</a:t>
            </a:r>
            <a:r>
              <a:rPr spc="-25" dirty="0">
                <a:latin typeface="Trebuchet MS"/>
                <a:cs typeface="Trebuchet MS"/>
              </a:rPr>
              <a:t>11.</a:t>
            </a:r>
          </a:p>
          <a:p>
            <a:pPr marL="355600" marR="5080" indent="-342900" algn="just">
              <a:lnSpc>
                <a:spcPct val="90100"/>
              </a:lnSpc>
              <a:spcBef>
                <a:spcPts val="99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rebuchet MS"/>
                <a:cs typeface="Trebuchet MS"/>
              </a:rPr>
              <a:t>The</a:t>
            </a:r>
            <a:r>
              <a:rPr spc="140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violin</a:t>
            </a:r>
            <a:r>
              <a:rPr spc="145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plot</a:t>
            </a:r>
            <a:r>
              <a:rPr spc="140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shows</a:t>
            </a:r>
            <a:r>
              <a:rPr spc="140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135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concentration</a:t>
            </a:r>
            <a:r>
              <a:rPr spc="140" dirty="0">
                <a:latin typeface="Trebuchet MS"/>
                <a:cs typeface="Trebuchet MS"/>
              </a:rPr>
              <a:t>  </a:t>
            </a:r>
            <a:r>
              <a:rPr dirty="0">
                <a:latin typeface="Trebuchet MS"/>
                <a:cs typeface="Trebuchet MS"/>
              </a:rPr>
              <a:t>in</a:t>
            </a:r>
            <a:r>
              <a:rPr spc="140" dirty="0">
                <a:latin typeface="Trebuchet MS"/>
                <a:cs typeface="Trebuchet MS"/>
              </a:rPr>
              <a:t>  </a:t>
            </a:r>
            <a:r>
              <a:rPr spc="-25" dirty="0">
                <a:latin typeface="Trebuchet MS"/>
                <a:cs typeface="Trebuchet MS"/>
              </a:rPr>
              <a:t>the </a:t>
            </a:r>
            <a:r>
              <a:rPr dirty="0">
                <a:latin typeface="Trebuchet MS"/>
                <a:cs typeface="Trebuchet MS"/>
              </a:rPr>
              <a:t>distribution</a:t>
            </a:r>
            <a:r>
              <a:rPr spc="2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near</a:t>
            </a:r>
            <a:r>
              <a:rPr spc="2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zero</a:t>
            </a:r>
            <a:r>
              <a:rPr spc="27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for</a:t>
            </a:r>
            <a:r>
              <a:rPr spc="25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Alaska</a:t>
            </a:r>
            <a:r>
              <a:rPr spc="2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and,</a:t>
            </a:r>
            <a:r>
              <a:rPr spc="2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2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254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lesser </a:t>
            </a:r>
            <a:r>
              <a:rPr dirty="0">
                <a:latin typeface="Trebuchet MS"/>
                <a:cs typeface="Trebuchet MS"/>
              </a:rPr>
              <a:t>extent,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Delta.</a:t>
            </a:r>
          </a:p>
          <a:p>
            <a:pPr marL="355600" marR="5080" indent="-342900" algn="just">
              <a:lnSpc>
                <a:spcPct val="9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dirty="0">
                <a:latin typeface="Trebuchet MS"/>
                <a:cs typeface="Trebuchet MS"/>
              </a:rPr>
              <a:t>This</a:t>
            </a:r>
            <a:r>
              <a:rPr spc="5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phenomenon</a:t>
            </a:r>
            <a:r>
              <a:rPr spc="6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6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not</a:t>
            </a:r>
            <a:r>
              <a:rPr spc="7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as</a:t>
            </a:r>
            <a:r>
              <a:rPr spc="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obvious</a:t>
            </a:r>
            <a:r>
              <a:rPr spc="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</a:t>
            </a:r>
            <a:r>
              <a:rPr spc="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the</a:t>
            </a:r>
            <a:r>
              <a:rPr spc="6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boxplot. </a:t>
            </a:r>
            <a:r>
              <a:rPr dirty="0">
                <a:latin typeface="Trebuchet MS"/>
                <a:cs typeface="Trebuchet MS"/>
              </a:rPr>
              <a:t>You</a:t>
            </a:r>
            <a:r>
              <a:rPr spc="3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can</a:t>
            </a:r>
            <a:r>
              <a:rPr spc="3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combine</a:t>
            </a:r>
            <a:r>
              <a:rPr spc="3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3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violin</a:t>
            </a:r>
            <a:r>
              <a:rPr spc="3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plot</a:t>
            </a:r>
            <a:r>
              <a:rPr spc="3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with</a:t>
            </a:r>
            <a:r>
              <a:rPr spc="3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3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boxplot</a:t>
            </a:r>
            <a:r>
              <a:rPr spc="335" dirty="0">
                <a:latin typeface="Trebuchet MS"/>
                <a:cs typeface="Trebuchet MS"/>
              </a:rPr>
              <a:t> </a:t>
            </a:r>
            <a:r>
              <a:rPr spc="-25" dirty="0">
                <a:latin typeface="Trebuchet MS"/>
                <a:cs typeface="Trebuchet MS"/>
              </a:rPr>
              <a:t>by </a:t>
            </a:r>
            <a:r>
              <a:rPr dirty="0">
                <a:latin typeface="Trebuchet MS"/>
                <a:cs typeface="Trebuchet MS"/>
              </a:rPr>
              <a:t>adding</a:t>
            </a:r>
            <a:r>
              <a:rPr spc="520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geom</a:t>
            </a:r>
            <a:r>
              <a:rPr dirty="0">
                <a:latin typeface="Trebuchet MS"/>
                <a:cs typeface="Trebuchet MS"/>
              </a:rPr>
              <a:t>_boxplot</a:t>
            </a:r>
            <a:r>
              <a:rPr spc="5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5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the</a:t>
            </a:r>
            <a:r>
              <a:rPr spc="5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plot</a:t>
            </a:r>
            <a:r>
              <a:rPr spc="5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(although</a:t>
            </a:r>
            <a:r>
              <a:rPr spc="535" dirty="0">
                <a:latin typeface="Trebuchet MS"/>
                <a:cs typeface="Trebuchet MS"/>
              </a:rPr>
              <a:t> </a:t>
            </a:r>
            <a:r>
              <a:rPr spc="-20" dirty="0">
                <a:latin typeface="Trebuchet MS"/>
                <a:cs typeface="Trebuchet MS"/>
              </a:rPr>
              <a:t>this </a:t>
            </a:r>
            <a:r>
              <a:rPr dirty="0">
                <a:latin typeface="Trebuchet MS"/>
                <a:cs typeface="Trebuchet MS"/>
              </a:rPr>
              <a:t>works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best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when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colors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are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used).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05116" y="1670304"/>
            <a:ext cx="4474845" cy="4488180"/>
            <a:chOff x="7405116" y="1670304"/>
            <a:chExt cx="4474845" cy="4488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4260" y="1679448"/>
              <a:ext cx="4457700" cy="4470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09688" y="1674876"/>
              <a:ext cx="4465320" cy="4479290"/>
            </a:xfrm>
            <a:custGeom>
              <a:avLst/>
              <a:gdLst/>
              <a:ahLst/>
              <a:cxnLst/>
              <a:rect l="l" t="t" r="r" b="b"/>
              <a:pathLst>
                <a:path w="4465320" h="4479290">
                  <a:moveTo>
                    <a:pt x="0" y="4479036"/>
                  </a:moveTo>
                  <a:lnTo>
                    <a:pt x="4465320" y="4479036"/>
                  </a:lnTo>
                  <a:lnTo>
                    <a:pt x="4465320" y="0"/>
                  </a:lnTo>
                  <a:lnTo>
                    <a:pt x="0" y="0"/>
                  </a:lnTo>
                  <a:lnTo>
                    <a:pt x="0" y="4479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155" y="1833747"/>
            <a:ext cx="6775189" cy="12042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Categorical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Numeric</a:t>
            </a:r>
            <a:r>
              <a:rPr spc="-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9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corresponding</a:t>
            </a:r>
            <a:r>
              <a:rPr spc="-35" dirty="0"/>
              <a:t> </a:t>
            </a:r>
            <a:r>
              <a:rPr dirty="0"/>
              <a:t>plot</a:t>
            </a:r>
            <a:r>
              <a:rPr spc="-3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shown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Figure</a:t>
            </a:r>
            <a:r>
              <a:rPr spc="-35" dirty="0"/>
              <a:t> </a:t>
            </a:r>
            <a:r>
              <a:rPr spc="-10" dirty="0"/>
              <a:t>1-</a:t>
            </a:r>
            <a:r>
              <a:rPr spc="-25" dirty="0"/>
              <a:t>11.</a:t>
            </a:r>
          </a:p>
          <a:p>
            <a:pPr marL="354965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dirty="0"/>
              <a:t>The</a:t>
            </a:r>
            <a:r>
              <a:rPr spc="65" dirty="0"/>
              <a:t> </a:t>
            </a:r>
            <a:r>
              <a:rPr dirty="0"/>
              <a:t>violin</a:t>
            </a:r>
            <a:r>
              <a:rPr spc="70" dirty="0"/>
              <a:t> </a:t>
            </a:r>
            <a:r>
              <a:rPr dirty="0"/>
              <a:t>plot</a:t>
            </a:r>
            <a:r>
              <a:rPr spc="60" dirty="0"/>
              <a:t> </a:t>
            </a:r>
            <a:r>
              <a:rPr dirty="0"/>
              <a:t>shows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concentration</a:t>
            </a:r>
            <a:r>
              <a:rPr spc="7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-10" dirty="0"/>
              <a:t>distribution</a:t>
            </a:r>
          </a:p>
          <a:p>
            <a:pPr marL="355600" algn="just">
              <a:lnSpc>
                <a:spcPct val="100000"/>
              </a:lnSpc>
            </a:pPr>
            <a:r>
              <a:rPr dirty="0"/>
              <a:t>near</a:t>
            </a:r>
            <a:r>
              <a:rPr spc="-40" dirty="0"/>
              <a:t> </a:t>
            </a:r>
            <a:r>
              <a:rPr dirty="0"/>
              <a:t>zero</a:t>
            </a:r>
            <a:r>
              <a:rPr spc="-15" dirty="0"/>
              <a:t> </a:t>
            </a:r>
            <a:r>
              <a:rPr spc="-10" dirty="0"/>
              <a:t>for</a:t>
            </a:r>
            <a:r>
              <a:rPr spc="-130" dirty="0"/>
              <a:t> </a:t>
            </a:r>
            <a:r>
              <a:rPr dirty="0"/>
              <a:t>Alaska</a:t>
            </a:r>
            <a:r>
              <a:rPr spc="-30" dirty="0"/>
              <a:t> </a:t>
            </a:r>
            <a:r>
              <a:rPr dirty="0"/>
              <a:t>and,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lesser</a:t>
            </a:r>
            <a:r>
              <a:rPr spc="-20" dirty="0"/>
              <a:t> </a:t>
            </a:r>
            <a:r>
              <a:rPr dirty="0"/>
              <a:t>extent,</a:t>
            </a:r>
            <a:r>
              <a:rPr spc="-35" dirty="0"/>
              <a:t> </a:t>
            </a:r>
            <a:r>
              <a:rPr spc="-10" dirty="0"/>
              <a:t>Delta.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dirty="0"/>
              <a:t>This</a:t>
            </a:r>
            <a:r>
              <a:rPr spc="145" dirty="0"/>
              <a:t> </a:t>
            </a:r>
            <a:r>
              <a:rPr dirty="0"/>
              <a:t>phenomenon</a:t>
            </a:r>
            <a:r>
              <a:rPr spc="155" dirty="0"/>
              <a:t> </a:t>
            </a:r>
            <a:r>
              <a:rPr dirty="0"/>
              <a:t>is</a:t>
            </a:r>
            <a:r>
              <a:rPr spc="125" dirty="0"/>
              <a:t> </a:t>
            </a:r>
            <a:r>
              <a:rPr dirty="0"/>
              <a:t>not</a:t>
            </a:r>
            <a:r>
              <a:rPr spc="145" dirty="0"/>
              <a:t> </a:t>
            </a:r>
            <a:r>
              <a:rPr dirty="0"/>
              <a:t>as</a:t>
            </a:r>
            <a:r>
              <a:rPr spc="140" dirty="0"/>
              <a:t> </a:t>
            </a:r>
            <a:r>
              <a:rPr dirty="0"/>
              <a:t>obvious</a:t>
            </a:r>
            <a:r>
              <a:rPr spc="145" dirty="0"/>
              <a:t> </a:t>
            </a:r>
            <a:r>
              <a:rPr dirty="0"/>
              <a:t>in</a:t>
            </a:r>
            <a:r>
              <a:rPr spc="140" dirty="0"/>
              <a:t> </a:t>
            </a:r>
            <a:r>
              <a:rPr dirty="0"/>
              <a:t>the</a:t>
            </a:r>
            <a:r>
              <a:rPr spc="140" dirty="0"/>
              <a:t> </a:t>
            </a:r>
            <a:r>
              <a:rPr dirty="0"/>
              <a:t>boxplot.</a:t>
            </a:r>
            <a:r>
              <a:rPr spc="135" dirty="0"/>
              <a:t> </a:t>
            </a:r>
            <a:r>
              <a:rPr spc="-25" dirty="0"/>
              <a:t>You </a:t>
            </a:r>
            <a:r>
              <a:rPr dirty="0"/>
              <a:t>can  combine</a:t>
            </a:r>
            <a:r>
              <a:rPr spc="5" dirty="0"/>
              <a:t>  </a:t>
            </a:r>
            <a:r>
              <a:rPr dirty="0"/>
              <a:t>a</a:t>
            </a:r>
            <a:r>
              <a:rPr spc="540" dirty="0"/>
              <a:t> </a:t>
            </a:r>
            <a:r>
              <a:rPr dirty="0"/>
              <a:t>violin  plot  with  a</a:t>
            </a:r>
            <a:r>
              <a:rPr spc="545" dirty="0"/>
              <a:t> </a:t>
            </a:r>
            <a:r>
              <a:rPr dirty="0"/>
              <a:t>boxplot</a:t>
            </a:r>
            <a:r>
              <a:rPr spc="5" dirty="0"/>
              <a:t>  </a:t>
            </a:r>
            <a:r>
              <a:rPr dirty="0"/>
              <a:t>by</a:t>
            </a:r>
            <a:r>
              <a:rPr spc="5" dirty="0"/>
              <a:t>  </a:t>
            </a:r>
            <a:r>
              <a:rPr spc="-10" dirty="0"/>
              <a:t>adding </a:t>
            </a:r>
            <a:r>
              <a:rPr i="1" dirty="0">
                <a:latin typeface="Times New Roman"/>
                <a:cs typeface="Times New Roman"/>
              </a:rPr>
              <a:t>geom</a:t>
            </a:r>
            <a:r>
              <a:rPr dirty="0"/>
              <a:t>_boxplot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plot</a:t>
            </a:r>
            <a:r>
              <a:rPr spc="-30" dirty="0"/>
              <a:t> </a:t>
            </a:r>
            <a:r>
              <a:rPr dirty="0"/>
              <a:t>(although</a:t>
            </a:r>
            <a:r>
              <a:rPr spc="-25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works</a:t>
            </a:r>
            <a:r>
              <a:rPr spc="-30" dirty="0"/>
              <a:t> </a:t>
            </a:r>
            <a:r>
              <a:rPr dirty="0"/>
              <a:t>best</a:t>
            </a:r>
            <a:r>
              <a:rPr spc="-35" dirty="0"/>
              <a:t> </a:t>
            </a:r>
            <a:r>
              <a:rPr spc="-20" dirty="0"/>
              <a:t>when </a:t>
            </a:r>
            <a:r>
              <a:rPr dirty="0"/>
              <a:t>colors</a:t>
            </a:r>
            <a:r>
              <a:rPr spc="-4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spc="-10" dirty="0"/>
              <a:t>used).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05116" y="1670304"/>
            <a:ext cx="4474845" cy="4488180"/>
            <a:chOff x="7405116" y="1670304"/>
            <a:chExt cx="4474845" cy="4488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4260" y="1679448"/>
              <a:ext cx="4457700" cy="4470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09688" y="1674876"/>
              <a:ext cx="4465320" cy="4479290"/>
            </a:xfrm>
            <a:custGeom>
              <a:avLst/>
              <a:gdLst/>
              <a:ahLst/>
              <a:cxnLst/>
              <a:rect l="l" t="t" r="r" b="b"/>
              <a:pathLst>
                <a:path w="4465320" h="4479290">
                  <a:moveTo>
                    <a:pt x="0" y="4479036"/>
                  </a:moveTo>
                  <a:lnTo>
                    <a:pt x="4465320" y="4479036"/>
                  </a:lnTo>
                  <a:lnTo>
                    <a:pt x="4465320" y="0"/>
                  </a:lnTo>
                  <a:lnTo>
                    <a:pt x="0" y="0"/>
                  </a:lnTo>
                  <a:lnTo>
                    <a:pt x="0" y="44790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155" y="1833747"/>
            <a:ext cx="6775189" cy="120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51417" y="6148188"/>
            <a:ext cx="14478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spc="-25" dirty="0">
                <a:solidFill>
                  <a:srgbClr val="90C225"/>
                </a:solidFill>
                <a:latin typeface="Trebuchet MS"/>
                <a:cs typeface="Trebuchet MS"/>
              </a:rPr>
              <a:t>42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5F6C8-3179-BABC-A04F-7DF337FDB3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175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lang="en-US" spc="-50" smtClean="0"/>
              <a:t>42</a:t>
            </a:fld>
            <a:endParaRPr lang="en-US" spc="-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291795"/>
            <a:ext cx="62318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3160" algn="l"/>
              </a:tabLst>
            </a:pPr>
            <a:r>
              <a:rPr spc="-10" dirty="0"/>
              <a:t>Visualizing</a:t>
            </a:r>
            <a:r>
              <a:rPr dirty="0"/>
              <a:t>	Multiple</a:t>
            </a:r>
            <a:r>
              <a:rPr spc="-85" dirty="0"/>
              <a:t> </a:t>
            </a:r>
            <a:r>
              <a:rPr spc="-2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748" y="1052576"/>
            <a:ext cx="7259955" cy="492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985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Figure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1-</a:t>
            </a:r>
            <a:r>
              <a:rPr sz="2400" b="1" dirty="0">
                <a:latin typeface="Times New Roman"/>
                <a:cs typeface="Times New Roman"/>
              </a:rPr>
              <a:t>8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showed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relationship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homes’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finished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square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feet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tax-</a:t>
            </a:r>
            <a:r>
              <a:rPr sz="2400" dirty="0">
                <a:latin typeface="Times New Roman"/>
                <a:cs typeface="Times New Roman"/>
              </a:rPr>
              <a:t>assessed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values.</a:t>
            </a:r>
            <a:endParaRPr sz="2400">
              <a:latin typeface="Times New Roman"/>
              <a:cs typeface="Times New Roman"/>
            </a:endParaRPr>
          </a:p>
          <a:p>
            <a:pPr marL="354965" marR="9525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appears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cluster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homes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tax-</a:t>
            </a:r>
            <a:r>
              <a:rPr sz="2400" dirty="0">
                <a:latin typeface="Times New Roman"/>
                <a:cs typeface="Times New Roman"/>
              </a:rPr>
              <a:t>assessed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square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foot.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Diving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deeper,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Figure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1-</a:t>
            </a:r>
            <a:r>
              <a:rPr sz="2400" b="1" dirty="0">
                <a:latin typeface="Times New Roman"/>
                <a:cs typeface="Times New Roman"/>
              </a:rPr>
              <a:t>12</a:t>
            </a:r>
            <a:r>
              <a:rPr sz="2400" b="1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accounts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effect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location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plotting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zip</a:t>
            </a:r>
            <a:r>
              <a:rPr sz="2400" spc="-10" dirty="0">
                <a:latin typeface="Times New Roman"/>
                <a:cs typeface="Times New Roman"/>
              </a:rPr>
              <a:t> codes.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Now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picture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clearer: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tax-</a:t>
            </a:r>
            <a:r>
              <a:rPr sz="2400" dirty="0">
                <a:latin typeface="Times New Roman"/>
                <a:cs typeface="Times New Roman"/>
              </a:rPr>
              <a:t>assessed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zip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(98105,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98126)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others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(98108,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98188).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disparity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gives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rise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clusters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observed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Figure </a:t>
            </a:r>
            <a:r>
              <a:rPr sz="2400" spc="-10" dirty="0">
                <a:latin typeface="Times New Roman"/>
                <a:cs typeface="Times New Roman"/>
              </a:rPr>
              <a:t>1-</a:t>
            </a:r>
            <a:r>
              <a:rPr sz="2400" spc="-25" dirty="0">
                <a:latin typeface="Times New Roman"/>
                <a:cs typeface="Times New Roman"/>
              </a:rPr>
              <a:t>8.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14131" y="361188"/>
            <a:ext cx="3906520" cy="3420110"/>
            <a:chOff x="7914131" y="361188"/>
            <a:chExt cx="3906520" cy="3420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3275" y="370332"/>
              <a:ext cx="3887724" cy="34015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18703" y="365760"/>
              <a:ext cx="3896995" cy="3411220"/>
            </a:xfrm>
            <a:custGeom>
              <a:avLst/>
              <a:gdLst/>
              <a:ahLst/>
              <a:cxnLst/>
              <a:rect l="l" t="t" r="r" b="b"/>
              <a:pathLst>
                <a:path w="3896995" h="3411220">
                  <a:moveTo>
                    <a:pt x="0" y="3410712"/>
                  </a:moveTo>
                  <a:lnTo>
                    <a:pt x="3896867" y="3410712"/>
                  </a:lnTo>
                  <a:lnTo>
                    <a:pt x="3896867" y="0"/>
                  </a:lnTo>
                  <a:lnTo>
                    <a:pt x="0" y="0"/>
                  </a:lnTo>
                  <a:lnTo>
                    <a:pt x="0" y="34107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404859" y="3848100"/>
            <a:ext cx="3268979" cy="2636520"/>
            <a:chOff x="8404859" y="3848100"/>
            <a:chExt cx="3268979" cy="26365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4003" y="3857244"/>
              <a:ext cx="3250692" cy="26182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09431" y="3852672"/>
              <a:ext cx="3260090" cy="2627630"/>
            </a:xfrm>
            <a:custGeom>
              <a:avLst/>
              <a:gdLst/>
              <a:ahLst/>
              <a:cxnLst/>
              <a:rect l="l" t="t" r="r" b="b"/>
              <a:pathLst>
                <a:path w="3260090" h="2627629">
                  <a:moveTo>
                    <a:pt x="0" y="2627376"/>
                  </a:moveTo>
                  <a:lnTo>
                    <a:pt x="3259835" y="2627376"/>
                  </a:lnTo>
                  <a:lnTo>
                    <a:pt x="3259835" y="0"/>
                  </a:lnTo>
                  <a:lnTo>
                    <a:pt x="0" y="0"/>
                  </a:lnTo>
                  <a:lnTo>
                    <a:pt x="0" y="26273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Acknowledgement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3748" y="1052576"/>
            <a:ext cx="7259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  <a:tab pos="2787650" algn="l"/>
                <a:tab pos="677164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material</a:t>
            </a:r>
            <a:r>
              <a:rPr sz="2400" dirty="0">
                <a:latin typeface="Times New Roman"/>
                <a:cs typeface="Times New Roman"/>
              </a:rPr>
              <a:t>	for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creation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lecture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was </a:t>
            </a:r>
            <a:r>
              <a:rPr sz="2400" dirty="0">
                <a:latin typeface="Times New Roman"/>
                <a:cs typeface="Times New Roman"/>
              </a:rPr>
              <a:t>taken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Dr.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Ghulam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Murtaza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slides.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3748" y="912667"/>
            <a:ext cx="5494655" cy="284480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lecture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studied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topics</a:t>
            </a:r>
            <a:endParaRPr sz="24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015" algn="l"/>
              </a:tabLst>
            </a:pPr>
            <a:r>
              <a:rPr sz="2200" dirty="0">
                <a:latin typeface="Times New Roman"/>
                <a:cs typeface="Times New Roman"/>
              </a:rPr>
              <a:t>Estimate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central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015" algn="l"/>
              </a:tabLst>
            </a:pPr>
            <a:r>
              <a:rPr sz="2200" spc="-25" dirty="0">
                <a:latin typeface="Times New Roman"/>
                <a:cs typeface="Times New Roman"/>
              </a:rPr>
              <a:t>Variability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015" algn="l"/>
              </a:tabLst>
            </a:pPr>
            <a:r>
              <a:rPr sz="2200" dirty="0">
                <a:latin typeface="Times New Roman"/>
                <a:cs typeface="Times New Roman"/>
              </a:rPr>
              <a:t>Single,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Multivariate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015" algn="l"/>
              </a:tabLst>
            </a:pPr>
            <a:r>
              <a:rPr sz="2200" spc="-10" dirty="0">
                <a:latin typeface="Times New Roman"/>
                <a:cs typeface="Times New Roman"/>
              </a:rPr>
              <a:t>Correlation</a:t>
            </a:r>
            <a:endParaRPr sz="2200">
              <a:latin typeface="Times New Roman"/>
              <a:cs typeface="Times New Roman"/>
            </a:endParaRPr>
          </a:p>
          <a:p>
            <a:pPr marL="755015" lvl="1" indent="-28575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755015" algn="l"/>
              </a:tabLst>
            </a:pPr>
            <a:r>
              <a:rPr sz="2200" dirty="0">
                <a:latin typeface="Times New Roman"/>
                <a:cs typeface="Times New Roman"/>
              </a:rPr>
              <a:t>Different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plots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visualization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2858</Words>
  <Application>Microsoft Office PowerPoint</Application>
  <PresentationFormat>Widescreen</PresentationFormat>
  <Paragraphs>249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Arial</vt:lpstr>
      <vt:lpstr>Arial MT</vt:lpstr>
      <vt:lpstr>Lucida Sans Unicode</vt:lpstr>
      <vt:lpstr>Times New Roman</vt:lpstr>
      <vt:lpstr>Trebuchet MS</vt:lpstr>
      <vt:lpstr>Wingdings</vt:lpstr>
      <vt:lpstr>Office Theme</vt:lpstr>
      <vt:lpstr>Exploratory Data Analysis Unit 02 Lecture 03</vt:lpstr>
      <vt:lpstr>Contents</vt:lpstr>
      <vt:lpstr>Frequency Tables and Histograms</vt:lpstr>
      <vt:lpstr>Frequency Tables and Histograms</vt:lpstr>
      <vt:lpstr>Frequency Tables and Histograms</vt:lpstr>
      <vt:lpstr>Frequency Tables and Histograms</vt:lpstr>
      <vt:lpstr>Density Plots and Estimates</vt:lpstr>
      <vt:lpstr>Density Plots and Estimates</vt:lpstr>
      <vt:lpstr>Exploring Binary and Categorical Data</vt:lpstr>
      <vt:lpstr>Exploring Binary and Categorical Data</vt:lpstr>
      <vt:lpstr>Exploring Binary and Categorical Data</vt:lpstr>
      <vt:lpstr>Exploring Binary and Categorical Data</vt:lpstr>
      <vt:lpstr>Exploring Binary and Categorical Data</vt:lpstr>
      <vt:lpstr>Exploring Binary and Categorical Data: Mode</vt:lpstr>
      <vt:lpstr>Exploring Binary and Categorical Data: Expected Value</vt:lpstr>
      <vt:lpstr>Exploring Binary and Categorical Data: Expected Value</vt:lpstr>
      <vt:lpstr>Exploring Binary and Categorical Data: Probability</vt:lpstr>
      <vt:lpstr>Correlation</vt:lpstr>
      <vt:lpstr>Correlation</vt:lpstr>
      <vt:lpstr>Correlation</vt:lpstr>
      <vt:lpstr>Correlation</vt:lpstr>
      <vt:lpstr>Correlation</vt:lpstr>
      <vt:lpstr>Correlation</vt:lpstr>
      <vt:lpstr>Correlation</vt:lpstr>
      <vt:lpstr>Correlation</vt:lpstr>
      <vt:lpstr>Correlation: Scatterplots</vt:lpstr>
      <vt:lpstr>Correlation: Scatterplots</vt:lpstr>
      <vt:lpstr>Correlation</vt:lpstr>
      <vt:lpstr>Exploring Two or More Variables</vt:lpstr>
      <vt:lpstr>Exploring Two or More Variables</vt:lpstr>
      <vt:lpstr>PowerPoint Presentation</vt:lpstr>
      <vt:lpstr>Hexagonal Binning and Contours (Plotting Numeric Versus Numeric Data)</vt:lpstr>
      <vt:lpstr>Hexagonal Binning (Plotting Numeric Versus Numeric Data)</vt:lpstr>
      <vt:lpstr>Hexagonal Binning (Plotting Numeric Versus Numeric Data)</vt:lpstr>
      <vt:lpstr>Contours (Plotting Numeric Versus Numeric Data)</vt:lpstr>
      <vt:lpstr>Two Categorical Variables</vt:lpstr>
      <vt:lpstr>Two Categorical Variables</vt:lpstr>
      <vt:lpstr>Two Categorical Variables</vt:lpstr>
      <vt:lpstr>Categorical and Numeric Data</vt:lpstr>
      <vt:lpstr>Categorical and Numeric Data</vt:lpstr>
      <vt:lpstr>Categorical and Numeric Data</vt:lpstr>
      <vt:lpstr>Categorical and Numeric Data</vt:lpstr>
      <vt:lpstr>Visualizing Multiple Variables</vt:lpstr>
      <vt:lpstr>Acknowledgement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SIBAU</dc:creator>
  <cp:lastModifiedBy>Muhammad Ismail Mangrio</cp:lastModifiedBy>
  <cp:revision>3</cp:revision>
  <dcterms:created xsi:type="dcterms:W3CDTF">2025-10-16T07:52:51Z</dcterms:created>
  <dcterms:modified xsi:type="dcterms:W3CDTF">2025-10-16T18:46:48Z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2025-10-16T00:00:00Z</vt:filetime>
  </property>
  <property fmtid="{D5CDD505-2E9C-101B-9397-08002B2CF9AE}" pid="5" name="Producer">
    <vt:lpwstr>Microsoft® PowerPoint® 2013</vt:lpwstr>
  </property>
</Properties>
</file>